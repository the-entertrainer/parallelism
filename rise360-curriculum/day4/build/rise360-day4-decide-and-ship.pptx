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is the day the week turns into something real. Three days of blocks, and this afternoon they watch a course go from a blank page to a link they can open on their own phones.
Two blocks get proper attention this morning. Buttons, because Day 3 only taught the labelling and there is more to them. Scenario, because it is the most expensive block in Rise to write well and the one people get most wrong.
Set the expectation for the afternoon now: they watch the demo, they do not build along. Building along means everyone falls behind at a different point and you spend the session rescuing people. They get their turn in the capstone.
Say the word "Monday" early. The brief goes out at the end of today and it is due Monday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on the left that does the work is the italic one: they have never finished a course. Everything so far has been parts on a bench.
Read the right-hand list slowly. Four of the five are things they will be asked to do at work within a month of this training.
Head off the theming question — somebody always wants to talk about brand colours and fonts. Point at the orange strip.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timings honestly. People plan their attention around them.
The one band that must not be compressed is the demo. If the morning overruns, cut a scenario example, not the demo — watching a whole course get finished is the thing they cannot get from a slide or a video later.
The last band is only fifteen minutes because the brief is written down. Hand it out, walk the checklist, take questions,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3 gave them one slide on buttons and it was all about labelling. That lesson stands — repeat it once and move on.
What is new today: where a button can actually send someone, what you can change about how it looks, and the thing buttons are genuinely good for — offering routes without restricting navigation.
Forty-five minutes including a live look at the settings panel. Do not spend it all on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 the blocks themselves are simple and the room already met them.
The framing sentence is the one to say out loud: a button is a promise about what happens next. Every labelling failure is a broken promise, and every learner who clicks one and lands somewhere unexpected trusts the course a little less.
The stack is the more useful of the two and it gets under-used. Most people reach for a stack only for external links, when its best job is inside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block settings live while this is up. Reading a table aloud is the worst use of five minutes you have today.
“Send an email” surprises people every time — it opens the learner’s mail client with a draft, and it takes several addresses separated by commas. It is the right answer for “request access”, “contact your manager”, “report a problem”.
“Exit the course” only does anything in an LMS. In Quick Share or a preview it does nothing at all, which is exactly the kind of thing that gets reported as a bug the week after a launch.
The italic line at the bottom is worth saying out loud once and then living by all day. When the interface disagrees with the deck, believe the interface — and let them watch you do that calmly.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one in the tool, not on the slide. Change the colour, drag the corner radius to full round and back, hide the description text — three settings, thirty seconds, and everyone understands the panel.
The right-hand card exists because somebody in every room hunts for the text-size setting for ten minutes and feels stupid. Tell them it is not there. Naming a limit honestly buys you credibility for everything else you say about the tool.
The strip at the bottom is the design point of the whole section. Two buttons, identical on screen, completely different consequences. That gap is closed by writing, not by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ideas on one slide because they are the same idea. A stack offers routes; the labels are what make the offer legible.
The left column matters because tomorrow you will teach restricted navigation, and somebody will want to lock the course down. Show them the cheaper move first: offer the route, keep the freedom. Restriction is for compliance, not for tidiness.
Run the right column as an exercise, not a reading. Cover the green side, ask the room to fix each label, then reveal. They will produce better ones than these, which is the point.
The covered-screen test at the bottom is the takeaway. It is the fastest label review there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hour that matters most this morning. Slow down for it.
Two honest framings before you start. First: scenario is a writing problem wearing a software costume — the block takes ten minutes to build and the branching takes an afternoon to write. Second: a bad scenario is worse than no scenario, because it feels like a trick and learners stop trusting the course.
Day 3 gave them one slide on this block. Expect to be re-teaching from close to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this nesting on a whiteboard as you talk, even though it is on the slide. People who draw it remember it; people who read it do not.
The single most common source of confusion in the scenario editor is not knowing which level you are editing — a scene, a piece of content, or a response. Once the nesting is clear, the sidebar makes sense immediately.
The bottom line is the honest one. The block is quick. The writing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a scene live while this slide is up — background, character, description — and narrate the constraints as you hit them.
The landscape-image point saves real pain. Portrait images get cropped brutally because only a band of the picture shows behind the dialogue.
Card four is dark because it is the one they will skip. Say plainly that a screen-reader user gets the scene description instead of the picture, and that an empty field means they get nothing at all.
The inheritance behaviour in card one is a genuine time-saver and almost nobody discovers it alone: add scene two and it already looks like scene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ceiling is the useful constraint here and it is worth defending rather than apologising for. Three plausible options is already hard to write; four is usually padding.
Two responses is completely legitimate. Say so — people assume they must fill all three slots and end up inventing a filler option, which is exactly what wrecks a scenario.
Text scenes are the under-used half. They are how you open ("here is the situation"), how you recover ("that closed the conversation — try again") and how you land the point at the end. A scenario made entirely of dialogue feels relentless.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left diagram from the top. The point to land: the wrong turns do not dead-end and they do not punish. They loop.
Note what Scene 3 actually is — a Text scene whose only job is to explain the consequence and hand the decision back. That is the pattern worth copying, and it costs one scene.
On the right, the second option is where real branching lives, and it is the one people do not find. You can point any response at any content anywhere in the scenario, which is how you build a genuine fork rather than a straight line with commentary.
Warn them about the obvious failure: point everything at End Scenario and you have built a survey.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hand out. It is the method, and it is the thing that will still be useful to them in a year.
Step 1 is the one people skip and it is the one that saves the most time. Without a named ending you cannot tell which branches are worth writing.
Step 3 deserves a moment of honesty: writing three genuinely plausible options is hard, and it is where most published scenarios fail. The tell is an option nobody would ever choose.
If you have time, run this live: take a real situation from the room, get them to name the ending and the decision out loud, and write three options on the whiteboard together. Ten minutes, and it is the most useful ten minutes of the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left column aloud in a flat voice, then the right column in the character’s voice. The difference lands in the delivery in a way it does not on the page.
The third pair is the one that surprises people. “Correct! Well done.” feels harmless and it is still wrong here — it breaks the fiction and turns a conversation into a test. In the right-hand version the learner knows they did well because Priya opened up, which is exactly what happens in real life.
The bottom line is the test. Generic feedback is a verdict. Specific feedback is a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rule before you start: watch, do not build along. Building along means everyone falls behind at a different moment and the session becomes tech support. Their turn is the capstone.
Tell them what to watch for: the order of operations. Which decisions are cheap to change later and which are not. That is the thing a slide genuinely cannot teach.
Everything you need is in demo-script.md — the copy is written, so you never compose in front of the room. Make the three scripted mistakes; they are the best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this up before you open Rise and leave it up for a minute. It is the map they will hold in their heads for the next forty-five minutes.
Say the numbers out loud — nine blocks, four questions. The most common capstone failure is scope, and this is the anchor that prevents it. Repeat the numbers when you hand out the brief.
The three-word tags matter more than they look: read, do, score. That is the shape of almost every good small course, and it is the shape their capstone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types, and the room will use Multiple Choice for everything unless you push. Push.
Matching is the underrated one — it is the fastest way to check that somebody can tell four similar things apart, and it is much harder to guess than a four-option MCQ.
Fill in the Blank is the one that generates support tickets. It matches text. If you accept “behaviour” but not “behavior”, you will fail half of a global audience for spelling. Show the accepted-answers field in the demo and add a second spelling in front of them.
Mention the question bank in one sentence and move on — it matters for real assessments and not for a four-question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settings panel live and change the two that matter — passing score and shuffle — so they see where it lives. People genuinely do not find this panel on their own.
The passing-score arithmetic is the best single moment in this section. Ask the room what 80% of four questions is, wait for someone to work out that it means four out of four, then fix it. It lands far harder than being told.
Skip Ahead If Passed is recent and worth thirty seconds — for an audience who already know some of the material it is genuinely respectful, and it is off by default.
Retries deserves a warning: limit the attempts and a learner who fails them all cannot complete the course at all. That is a support call, not a design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prevents a specific, expensive mistake that happens in real organisations — a course full of knowledge checks, launched, and then a month of confusion about why the LMS shows nothing.
The distinction is not about difficulty or question type. It is exactly one thing: a quiz is a lesson and it reports; blocks do not.
Tie it back to Day 2. This is the second time Microlearning has bitten — it cannot hold a quiz, which is why the demo course was created as a Course.
Ask the room: "if your manager asks who completed the training, which of these two answers the question?" Let them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minutes. The single decision that matters here is the door, and it is driven by one question: do you need to know who completed it?
Resist going deep on SCORM versions unless the room is publishing to a corporate LMS — in that case, spend the time and skip a scenario example this morning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live on the demo course, all five views, and let them see you find something to fix. If nothing is broken, say so — but look properly, because normally something is.
The conceptual point is the contrast with PowerPoint and Storyline: Rise reflows like a website, so you are not designing per device. That is why previewing is checking, not designing.
Mobile portrait is where the defects are and it is the view everybody skips. Make the room promise to check it before Monday — it is on the capstone checklist for exactly this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one question, asked out loud: do you need to know who completed it? No means Quick Share or Web. Yes means an LMS — yours or Reach.
Quick Share is the one that changes how teams work. A link in a channel in thirty seconds is a genuinely different thing from a two-week LMS upload cycle, and most of what your organisation publishes does not need tracking at all.
Reach 360 is worth real time only if your audience is external or deskless — contractors, partners, franchisees — people who will never have a corporate LMS account.
Mention Review 360 last and briefly. It is the step before publishing, and if your organisation reviews content by emailing Word documents around, it is the single biggest improvement available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live and let the download finish on screen, so they see that the output is just a zip. Do not attempt an LMS upload in front of the room.
If nobody here publishes to a corporate LMS, spend two minutes and move on. If everybody does, this is the most valuable slide of the afternoon and you should take questions properly.
The launch-file detail is the thing LMS administrators ask for, and knowing it makes your learners look competent in a conversation they will definitely have.
The licence note heads off a support question. If LMS and Web are greyed out on somebody’s account, that is the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Publish the demo course for real here and paste the link into the room’s channel. Watching thirty people open your course on their phones is the most persuasive thing that happens all day.
Then do the live-updates trick: with the link open in a second tab, change a word in lesson 1 and refresh. That single move sells the feature better than any slide.
The guestbook default surprises people — it is on, and it asks every learner for a name and email. Fine for a stakeholder review, wrong for a casual share.
Be straight about the ceiling. People try to use Quick Share as compliance tracking and it is not that. If somebody needs to prove who completed training, they need an LMS.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Fifteen minutes, and most of it should be questions. The brief is written down, so do not read it out.
Hand out capstone-brief.md — printed if you can. Walk the checklist on the next two slides, then take questions until they stop.
The most important thing you can say in this section: pick a topic you already know. The capstone tests the tool, not their subject expertise, and the people who choose something they have to research are the people who do not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columns. They have the brief in their hands; this slide exists so the room is looking at the same thing while you talk.
Say the three things that are not on the slide:
1. Pick a topic you can already explain in ten minutes. No research.
2. Write the scenario first, on paper. It is the hardest part and it changes the lessons.
3. Small and finished beats big and unfinished, every time.
The three-hour budget is a real number, not encouragement. Anyone past four hours has chosen too big a topic and should cut a lesson rather than lose a weekend.
Point at the clinic. Help is cheapest on Friday, when the outline is still on paper and changing it is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marking scheme and there is nothing hidden in it. Say that plainly — people build better things when they know exactly what is being looked at.
The bottom row is the one that catches people. A Quick Share link that works in the browser you are signed into is not evidence of anything. Private window, or ask a colleague.
The three lines are not padding. The third one — what fought you hardest — is how you find out what this week failed to teach, and it shapes what you do on Monday.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sentence, not on the logistics. It is the one piece of craft from today that transfers to every authoring tool they will ever use.
Check three things before anybody leaves: they have the brief, they have picked a topic, and they know Friday’s clinic is for outlines rather than finished courses.
If the room struggled today, it was almost certainly with scenario feedback — writing consequence rather than verdict. Note who, and use the Friday clinic on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jpg"/><Relationship Id="rId3" Type="http://schemas.openxmlformats.org/officeDocument/2006/relationships/image" Target="../media/image-18-3.jpg"/><Relationship Id="rId4" Type="http://schemas.openxmlformats.org/officeDocument/2006/relationships/image" Target="../media/image-18-4.jp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61F"/>
        </a:solidFill>
      </p:bgPr>
    </p:bg>
    <p:spTree>
      <p:nvGrpSpPr>
        <p:cNvPr id="1" name=""/>
        <p:cNvGrpSpPr/>
        <p:nvPr/>
      </p:nvGrpSpPr>
      <p:grpSpPr>
        <a:xfrm>
          <a:off x="0" y="0"/>
          <a:ext cx="0" cy="0"/>
          <a:chOff x="0" y="0"/>
          <a:chExt cx="0" cy="0"/>
        </a:xfrm>
      </p:grpSpPr>
      <p:sp>
        <p:nvSpPr>
          <p:cNvPr id="2" name="Text 0"/>
          <p:cNvSpPr/>
          <p:nvPr/>
        </p:nvSpPr>
        <p:spPr>
          <a:xfrm>
            <a:off x="566928" y="1481328"/>
            <a:ext cx="3657600" cy="292608"/>
          </a:xfrm>
          <a:prstGeom prst="rect">
            <a:avLst/>
          </a:prstGeom>
          <a:noFill/>
          <a:ln/>
        </p:spPr>
        <p:txBody>
          <a:bodyPr wrap="square" lIns="0" tIns="0" rIns="0" bIns="0" rtlCol="0" anchor="ctr"/>
          <a:lstStyle/>
          <a:p>
            <a:pPr indent="0" marL="0">
              <a:buNone/>
            </a:pPr>
            <a:r>
              <a:rPr lang="en-US" sz="1250" b="1" spc="260" kern="0" dirty="0">
                <a:solidFill>
                  <a:srgbClr val="ED6A2A"/>
                </a:solidFill>
                <a:latin typeface="Calibri" pitchFamily="34" charset="0"/>
                <a:ea typeface="Calibri" pitchFamily="34" charset="-122"/>
                <a:cs typeface="Calibri" pitchFamily="34" charset="-120"/>
              </a:rPr>
              <a:t>DAY 4 OF 5</a:t>
            </a:r>
            <a:endParaRPr lang="en-US" sz="1250" dirty="0"/>
          </a:p>
        </p:txBody>
      </p:sp>
      <p:sp>
        <p:nvSpPr>
          <p:cNvPr id="3" name="Text 1"/>
          <p:cNvSpPr/>
          <p:nvPr/>
        </p:nvSpPr>
        <p:spPr>
          <a:xfrm>
            <a:off x="566928" y="1865376"/>
            <a:ext cx="6949440" cy="1828800"/>
          </a:xfrm>
          <a:prstGeom prst="rect">
            <a:avLst/>
          </a:prstGeom>
          <a:noFill/>
          <a:ln/>
        </p:spPr>
        <p:txBody>
          <a:bodyPr wrap="square" lIns="0" tIns="0" rIns="0" bIns="0" rtlCol="0" anchor="t"/>
          <a:lstStyle/>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Decide,</a:t>
            </a:r>
            <a:endParaRPr lang="en-US" sz="5000" dirty="0"/>
          </a:p>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then ship</a:t>
            </a:r>
            <a:endParaRPr lang="en-US" sz="5000" dirty="0"/>
          </a:p>
        </p:txBody>
      </p:sp>
      <p:sp>
        <p:nvSpPr>
          <p:cNvPr id="4" name="Text 2"/>
          <p:cNvSpPr/>
          <p:nvPr/>
        </p:nvSpPr>
        <p:spPr>
          <a:xfrm>
            <a:off x="566928" y="3822192"/>
            <a:ext cx="6309360" cy="822960"/>
          </a:xfrm>
          <a:prstGeom prst="rect">
            <a:avLst/>
          </a:prstGeom>
          <a:noFill/>
          <a:ln/>
        </p:spPr>
        <p:txBody>
          <a:bodyPr wrap="square" lIns="0" tIns="0" rIns="0" bIns="0" rtlCol="0" anchor="t"/>
          <a:lstStyle/>
          <a:p>
            <a:pPr indent="0" marL="0">
              <a:lnSpc>
                <a:spcPts val="2400"/>
              </a:lnSpc>
              <a:buNone/>
            </a:pPr>
            <a:r>
              <a:rPr lang="en-US" sz="1550" dirty="0">
                <a:solidFill>
                  <a:srgbClr val="A9B3C0"/>
                </a:solidFill>
                <a:latin typeface="Calibri" pitchFamily="34" charset="0"/>
                <a:ea typeface="Calibri" pitchFamily="34" charset="-122"/>
                <a:cs typeface="Calibri" pitchFamily="34" charset="-120"/>
              </a:rPr>
              <a:t>Two blocks in depth, a whole course built in front of you, and the four ways out of Rise.</a:t>
            </a:r>
            <a:endParaRPr lang="en-US" sz="1550" dirty="0"/>
          </a:p>
        </p:txBody>
      </p:sp>
      <p:sp>
        <p:nvSpPr>
          <p:cNvPr id="5" name="Shape 3"/>
          <p:cNvSpPr/>
          <p:nvPr/>
        </p:nvSpPr>
        <p:spPr>
          <a:xfrm>
            <a:off x="7818120" y="1828800"/>
            <a:ext cx="3474720" cy="603504"/>
          </a:xfrm>
          <a:prstGeom prst="roundRect">
            <a:avLst>
              <a:gd name="adj" fmla="val 12121"/>
            </a:avLst>
          </a:prstGeom>
          <a:solidFill>
            <a:srgbClr val="1C2230"/>
          </a:solidFill>
          <a:ln w="12700">
            <a:solidFill>
              <a:srgbClr val="2A3242"/>
            </a:solidFill>
            <a:prstDash val="solid"/>
          </a:ln>
        </p:spPr>
      </p:sp>
      <p:sp>
        <p:nvSpPr>
          <p:cNvPr id="6" name="Text 4"/>
          <p:cNvSpPr/>
          <p:nvPr/>
        </p:nvSpPr>
        <p:spPr>
          <a:xfrm>
            <a:off x="7818120" y="1828800"/>
            <a:ext cx="3474720" cy="603504"/>
          </a:xfrm>
          <a:prstGeom prst="rect">
            <a:avLst/>
          </a:prstGeom>
          <a:noFill/>
          <a:ln/>
        </p:spPr>
        <p:txBody>
          <a:bodyPr wrap="square" lIns="0" tIns="0" rIns="0" bIns="0" rtlCol="0" anchor="ctr"/>
          <a:lstStyle/>
          <a:p>
            <a:pPr algn="ctr" indent="0" marL="0">
              <a:buNone/>
            </a:pPr>
            <a:r>
              <a:rPr lang="en-US" sz="1250" b="1" dirty="0">
                <a:solidFill>
                  <a:srgbClr val="A9B3C0"/>
                </a:solidFill>
                <a:latin typeface="Calibri" pitchFamily="34" charset="0"/>
                <a:ea typeface="Calibri" pitchFamily="34" charset="-122"/>
                <a:cs typeface="Calibri" pitchFamily="34" charset="-120"/>
              </a:rPr>
              <a:t>Decide</a:t>
            </a:r>
            <a:endParaRPr lang="en-US" sz="1250" dirty="0"/>
          </a:p>
        </p:txBody>
      </p:sp>
      <p:sp>
        <p:nvSpPr>
          <p:cNvPr id="7" name="Shape 5"/>
          <p:cNvSpPr/>
          <p:nvPr/>
        </p:nvSpPr>
        <p:spPr>
          <a:xfrm>
            <a:off x="7818120" y="2615184"/>
            <a:ext cx="3474720" cy="603504"/>
          </a:xfrm>
          <a:prstGeom prst="roundRect">
            <a:avLst>
              <a:gd name="adj" fmla="val 12121"/>
            </a:avLst>
          </a:prstGeom>
          <a:solidFill>
            <a:srgbClr val="1C2230"/>
          </a:solidFill>
          <a:ln w="12700">
            <a:solidFill>
              <a:srgbClr val="2A3242"/>
            </a:solidFill>
            <a:prstDash val="solid"/>
          </a:ln>
        </p:spPr>
      </p:sp>
      <p:sp>
        <p:nvSpPr>
          <p:cNvPr id="8" name="Text 6"/>
          <p:cNvSpPr/>
          <p:nvPr/>
        </p:nvSpPr>
        <p:spPr>
          <a:xfrm>
            <a:off x="7818120" y="2615184"/>
            <a:ext cx="3474720" cy="603504"/>
          </a:xfrm>
          <a:prstGeom prst="rect">
            <a:avLst/>
          </a:prstGeom>
          <a:noFill/>
          <a:ln/>
        </p:spPr>
        <p:txBody>
          <a:bodyPr wrap="square" lIns="0" tIns="0" rIns="0" bIns="0" rtlCol="0" anchor="ctr"/>
          <a:lstStyle/>
          <a:p>
            <a:pPr algn="ctr" indent="0" marL="0">
              <a:buNone/>
            </a:pPr>
            <a:r>
              <a:rPr lang="en-US" sz="1250" b="1" dirty="0">
                <a:solidFill>
                  <a:srgbClr val="A9B3C0"/>
                </a:solidFill>
                <a:latin typeface="Calibri" pitchFamily="34" charset="0"/>
                <a:ea typeface="Calibri" pitchFamily="34" charset="-122"/>
                <a:cs typeface="Calibri" pitchFamily="34" charset="-120"/>
              </a:rPr>
              <a:t>Build</a:t>
            </a:r>
            <a:endParaRPr lang="en-US" sz="1250" dirty="0"/>
          </a:p>
        </p:txBody>
      </p:sp>
      <p:sp>
        <p:nvSpPr>
          <p:cNvPr id="9" name="Shape 7"/>
          <p:cNvSpPr/>
          <p:nvPr/>
        </p:nvSpPr>
        <p:spPr>
          <a:xfrm>
            <a:off x="8019288" y="3401568"/>
            <a:ext cx="3474720" cy="603504"/>
          </a:xfrm>
          <a:prstGeom prst="roundRect">
            <a:avLst>
              <a:gd name="adj" fmla="val 12121"/>
            </a:avLst>
          </a:prstGeom>
          <a:solidFill>
            <a:srgbClr val="ED6A2A"/>
          </a:solidFill>
          <a:ln w="12700">
            <a:solidFill>
              <a:srgbClr val="ED6A2A"/>
            </a:solidFill>
            <a:prstDash val="solid"/>
          </a:ln>
        </p:spPr>
      </p:sp>
      <p:sp>
        <p:nvSpPr>
          <p:cNvPr id="10" name="Text 8"/>
          <p:cNvSpPr/>
          <p:nvPr/>
        </p:nvSpPr>
        <p:spPr>
          <a:xfrm>
            <a:off x="8019288" y="3401568"/>
            <a:ext cx="3474720" cy="60350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Ship</a:t>
            </a:r>
            <a:endParaRPr lang="en-US" sz="1250" dirty="0"/>
          </a:p>
        </p:txBody>
      </p:sp>
      <p:sp>
        <p:nvSpPr>
          <p:cNvPr id="11" name="Shape 9"/>
          <p:cNvSpPr/>
          <p:nvPr/>
        </p:nvSpPr>
        <p:spPr>
          <a:xfrm>
            <a:off x="7818120" y="4187952"/>
            <a:ext cx="3474720" cy="603504"/>
          </a:xfrm>
          <a:prstGeom prst="roundRect">
            <a:avLst>
              <a:gd name="adj" fmla="val 12121"/>
            </a:avLst>
          </a:prstGeom>
          <a:solidFill>
            <a:srgbClr val="1C2230"/>
          </a:solidFill>
          <a:ln w="12700">
            <a:solidFill>
              <a:srgbClr val="2A3242"/>
            </a:solidFill>
            <a:prstDash val="solid"/>
          </a:ln>
        </p:spPr>
      </p:sp>
      <p:sp>
        <p:nvSpPr>
          <p:cNvPr id="12" name="Text 10"/>
          <p:cNvSpPr/>
          <p:nvPr/>
        </p:nvSpPr>
        <p:spPr>
          <a:xfrm>
            <a:off x="7818120" y="4187952"/>
            <a:ext cx="3474720" cy="603504"/>
          </a:xfrm>
          <a:prstGeom prst="rect">
            <a:avLst/>
          </a:prstGeom>
          <a:noFill/>
          <a:ln/>
        </p:spPr>
        <p:txBody>
          <a:bodyPr wrap="square" lIns="0" tIns="0" rIns="0" bIns="0" rtlCol="0" anchor="ctr"/>
          <a:lstStyle/>
          <a:p>
            <a:pPr algn="ctr" indent="0" marL="0">
              <a:buNone/>
            </a:pPr>
            <a:r>
              <a:rPr lang="en-US" sz="1250" b="1" dirty="0">
                <a:solidFill>
                  <a:srgbClr val="A9B3C0"/>
                </a:solidFill>
                <a:latin typeface="Calibri" pitchFamily="34" charset="0"/>
                <a:ea typeface="Calibri" pitchFamily="34" charset="-122"/>
                <a:cs typeface="Calibri" pitchFamily="34" charset="-120"/>
              </a:rPr>
              <a:t>Hand over</a:t>
            </a:r>
            <a:endParaRPr lang="en-US" sz="1250" dirty="0"/>
          </a:p>
        </p:txBody>
      </p:sp>
      <p:sp>
        <p:nvSpPr>
          <p:cNvPr id="13" name="Text 11"/>
          <p:cNvSpPr/>
          <p:nvPr/>
        </p:nvSpPr>
        <p:spPr>
          <a:xfrm>
            <a:off x="7818120" y="5074920"/>
            <a:ext cx="3474720" cy="274320"/>
          </a:xfrm>
          <a:prstGeom prst="rect">
            <a:avLst/>
          </a:prstGeom>
          <a:noFill/>
          <a:ln/>
        </p:spPr>
        <p:txBody>
          <a:bodyPr wrap="square" lIns="0" tIns="0" rIns="0" bIns="0" rtlCol="0" anchor="ctr"/>
          <a:lstStyle/>
          <a:p>
            <a:pPr algn="ctr" indent="0" marL="0">
              <a:buNone/>
            </a:pPr>
            <a:r>
              <a:rPr lang="en-US" sz="1100" i="1" dirty="0">
                <a:solidFill>
                  <a:srgbClr val="A9B3C0"/>
                </a:solidFill>
                <a:latin typeface="Calibri" pitchFamily="34" charset="0"/>
                <a:ea typeface="Calibri" pitchFamily="34" charset="-122"/>
                <a:cs typeface="Calibri" pitchFamily="34" charset="-120"/>
              </a:rPr>
              <a:t>nothing counts until it has a link</a:t>
            </a:r>
            <a:endParaRPr lang="en-US" sz="1100" dirty="0"/>
          </a:p>
        </p:txBody>
      </p:sp>
      <p:sp>
        <p:nvSpPr>
          <p:cNvPr id="14" name="Text 1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A9B3C0"/>
                </a:solidFill>
                <a:latin typeface="Calibri" pitchFamily="34" charset="0"/>
                <a:ea typeface="Calibri" pitchFamily="34" charset="-122"/>
                <a:cs typeface="Calibri" pitchFamily="34" charset="-120"/>
              </a:rPr>
              <a:t>Rise 360  ·  Day 4  ·  Decide, then ship</a:t>
            </a:r>
            <a:endParaRPr lang="en-US" sz="950" dirty="0"/>
          </a:p>
        </p:txBody>
      </p:sp>
      <p:sp>
        <p:nvSpPr>
          <p:cNvPr id="15" name="Text 1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A9B3C0"/>
                </a:solidFill>
                <a:latin typeface="Calibri" pitchFamily="34" charset="0"/>
                <a:ea typeface="Calibri" pitchFamily="34" charset="-122"/>
                <a:cs typeface="Calibri" pitchFamily="34" charset="-120"/>
              </a:rPr>
              <a:t>1</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From choosing blocks to shipping a course</a:t>
            </a:r>
            <a:endParaRPr lang="en-US" sz="3000" dirty="0"/>
          </a:p>
        </p:txBody>
      </p:sp>
      <p:sp>
        <p:nvSpPr>
          <p:cNvPr id="3" name="Text 1"/>
          <p:cNvSpPr/>
          <p:nvPr/>
        </p:nvSpPr>
        <p:spPr>
          <a:xfrm>
            <a:off x="566928" y="1005840"/>
            <a:ext cx="9067428"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Three days of parts. Today they become a thing with a link on it.</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4  ·  Decide, then ship</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2</a:t>
            </a:r>
            <a:endParaRPr lang="en-US" sz="950" dirty="0"/>
          </a:p>
        </p:txBody>
      </p:sp>
      <p:sp>
        <p:nvSpPr>
          <p:cNvPr id="6" name="Shape 4"/>
          <p:cNvSpPr/>
          <p:nvPr/>
        </p:nvSpPr>
        <p:spPr>
          <a:xfrm>
            <a:off x="566928" y="1691640"/>
            <a:ext cx="5117440" cy="3566160"/>
          </a:xfrm>
          <a:prstGeom prst="roundRect">
            <a:avLst>
              <a:gd name="adj" fmla="val 2308"/>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7" name="Text 5"/>
          <p:cNvSpPr/>
          <p:nvPr/>
        </p:nvSpPr>
        <p:spPr>
          <a:xfrm>
            <a:off x="932688" y="1938528"/>
            <a:ext cx="4385920" cy="274320"/>
          </a:xfrm>
          <a:prstGeom prst="rect">
            <a:avLst/>
          </a:prstGeom>
          <a:noFill/>
          <a:ln/>
        </p:spPr>
        <p:txBody>
          <a:bodyPr wrap="square" lIns="0" tIns="0" rIns="0" bIns="0" rtlCol="0" anchor="ctr"/>
          <a:lstStyle/>
          <a:p>
            <a:pPr indent="0" marL="0">
              <a:buNone/>
            </a:pPr>
            <a:r>
              <a:rPr lang="en-US" sz="1100" b="1" spc="180" kern="0" dirty="0">
                <a:solidFill>
                  <a:srgbClr val="5A6675"/>
                </a:solidFill>
                <a:latin typeface="Calibri" pitchFamily="34" charset="0"/>
                <a:ea typeface="Calibri" pitchFamily="34" charset="-122"/>
                <a:cs typeface="Calibri" pitchFamily="34" charset="-120"/>
              </a:rPr>
              <a:t>BY NOW YOU CAN</a:t>
            </a:r>
            <a:endParaRPr lang="en-US" sz="1100" dirty="0"/>
          </a:p>
        </p:txBody>
      </p:sp>
      <p:sp>
        <p:nvSpPr>
          <p:cNvPr id="8" name="Text 6"/>
          <p:cNvSpPr/>
          <p:nvPr/>
        </p:nvSpPr>
        <p:spPr>
          <a:xfrm>
            <a:off x="932688" y="2286000"/>
            <a:ext cx="4385920" cy="2011680"/>
          </a:xfrm>
          <a:prstGeom prst="rect">
            <a:avLst/>
          </a:prstGeom>
          <a:noFill/>
          <a:ln/>
        </p:spPr>
        <p:txBody>
          <a:bodyPr wrap="square" lIns="0" tIns="0" rIns="0" bIns="0" rtlCol="0" anchor="t"/>
          <a:lstStyle/>
          <a:p>
            <a:pPr marL="342900" indent="-342900">
              <a:lnSpc>
                <a:spcPts val="2100"/>
              </a:lnSpc>
              <a:spcAft>
                <a:spcPts val="1000"/>
              </a:spcAft>
              <a:buSzPct val="100000"/>
              <a:buChar char="•"/>
            </a:pPr>
            <a:r>
              <a:rPr lang="en-US" sz="1400" dirty="0">
                <a:solidFill>
                  <a:srgbClr val="12161F"/>
                </a:solidFill>
                <a:latin typeface="Calibri" pitchFamily="34" charset="0"/>
                <a:ea typeface="Calibri" pitchFamily="34" charset="-122"/>
                <a:cs typeface="Calibri" pitchFamily="34" charset="-120"/>
              </a:rPr>
              <a:t>Build a readable lesson out of static blocks</a:t>
            </a:r>
            <a:endParaRPr lang="en-US" sz="1400" dirty="0"/>
          </a:p>
          <a:p>
            <a:pPr marL="342900" indent="-342900">
              <a:lnSpc>
                <a:spcPts val="2100"/>
              </a:lnSpc>
              <a:spcAft>
                <a:spcPts val="1000"/>
              </a:spcAft>
              <a:buSzPct val="100000"/>
              <a:buChar char="•"/>
            </a:pPr>
            <a:r>
              <a:rPr lang="en-US" sz="1400" dirty="0">
                <a:solidFill>
                  <a:srgbClr val="12161F"/>
                </a:solidFill>
                <a:latin typeface="Calibri" pitchFamily="34" charset="0"/>
                <a:ea typeface="Calibri" pitchFamily="34" charset="-122"/>
                <a:cs typeface="Calibri" pitchFamily="34" charset="-120"/>
              </a:rPr>
              <a:t>Name the twelve interactive blocks by the job they do</a:t>
            </a:r>
            <a:endParaRPr lang="en-US" sz="1400" dirty="0"/>
          </a:p>
          <a:p>
            <a:pPr marL="342900" indent="-342900">
              <a:lnSpc>
                <a:spcPts val="2100"/>
              </a:lnSpc>
              <a:spcAft>
                <a:spcPts val="1000"/>
              </a:spcAft>
              <a:buSzPct val="100000"/>
              <a:buChar char="•"/>
            </a:pPr>
            <a:r>
              <a:rPr lang="en-US" sz="1400" dirty="0">
                <a:solidFill>
                  <a:srgbClr val="12161F"/>
                </a:solidFill>
                <a:latin typeface="Calibri" pitchFamily="34" charset="0"/>
                <a:ea typeface="Calibri" pitchFamily="34" charset="-122"/>
                <a:cs typeface="Calibri" pitchFamily="34" charset="-120"/>
              </a:rPr>
              <a:t>Say why an interaction earns its place — or drop it</a:t>
            </a:r>
            <a:endParaRPr lang="en-US" sz="1400" dirty="0"/>
          </a:p>
        </p:txBody>
      </p:sp>
      <p:sp>
        <p:nvSpPr>
          <p:cNvPr id="9" name="Text 7"/>
          <p:cNvSpPr/>
          <p:nvPr/>
        </p:nvSpPr>
        <p:spPr>
          <a:xfrm>
            <a:off x="932688" y="4480560"/>
            <a:ext cx="4385920" cy="548640"/>
          </a:xfrm>
          <a:prstGeom prst="rect">
            <a:avLst/>
          </a:prstGeom>
          <a:noFill/>
          <a:ln/>
        </p:spPr>
        <p:txBody>
          <a:bodyPr wrap="square" lIns="0" tIns="0" rIns="0" bIns="0" rtlCol="0" anchor="t"/>
          <a:lstStyle/>
          <a:p>
            <a:pPr indent="0" marL="0">
              <a:buNone/>
            </a:pPr>
            <a:r>
              <a:rPr lang="en-US" sz="1300" i="1" dirty="0">
                <a:solidFill>
                  <a:srgbClr val="5A6675"/>
                </a:solidFill>
                <a:latin typeface="Calibri" pitchFamily="34" charset="0"/>
                <a:ea typeface="Calibri" pitchFamily="34" charset="-122"/>
                <a:cs typeface="Calibri" pitchFamily="34" charset="-120"/>
              </a:rPr>
              <a:t>What you have never done is finish one.</a:t>
            </a:r>
            <a:endParaRPr lang="en-US" sz="1300" dirty="0"/>
          </a:p>
        </p:txBody>
      </p:sp>
      <p:sp>
        <p:nvSpPr>
          <p:cNvPr id="10" name="Shape 8"/>
          <p:cNvSpPr/>
          <p:nvPr/>
        </p:nvSpPr>
        <p:spPr>
          <a:xfrm>
            <a:off x="6507328" y="1691640"/>
            <a:ext cx="5117440" cy="3566160"/>
          </a:xfrm>
          <a:prstGeom prst="roundRect">
            <a:avLst>
              <a:gd name="adj" fmla="val 2308"/>
            </a:avLst>
          </a:prstGeom>
          <a:solidFill>
            <a:srgbClr val="12161F"/>
          </a:solidFill>
          <a:ln w="9525">
            <a:solidFill>
              <a:srgbClr val="12161F"/>
            </a:solidFill>
            <a:prstDash val="solid"/>
          </a:ln>
          <a:effectLst>
            <a:outerShdw sx="100000" sy="100000" kx="0" ky="0" algn="bl" rotWithShape="0" blurRad="177800" dist="38100" dir="5400000">
              <a:srgbClr val="9AA6B4">
                <a:alpha val="32000"/>
              </a:srgbClr>
            </a:outerShdw>
          </a:effectLst>
        </p:spPr>
      </p:sp>
      <p:sp>
        <p:nvSpPr>
          <p:cNvPr id="11" name="Text 9"/>
          <p:cNvSpPr/>
          <p:nvPr/>
        </p:nvSpPr>
        <p:spPr>
          <a:xfrm>
            <a:off x="6873088" y="1938528"/>
            <a:ext cx="4385920" cy="274320"/>
          </a:xfrm>
          <a:prstGeom prst="rect">
            <a:avLst/>
          </a:prstGeom>
          <a:noFill/>
          <a:ln/>
        </p:spPr>
        <p:txBody>
          <a:bodyPr wrap="square" lIns="0" tIns="0" rIns="0" bIns="0" rtlCol="0" anchor="ctr"/>
          <a:lstStyle/>
          <a:p>
            <a:pPr indent="0" marL="0">
              <a:buNone/>
            </a:pPr>
            <a:r>
              <a:rPr lang="en-US" sz="1100" b="1" spc="180" kern="0" dirty="0">
                <a:solidFill>
                  <a:srgbClr val="ED6A2A"/>
                </a:solidFill>
                <a:latin typeface="Calibri" pitchFamily="34" charset="0"/>
                <a:ea typeface="Calibri" pitchFamily="34" charset="-122"/>
                <a:cs typeface="Calibri" pitchFamily="34" charset="-120"/>
              </a:rPr>
              <a:t>BY TONIGHT YOU WILL</a:t>
            </a:r>
            <a:endParaRPr lang="en-US" sz="1100" dirty="0"/>
          </a:p>
        </p:txBody>
      </p:sp>
      <p:sp>
        <p:nvSpPr>
          <p:cNvPr id="12" name="Text 10"/>
          <p:cNvSpPr/>
          <p:nvPr/>
        </p:nvSpPr>
        <p:spPr>
          <a:xfrm>
            <a:off x="6873088" y="2286000"/>
            <a:ext cx="4385920" cy="2743200"/>
          </a:xfrm>
          <a:prstGeom prst="rect">
            <a:avLst/>
          </a:prstGeom>
          <a:noFill/>
          <a:ln/>
        </p:spPr>
        <p:txBody>
          <a:bodyPr wrap="square" lIns="0" tIns="0" rIns="0" bIns="0" rtlCol="0" anchor="t"/>
          <a:lstStyle/>
          <a:p>
            <a:pPr marL="342900" indent="-342900">
              <a:lnSpc>
                <a:spcPts val="2100"/>
              </a:lnSpc>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Build a scenario that branches, and forgives</a:t>
            </a:r>
            <a:endParaRPr lang="en-US" sz="1400" dirty="0"/>
          </a:p>
          <a:p>
            <a:pPr marL="342900" indent="-342900">
              <a:lnSpc>
                <a:spcPts val="2100"/>
              </a:lnSpc>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Send a learner somewhere without taking navigation away</a:t>
            </a:r>
            <a:endParaRPr lang="en-US" sz="1400" dirty="0"/>
          </a:p>
          <a:p>
            <a:pPr marL="342900" indent="-342900">
              <a:lnSpc>
                <a:spcPts val="2100"/>
              </a:lnSpc>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Have watched a course go from blank to a live link</a:t>
            </a:r>
            <a:endParaRPr lang="en-US" sz="1400" dirty="0"/>
          </a:p>
          <a:p>
            <a:pPr marL="342900" indent="-342900">
              <a:lnSpc>
                <a:spcPts val="2100"/>
              </a:lnSpc>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Know which of the four exports your organisation needs</a:t>
            </a:r>
            <a:endParaRPr lang="en-US" sz="1400" dirty="0"/>
          </a:p>
          <a:p>
            <a:pPr marL="342900" indent="-342900">
              <a:lnSpc>
                <a:spcPts val="2100"/>
              </a:lnSpc>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Be holding a brief that is due Monday morning</a:t>
            </a:r>
            <a:endParaRPr lang="en-US" sz="1400" dirty="0"/>
          </a:p>
        </p:txBody>
      </p:sp>
      <p:sp>
        <p:nvSpPr>
          <p:cNvPr id="13" name="Shape 11"/>
          <p:cNvSpPr/>
          <p:nvPr/>
        </p:nvSpPr>
        <p:spPr>
          <a:xfrm>
            <a:off x="566928" y="5449824"/>
            <a:ext cx="11057839" cy="548640"/>
          </a:xfrm>
          <a:prstGeom prst="roundRect">
            <a:avLst>
              <a:gd name="adj" fmla="val 15000"/>
            </a:avLst>
          </a:prstGeom>
          <a:solidFill>
            <a:srgbClr val="FFF4EE"/>
          </a:solidFill>
          <a:ln w="9525">
            <a:solidFill>
              <a:srgbClr val="F6C7AC"/>
            </a:solidFill>
            <a:prstDash val="solid"/>
          </a:ln>
        </p:spPr>
      </p:sp>
      <p:sp>
        <p:nvSpPr>
          <p:cNvPr id="14" name="Text 12"/>
          <p:cNvSpPr/>
          <p:nvPr/>
        </p:nvSpPr>
        <p:spPr>
          <a:xfrm>
            <a:off x="914400" y="5449824"/>
            <a:ext cx="10362895" cy="548640"/>
          </a:xfrm>
          <a:prstGeom prst="rect">
            <a:avLst/>
          </a:prstGeom>
          <a:noFill/>
          <a:ln/>
        </p:spPr>
        <p:txBody>
          <a:bodyPr wrap="square" lIns="0" tIns="0" rIns="0" bIns="0" rtlCol="0" anchor="ctr"/>
          <a:lstStyle/>
          <a:p>
            <a:pPr indent="0" marL="0">
              <a:lnSpc>
                <a:spcPts val="1700"/>
              </a:lnSpc>
              <a:buNone/>
            </a:pPr>
            <a:r>
              <a:rPr lang="en-US" sz="1250" dirty="0">
                <a:solidFill>
                  <a:srgbClr val="7A3F1C"/>
                </a:solidFill>
                <a:latin typeface="Calibri" pitchFamily="34" charset="0"/>
                <a:ea typeface="Calibri" pitchFamily="34" charset="-122"/>
                <a:cs typeface="Calibri" pitchFamily="34" charset="-120"/>
              </a:rPr>
              <a:t>Theme, navigation and accessibility are tomorrow. Today is decision, then delivery.</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The shape of today</a:t>
            </a:r>
            <a:endParaRPr lang="en-US" sz="3000" dirty="0"/>
          </a:p>
        </p:txBody>
      </p:sp>
      <p:sp>
        <p:nvSpPr>
          <p:cNvPr id="3" name="Text 1"/>
          <p:cNvSpPr/>
          <p:nvPr/>
        </p:nvSpPr>
        <p:spPr>
          <a:xfrm>
            <a:off x="566928" y="1005840"/>
            <a:ext cx="9067428"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Two blocks in depth this morning. This afternoon, the whole thing end to end.</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4  ·  Decide, then ship</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3</a:t>
            </a:r>
            <a:endParaRPr lang="en-US" sz="950" dirty="0"/>
          </a:p>
        </p:txBody>
      </p:sp>
      <p:sp>
        <p:nvSpPr>
          <p:cNvPr id="6" name="Shape 4"/>
          <p:cNvSpPr/>
          <p:nvPr/>
        </p:nvSpPr>
        <p:spPr>
          <a:xfrm>
            <a:off x="566928" y="1682496"/>
            <a:ext cx="11057839" cy="731520"/>
          </a:xfrm>
          <a:prstGeom prst="roundRect">
            <a:avLst>
              <a:gd name="adj" fmla="val 11250"/>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7" name="Shape 5"/>
          <p:cNvSpPr/>
          <p:nvPr/>
        </p:nvSpPr>
        <p:spPr>
          <a:xfrm>
            <a:off x="841248" y="1911096"/>
            <a:ext cx="859536" cy="274320"/>
          </a:xfrm>
          <a:prstGeom prst="roundRect">
            <a:avLst>
              <a:gd name="adj" fmla="val 50000"/>
            </a:avLst>
          </a:prstGeom>
          <a:solidFill>
            <a:srgbClr val="12161F"/>
          </a:solidFill>
          <a:ln/>
        </p:spPr>
      </p:sp>
      <p:sp>
        <p:nvSpPr>
          <p:cNvPr id="8" name="Text 6"/>
          <p:cNvSpPr/>
          <p:nvPr/>
        </p:nvSpPr>
        <p:spPr>
          <a:xfrm>
            <a:off x="841248" y="1911096"/>
            <a:ext cx="859536" cy="274320"/>
          </a:xfrm>
          <a:prstGeom prst="rect">
            <a:avLst/>
          </a:prstGeom>
          <a:noFill/>
          <a:ln/>
        </p:spPr>
        <p:txBody>
          <a:bodyPr wrap="square" lIns="0" tIns="0" rIns="0" bIns="0" rtlCol="0" anchor="ctr"/>
          <a:lstStyle/>
          <a:p>
            <a:pPr algn="ctr" indent="0" marL="0">
              <a:buNone/>
            </a:pPr>
            <a:r>
              <a:rPr lang="en-US" sz="1050" b="1" spc="60" kern="0" dirty="0">
                <a:solidFill>
                  <a:srgbClr val="FFFFFF"/>
                </a:solidFill>
                <a:latin typeface="Calibri" pitchFamily="34" charset="0"/>
                <a:ea typeface="Calibri" pitchFamily="34" charset="-122"/>
                <a:cs typeface="Calibri" pitchFamily="34" charset="-120"/>
              </a:rPr>
              <a:t>45 min</a:t>
            </a:r>
            <a:endParaRPr lang="en-US" sz="1050" dirty="0"/>
          </a:p>
        </p:txBody>
      </p:sp>
      <p:sp>
        <p:nvSpPr>
          <p:cNvPr id="9" name="Text 7"/>
          <p:cNvSpPr/>
          <p:nvPr/>
        </p:nvSpPr>
        <p:spPr>
          <a:xfrm>
            <a:off x="1865376" y="1682496"/>
            <a:ext cx="2834640" cy="731520"/>
          </a:xfrm>
          <a:prstGeom prst="rect">
            <a:avLst/>
          </a:prstGeom>
          <a:noFill/>
          <a:ln/>
        </p:spPr>
        <p:txBody>
          <a:bodyPr wrap="square" lIns="0" tIns="0" rIns="0" bIns="0" rtlCol="0" anchor="ctr"/>
          <a:lstStyle/>
          <a:p>
            <a:pPr indent="0" marL="0">
              <a:buNone/>
            </a:pPr>
            <a:r>
              <a:rPr lang="en-US" sz="1700" b="1" dirty="0">
                <a:solidFill>
                  <a:srgbClr val="12161F"/>
                </a:solidFill>
                <a:latin typeface="Cambria" pitchFamily="34" charset="0"/>
                <a:ea typeface="Cambria" pitchFamily="34" charset="-122"/>
                <a:cs typeface="Cambria" pitchFamily="34" charset="-120"/>
              </a:rPr>
              <a:t>Buttons</a:t>
            </a:r>
            <a:endParaRPr lang="en-US" sz="1700" dirty="0"/>
          </a:p>
        </p:txBody>
      </p:sp>
      <p:sp>
        <p:nvSpPr>
          <p:cNvPr id="10" name="Text 8"/>
          <p:cNvSpPr/>
          <p:nvPr/>
        </p:nvSpPr>
        <p:spPr>
          <a:xfrm>
            <a:off x="4773168" y="1682496"/>
            <a:ext cx="6577279" cy="731520"/>
          </a:xfrm>
          <a:prstGeom prst="rect">
            <a:avLst/>
          </a:prstGeom>
          <a:noFill/>
          <a:ln/>
        </p:spPr>
        <p:txBody>
          <a:bodyPr wrap="square" lIns="0" tIns="0" rIns="0" bIns="0" rtlCol="0" anchor="ctr"/>
          <a:lstStyle/>
          <a:p>
            <a:pPr indent="0" marL="0">
              <a:buNone/>
            </a:pPr>
            <a:r>
              <a:rPr lang="en-US" sz="1250" dirty="0">
                <a:solidFill>
                  <a:srgbClr val="5A6675"/>
                </a:solidFill>
                <a:latin typeface="Calibri" pitchFamily="34" charset="0"/>
                <a:ea typeface="Calibri" pitchFamily="34" charset="-122"/>
                <a:cs typeface="Calibri" pitchFamily="34" charset="-120"/>
              </a:rPr>
              <a:t>The smallest block in Rise, and the one with the biggest labelling problem.</a:t>
            </a:r>
            <a:endParaRPr lang="en-US" sz="1250" dirty="0"/>
          </a:p>
        </p:txBody>
      </p:sp>
      <p:sp>
        <p:nvSpPr>
          <p:cNvPr id="11" name="Shape 9"/>
          <p:cNvSpPr/>
          <p:nvPr/>
        </p:nvSpPr>
        <p:spPr>
          <a:xfrm>
            <a:off x="566928" y="2523744"/>
            <a:ext cx="11057839" cy="731520"/>
          </a:xfrm>
          <a:prstGeom prst="roundRect">
            <a:avLst>
              <a:gd name="adj" fmla="val 11250"/>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2" name="Shape 10"/>
          <p:cNvSpPr/>
          <p:nvPr/>
        </p:nvSpPr>
        <p:spPr>
          <a:xfrm>
            <a:off x="841248" y="2752344"/>
            <a:ext cx="859536" cy="274320"/>
          </a:xfrm>
          <a:prstGeom prst="roundRect">
            <a:avLst>
              <a:gd name="adj" fmla="val 50000"/>
            </a:avLst>
          </a:prstGeom>
          <a:solidFill>
            <a:srgbClr val="12161F"/>
          </a:solidFill>
          <a:ln/>
        </p:spPr>
      </p:sp>
      <p:sp>
        <p:nvSpPr>
          <p:cNvPr id="13" name="Text 11"/>
          <p:cNvSpPr/>
          <p:nvPr/>
        </p:nvSpPr>
        <p:spPr>
          <a:xfrm>
            <a:off x="841248" y="2752344"/>
            <a:ext cx="859536" cy="274320"/>
          </a:xfrm>
          <a:prstGeom prst="rect">
            <a:avLst/>
          </a:prstGeom>
          <a:noFill/>
          <a:ln/>
        </p:spPr>
        <p:txBody>
          <a:bodyPr wrap="square" lIns="0" tIns="0" rIns="0" bIns="0" rtlCol="0" anchor="ctr"/>
          <a:lstStyle/>
          <a:p>
            <a:pPr algn="ctr" indent="0" marL="0">
              <a:buNone/>
            </a:pPr>
            <a:r>
              <a:rPr lang="en-US" sz="1050" b="1" spc="60" kern="0" dirty="0">
                <a:solidFill>
                  <a:srgbClr val="FFFFFF"/>
                </a:solidFill>
                <a:latin typeface="Calibri" pitchFamily="34" charset="0"/>
                <a:ea typeface="Calibri" pitchFamily="34" charset="-122"/>
                <a:cs typeface="Calibri" pitchFamily="34" charset="-120"/>
              </a:rPr>
              <a:t>60 min</a:t>
            </a:r>
            <a:endParaRPr lang="en-US" sz="1050" dirty="0"/>
          </a:p>
        </p:txBody>
      </p:sp>
      <p:sp>
        <p:nvSpPr>
          <p:cNvPr id="14" name="Text 12"/>
          <p:cNvSpPr/>
          <p:nvPr/>
        </p:nvSpPr>
        <p:spPr>
          <a:xfrm>
            <a:off x="1865376" y="2523744"/>
            <a:ext cx="2834640" cy="731520"/>
          </a:xfrm>
          <a:prstGeom prst="rect">
            <a:avLst/>
          </a:prstGeom>
          <a:noFill/>
          <a:ln/>
        </p:spPr>
        <p:txBody>
          <a:bodyPr wrap="square" lIns="0" tIns="0" rIns="0" bIns="0" rtlCol="0" anchor="ctr"/>
          <a:lstStyle/>
          <a:p>
            <a:pPr indent="0" marL="0">
              <a:buNone/>
            </a:pPr>
            <a:r>
              <a:rPr lang="en-US" sz="1700" b="1" dirty="0">
                <a:solidFill>
                  <a:srgbClr val="12161F"/>
                </a:solidFill>
                <a:latin typeface="Cambria" pitchFamily="34" charset="0"/>
                <a:ea typeface="Cambria" pitchFamily="34" charset="-122"/>
                <a:cs typeface="Cambria" pitchFamily="34" charset="-120"/>
              </a:rPr>
              <a:t>Scenario</a:t>
            </a:r>
            <a:endParaRPr lang="en-US" sz="1700" dirty="0"/>
          </a:p>
        </p:txBody>
      </p:sp>
      <p:sp>
        <p:nvSpPr>
          <p:cNvPr id="15" name="Text 13"/>
          <p:cNvSpPr/>
          <p:nvPr/>
        </p:nvSpPr>
        <p:spPr>
          <a:xfrm>
            <a:off x="4773168" y="2523744"/>
            <a:ext cx="6577279" cy="731520"/>
          </a:xfrm>
          <a:prstGeom prst="rect">
            <a:avLst/>
          </a:prstGeom>
          <a:noFill/>
          <a:ln/>
        </p:spPr>
        <p:txBody>
          <a:bodyPr wrap="square" lIns="0" tIns="0" rIns="0" bIns="0" rtlCol="0" anchor="ctr"/>
          <a:lstStyle/>
          <a:p>
            <a:pPr indent="0" marL="0">
              <a:buNone/>
            </a:pPr>
            <a:r>
              <a:rPr lang="en-US" sz="1250" dirty="0">
                <a:solidFill>
                  <a:srgbClr val="5A6675"/>
                </a:solidFill>
                <a:latin typeface="Calibri" pitchFamily="34" charset="0"/>
                <a:ea typeface="Calibri" pitchFamily="34" charset="-122"/>
                <a:cs typeface="Calibri" pitchFamily="34" charset="-120"/>
              </a:rPr>
              <a:t>Role-play with consequences. The most expensive block in the tool to write well.</a:t>
            </a:r>
            <a:endParaRPr lang="en-US" sz="1250" dirty="0"/>
          </a:p>
        </p:txBody>
      </p:sp>
      <p:sp>
        <p:nvSpPr>
          <p:cNvPr id="16" name="Shape 14"/>
          <p:cNvSpPr/>
          <p:nvPr/>
        </p:nvSpPr>
        <p:spPr>
          <a:xfrm>
            <a:off x="566928" y="3364992"/>
            <a:ext cx="11057839" cy="731520"/>
          </a:xfrm>
          <a:prstGeom prst="roundRect">
            <a:avLst>
              <a:gd name="adj" fmla="val 11250"/>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7" name="Shape 15"/>
          <p:cNvSpPr/>
          <p:nvPr/>
        </p:nvSpPr>
        <p:spPr>
          <a:xfrm>
            <a:off x="841248" y="3593592"/>
            <a:ext cx="859536" cy="274320"/>
          </a:xfrm>
          <a:prstGeom prst="roundRect">
            <a:avLst>
              <a:gd name="adj" fmla="val 50000"/>
            </a:avLst>
          </a:prstGeom>
          <a:solidFill>
            <a:srgbClr val="12161F"/>
          </a:solidFill>
          <a:ln/>
        </p:spPr>
      </p:sp>
      <p:sp>
        <p:nvSpPr>
          <p:cNvPr id="18" name="Text 16"/>
          <p:cNvSpPr/>
          <p:nvPr/>
        </p:nvSpPr>
        <p:spPr>
          <a:xfrm>
            <a:off x="841248" y="3593592"/>
            <a:ext cx="859536" cy="274320"/>
          </a:xfrm>
          <a:prstGeom prst="rect">
            <a:avLst/>
          </a:prstGeom>
          <a:noFill/>
          <a:ln/>
        </p:spPr>
        <p:txBody>
          <a:bodyPr wrap="square" lIns="0" tIns="0" rIns="0" bIns="0" rtlCol="0" anchor="ctr"/>
          <a:lstStyle/>
          <a:p>
            <a:pPr algn="ctr" indent="0" marL="0">
              <a:buNone/>
            </a:pPr>
            <a:r>
              <a:rPr lang="en-US" sz="1050" b="1" spc="60" kern="0" dirty="0">
                <a:solidFill>
                  <a:srgbClr val="FFFFFF"/>
                </a:solidFill>
                <a:latin typeface="Calibri" pitchFamily="34" charset="0"/>
                <a:ea typeface="Calibri" pitchFamily="34" charset="-122"/>
                <a:cs typeface="Calibri" pitchFamily="34" charset="-120"/>
              </a:rPr>
              <a:t>45 min</a:t>
            </a:r>
            <a:endParaRPr lang="en-US" sz="1050" dirty="0"/>
          </a:p>
        </p:txBody>
      </p:sp>
      <p:sp>
        <p:nvSpPr>
          <p:cNvPr id="19" name="Text 17"/>
          <p:cNvSpPr/>
          <p:nvPr/>
        </p:nvSpPr>
        <p:spPr>
          <a:xfrm>
            <a:off x="1865376" y="3364992"/>
            <a:ext cx="2834640" cy="731520"/>
          </a:xfrm>
          <a:prstGeom prst="rect">
            <a:avLst/>
          </a:prstGeom>
          <a:noFill/>
          <a:ln/>
        </p:spPr>
        <p:txBody>
          <a:bodyPr wrap="square" lIns="0" tIns="0" rIns="0" bIns="0" rtlCol="0" anchor="ctr"/>
          <a:lstStyle/>
          <a:p>
            <a:pPr indent="0" marL="0">
              <a:buNone/>
            </a:pPr>
            <a:r>
              <a:rPr lang="en-US" sz="1700" b="1" dirty="0">
                <a:solidFill>
                  <a:srgbClr val="12161F"/>
                </a:solidFill>
                <a:latin typeface="Cambria" pitchFamily="34" charset="0"/>
                <a:ea typeface="Cambria" pitchFamily="34" charset="-122"/>
                <a:cs typeface="Cambria" pitchFamily="34" charset="-120"/>
              </a:rPr>
              <a:t>Watch me build one</a:t>
            </a:r>
            <a:endParaRPr lang="en-US" sz="1700" dirty="0"/>
          </a:p>
        </p:txBody>
      </p:sp>
      <p:sp>
        <p:nvSpPr>
          <p:cNvPr id="20" name="Text 18"/>
          <p:cNvSpPr/>
          <p:nvPr/>
        </p:nvSpPr>
        <p:spPr>
          <a:xfrm>
            <a:off x="4773168" y="3364992"/>
            <a:ext cx="6577279" cy="731520"/>
          </a:xfrm>
          <a:prstGeom prst="rect">
            <a:avLst/>
          </a:prstGeom>
          <a:noFill/>
          <a:ln/>
        </p:spPr>
        <p:txBody>
          <a:bodyPr wrap="square" lIns="0" tIns="0" rIns="0" bIns="0" rtlCol="0" anchor="ctr"/>
          <a:lstStyle/>
          <a:p>
            <a:pPr indent="0" marL="0">
              <a:buNone/>
            </a:pPr>
            <a:r>
              <a:rPr lang="en-US" sz="1250" dirty="0">
                <a:solidFill>
                  <a:srgbClr val="5A6675"/>
                </a:solidFill>
                <a:latin typeface="Calibri" pitchFamily="34" charset="0"/>
                <a:ea typeface="Calibri" pitchFamily="34" charset="-122"/>
                <a:cs typeface="Calibri" pitchFamily="34" charset="-120"/>
              </a:rPr>
              <a:t>A blank course to a live link. Nothing skipped, including the bits that go wrong.</a:t>
            </a:r>
            <a:endParaRPr lang="en-US" sz="1250" dirty="0"/>
          </a:p>
        </p:txBody>
      </p:sp>
      <p:sp>
        <p:nvSpPr>
          <p:cNvPr id="21" name="Shape 19"/>
          <p:cNvSpPr/>
          <p:nvPr/>
        </p:nvSpPr>
        <p:spPr>
          <a:xfrm>
            <a:off x="566928" y="4206240"/>
            <a:ext cx="11057839" cy="731520"/>
          </a:xfrm>
          <a:prstGeom prst="roundRect">
            <a:avLst>
              <a:gd name="adj" fmla="val 11250"/>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22" name="Shape 20"/>
          <p:cNvSpPr/>
          <p:nvPr/>
        </p:nvSpPr>
        <p:spPr>
          <a:xfrm>
            <a:off x="841248" y="4434840"/>
            <a:ext cx="859536" cy="274320"/>
          </a:xfrm>
          <a:prstGeom prst="roundRect">
            <a:avLst>
              <a:gd name="adj" fmla="val 50000"/>
            </a:avLst>
          </a:prstGeom>
          <a:solidFill>
            <a:srgbClr val="12161F"/>
          </a:solidFill>
          <a:ln/>
        </p:spPr>
      </p:sp>
      <p:sp>
        <p:nvSpPr>
          <p:cNvPr id="23" name="Text 21"/>
          <p:cNvSpPr/>
          <p:nvPr/>
        </p:nvSpPr>
        <p:spPr>
          <a:xfrm>
            <a:off x="841248" y="4434840"/>
            <a:ext cx="859536" cy="274320"/>
          </a:xfrm>
          <a:prstGeom prst="rect">
            <a:avLst/>
          </a:prstGeom>
          <a:noFill/>
          <a:ln/>
        </p:spPr>
        <p:txBody>
          <a:bodyPr wrap="square" lIns="0" tIns="0" rIns="0" bIns="0" rtlCol="0" anchor="ctr"/>
          <a:lstStyle/>
          <a:p>
            <a:pPr algn="ctr" indent="0" marL="0">
              <a:buNone/>
            </a:pPr>
            <a:r>
              <a:rPr lang="en-US" sz="1050" b="1" spc="60" kern="0" dirty="0">
                <a:solidFill>
                  <a:srgbClr val="FFFFFF"/>
                </a:solidFill>
                <a:latin typeface="Calibri" pitchFamily="34" charset="0"/>
                <a:ea typeface="Calibri" pitchFamily="34" charset="-122"/>
                <a:cs typeface="Calibri" pitchFamily="34" charset="-120"/>
              </a:rPr>
              <a:t>30 min</a:t>
            </a:r>
            <a:endParaRPr lang="en-US" sz="1050" dirty="0"/>
          </a:p>
        </p:txBody>
      </p:sp>
      <p:sp>
        <p:nvSpPr>
          <p:cNvPr id="24" name="Text 22"/>
          <p:cNvSpPr/>
          <p:nvPr/>
        </p:nvSpPr>
        <p:spPr>
          <a:xfrm>
            <a:off x="1865376" y="4206240"/>
            <a:ext cx="2834640" cy="731520"/>
          </a:xfrm>
          <a:prstGeom prst="rect">
            <a:avLst/>
          </a:prstGeom>
          <a:noFill/>
          <a:ln/>
        </p:spPr>
        <p:txBody>
          <a:bodyPr wrap="square" lIns="0" tIns="0" rIns="0" bIns="0" rtlCol="0" anchor="ctr"/>
          <a:lstStyle/>
          <a:p>
            <a:pPr indent="0" marL="0">
              <a:buNone/>
            </a:pPr>
            <a:r>
              <a:rPr lang="en-US" sz="1700" b="1" dirty="0">
                <a:solidFill>
                  <a:srgbClr val="12161F"/>
                </a:solidFill>
                <a:latin typeface="Cambria" pitchFamily="34" charset="0"/>
                <a:ea typeface="Cambria" pitchFamily="34" charset="-122"/>
                <a:cs typeface="Cambria" pitchFamily="34" charset="-120"/>
              </a:rPr>
              <a:t>Ship it</a:t>
            </a:r>
            <a:endParaRPr lang="en-US" sz="1700" dirty="0"/>
          </a:p>
        </p:txBody>
      </p:sp>
      <p:sp>
        <p:nvSpPr>
          <p:cNvPr id="25" name="Text 23"/>
          <p:cNvSpPr/>
          <p:nvPr/>
        </p:nvSpPr>
        <p:spPr>
          <a:xfrm>
            <a:off x="4773168" y="4206240"/>
            <a:ext cx="6577279" cy="731520"/>
          </a:xfrm>
          <a:prstGeom prst="rect">
            <a:avLst/>
          </a:prstGeom>
          <a:noFill/>
          <a:ln/>
        </p:spPr>
        <p:txBody>
          <a:bodyPr wrap="square" lIns="0" tIns="0" rIns="0" bIns="0" rtlCol="0" anchor="ctr"/>
          <a:lstStyle/>
          <a:p>
            <a:pPr indent="0" marL="0">
              <a:buNone/>
            </a:pPr>
            <a:r>
              <a:rPr lang="en-US" sz="1250" dirty="0">
                <a:solidFill>
                  <a:srgbClr val="5A6675"/>
                </a:solidFill>
                <a:latin typeface="Calibri" pitchFamily="34" charset="0"/>
                <a:ea typeface="Calibri" pitchFamily="34" charset="-122"/>
                <a:cs typeface="Calibri" pitchFamily="34" charset="-120"/>
              </a:rPr>
              <a:t>Preview like a learner, then the four ways out and what each one can tell you.</a:t>
            </a:r>
            <a:endParaRPr lang="en-US" sz="1250" dirty="0"/>
          </a:p>
        </p:txBody>
      </p:sp>
      <p:sp>
        <p:nvSpPr>
          <p:cNvPr id="26" name="Shape 24"/>
          <p:cNvSpPr/>
          <p:nvPr/>
        </p:nvSpPr>
        <p:spPr>
          <a:xfrm>
            <a:off x="566928" y="5047488"/>
            <a:ext cx="11057839" cy="731520"/>
          </a:xfrm>
          <a:prstGeom prst="roundRect">
            <a:avLst>
              <a:gd name="adj" fmla="val 11250"/>
            </a:avLst>
          </a:prstGeom>
          <a:solidFill>
            <a:srgbClr val="12161F"/>
          </a:solidFill>
          <a:ln w="9525">
            <a:solidFill>
              <a:srgbClr val="12161F"/>
            </a:solidFill>
            <a:prstDash val="solid"/>
          </a:ln>
          <a:effectLst>
            <a:outerShdw sx="100000" sy="100000" kx="0" ky="0" algn="bl" rotWithShape="0" blurRad="177800" dist="38100" dir="5400000">
              <a:srgbClr val="9AA6B4">
                <a:alpha val="32000"/>
              </a:srgbClr>
            </a:outerShdw>
          </a:effectLst>
        </p:spPr>
      </p:sp>
      <p:sp>
        <p:nvSpPr>
          <p:cNvPr id="27" name="Shape 25"/>
          <p:cNvSpPr/>
          <p:nvPr/>
        </p:nvSpPr>
        <p:spPr>
          <a:xfrm>
            <a:off x="841248" y="5276088"/>
            <a:ext cx="859536" cy="274320"/>
          </a:xfrm>
          <a:prstGeom prst="roundRect">
            <a:avLst>
              <a:gd name="adj" fmla="val 50000"/>
            </a:avLst>
          </a:prstGeom>
          <a:solidFill>
            <a:srgbClr val="ED6A2A"/>
          </a:solidFill>
          <a:ln/>
        </p:spPr>
      </p:sp>
      <p:sp>
        <p:nvSpPr>
          <p:cNvPr id="28" name="Text 26"/>
          <p:cNvSpPr/>
          <p:nvPr/>
        </p:nvSpPr>
        <p:spPr>
          <a:xfrm>
            <a:off x="841248" y="5276088"/>
            <a:ext cx="859536" cy="274320"/>
          </a:xfrm>
          <a:prstGeom prst="rect">
            <a:avLst/>
          </a:prstGeom>
          <a:noFill/>
          <a:ln/>
        </p:spPr>
        <p:txBody>
          <a:bodyPr wrap="square" lIns="0" tIns="0" rIns="0" bIns="0" rtlCol="0" anchor="ctr"/>
          <a:lstStyle/>
          <a:p>
            <a:pPr algn="ctr" indent="0" marL="0">
              <a:buNone/>
            </a:pPr>
            <a:r>
              <a:rPr lang="en-US" sz="1050" b="1" spc="60" kern="0" dirty="0">
                <a:solidFill>
                  <a:srgbClr val="FFFFFF"/>
                </a:solidFill>
                <a:latin typeface="Calibri" pitchFamily="34" charset="0"/>
                <a:ea typeface="Calibri" pitchFamily="34" charset="-122"/>
                <a:cs typeface="Calibri" pitchFamily="34" charset="-120"/>
              </a:rPr>
              <a:t>15 min</a:t>
            </a:r>
            <a:endParaRPr lang="en-US" sz="1050" dirty="0"/>
          </a:p>
        </p:txBody>
      </p:sp>
      <p:sp>
        <p:nvSpPr>
          <p:cNvPr id="29" name="Text 27"/>
          <p:cNvSpPr/>
          <p:nvPr/>
        </p:nvSpPr>
        <p:spPr>
          <a:xfrm>
            <a:off x="1865376" y="5047488"/>
            <a:ext cx="2834640" cy="73152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Your turn</a:t>
            </a:r>
            <a:endParaRPr lang="en-US" sz="1700" dirty="0"/>
          </a:p>
        </p:txBody>
      </p:sp>
      <p:sp>
        <p:nvSpPr>
          <p:cNvPr id="30" name="Text 28"/>
          <p:cNvSpPr/>
          <p:nvPr/>
        </p:nvSpPr>
        <p:spPr>
          <a:xfrm>
            <a:off x="4773168" y="5047488"/>
            <a:ext cx="6577279" cy="731520"/>
          </a:xfrm>
          <a:prstGeom prst="rect">
            <a:avLst/>
          </a:prstGeom>
          <a:noFill/>
          <a:ln/>
        </p:spPr>
        <p:txBody>
          <a:bodyPr wrap="square" lIns="0" tIns="0" rIns="0" bIns="0" rtlCol="0" anchor="ctr"/>
          <a:lstStyle/>
          <a:p>
            <a:pPr indent="0" marL="0">
              <a:buNone/>
            </a:pPr>
            <a:r>
              <a:rPr lang="en-US" sz="1250" dirty="0">
                <a:solidFill>
                  <a:srgbClr val="A9B3C0"/>
                </a:solidFill>
                <a:latin typeface="Calibri" pitchFamily="34" charset="0"/>
                <a:ea typeface="Calibri" pitchFamily="34" charset="-122"/>
                <a:cs typeface="Calibri" pitchFamily="34" charset="-120"/>
              </a:rPr>
              <a:t>The capstone brief. Same shape, your subject, due Monday morning.</a:t>
            </a:r>
            <a:endParaRPr lang="en-US" sz="1250" dirty="0"/>
          </a:p>
        </p:txBody>
      </p:sp>
      <p:sp>
        <p:nvSpPr>
          <p:cNvPr id="31" name="Text 29"/>
          <p:cNvSpPr/>
          <p:nvPr/>
        </p:nvSpPr>
        <p:spPr>
          <a:xfrm>
            <a:off x="566928" y="5943600"/>
            <a:ext cx="11057839" cy="274320"/>
          </a:xfrm>
          <a:prstGeom prst="rect">
            <a:avLst/>
          </a:prstGeom>
          <a:noFill/>
          <a:ln/>
        </p:spPr>
        <p:txBody>
          <a:bodyPr wrap="square" lIns="0" tIns="0" rIns="0" bIns="0" rtlCol="0" anchor="ctr"/>
          <a:lstStyle/>
          <a:p>
            <a:pPr indent="0" marL="0">
              <a:buNone/>
            </a:pPr>
            <a:r>
              <a:rPr lang="en-US" sz="1100" i="1" dirty="0">
                <a:solidFill>
                  <a:srgbClr val="5A6675"/>
                </a:solidFill>
                <a:latin typeface="Calibri" pitchFamily="34" charset="0"/>
                <a:ea typeface="Calibri" pitchFamily="34" charset="-122"/>
                <a:cs typeface="Calibri" pitchFamily="34" charset="-120"/>
              </a:rPr>
              <a:t>Breaks fall between the bands. If you run late, take it out of the morning — the demo cannot be rushed.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161F"/>
        </a:solidFill>
      </p:bgPr>
    </p:bg>
    <p:spTree>
      <p:nvGrpSpPr>
        <p:cNvPr id="1" name=""/>
        <p:cNvGrpSpPr/>
        <p:nvPr/>
      </p:nvGrpSpPr>
      <p:grpSpPr>
        <a:xfrm>
          <a:off x="0" y="0"/>
          <a:ext cx="0" cy="0"/>
          <a:chOff x="0" y="0"/>
          <a:chExt cx="0" cy="0"/>
        </a:xfrm>
      </p:grpSpPr>
      <p:sp>
        <p:nvSpPr>
          <p:cNvPr id="2" name="Text 0"/>
          <p:cNvSpPr/>
          <p:nvPr/>
        </p:nvSpPr>
        <p:spPr>
          <a:xfrm>
            <a:off x="566928" y="2148840"/>
            <a:ext cx="6634704" cy="274320"/>
          </a:xfrm>
          <a:prstGeom prst="rect">
            <a:avLst/>
          </a:prstGeom>
          <a:noFill/>
          <a:ln/>
        </p:spPr>
        <p:txBody>
          <a:bodyPr wrap="square" lIns="0" tIns="0" rIns="0" bIns="0" rtlCol="0" anchor="ctr"/>
          <a:lstStyle/>
          <a:p>
            <a:pPr indent="0" marL="0">
              <a:buNone/>
            </a:pPr>
            <a:r>
              <a:rPr lang="en-US" sz="1200" b="1" spc="220" kern="0" dirty="0">
                <a:solidFill>
                  <a:srgbClr val="ED6A2A"/>
                </a:solidFill>
                <a:latin typeface="Calibri" pitchFamily="34" charset="0"/>
                <a:ea typeface="Calibri" pitchFamily="34" charset="-122"/>
                <a:cs typeface="Calibri" pitchFamily="34" charset="-120"/>
              </a:rPr>
              <a:t>SECTION ONE</a:t>
            </a:r>
            <a:endParaRPr lang="en-US" sz="1200" dirty="0"/>
          </a:p>
        </p:txBody>
      </p:sp>
      <p:sp>
        <p:nvSpPr>
          <p:cNvPr id="3" name="Text 1"/>
          <p:cNvSpPr/>
          <p:nvPr/>
        </p:nvSpPr>
        <p:spPr>
          <a:xfrm>
            <a:off x="566928" y="2487168"/>
            <a:ext cx="6855860" cy="10515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Buttons that say</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what they do</a:t>
            </a:r>
            <a:endParaRPr lang="en-US" sz="4000" dirty="0"/>
          </a:p>
        </p:txBody>
      </p:sp>
      <p:sp>
        <p:nvSpPr>
          <p:cNvPr id="4" name="Text 2"/>
          <p:cNvSpPr/>
          <p:nvPr/>
        </p:nvSpPr>
        <p:spPr>
          <a:xfrm>
            <a:off x="566928" y="3712464"/>
            <a:ext cx="5971233" cy="822960"/>
          </a:xfrm>
          <a:prstGeom prst="rect">
            <a:avLst/>
          </a:prstGeom>
          <a:noFill/>
          <a:ln/>
        </p:spPr>
        <p:txBody>
          <a:bodyPr wrap="square" lIns="0" tIns="0" rIns="0" bIns="0" rtlCol="0" anchor="t"/>
          <a:lstStyle/>
          <a:p>
            <a:pPr indent="0" marL="0">
              <a:lnSpc>
                <a:spcPts val="2200"/>
              </a:lnSpc>
              <a:buNone/>
            </a:pPr>
            <a:r>
              <a:rPr lang="en-US" sz="1450" dirty="0">
                <a:solidFill>
                  <a:srgbClr val="A9B3C0"/>
                </a:solidFill>
                <a:latin typeface="Calibri" pitchFamily="34" charset="0"/>
                <a:ea typeface="Calibri" pitchFamily="34" charset="-122"/>
                <a:cs typeface="Calibri" pitchFamily="34" charset="-120"/>
              </a:rPr>
              <a:t>Two blocks, five destinations and one habit that separates a usable course from a guessing game.</a:t>
            </a:r>
            <a:endParaRPr lang="en-US" sz="1450" dirty="0"/>
          </a:p>
        </p:txBody>
      </p:sp>
      <p:sp>
        <p:nvSpPr>
          <p:cNvPr id="5" name="Shape 3"/>
          <p:cNvSpPr/>
          <p:nvPr/>
        </p:nvSpPr>
        <p:spPr>
          <a:xfrm>
            <a:off x="9338767" y="2331720"/>
            <a:ext cx="1920240" cy="475488"/>
          </a:xfrm>
          <a:prstGeom prst="roundRect">
            <a:avLst>
              <a:gd name="adj" fmla="val 15385"/>
            </a:avLst>
          </a:prstGeom>
          <a:solidFill>
            <a:srgbClr val="1C2230"/>
          </a:solidFill>
          <a:ln w="12700">
            <a:solidFill>
              <a:srgbClr val="2A3242"/>
            </a:solidFill>
            <a:prstDash val="solid"/>
          </a:ln>
        </p:spPr>
      </p:sp>
      <p:sp>
        <p:nvSpPr>
          <p:cNvPr id="6" name="Shape 4"/>
          <p:cNvSpPr/>
          <p:nvPr/>
        </p:nvSpPr>
        <p:spPr>
          <a:xfrm>
            <a:off x="9466783" y="2990088"/>
            <a:ext cx="1920240" cy="475488"/>
          </a:xfrm>
          <a:prstGeom prst="roundRect">
            <a:avLst>
              <a:gd name="adj" fmla="val 15385"/>
            </a:avLst>
          </a:prstGeom>
          <a:solidFill>
            <a:srgbClr val="1C2230"/>
          </a:solidFill>
          <a:ln w="12700">
            <a:solidFill>
              <a:srgbClr val="2A3242"/>
            </a:solidFill>
            <a:prstDash val="solid"/>
          </a:ln>
        </p:spPr>
      </p:sp>
      <p:sp>
        <p:nvSpPr>
          <p:cNvPr id="7" name="Shape 5"/>
          <p:cNvSpPr/>
          <p:nvPr/>
        </p:nvSpPr>
        <p:spPr>
          <a:xfrm>
            <a:off x="9594799" y="3648456"/>
            <a:ext cx="1920240" cy="475488"/>
          </a:xfrm>
          <a:prstGeom prst="roundRect">
            <a:avLst>
              <a:gd name="adj" fmla="val 15385"/>
            </a:avLst>
          </a:prstGeom>
          <a:solidFill>
            <a:srgbClr val="ED6A2A"/>
          </a:solidFill>
          <a:ln w="12700">
            <a:solidFill>
              <a:srgbClr val="ED6A2A"/>
            </a:solidFill>
            <a:prstDash val="solid"/>
          </a:ln>
        </p:spPr>
      </p:sp>
      <p:sp>
        <p:nvSpPr>
          <p:cNvPr id="8" name="Text 6"/>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A9B3C0"/>
                </a:solidFill>
                <a:latin typeface="Calibri" pitchFamily="34" charset="0"/>
                <a:ea typeface="Calibri" pitchFamily="34" charset="-122"/>
                <a:cs typeface="Calibri" pitchFamily="34" charset="-120"/>
              </a:rPr>
              <a:t>Rise 360  ·  Day 4  ·  Decide, then ship</a:t>
            </a:r>
            <a:endParaRPr lang="en-US" sz="950" dirty="0"/>
          </a:p>
        </p:txBody>
      </p:sp>
      <p:sp>
        <p:nvSpPr>
          <p:cNvPr id="9" name="Text 7"/>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A9B3C0"/>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Two blocks, one idea</a:t>
            </a:r>
            <a:endParaRPr lang="en-US" sz="3000" dirty="0"/>
          </a:p>
        </p:txBody>
      </p:sp>
      <p:sp>
        <p:nvSpPr>
          <p:cNvPr id="3" name="Text 1"/>
          <p:cNvSpPr/>
          <p:nvPr/>
        </p:nvSpPr>
        <p:spPr>
          <a:xfrm>
            <a:off x="566928" y="1005840"/>
            <a:ext cx="9067428"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A button is a promise about what happens next. A stack is two or three, offered side by side.</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4  ·  Decide, then ship</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5</a:t>
            </a:r>
            <a:endParaRPr lang="en-US" sz="950" dirty="0"/>
          </a:p>
        </p:txBody>
      </p:sp>
      <p:sp>
        <p:nvSpPr>
          <p:cNvPr id="6" name="Shape 4"/>
          <p:cNvSpPr/>
          <p:nvPr/>
        </p:nvSpPr>
        <p:spPr>
          <a:xfrm>
            <a:off x="566928" y="1627632"/>
            <a:ext cx="5300320" cy="3968496"/>
          </a:xfrm>
          <a:prstGeom prst="roundRect">
            <a:avLst>
              <a:gd name="adj" fmla="val 2074"/>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7" name="Image 0" descr="/home/user/parallelism/rise360-curriculum/day2/assets/block-screenshots/button.png">    </p:cNvPr>
          <p:cNvPicPr>
            <a:picLocks noChangeAspect="1"/>
          </p:cNvPicPr>
          <p:nvPr/>
        </p:nvPicPr>
        <p:blipFill>
          <a:blip r:embed="rId1"/>
          <a:stretch>
            <a:fillRect/>
          </a:stretch>
        </p:blipFill>
        <p:spPr>
          <a:xfrm>
            <a:off x="1799768" y="1810512"/>
            <a:ext cx="2834640" cy="1966893"/>
          </a:xfrm>
          <a:prstGeom prst="rect">
            <a:avLst/>
          </a:prstGeom>
        </p:spPr>
      </p:pic>
      <p:sp>
        <p:nvSpPr>
          <p:cNvPr id="8" name="Text 5"/>
          <p:cNvSpPr/>
          <p:nvPr/>
        </p:nvSpPr>
        <p:spPr>
          <a:xfrm>
            <a:off x="877824" y="3905421"/>
            <a:ext cx="4678528" cy="310896"/>
          </a:xfrm>
          <a:prstGeom prst="rect">
            <a:avLst/>
          </a:prstGeom>
          <a:noFill/>
          <a:ln/>
        </p:spPr>
        <p:txBody>
          <a:bodyPr wrap="square" lIns="0" tIns="0" rIns="0" bIns="0" rtlCol="0" anchor="ctr"/>
          <a:lstStyle/>
          <a:p>
            <a:pPr algn="ctr" indent="0" marL="0">
              <a:buNone/>
            </a:pPr>
            <a:r>
              <a:rPr lang="en-US" sz="1800" b="1" dirty="0">
                <a:solidFill>
                  <a:srgbClr val="12161F"/>
                </a:solidFill>
                <a:latin typeface="Cambria" pitchFamily="34" charset="0"/>
                <a:ea typeface="Cambria" pitchFamily="34" charset="-122"/>
                <a:cs typeface="Cambria" pitchFamily="34" charset="-120"/>
              </a:rPr>
              <a:t>Button</a:t>
            </a:r>
            <a:endParaRPr lang="en-US" sz="1800" dirty="0"/>
          </a:p>
        </p:txBody>
      </p:sp>
      <p:sp>
        <p:nvSpPr>
          <p:cNvPr id="9" name="Text 6"/>
          <p:cNvSpPr/>
          <p:nvPr/>
        </p:nvSpPr>
        <p:spPr>
          <a:xfrm>
            <a:off x="877824" y="4289469"/>
            <a:ext cx="4678528" cy="566928"/>
          </a:xfrm>
          <a:prstGeom prst="rect">
            <a:avLst/>
          </a:prstGeom>
          <a:noFill/>
          <a:ln/>
        </p:spPr>
        <p:txBody>
          <a:bodyPr wrap="square" lIns="0" tIns="0" rIns="0" bIns="0" rtlCol="0" anchor="t"/>
          <a:lstStyle/>
          <a:p>
            <a:pPr indent="0" marL="0">
              <a:lnSpc>
                <a:spcPts val="1700"/>
              </a:lnSpc>
              <a:buNone/>
            </a:pPr>
            <a:r>
              <a:rPr lang="en-US" sz="1250" b="1" dirty="0">
                <a:solidFill>
                  <a:srgbClr val="ED6A2A"/>
                </a:solidFill>
                <a:latin typeface="Calibri" pitchFamily="34" charset="0"/>
                <a:ea typeface="Calibri" pitchFamily="34" charset="-122"/>
                <a:cs typeface="Calibri" pitchFamily="34" charset="-120"/>
              </a:rPr>
              <a:t>Use it when  </a:t>
            </a:r>
            <a:pPr indent="0" marL="0">
              <a:lnSpc>
                <a:spcPts val="1700"/>
              </a:lnSpc>
              <a:buNone/>
            </a:pPr>
            <a:r>
              <a:rPr lang="en-US" sz="1250" dirty="0">
                <a:solidFill>
                  <a:srgbClr val="5A6675"/>
                </a:solidFill>
                <a:latin typeface="Calibri" pitchFamily="34" charset="0"/>
                <a:ea typeface="Calibri" pitchFamily="34" charset="-122"/>
                <a:cs typeface="Calibri" pitchFamily="34" charset="-120"/>
              </a:rPr>
              <a:t>one clear next action sits at the end of a run of content.</a:t>
            </a:r>
            <a:endParaRPr lang="en-US" sz="1250" dirty="0"/>
          </a:p>
        </p:txBody>
      </p:sp>
      <p:sp>
        <p:nvSpPr>
          <p:cNvPr id="10" name="Text 7"/>
          <p:cNvSpPr/>
          <p:nvPr/>
        </p:nvSpPr>
        <p:spPr>
          <a:xfrm>
            <a:off x="877824" y="4892973"/>
            <a:ext cx="4678528" cy="621792"/>
          </a:xfrm>
          <a:prstGeom prst="rect">
            <a:avLst/>
          </a:prstGeom>
          <a:noFill/>
          <a:ln/>
        </p:spPr>
        <p:txBody>
          <a:bodyPr wrap="square" lIns="0" tIns="0" rIns="0" bIns="0" rtlCol="0" anchor="t"/>
          <a:lstStyle/>
          <a:p>
            <a:pPr indent="0" marL="0">
              <a:lnSpc>
                <a:spcPts val="1700"/>
              </a:lnSpc>
              <a:buNone/>
            </a:pPr>
            <a:r>
              <a:rPr lang="en-US" sz="1250" b="1" dirty="0">
                <a:solidFill>
                  <a:srgbClr val="12161F"/>
                </a:solidFill>
                <a:latin typeface="Calibri" pitchFamily="34" charset="0"/>
                <a:ea typeface="Calibri" pitchFamily="34" charset="-122"/>
                <a:cs typeface="Calibri" pitchFamily="34" charset="-120"/>
              </a:rPr>
              <a:t>Example  </a:t>
            </a:r>
            <a:pPr indent="0" marL="0">
              <a:lnSpc>
                <a:spcPts val="1700"/>
              </a:lnSpc>
              <a:buNone/>
            </a:pPr>
            <a:r>
              <a:rPr lang="en-US" sz="1250" dirty="0">
                <a:solidFill>
                  <a:srgbClr val="5A6675"/>
                </a:solidFill>
                <a:latin typeface="Calibri" pitchFamily="34" charset="0"/>
                <a:ea typeface="Calibri" pitchFamily="34" charset="-122"/>
                <a:cs typeface="Calibri" pitchFamily="34" charset="-120"/>
              </a:rPr>
              <a:t>Open the one-page feedback template — a file the learner is about to need.</a:t>
            </a:r>
            <a:endParaRPr lang="en-US" sz="1250" dirty="0"/>
          </a:p>
        </p:txBody>
      </p:sp>
      <p:sp>
        <p:nvSpPr>
          <p:cNvPr id="11" name="Shape 8"/>
          <p:cNvSpPr/>
          <p:nvPr/>
        </p:nvSpPr>
        <p:spPr>
          <a:xfrm>
            <a:off x="6324448" y="1627632"/>
            <a:ext cx="5300320" cy="3968496"/>
          </a:xfrm>
          <a:prstGeom prst="roundRect">
            <a:avLst>
              <a:gd name="adj" fmla="val 2074"/>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12" name="Image 1" descr="/home/user/parallelism/rise360-curriculum/day2/assets/block-screenshots/button_stack.png">    </p:cNvPr>
          <p:cNvPicPr>
            <a:picLocks noChangeAspect="1"/>
          </p:cNvPicPr>
          <p:nvPr/>
        </p:nvPicPr>
        <p:blipFill>
          <a:blip r:embed="rId2"/>
          <a:stretch>
            <a:fillRect/>
          </a:stretch>
        </p:blipFill>
        <p:spPr>
          <a:xfrm>
            <a:off x="7557287" y="1810512"/>
            <a:ext cx="2834640" cy="1966893"/>
          </a:xfrm>
          <a:prstGeom prst="rect">
            <a:avLst/>
          </a:prstGeom>
        </p:spPr>
      </p:pic>
      <p:sp>
        <p:nvSpPr>
          <p:cNvPr id="13" name="Text 9"/>
          <p:cNvSpPr/>
          <p:nvPr/>
        </p:nvSpPr>
        <p:spPr>
          <a:xfrm>
            <a:off x="6635344" y="3905421"/>
            <a:ext cx="4678528" cy="310896"/>
          </a:xfrm>
          <a:prstGeom prst="rect">
            <a:avLst/>
          </a:prstGeom>
          <a:noFill/>
          <a:ln/>
        </p:spPr>
        <p:txBody>
          <a:bodyPr wrap="square" lIns="0" tIns="0" rIns="0" bIns="0" rtlCol="0" anchor="ctr"/>
          <a:lstStyle/>
          <a:p>
            <a:pPr algn="ctr" indent="0" marL="0">
              <a:buNone/>
            </a:pPr>
            <a:r>
              <a:rPr lang="en-US" sz="1800" b="1" dirty="0">
                <a:solidFill>
                  <a:srgbClr val="12161F"/>
                </a:solidFill>
                <a:latin typeface="Cambria" pitchFamily="34" charset="0"/>
                <a:ea typeface="Cambria" pitchFamily="34" charset="-122"/>
                <a:cs typeface="Cambria" pitchFamily="34" charset="-120"/>
              </a:rPr>
              <a:t>Button stack</a:t>
            </a:r>
            <a:endParaRPr lang="en-US" sz="1800" dirty="0"/>
          </a:p>
        </p:txBody>
      </p:sp>
      <p:sp>
        <p:nvSpPr>
          <p:cNvPr id="14" name="Text 10"/>
          <p:cNvSpPr/>
          <p:nvPr/>
        </p:nvSpPr>
        <p:spPr>
          <a:xfrm>
            <a:off x="6635344" y="4289469"/>
            <a:ext cx="4678528" cy="566928"/>
          </a:xfrm>
          <a:prstGeom prst="rect">
            <a:avLst/>
          </a:prstGeom>
          <a:noFill/>
          <a:ln/>
        </p:spPr>
        <p:txBody>
          <a:bodyPr wrap="square" lIns="0" tIns="0" rIns="0" bIns="0" rtlCol="0" anchor="t"/>
          <a:lstStyle/>
          <a:p>
            <a:pPr indent="0" marL="0">
              <a:lnSpc>
                <a:spcPts val="1700"/>
              </a:lnSpc>
              <a:buNone/>
            </a:pPr>
            <a:r>
              <a:rPr lang="en-US" sz="1250" b="1" dirty="0">
                <a:solidFill>
                  <a:srgbClr val="ED6A2A"/>
                </a:solidFill>
                <a:latin typeface="Calibri" pitchFamily="34" charset="0"/>
                <a:ea typeface="Calibri" pitchFamily="34" charset="-122"/>
                <a:cs typeface="Calibri" pitchFamily="34" charset="-120"/>
              </a:rPr>
              <a:t>Use it when  </a:t>
            </a:r>
            <a:pPr indent="0" marL="0">
              <a:lnSpc>
                <a:spcPts val="1700"/>
              </a:lnSpc>
              <a:buNone/>
            </a:pPr>
            <a:r>
              <a:rPr lang="en-US" sz="1250" dirty="0">
                <a:solidFill>
                  <a:srgbClr val="5A6675"/>
                </a:solidFill>
                <a:latin typeface="Calibri" pitchFamily="34" charset="0"/>
                <a:ea typeface="Calibri" pitchFamily="34" charset="-122"/>
                <a:cs typeface="Calibri" pitchFamily="34" charset="-120"/>
              </a:rPr>
              <a:t>more than one next move is legitimate and the learner should pick.</a:t>
            </a:r>
            <a:endParaRPr lang="en-US" sz="1250" dirty="0"/>
          </a:p>
        </p:txBody>
      </p:sp>
      <p:sp>
        <p:nvSpPr>
          <p:cNvPr id="15" name="Text 11"/>
          <p:cNvSpPr/>
          <p:nvPr/>
        </p:nvSpPr>
        <p:spPr>
          <a:xfrm>
            <a:off x="6635344" y="4892973"/>
            <a:ext cx="4678528" cy="621792"/>
          </a:xfrm>
          <a:prstGeom prst="rect">
            <a:avLst/>
          </a:prstGeom>
          <a:noFill/>
          <a:ln/>
        </p:spPr>
        <p:txBody>
          <a:bodyPr wrap="square" lIns="0" tIns="0" rIns="0" bIns="0" rtlCol="0" anchor="t"/>
          <a:lstStyle/>
          <a:p>
            <a:pPr indent="0" marL="0">
              <a:lnSpc>
                <a:spcPts val="1700"/>
              </a:lnSpc>
              <a:buNone/>
            </a:pPr>
            <a:r>
              <a:rPr lang="en-US" sz="1250" b="1" dirty="0">
                <a:solidFill>
                  <a:srgbClr val="12161F"/>
                </a:solidFill>
                <a:latin typeface="Calibri" pitchFamily="34" charset="0"/>
                <a:ea typeface="Calibri" pitchFamily="34" charset="-122"/>
                <a:cs typeface="Calibri" pitchFamily="34" charset="-120"/>
              </a:rPr>
              <a:t>Example  </a:t>
            </a:r>
            <a:pPr indent="0" marL="0">
              <a:lnSpc>
                <a:spcPts val="1700"/>
              </a:lnSpc>
              <a:buNone/>
            </a:pPr>
            <a:r>
              <a:rPr lang="en-US" sz="1250" dirty="0">
                <a:solidFill>
                  <a:srgbClr val="5A6675"/>
                </a:solidFill>
                <a:latin typeface="Calibri" pitchFamily="34" charset="0"/>
                <a:ea typeface="Calibri" pitchFamily="34" charset="-122"/>
                <a:cs typeface="Calibri" pitchFamily="34" charset="-120"/>
              </a:rPr>
              <a:t>“Take the check” beside “Read the template again”, at the end of a lesson.</a:t>
            </a:r>
            <a:endParaRPr lang="en-US" sz="1250" dirty="0"/>
          </a:p>
        </p:txBody>
      </p:sp>
      <p:sp>
        <p:nvSpPr>
          <p:cNvPr id="16" name="Shape 12"/>
          <p:cNvSpPr/>
          <p:nvPr/>
        </p:nvSpPr>
        <p:spPr>
          <a:xfrm>
            <a:off x="566928" y="5760720"/>
            <a:ext cx="11057839" cy="512064"/>
          </a:xfrm>
          <a:prstGeom prst="roundRect">
            <a:avLst>
              <a:gd name="adj" fmla="val 16071"/>
            </a:avLst>
          </a:prstGeom>
          <a:solidFill>
            <a:srgbClr val="FFF4EE"/>
          </a:solidFill>
          <a:ln w="9525">
            <a:solidFill>
              <a:srgbClr val="F6C7AC"/>
            </a:solidFill>
            <a:prstDash val="solid"/>
          </a:ln>
        </p:spPr>
      </p:sp>
      <p:sp>
        <p:nvSpPr>
          <p:cNvPr id="17" name="Shape 13"/>
          <p:cNvSpPr/>
          <p:nvPr/>
        </p:nvSpPr>
        <p:spPr>
          <a:xfrm>
            <a:off x="786384" y="5916168"/>
            <a:ext cx="201168" cy="201168"/>
          </a:xfrm>
          <a:prstGeom prst="ellipse">
            <a:avLst/>
          </a:prstGeom>
          <a:solidFill>
            <a:srgbClr val="ED6A2A"/>
          </a:solidFill>
          <a:ln/>
        </p:spPr>
      </p:sp>
      <p:sp>
        <p:nvSpPr>
          <p:cNvPr id="18" name="Text 14"/>
          <p:cNvSpPr/>
          <p:nvPr/>
        </p:nvSpPr>
        <p:spPr>
          <a:xfrm>
            <a:off x="1115568" y="5760720"/>
            <a:ext cx="10253167" cy="512064"/>
          </a:xfrm>
          <a:prstGeom prst="rect">
            <a:avLst/>
          </a:prstGeom>
          <a:noFill/>
          <a:ln/>
        </p:spPr>
        <p:txBody>
          <a:bodyPr wrap="square" lIns="0" tIns="0" rIns="0" bIns="0" rtlCol="0" anchor="ctr"/>
          <a:lstStyle/>
          <a:p>
            <a:pPr indent="0" marL="0">
              <a:lnSpc>
                <a:spcPts val="1700"/>
              </a:lnSpc>
              <a:buNone/>
            </a:pPr>
            <a:r>
              <a:rPr lang="en-US" sz="1200" dirty="0">
                <a:solidFill>
                  <a:srgbClr val="7A3F1C"/>
                </a:solidFill>
                <a:latin typeface="Calibri" pitchFamily="34" charset="0"/>
                <a:ea typeface="Calibri" pitchFamily="34" charset="-122"/>
                <a:cs typeface="Calibri" pitchFamily="34" charset="-120"/>
              </a:rPr>
              <a:t>Day 3 taught you to label them. Today: where they can send people, and what you can change about how they look.</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Where a button can send someone</a:t>
            </a:r>
            <a:endParaRPr lang="en-US" sz="3000" dirty="0"/>
          </a:p>
        </p:txBody>
      </p:sp>
      <p:sp>
        <p:nvSpPr>
          <p:cNvPr id="3" name="Text 1"/>
          <p:cNvSpPr/>
          <p:nvPr/>
        </p:nvSpPr>
        <p:spPr>
          <a:xfrm>
            <a:off x="566928" y="1005840"/>
            <a:ext cx="9067428"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Five destinations. Pick from the Destination drop-down on the block.</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4  ·  Decide, then ship</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6</a:t>
            </a:r>
            <a:endParaRPr lang="en-US" sz="950" dirty="0"/>
          </a:p>
        </p:txBody>
      </p:sp>
      <p:sp>
        <p:nvSpPr>
          <p:cNvPr id="6" name="Shape 4"/>
          <p:cNvSpPr/>
          <p:nvPr/>
        </p:nvSpPr>
        <p:spPr>
          <a:xfrm>
            <a:off x="566928" y="1700784"/>
            <a:ext cx="11057839" cy="402336"/>
          </a:xfrm>
          <a:prstGeom prst="roundRect">
            <a:avLst>
              <a:gd name="adj" fmla="val 13636"/>
            </a:avLst>
          </a:prstGeom>
          <a:solidFill>
            <a:srgbClr val="12161F"/>
          </a:solidFill>
          <a:ln/>
        </p:spPr>
      </p:sp>
      <p:sp>
        <p:nvSpPr>
          <p:cNvPr id="7" name="Text 5"/>
          <p:cNvSpPr/>
          <p:nvPr/>
        </p:nvSpPr>
        <p:spPr>
          <a:xfrm>
            <a:off x="841248" y="1700784"/>
            <a:ext cx="2816352" cy="402336"/>
          </a:xfrm>
          <a:prstGeom prst="rect">
            <a:avLst/>
          </a:prstGeom>
          <a:noFill/>
          <a:ln/>
        </p:spPr>
        <p:txBody>
          <a:bodyPr wrap="square" lIns="0" tIns="0" rIns="0" bIns="0" rtlCol="0" anchor="ctr"/>
          <a:lstStyle/>
          <a:p>
            <a:pPr indent="0" marL="0">
              <a:buNone/>
            </a:pPr>
            <a:r>
              <a:rPr lang="en-US" sz="1150" b="1" spc="80" kern="0" dirty="0">
                <a:solidFill>
                  <a:srgbClr val="FFFFFF"/>
                </a:solidFill>
                <a:latin typeface="Calibri" pitchFamily="34" charset="0"/>
                <a:ea typeface="Calibri" pitchFamily="34" charset="-122"/>
                <a:cs typeface="Calibri" pitchFamily="34" charset="-120"/>
              </a:rPr>
              <a:t>Destination</a:t>
            </a:r>
            <a:endParaRPr lang="en-US" sz="1150" dirty="0"/>
          </a:p>
        </p:txBody>
      </p:sp>
      <p:sp>
        <p:nvSpPr>
          <p:cNvPr id="8" name="Text 6"/>
          <p:cNvSpPr/>
          <p:nvPr/>
        </p:nvSpPr>
        <p:spPr>
          <a:xfrm>
            <a:off x="4041648" y="1700784"/>
            <a:ext cx="3547872" cy="402336"/>
          </a:xfrm>
          <a:prstGeom prst="rect">
            <a:avLst/>
          </a:prstGeom>
          <a:noFill/>
          <a:ln/>
        </p:spPr>
        <p:txBody>
          <a:bodyPr wrap="square" lIns="0" tIns="0" rIns="0" bIns="0" rtlCol="0" anchor="ctr"/>
          <a:lstStyle/>
          <a:p>
            <a:pPr indent="0" marL="0">
              <a:buNone/>
            </a:pPr>
            <a:r>
              <a:rPr lang="en-US" sz="1150" b="1" spc="80" kern="0" dirty="0">
                <a:solidFill>
                  <a:srgbClr val="FFFFFF"/>
                </a:solidFill>
                <a:latin typeface="Calibri" pitchFamily="34" charset="0"/>
                <a:ea typeface="Calibri" pitchFamily="34" charset="-122"/>
                <a:cs typeface="Calibri" pitchFamily="34" charset="-120"/>
              </a:rPr>
              <a:t>What happens</a:t>
            </a:r>
            <a:endParaRPr lang="en-US" sz="1150" dirty="0"/>
          </a:p>
        </p:txBody>
      </p:sp>
      <p:sp>
        <p:nvSpPr>
          <p:cNvPr id="9" name="Text 7"/>
          <p:cNvSpPr/>
          <p:nvPr/>
        </p:nvSpPr>
        <p:spPr>
          <a:xfrm>
            <a:off x="7973568" y="1700784"/>
            <a:ext cx="3541471" cy="402336"/>
          </a:xfrm>
          <a:prstGeom prst="rect">
            <a:avLst/>
          </a:prstGeom>
          <a:noFill/>
          <a:ln/>
        </p:spPr>
        <p:txBody>
          <a:bodyPr wrap="square" lIns="0" tIns="0" rIns="0" bIns="0" rtlCol="0" anchor="ctr"/>
          <a:lstStyle/>
          <a:p>
            <a:pPr indent="0" marL="0">
              <a:buNone/>
            </a:pPr>
            <a:r>
              <a:rPr lang="en-US" sz="1150" b="1" spc="80" kern="0" dirty="0">
                <a:solidFill>
                  <a:srgbClr val="FFFFFF"/>
                </a:solidFill>
                <a:latin typeface="Calibri" pitchFamily="34" charset="0"/>
                <a:ea typeface="Calibri" pitchFamily="34" charset="-122"/>
                <a:cs typeface="Calibri" pitchFamily="34" charset="-120"/>
              </a:rPr>
              <a:t>Reach for it when</a:t>
            </a:r>
            <a:endParaRPr lang="en-US" sz="1150" dirty="0"/>
          </a:p>
        </p:txBody>
      </p:sp>
      <p:sp>
        <p:nvSpPr>
          <p:cNvPr id="10" name="Shape 8"/>
          <p:cNvSpPr/>
          <p:nvPr/>
        </p:nvSpPr>
        <p:spPr>
          <a:xfrm>
            <a:off x="566928" y="2103120"/>
            <a:ext cx="11057839" cy="566928"/>
          </a:xfrm>
          <a:prstGeom prst="rect">
            <a:avLst/>
          </a:prstGeom>
          <a:solidFill>
            <a:srgbClr val="FFFFFF"/>
          </a:solidFill>
          <a:ln w="6350">
            <a:solidFill>
              <a:srgbClr val="E2E6EB"/>
            </a:solidFill>
            <a:prstDash val="solid"/>
          </a:ln>
        </p:spPr>
      </p:sp>
      <p:sp>
        <p:nvSpPr>
          <p:cNvPr id="11" name="Text 9"/>
          <p:cNvSpPr/>
          <p:nvPr/>
        </p:nvSpPr>
        <p:spPr>
          <a:xfrm>
            <a:off x="841248" y="2103120"/>
            <a:ext cx="2816352" cy="566928"/>
          </a:xfrm>
          <a:prstGeom prst="rect">
            <a:avLst/>
          </a:prstGeom>
          <a:noFill/>
          <a:ln/>
        </p:spPr>
        <p:txBody>
          <a:bodyPr wrap="square" lIns="0" tIns="0" rIns="0" bIns="0" rtlCol="0" anchor="ctr"/>
          <a:lstStyle/>
          <a:p>
            <a:pPr indent="0" marL="0">
              <a:lnSpc>
                <a:spcPts val="1500"/>
              </a:lnSpc>
              <a:buNone/>
            </a:pPr>
            <a:r>
              <a:rPr lang="en-US" sz="1250" b="1" dirty="0">
                <a:solidFill>
                  <a:srgbClr val="12161F"/>
                </a:solidFill>
                <a:latin typeface="Calibri" pitchFamily="34" charset="0"/>
                <a:ea typeface="Calibri" pitchFamily="34" charset="-122"/>
                <a:cs typeface="Calibri" pitchFamily="34" charset="-120"/>
              </a:rPr>
              <a:t>Link to a webpage</a:t>
            </a:r>
            <a:endParaRPr lang="en-US" sz="1250" dirty="0"/>
          </a:p>
        </p:txBody>
      </p:sp>
      <p:sp>
        <p:nvSpPr>
          <p:cNvPr id="12" name="Text 10"/>
          <p:cNvSpPr/>
          <p:nvPr/>
        </p:nvSpPr>
        <p:spPr>
          <a:xfrm>
            <a:off x="4041648" y="2103120"/>
            <a:ext cx="3547872" cy="566928"/>
          </a:xfrm>
          <a:prstGeom prst="rect">
            <a:avLst/>
          </a:prstGeom>
          <a:noFill/>
          <a:ln/>
        </p:spPr>
        <p:txBody>
          <a:bodyPr wrap="square" lIns="0" tIns="0" rIns="0" bIns="0" rtlCol="0" anchor="ctr"/>
          <a:lstStyle/>
          <a:p>
            <a:pPr indent="0" marL="0">
              <a:lnSpc>
                <a:spcPts val="1500"/>
              </a:lnSpc>
              <a:buNone/>
            </a:pPr>
            <a:r>
              <a:rPr lang="en-US" sz="1250" dirty="0">
                <a:solidFill>
                  <a:srgbClr val="5A6675"/>
                </a:solidFill>
                <a:latin typeface="Calibri" pitchFamily="34" charset="0"/>
                <a:ea typeface="Calibri" pitchFamily="34" charset="-122"/>
                <a:cs typeface="Calibri" pitchFamily="34" charset="-120"/>
              </a:rPr>
              <a:t>Opens a URL in a new tab</a:t>
            </a:r>
            <a:endParaRPr lang="en-US" sz="1250" dirty="0"/>
          </a:p>
        </p:txBody>
      </p:sp>
      <p:sp>
        <p:nvSpPr>
          <p:cNvPr id="13" name="Text 11"/>
          <p:cNvSpPr/>
          <p:nvPr/>
        </p:nvSpPr>
        <p:spPr>
          <a:xfrm>
            <a:off x="7973568" y="2103120"/>
            <a:ext cx="3541471" cy="566928"/>
          </a:xfrm>
          <a:prstGeom prst="rect">
            <a:avLst/>
          </a:prstGeom>
          <a:noFill/>
          <a:ln/>
        </p:spPr>
        <p:txBody>
          <a:bodyPr wrap="square" lIns="0" tIns="0" rIns="0" bIns="0" rtlCol="0" anchor="ctr"/>
          <a:lstStyle/>
          <a:p>
            <a:pPr indent="0" marL="0">
              <a:lnSpc>
                <a:spcPts val="1500"/>
              </a:lnSpc>
              <a:buNone/>
            </a:pPr>
            <a:r>
              <a:rPr lang="en-US" sz="1250" dirty="0">
                <a:solidFill>
                  <a:srgbClr val="5A6675"/>
                </a:solidFill>
                <a:latin typeface="Calibri" pitchFamily="34" charset="0"/>
                <a:ea typeface="Calibri" pitchFamily="34" charset="-122"/>
                <a:cs typeface="Calibri" pitchFamily="34" charset="-120"/>
              </a:rPr>
              <a:t>A policy, a form, a template that lives somewhere else</a:t>
            </a:r>
            <a:endParaRPr lang="en-US" sz="1250" dirty="0"/>
          </a:p>
        </p:txBody>
      </p:sp>
      <p:sp>
        <p:nvSpPr>
          <p:cNvPr id="14" name="Shape 12"/>
          <p:cNvSpPr/>
          <p:nvPr/>
        </p:nvSpPr>
        <p:spPr>
          <a:xfrm>
            <a:off x="566928" y="2670048"/>
            <a:ext cx="11057839" cy="566928"/>
          </a:xfrm>
          <a:prstGeom prst="rect">
            <a:avLst/>
          </a:prstGeom>
          <a:solidFill>
            <a:srgbClr val="EDF1F5"/>
          </a:solidFill>
          <a:ln w="6350">
            <a:solidFill>
              <a:srgbClr val="E2E6EB"/>
            </a:solidFill>
            <a:prstDash val="solid"/>
          </a:ln>
        </p:spPr>
      </p:sp>
      <p:sp>
        <p:nvSpPr>
          <p:cNvPr id="15" name="Text 13"/>
          <p:cNvSpPr/>
          <p:nvPr/>
        </p:nvSpPr>
        <p:spPr>
          <a:xfrm>
            <a:off x="841248" y="2670048"/>
            <a:ext cx="2816352" cy="566928"/>
          </a:xfrm>
          <a:prstGeom prst="rect">
            <a:avLst/>
          </a:prstGeom>
          <a:noFill/>
          <a:ln/>
        </p:spPr>
        <p:txBody>
          <a:bodyPr wrap="square" lIns="0" tIns="0" rIns="0" bIns="0" rtlCol="0" anchor="ctr"/>
          <a:lstStyle/>
          <a:p>
            <a:pPr indent="0" marL="0">
              <a:lnSpc>
                <a:spcPts val="1500"/>
              </a:lnSpc>
              <a:buNone/>
            </a:pPr>
            <a:r>
              <a:rPr lang="en-US" sz="1250" b="1" dirty="0">
                <a:solidFill>
                  <a:srgbClr val="12161F"/>
                </a:solidFill>
                <a:latin typeface="Calibri" pitchFamily="34" charset="0"/>
                <a:ea typeface="Calibri" pitchFamily="34" charset="-122"/>
                <a:cs typeface="Calibri" pitchFamily="34" charset="-120"/>
              </a:rPr>
              <a:t>Link to a relative URL</a:t>
            </a:r>
            <a:endParaRPr lang="en-US" sz="1250" dirty="0"/>
          </a:p>
        </p:txBody>
      </p:sp>
      <p:sp>
        <p:nvSpPr>
          <p:cNvPr id="16" name="Text 14"/>
          <p:cNvSpPr/>
          <p:nvPr/>
        </p:nvSpPr>
        <p:spPr>
          <a:xfrm>
            <a:off x="4041648" y="2670048"/>
            <a:ext cx="3547872" cy="566928"/>
          </a:xfrm>
          <a:prstGeom prst="rect">
            <a:avLst/>
          </a:prstGeom>
          <a:noFill/>
          <a:ln/>
        </p:spPr>
        <p:txBody>
          <a:bodyPr wrap="square" lIns="0" tIns="0" rIns="0" bIns="0" rtlCol="0" anchor="ctr"/>
          <a:lstStyle/>
          <a:p>
            <a:pPr indent="0" marL="0">
              <a:lnSpc>
                <a:spcPts val="1500"/>
              </a:lnSpc>
              <a:buNone/>
            </a:pPr>
            <a:r>
              <a:rPr lang="en-US" sz="1250" dirty="0">
                <a:solidFill>
                  <a:srgbClr val="5A6675"/>
                </a:solidFill>
                <a:latin typeface="Calibri" pitchFamily="34" charset="0"/>
                <a:ea typeface="Calibri" pitchFamily="34" charset="-122"/>
                <a:cs typeface="Calibri" pitchFamily="34" charset="-120"/>
              </a:rPr>
              <a:t>Opens a page on your own subdomain, new tab</a:t>
            </a:r>
            <a:endParaRPr lang="en-US" sz="1250" dirty="0"/>
          </a:p>
        </p:txBody>
      </p:sp>
      <p:sp>
        <p:nvSpPr>
          <p:cNvPr id="17" name="Text 15"/>
          <p:cNvSpPr/>
          <p:nvPr/>
        </p:nvSpPr>
        <p:spPr>
          <a:xfrm>
            <a:off x="7973568" y="2670048"/>
            <a:ext cx="3541471" cy="566928"/>
          </a:xfrm>
          <a:prstGeom prst="rect">
            <a:avLst/>
          </a:prstGeom>
          <a:noFill/>
          <a:ln/>
        </p:spPr>
        <p:txBody>
          <a:bodyPr wrap="square" lIns="0" tIns="0" rIns="0" bIns="0" rtlCol="0" anchor="ctr"/>
          <a:lstStyle/>
          <a:p>
            <a:pPr indent="0" marL="0">
              <a:lnSpc>
                <a:spcPts val="1500"/>
              </a:lnSpc>
              <a:buNone/>
            </a:pPr>
            <a:r>
              <a:rPr lang="en-US" sz="1250" dirty="0">
                <a:solidFill>
                  <a:srgbClr val="5A6675"/>
                </a:solidFill>
                <a:latin typeface="Calibri" pitchFamily="34" charset="0"/>
                <a:ea typeface="Calibri" pitchFamily="34" charset="-122"/>
                <a:cs typeface="Calibri" pitchFamily="34" charset="-120"/>
              </a:rPr>
              <a:t>You host the target yourself</a:t>
            </a:r>
            <a:endParaRPr lang="en-US" sz="1250" dirty="0"/>
          </a:p>
        </p:txBody>
      </p:sp>
      <p:sp>
        <p:nvSpPr>
          <p:cNvPr id="18" name="Shape 16"/>
          <p:cNvSpPr/>
          <p:nvPr/>
        </p:nvSpPr>
        <p:spPr>
          <a:xfrm>
            <a:off x="566928" y="3236976"/>
            <a:ext cx="11057839" cy="566928"/>
          </a:xfrm>
          <a:prstGeom prst="rect">
            <a:avLst/>
          </a:prstGeom>
          <a:solidFill>
            <a:srgbClr val="FFFFFF"/>
          </a:solidFill>
          <a:ln w="6350">
            <a:solidFill>
              <a:srgbClr val="E2E6EB"/>
            </a:solidFill>
            <a:prstDash val="solid"/>
          </a:ln>
        </p:spPr>
      </p:sp>
      <p:sp>
        <p:nvSpPr>
          <p:cNvPr id="19" name="Text 17"/>
          <p:cNvSpPr/>
          <p:nvPr/>
        </p:nvSpPr>
        <p:spPr>
          <a:xfrm>
            <a:off x="841248" y="3236976"/>
            <a:ext cx="2816352" cy="566928"/>
          </a:xfrm>
          <a:prstGeom prst="rect">
            <a:avLst/>
          </a:prstGeom>
          <a:noFill/>
          <a:ln/>
        </p:spPr>
        <p:txBody>
          <a:bodyPr wrap="square" lIns="0" tIns="0" rIns="0" bIns="0" rtlCol="0" anchor="ctr"/>
          <a:lstStyle/>
          <a:p>
            <a:pPr indent="0" marL="0">
              <a:lnSpc>
                <a:spcPts val="1500"/>
              </a:lnSpc>
              <a:buNone/>
            </a:pPr>
            <a:r>
              <a:rPr lang="en-US" sz="1250" b="1" dirty="0">
                <a:solidFill>
                  <a:srgbClr val="12161F"/>
                </a:solidFill>
                <a:latin typeface="Calibri" pitchFamily="34" charset="0"/>
                <a:ea typeface="Calibri" pitchFamily="34" charset="-122"/>
                <a:cs typeface="Calibri" pitchFamily="34" charset="-120"/>
              </a:rPr>
              <a:t>Send an email</a:t>
            </a:r>
            <a:endParaRPr lang="en-US" sz="1250" dirty="0"/>
          </a:p>
        </p:txBody>
      </p:sp>
      <p:sp>
        <p:nvSpPr>
          <p:cNvPr id="20" name="Text 18"/>
          <p:cNvSpPr/>
          <p:nvPr/>
        </p:nvSpPr>
        <p:spPr>
          <a:xfrm>
            <a:off x="4041648" y="3236976"/>
            <a:ext cx="3547872" cy="566928"/>
          </a:xfrm>
          <a:prstGeom prst="rect">
            <a:avLst/>
          </a:prstGeom>
          <a:noFill/>
          <a:ln/>
        </p:spPr>
        <p:txBody>
          <a:bodyPr wrap="square" lIns="0" tIns="0" rIns="0" bIns="0" rtlCol="0" anchor="ctr"/>
          <a:lstStyle/>
          <a:p>
            <a:pPr indent="0" marL="0">
              <a:lnSpc>
                <a:spcPts val="1500"/>
              </a:lnSpc>
              <a:buNone/>
            </a:pPr>
            <a:r>
              <a:rPr lang="en-US" sz="1250" dirty="0">
                <a:solidFill>
                  <a:srgbClr val="5A6675"/>
                </a:solidFill>
                <a:latin typeface="Calibri" pitchFamily="34" charset="0"/>
                <a:ea typeface="Calibri" pitchFamily="34" charset="-122"/>
                <a:cs typeface="Calibri" pitchFamily="34" charset="-120"/>
              </a:rPr>
              <a:t>Opens a draft; several addresses allowed</a:t>
            </a:r>
            <a:endParaRPr lang="en-US" sz="1250" dirty="0"/>
          </a:p>
        </p:txBody>
      </p:sp>
      <p:sp>
        <p:nvSpPr>
          <p:cNvPr id="21" name="Text 19"/>
          <p:cNvSpPr/>
          <p:nvPr/>
        </p:nvSpPr>
        <p:spPr>
          <a:xfrm>
            <a:off x="7973568" y="3236976"/>
            <a:ext cx="3541471" cy="566928"/>
          </a:xfrm>
          <a:prstGeom prst="rect">
            <a:avLst/>
          </a:prstGeom>
          <a:noFill/>
          <a:ln/>
        </p:spPr>
        <p:txBody>
          <a:bodyPr wrap="square" lIns="0" tIns="0" rIns="0" bIns="0" rtlCol="0" anchor="ctr"/>
          <a:lstStyle/>
          <a:p>
            <a:pPr indent="0" marL="0">
              <a:lnSpc>
                <a:spcPts val="1500"/>
              </a:lnSpc>
              <a:buNone/>
            </a:pPr>
            <a:r>
              <a:rPr lang="en-US" sz="1250" dirty="0">
                <a:solidFill>
                  <a:srgbClr val="5A6675"/>
                </a:solidFill>
                <a:latin typeface="Calibri" pitchFamily="34" charset="0"/>
                <a:ea typeface="Calibri" pitchFamily="34" charset="-122"/>
                <a:cs typeface="Calibri" pitchFamily="34" charset="-120"/>
              </a:rPr>
              <a:t>The next step needs a human, not a page</a:t>
            </a:r>
            <a:endParaRPr lang="en-US" sz="1250" dirty="0"/>
          </a:p>
        </p:txBody>
      </p:sp>
      <p:sp>
        <p:nvSpPr>
          <p:cNvPr id="22" name="Shape 20"/>
          <p:cNvSpPr/>
          <p:nvPr/>
        </p:nvSpPr>
        <p:spPr>
          <a:xfrm>
            <a:off x="566928" y="3803904"/>
            <a:ext cx="11057839" cy="566928"/>
          </a:xfrm>
          <a:prstGeom prst="rect">
            <a:avLst/>
          </a:prstGeom>
          <a:solidFill>
            <a:srgbClr val="EDF1F5"/>
          </a:solidFill>
          <a:ln w="6350">
            <a:solidFill>
              <a:srgbClr val="E2E6EB"/>
            </a:solidFill>
            <a:prstDash val="solid"/>
          </a:ln>
        </p:spPr>
      </p:sp>
      <p:sp>
        <p:nvSpPr>
          <p:cNvPr id="23" name="Text 21"/>
          <p:cNvSpPr/>
          <p:nvPr/>
        </p:nvSpPr>
        <p:spPr>
          <a:xfrm>
            <a:off x="841248" y="3803904"/>
            <a:ext cx="2816352" cy="566928"/>
          </a:xfrm>
          <a:prstGeom prst="rect">
            <a:avLst/>
          </a:prstGeom>
          <a:noFill/>
          <a:ln/>
        </p:spPr>
        <p:txBody>
          <a:bodyPr wrap="square" lIns="0" tIns="0" rIns="0" bIns="0" rtlCol="0" anchor="ctr"/>
          <a:lstStyle/>
          <a:p>
            <a:pPr indent="0" marL="0">
              <a:lnSpc>
                <a:spcPts val="1500"/>
              </a:lnSpc>
              <a:buNone/>
            </a:pPr>
            <a:r>
              <a:rPr lang="en-US" sz="1250" b="1" dirty="0">
                <a:solidFill>
                  <a:srgbClr val="12161F"/>
                </a:solidFill>
                <a:latin typeface="Calibri" pitchFamily="34" charset="0"/>
                <a:ea typeface="Calibri" pitchFamily="34" charset="-122"/>
                <a:cs typeface="Calibri" pitchFamily="34" charset="-120"/>
              </a:rPr>
              <a:t>Navigate to Another Lesson</a:t>
            </a:r>
            <a:endParaRPr lang="en-US" sz="1250" dirty="0"/>
          </a:p>
        </p:txBody>
      </p:sp>
      <p:sp>
        <p:nvSpPr>
          <p:cNvPr id="24" name="Text 22"/>
          <p:cNvSpPr/>
          <p:nvPr/>
        </p:nvSpPr>
        <p:spPr>
          <a:xfrm>
            <a:off x="4041648" y="3803904"/>
            <a:ext cx="3547872" cy="566928"/>
          </a:xfrm>
          <a:prstGeom prst="rect">
            <a:avLst/>
          </a:prstGeom>
          <a:noFill/>
          <a:ln/>
        </p:spPr>
        <p:txBody>
          <a:bodyPr wrap="square" lIns="0" tIns="0" rIns="0" bIns="0" rtlCol="0" anchor="ctr"/>
          <a:lstStyle/>
          <a:p>
            <a:pPr indent="0" marL="0">
              <a:lnSpc>
                <a:spcPts val="1500"/>
              </a:lnSpc>
              <a:buNone/>
            </a:pPr>
            <a:r>
              <a:rPr lang="en-US" sz="1250" dirty="0">
                <a:solidFill>
                  <a:srgbClr val="5A6675"/>
                </a:solidFill>
                <a:latin typeface="Calibri" pitchFamily="34" charset="0"/>
                <a:ea typeface="Calibri" pitchFamily="34" charset="-122"/>
                <a:cs typeface="Calibri" pitchFamily="34" charset="-120"/>
              </a:rPr>
              <a:t>Moves inside the course, no reload</a:t>
            </a:r>
            <a:endParaRPr lang="en-US" sz="1250" dirty="0"/>
          </a:p>
        </p:txBody>
      </p:sp>
      <p:sp>
        <p:nvSpPr>
          <p:cNvPr id="25" name="Text 23"/>
          <p:cNvSpPr/>
          <p:nvPr/>
        </p:nvSpPr>
        <p:spPr>
          <a:xfrm>
            <a:off x="7973568" y="3803904"/>
            <a:ext cx="3541471" cy="566928"/>
          </a:xfrm>
          <a:prstGeom prst="rect">
            <a:avLst/>
          </a:prstGeom>
          <a:noFill/>
          <a:ln/>
        </p:spPr>
        <p:txBody>
          <a:bodyPr wrap="square" lIns="0" tIns="0" rIns="0" bIns="0" rtlCol="0" anchor="ctr"/>
          <a:lstStyle/>
          <a:p>
            <a:pPr indent="0" marL="0">
              <a:lnSpc>
                <a:spcPts val="1500"/>
              </a:lnSpc>
              <a:buNone/>
            </a:pPr>
            <a:r>
              <a:rPr lang="en-US" sz="1250" dirty="0">
                <a:solidFill>
                  <a:srgbClr val="5A6675"/>
                </a:solidFill>
                <a:latin typeface="Calibri" pitchFamily="34" charset="0"/>
                <a:ea typeface="Calibri" pitchFamily="34" charset="-122"/>
                <a:cs typeface="Calibri" pitchFamily="34" charset="-120"/>
              </a:rPr>
              <a:t>Offering routes through your own content</a:t>
            </a:r>
            <a:endParaRPr lang="en-US" sz="1250" dirty="0"/>
          </a:p>
        </p:txBody>
      </p:sp>
      <p:sp>
        <p:nvSpPr>
          <p:cNvPr id="26" name="Shape 24"/>
          <p:cNvSpPr/>
          <p:nvPr/>
        </p:nvSpPr>
        <p:spPr>
          <a:xfrm>
            <a:off x="566928" y="4370832"/>
            <a:ext cx="11057839" cy="566928"/>
          </a:xfrm>
          <a:prstGeom prst="rect">
            <a:avLst/>
          </a:prstGeom>
          <a:solidFill>
            <a:srgbClr val="FFFFFF"/>
          </a:solidFill>
          <a:ln w="6350">
            <a:solidFill>
              <a:srgbClr val="E2E6EB"/>
            </a:solidFill>
            <a:prstDash val="solid"/>
          </a:ln>
        </p:spPr>
      </p:sp>
      <p:sp>
        <p:nvSpPr>
          <p:cNvPr id="27" name="Text 25"/>
          <p:cNvSpPr/>
          <p:nvPr/>
        </p:nvSpPr>
        <p:spPr>
          <a:xfrm>
            <a:off x="841248" y="4370832"/>
            <a:ext cx="2816352" cy="566928"/>
          </a:xfrm>
          <a:prstGeom prst="rect">
            <a:avLst/>
          </a:prstGeom>
          <a:noFill/>
          <a:ln/>
        </p:spPr>
        <p:txBody>
          <a:bodyPr wrap="square" lIns="0" tIns="0" rIns="0" bIns="0" rtlCol="0" anchor="ctr"/>
          <a:lstStyle/>
          <a:p>
            <a:pPr indent="0" marL="0">
              <a:lnSpc>
                <a:spcPts val="1500"/>
              </a:lnSpc>
              <a:buNone/>
            </a:pPr>
            <a:r>
              <a:rPr lang="en-US" sz="1250" b="1" dirty="0">
                <a:solidFill>
                  <a:srgbClr val="12161F"/>
                </a:solidFill>
                <a:latin typeface="Calibri" pitchFamily="34" charset="0"/>
                <a:ea typeface="Calibri" pitchFamily="34" charset="-122"/>
                <a:cs typeface="Calibri" pitchFamily="34" charset="-120"/>
              </a:rPr>
              <a:t>Exit the course (LMS only)</a:t>
            </a:r>
            <a:endParaRPr lang="en-US" sz="1250" dirty="0"/>
          </a:p>
        </p:txBody>
      </p:sp>
      <p:sp>
        <p:nvSpPr>
          <p:cNvPr id="28" name="Text 26"/>
          <p:cNvSpPr/>
          <p:nvPr/>
        </p:nvSpPr>
        <p:spPr>
          <a:xfrm>
            <a:off x="4041648" y="4370832"/>
            <a:ext cx="3547872" cy="566928"/>
          </a:xfrm>
          <a:prstGeom prst="rect">
            <a:avLst/>
          </a:prstGeom>
          <a:noFill/>
          <a:ln/>
        </p:spPr>
        <p:txBody>
          <a:bodyPr wrap="square" lIns="0" tIns="0" rIns="0" bIns="0" rtlCol="0" anchor="ctr"/>
          <a:lstStyle/>
          <a:p>
            <a:pPr indent="0" marL="0">
              <a:lnSpc>
                <a:spcPts val="1500"/>
              </a:lnSpc>
              <a:buNone/>
            </a:pPr>
            <a:r>
              <a:rPr lang="en-US" sz="1250" dirty="0">
                <a:solidFill>
                  <a:srgbClr val="5A6675"/>
                </a:solidFill>
                <a:latin typeface="Calibri" pitchFamily="34" charset="0"/>
                <a:ea typeface="Calibri" pitchFamily="34" charset="-122"/>
                <a:cs typeface="Calibri" pitchFamily="34" charset="-120"/>
              </a:rPr>
              <a:t>Closes the course for a learner in an LMS</a:t>
            </a:r>
            <a:endParaRPr lang="en-US" sz="1250" dirty="0"/>
          </a:p>
        </p:txBody>
      </p:sp>
      <p:sp>
        <p:nvSpPr>
          <p:cNvPr id="29" name="Text 27"/>
          <p:cNvSpPr/>
          <p:nvPr/>
        </p:nvSpPr>
        <p:spPr>
          <a:xfrm>
            <a:off x="7973568" y="4370832"/>
            <a:ext cx="3541471" cy="566928"/>
          </a:xfrm>
          <a:prstGeom prst="rect">
            <a:avLst/>
          </a:prstGeom>
          <a:noFill/>
          <a:ln/>
        </p:spPr>
        <p:txBody>
          <a:bodyPr wrap="square" lIns="0" tIns="0" rIns="0" bIns="0" rtlCol="0" anchor="ctr"/>
          <a:lstStyle/>
          <a:p>
            <a:pPr indent="0" marL="0">
              <a:lnSpc>
                <a:spcPts val="1500"/>
              </a:lnSpc>
              <a:buNone/>
            </a:pPr>
            <a:r>
              <a:rPr lang="en-US" sz="1250" dirty="0">
                <a:solidFill>
                  <a:srgbClr val="5A6675"/>
                </a:solidFill>
                <a:latin typeface="Calibri" pitchFamily="34" charset="0"/>
                <a:ea typeface="Calibri" pitchFamily="34" charset="-122"/>
                <a:cs typeface="Calibri" pitchFamily="34" charset="-120"/>
              </a:rPr>
              <a:t>A deliberate, tracked ending</a:t>
            </a:r>
            <a:endParaRPr lang="en-US" sz="1250" dirty="0"/>
          </a:p>
        </p:txBody>
      </p:sp>
      <p:sp>
        <p:nvSpPr>
          <p:cNvPr id="30" name="Shape 28"/>
          <p:cNvSpPr/>
          <p:nvPr/>
        </p:nvSpPr>
        <p:spPr>
          <a:xfrm>
            <a:off x="566928" y="5029200"/>
            <a:ext cx="11057839" cy="548640"/>
          </a:xfrm>
          <a:prstGeom prst="roundRect">
            <a:avLst>
              <a:gd name="adj" fmla="val 15000"/>
            </a:avLst>
          </a:prstGeom>
          <a:solidFill>
            <a:srgbClr val="FFF4EE"/>
          </a:solidFill>
          <a:ln w="9525">
            <a:solidFill>
              <a:srgbClr val="F6C7AC"/>
            </a:solidFill>
            <a:prstDash val="solid"/>
          </a:ln>
        </p:spPr>
      </p:sp>
      <p:sp>
        <p:nvSpPr>
          <p:cNvPr id="31" name="Shape 29"/>
          <p:cNvSpPr/>
          <p:nvPr/>
        </p:nvSpPr>
        <p:spPr>
          <a:xfrm>
            <a:off x="786384" y="5202936"/>
            <a:ext cx="201168" cy="201168"/>
          </a:xfrm>
          <a:prstGeom prst="ellipse">
            <a:avLst/>
          </a:prstGeom>
          <a:solidFill>
            <a:srgbClr val="ED6A2A"/>
          </a:solidFill>
          <a:ln/>
        </p:spPr>
      </p:sp>
      <p:sp>
        <p:nvSpPr>
          <p:cNvPr id="32" name="Text 30"/>
          <p:cNvSpPr/>
          <p:nvPr/>
        </p:nvSpPr>
        <p:spPr>
          <a:xfrm>
            <a:off x="1115568" y="5029200"/>
            <a:ext cx="10253167" cy="548640"/>
          </a:xfrm>
          <a:prstGeom prst="rect">
            <a:avLst/>
          </a:prstGeom>
          <a:noFill/>
          <a:ln/>
        </p:spPr>
        <p:txBody>
          <a:bodyPr wrap="square" lIns="0" tIns="0" rIns="0" bIns="0" rtlCol="0" anchor="ctr"/>
          <a:lstStyle/>
          <a:p>
            <a:pPr indent="0" marL="0">
              <a:lnSpc>
                <a:spcPts val="1700"/>
              </a:lnSpc>
              <a:buNone/>
            </a:pPr>
            <a:r>
              <a:rPr lang="en-US" sz="1250" dirty="0">
                <a:solidFill>
                  <a:srgbClr val="7A3F1C"/>
                </a:solidFill>
                <a:latin typeface="Calibri" pitchFamily="34" charset="0"/>
                <a:ea typeface="Calibri" pitchFamily="34" charset="-122"/>
                <a:cs typeface="Calibri" pitchFamily="34" charset="-120"/>
              </a:rPr>
              <a:t>Four of the five take the learner out of your course. Only “Navigate to Another Lesson” keeps them in it — and the learner cannot tell which is which unless your label says so.</a:t>
            </a:r>
            <a:endParaRPr lang="en-US" sz="1250" dirty="0"/>
          </a:p>
        </p:txBody>
      </p:sp>
      <p:sp>
        <p:nvSpPr>
          <p:cNvPr id="33" name="Text 31"/>
          <p:cNvSpPr/>
          <p:nvPr/>
        </p:nvSpPr>
        <p:spPr>
          <a:xfrm>
            <a:off x="566928" y="5760720"/>
            <a:ext cx="11057839" cy="365760"/>
          </a:xfrm>
          <a:prstGeom prst="rect">
            <a:avLst/>
          </a:prstGeom>
          <a:noFill/>
          <a:ln/>
        </p:spPr>
        <p:txBody>
          <a:bodyPr wrap="square" lIns="0" tIns="0" rIns="0" bIns="0" rtlCol="0" anchor="ctr"/>
          <a:lstStyle/>
          <a:p>
            <a:pPr indent="0" marL="0">
              <a:buNone/>
            </a:pPr>
            <a:r>
              <a:rPr lang="en-US" sz="1100" i="1" dirty="0">
                <a:solidFill>
                  <a:srgbClr val="5A6675"/>
                </a:solidFill>
                <a:latin typeface="Calibri" pitchFamily="34" charset="0"/>
                <a:ea typeface="Calibri" pitchFamily="34" charset="-122"/>
                <a:cs typeface="Calibri" pitchFamily="34" charset="-120"/>
              </a:rPr>
              <a:t>Labels move. If the drop-down on your screen reads differently, the screen is right — Articulate ships changes to Rise every few weeks.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What you can change — and what you cannot</a:t>
            </a:r>
            <a:endParaRPr lang="en-US" sz="3000" dirty="0"/>
          </a:p>
        </p:txBody>
      </p:sp>
      <p:sp>
        <p:nvSpPr>
          <p:cNvPr id="3" name="Text 1"/>
          <p:cNvSpPr/>
          <p:nvPr/>
        </p:nvSpPr>
        <p:spPr>
          <a:xfrm>
            <a:off x="566928" y="1005840"/>
            <a:ext cx="9067428"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Everything here lives in the block settings. None of it rescues a bad label.</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4  ·  Decide, then ship</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7</a:t>
            </a:r>
            <a:endParaRPr lang="en-US" sz="950" dirty="0"/>
          </a:p>
        </p:txBody>
      </p:sp>
      <p:sp>
        <p:nvSpPr>
          <p:cNvPr id="6" name="Shape 4"/>
          <p:cNvSpPr/>
          <p:nvPr/>
        </p:nvSpPr>
        <p:spPr>
          <a:xfrm>
            <a:off x="566928" y="1691640"/>
            <a:ext cx="5117440" cy="3246120"/>
          </a:xfrm>
          <a:prstGeom prst="roundRect">
            <a:avLst>
              <a:gd name="adj" fmla="val 2535"/>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7" name="Text 5"/>
          <p:cNvSpPr/>
          <p:nvPr/>
        </p:nvSpPr>
        <p:spPr>
          <a:xfrm>
            <a:off x="932688" y="1920240"/>
            <a:ext cx="4385920" cy="274320"/>
          </a:xfrm>
          <a:prstGeom prst="rect">
            <a:avLst/>
          </a:prstGeom>
          <a:noFill/>
          <a:ln/>
        </p:spPr>
        <p:txBody>
          <a:bodyPr wrap="square" lIns="0" tIns="0" rIns="0" bIns="0" rtlCol="0" anchor="ctr"/>
          <a:lstStyle/>
          <a:p>
            <a:pPr indent="0" marL="0">
              <a:buNone/>
            </a:pPr>
            <a:r>
              <a:rPr lang="en-US" sz="1100" b="1" spc="180" kern="0" dirty="0">
                <a:solidFill>
                  <a:srgbClr val="5A6675"/>
                </a:solidFill>
                <a:latin typeface="Calibri" pitchFamily="34" charset="0"/>
                <a:ea typeface="Calibri" pitchFamily="34" charset="-122"/>
                <a:cs typeface="Calibri" pitchFamily="34" charset="-120"/>
              </a:rPr>
              <a:t>YOU CAN CHANGE</a:t>
            </a:r>
            <a:endParaRPr lang="en-US" sz="1100" dirty="0"/>
          </a:p>
        </p:txBody>
      </p:sp>
      <p:sp>
        <p:nvSpPr>
          <p:cNvPr id="8" name="Text 6"/>
          <p:cNvSpPr/>
          <p:nvPr/>
        </p:nvSpPr>
        <p:spPr>
          <a:xfrm>
            <a:off x="932688" y="2267712"/>
            <a:ext cx="4385920" cy="2468880"/>
          </a:xfrm>
          <a:prstGeom prst="rect">
            <a:avLst/>
          </a:prstGeom>
          <a:noFill/>
          <a:ln/>
        </p:spPr>
        <p:txBody>
          <a:bodyPr wrap="square" lIns="0" tIns="0" rIns="0" bIns="0" rtlCol="0" anchor="t"/>
          <a:lstStyle/>
          <a:p>
            <a:pPr marL="342900" indent="-342900">
              <a:lnSpc>
                <a:spcPts val="2000"/>
              </a:lnSpc>
              <a:spcAft>
                <a:spcPts val="800"/>
              </a:spcAft>
              <a:buSzPct val="100000"/>
              <a:buChar char="•"/>
            </a:pPr>
            <a:r>
              <a:rPr lang="en-US" sz="1350" dirty="0">
                <a:solidFill>
                  <a:srgbClr val="12161F"/>
                </a:solidFill>
                <a:latin typeface="Calibri" pitchFamily="34" charset="0"/>
                <a:ea typeface="Calibri" pitchFamily="34" charset="-122"/>
                <a:cs typeface="Calibri" pitchFamily="34" charset="-120"/>
              </a:rPr>
              <a:t>Button colour, by picker or hex code</a:t>
            </a:r>
            <a:endParaRPr lang="en-US" sz="1350" dirty="0"/>
          </a:p>
          <a:p>
            <a:pPr marL="342900" indent="-342900">
              <a:lnSpc>
                <a:spcPts val="2000"/>
              </a:lnSpc>
              <a:spcAft>
                <a:spcPts val="800"/>
              </a:spcAft>
              <a:buSzPct val="100000"/>
              <a:buChar char="•"/>
            </a:pPr>
            <a:r>
              <a:rPr lang="en-US" sz="1350" dirty="0">
                <a:solidFill>
                  <a:srgbClr val="12161F"/>
                </a:solidFill>
                <a:latin typeface="Calibri" pitchFamily="34" charset="0"/>
                <a:ea typeface="Calibri" pitchFamily="34" charset="-122"/>
                <a:cs typeface="Calibri" pitchFamily="34" charset="-120"/>
              </a:rPr>
              <a:t>Alignment, and the corner radius</a:t>
            </a:r>
            <a:endParaRPr lang="en-US" sz="1350" dirty="0"/>
          </a:p>
          <a:p>
            <a:pPr marL="342900" indent="-342900">
              <a:lnSpc>
                <a:spcPts val="2000"/>
              </a:lnSpc>
              <a:spcAft>
                <a:spcPts val="800"/>
              </a:spcAft>
              <a:buSzPct val="100000"/>
              <a:buChar char="•"/>
            </a:pPr>
            <a:r>
              <a:rPr lang="en-US" sz="1350" dirty="0">
                <a:solidFill>
                  <a:srgbClr val="12161F"/>
                </a:solidFill>
                <a:latin typeface="Calibri" pitchFamily="34" charset="0"/>
                <a:ea typeface="Calibri" pitchFamily="34" charset="-122"/>
                <a:cs typeface="Calibri" pitchFamily="34" charset="-120"/>
              </a:rPr>
              <a:t>Button width</a:t>
            </a:r>
            <a:endParaRPr lang="en-US" sz="1350" dirty="0"/>
          </a:p>
          <a:p>
            <a:pPr marL="342900" indent="-342900">
              <a:lnSpc>
                <a:spcPts val="2000"/>
              </a:lnSpc>
              <a:spcAft>
                <a:spcPts val="800"/>
              </a:spcAft>
              <a:buSzPct val="100000"/>
              <a:buChar char="•"/>
            </a:pPr>
            <a:r>
              <a:rPr lang="en-US" sz="1350" dirty="0">
                <a:solidFill>
                  <a:srgbClr val="12161F"/>
                </a:solidFill>
                <a:latin typeface="Calibri" pitchFamily="34" charset="0"/>
                <a:ea typeface="Calibri" pitchFamily="34" charset="-122"/>
                <a:cs typeface="Calibri" pitchFamily="34" charset="-120"/>
              </a:rPr>
              <a:t>Text contrast — auto, light or dark</a:t>
            </a:r>
            <a:endParaRPr lang="en-US" sz="1350" dirty="0"/>
          </a:p>
          <a:p>
            <a:pPr marL="342900" indent="-342900">
              <a:lnSpc>
                <a:spcPts val="2000"/>
              </a:lnSpc>
              <a:spcAft>
                <a:spcPts val="800"/>
              </a:spcAft>
              <a:buSzPct val="100000"/>
              <a:buChar char="•"/>
            </a:pPr>
            <a:r>
              <a:rPr lang="en-US" sz="1350" dirty="0">
                <a:solidFill>
                  <a:srgbClr val="12161F"/>
                </a:solidFill>
                <a:latin typeface="Calibri" pitchFamily="34" charset="0"/>
                <a:ea typeface="Calibri" pitchFamily="34" charset="-122"/>
                <a:cs typeface="Calibri" pitchFamily="34" charset="-120"/>
              </a:rPr>
              <a:t>Hide the description text, which centres the buttons</a:t>
            </a:r>
            <a:endParaRPr lang="en-US" sz="1350" dirty="0"/>
          </a:p>
          <a:p>
            <a:pPr marL="342900" indent="-342900">
              <a:lnSpc>
                <a:spcPts val="2000"/>
              </a:lnSpc>
              <a:spcAft>
                <a:spcPts val="800"/>
              </a:spcAft>
              <a:buSzPct val="100000"/>
              <a:buChar char="•"/>
            </a:pPr>
            <a:r>
              <a:rPr lang="en-US" sz="1350" dirty="0">
                <a:solidFill>
                  <a:srgbClr val="12161F"/>
                </a:solidFill>
                <a:latin typeface="Calibri" pitchFamily="34" charset="0"/>
                <a:ea typeface="Calibri" pitchFamily="34" charset="-122"/>
                <a:cs typeface="Calibri" pitchFamily="34" charset="-120"/>
              </a:rPr>
              <a:t>Spacing between buttons — stacks only</a:t>
            </a:r>
            <a:endParaRPr lang="en-US" sz="1350" dirty="0"/>
          </a:p>
        </p:txBody>
      </p:sp>
      <p:sp>
        <p:nvSpPr>
          <p:cNvPr id="9" name="Shape 7"/>
          <p:cNvSpPr/>
          <p:nvPr/>
        </p:nvSpPr>
        <p:spPr>
          <a:xfrm>
            <a:off x="6507328" y="1691640"/>
            <a:ext cx="5117440" cy="3246120"/>
          </a:xfrm>
          <a:prstGeom prst="roundRect">
            <a:avLst>
              <a:gd name="adj" fmla="val 2535"/>
            </a:avLst>
          </a:prstGeom>
          <a:solidFill>
            <a:srgbClr val="12161F"/>
          </a:solidFill>
          <a:ln w="9525">
            <a:solidFill>
              <a:srgbClr val="12161F"/>
            </a:solidFill>
            <a:prstDash val="solid"/>
          </a:ln>
          <a:effectLst>
            <a:outerShdw sx="100000" sy="100000" kx="0" ky="0" algn="bl" rotWithShape="0" blurRad="177800" dist="38100" dir="5400000">
              <a:srgbClr val="9AA6B4">
                <a:alpha val="32000"/>
              </a:srgbClr>
            </a:outerShdw>
          </a:effectLst>
        </p:spPr>
      </p:sp>
      <p:sp>
        <p:nvSpPr>
          <p:cNvPr id="10" name="Text 8"/>
          <p:cNvSpPr/>
          <p:nvPr/>
        </p:nvSpPr>
        <p:spPr>
          <a:xfrm>
            <a:off x="6873088" y="1920240"/>
            <a:ext cx="4385920" cy="274320"/>
          </a:xfrm>
          <a:prstGeom prst="rect">
            <a:avLst/>
          </a:prstGeom>
          <a:noFill/>
          <a:ln/>
        </p:spPr>
        <p:txBody>
          <a:bodyPr wrap="square" lIns="0" tIns="0" rIns="0" bIns="0" rtlCol="0" anchor="ctr"/>
          <a:lstStyle/>
          <a:p>
            <a:pPr indent="0" marL="0">
              <a:buNone/>
            </a:pPr>
            <a:r>
              <a:rPr lang="en-US" sz="1100" b="1" spc="180" kern="0" dirty="0">
                <a:solidFill>
                  <a:srgbClr val="ED6A2A"/>
                </a:solidFill>
                <a:latin typeface="Calibri" pitchFamily="34" charset="0"/>
                <a:ea typeface="Calibri" pitchFamily="34" charset="-122"/>
                <a:cs typeface="Calibri" pitchFamily="34" charset="-120"/>
              </a:rPr>
              <a:t>YOU CANNOT CHANGE</a:t>
            </a:r>
            <a:endParaRPr lang="en-US" sz="1100" dirty="0"/>
          </a:p>
        </p:txBody>
      </p:sp>
      <p:sp>
        <p:nvSpPr>
          <p:cNvPr id="11" name="Text 9"/>
          <p:cNvSpPr/>
          <p:nvPr/>
        </p:nvSpPr>
        <p:spPr>
          <a:xfrm>
            <a:off x="6873088" y="2331720"/>
            <a:ext cx="4385920" cy="45720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The size of the button text.</a:t>
            </a:r>
            <a:endParaRPr lang="en-US" sz="2200" dirty="0"/>
          </a:p>
        </p:txBody>
      </p:sp>
      <p:sp>
        <p:nvSpPr>
          <p:cNvPr id="12" name="Text 10"/>
          <p:cNvSpPr/>
          <p:nvPr/>
        </p:nvSpPr>
        <p:spPr>
          <a:xfrm>
            <a:off x="6873088" y="2926080"/>
            <a:ext cx="4385920" cy="1737360"/>
          </a:xfrm>
          <a:prstGeom prst="rect">
            <a:avLst/>
          </a:prstGeom>
          <a:noFill/>
          <a:ln/>
        </p:spPr>
        <p:txBody>
          <a:bodyPr wrap="square" lIns="0" tIns="0" rIns="0" bIns="0" rtlCol="0" anchor="t"/>
          <a:lstStyle/>
          <a:p>
            <a:pPr indent="0" marL="0">
              <a:lnSpc>
                <a:spcPts val="2000"/>
              </a:lnSpc>
              <a:buNone/>
            </a:pPr>
            <a:r>
              <a:rPr lang="en-US" sz="1350" dirty="0">
                <a:solidFill>
                  <a:srgbClr val="A9B3C0"/>
                </a:solidFill>
                <a:latin typeface="Calibri" pitchFamily="34" charset="0"/>
                <a:ea typeface="Calibri" pitchFamily="34" charset="-122"/>
                <a:cs typeface="Calibri" pitchFamily="34" charset="-120"/>
              </a:rPr>
              <a:t>There is no setting for it, and there is no workaround worth having. This is a real limit of the tool, not something you have failed to find.</a:t>
            </a:r>
            <a:endParaRPr lang="en-US" sz="1350" dirty="0"/>
          </a:p>
          <a:p>
            <a:pPr indent="0" marL="0">
              <a:lnSpc>
                <a:spcPts val="2000"/>
              </a:lnSpc>
              <a:buNone/>
            </a:pPr>
            <a:endParaRPr lang="en-US" sz="1350" dirty="0"/>
          </a:p>
          <a:p>
            <a:pPr indent="0" marL="0">
              <a:lnSpc>
                <a:spcPts val="2000"/>
              </a:lnSpc>
              <a:buNone/>
            </a:pPr>
            <a:r>
              <a:rPr lang="en-US" sz="1350" dirty="0">
                <a:solidFill>
                  <a:srgbClr val="A9B3C0"/>
                </a:solidFill>
                <a:latin typeface="Calibri" pitchFamily="34" charset="0"/>
                <a:ea typeface="Calibri" pitchFamily="34" charset="-122"/>
                <a:cs typeface="Calibri" pitchFamily="34" charset="-120"/>
              </a:rPr>
              <a:t>If a label is too small to read comfortably, the label is too long. Shorten it.</a:t>
            </a:r>
            <a:endParaRPr lang="en-US" sz="1350" dirty="0"/>
          </a:p>
        </p:txBody>
      </p:sp>
      <p:sp>
        <p:nvSpPr>
          <p:cNvPr id="13" name="Shape 11"/>
          <p:cNvSpPr/>
          <p:nvPr/>
        </p:nvSpPr>
        <p:spPr>
          <a:xfrm>
            <a:off x="566928" y="5138928"/>
            <a:ext cx="11057839" cy="548640"/>
          </a:xfrm>
          <a:prstGeom prst="roundRect">
            <a:avLst>
              <a:gd name="adj" fmla="val 15000"/>
            </a:avLst>
          </a:prstGeom>
          <a:solidFill>
            <a:srgbClr val="FFF4EE"/>
          </a:solidFill>
          <a:ln w="9525">
            <a:solidFill>
              <a:srgbClr val="F6C7AC"/>
            </a:solidFill>
            <a:prstDash val="solid"/>
          </a:ln>
        </p:spPr>
      </p:sp>
      <p:sp>
        <p:nvSpPr>
          <p:cNvPr id="14" name="Shape 12"/>
          <p:cNvSpPr/>
          <p:nvPr/>
        </p:nvSpPr>
        <p:spPr>
          <a:xfrm>
            <a:off x="786384" y="5312664"/>
            <a:ext cx="201168" cy="201168"/>
          </a:xfrm>
          <a:prstGeom prst="ellipse">
            <a:avLst/>
          </a:prstGeom>
          <a:solidFill>
            <a:srgbClr val="ED6A2A"/>
          </a:solidFill>
          <a:ln/>
        </p:spPr>
      </p:sp>
      <p:sp>
        <p:nvSpPr>
          <p:cNvPr id="15" name="Text 13"/>
          <p:cNvSpPr/>
          <p:nvPr/>
        </p:nvSpPr>
        <p:spPr>
          <a:xfrm>
            <a:off x="1115568" y="5138928"/>
            <a:ext cx="10253167" cy="548640"/>
          </a:xfrm>
          <a:prstGeom prst="rect">
            <a:avLst/>
          </a:prstGeom>
          <a:noFill/>
          <a:ln/>
        </p:spPr>
        <p:txBody>
          <a:bodyPr wrap="square" lIns="0" tIns="0" rIns="0" bIns="0" rtlCol="0" anchor="ctr"/>
          <a:lstStyle/>
          <a:p>
            <a:pPr indent="0" marL="0">
              <a:lnSpc>
                <a:spcPts val="1700"/>
              </a:lnSpc>
              <a:buNone/>
            </a:pPr>
            <a:r>
              <a:rPr lang="en-US" sz="1250" dirty="0">
                <a:solidFill>
                  <a:srgbClr val="7A3F1C"/>
                </a:solidFill>
                <a:latin typeface="Calibri" pitchFamily="34" charset="0"/>
                <a:ea typeface="Calibri" pitchFamily="34" charset="-122"/>
                <a:cs typeface="Calibri" pitchFamily="34" charset="-120"/>
              </a:rPr>
              <a:t>A button that opens a new tab and a button that moves inside the course look identical. The label is the only thing that tells them apart.</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Give a route, do not take one away</a:t>
            </a:r>
            <a:endParaRPr lang="en-US" sz="3000" dirty="0"/>
          </a:p>
        </p:txBody>
      </p:sp>
      <p:sp>
        <p:nvSpPr>
          <p:cNvPr id="3" name="Text 1"/>
          <p:cNvSpPr/>
          <p:nvPr/>
        </p:nvSpPr>
        <p:spPr>
          <a:xfrm>
            <a:off x="566928" y="1005840"/>
            <a:ext cx="9067428"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The best use of a button stack is inside your own course — offering a way on without restricting navigation.</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4  ·  Decide, then ship</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8</a:t>
            </a:r>
            <a:endParaRPr lang="en-US" sz="950" dirty="0"/>
          </a:p>
        </p:txBody>
      </p:sp>
      <p:sp>
        <p:nvSpPr>
          <p:cNvPr id="6" name="Shape 4"/>
          <p:cNvSpPr/>
          <p:nvPr/>
        </p:nvSpPr>
        <p:spPr>
          <a:xfrm>
            <a:off x="566928" y="1664208"/>
            <a:ext cx="4846320" cy="3931920"/>
          </a:xfrm>
          <a:prstGeom prst="roundRect">
            <a:avLst>
              <a:gd name="adj" fmla="val 2093"/>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7" name="Text 5"/>
          <p:cNvSpPr/>
          <p:nvPr/>
        </p:nvSpPr>
        <p:spPr>
          <a:xfrm>
            <a:off x="932688" y="1883664"/>
            <a:ext cx="4114800" cy="274320"/>
          </a:xfrm>
          <a:prstGeom prst="rect">
            <a:avLst/>
          </a:prstGeom>
          <a:noFill/>
          <a:ln/>
        </p:spPr>
        <p:txBody>
          <a:bodyPr wrap="square" lIns="0" tIns="0" rIns="0" bIns="0" rtlCol="0" anchor="ctr"/>
          <a:lstStyle/>
          <a:p>
            <a:pPr indent="0" marL="0">
              <a:buNone/>
            </a:pPr>
            <a:r>
              <a:rPr lang="en-US" sz="1100" b="1" spc="180" kern="0" dirty="0">
                <a:solidFill>
                  <a:srgbClr val="5A6675"/>
                </a:solidFill>
                <a:latin typeface="Calibri" pitchFamily="34" charset="0"/>
                <a:ea typeface="Calibri" pitchFamily="34" charset="-122"/>
                <a:cs typeface="Calibri" pitchFamily="34" charset="-120"/>
              </a:rPr>
              <a:t>AT THE END OF A LESSON</a:t>
            </a:r>
            <a:endParaRPr lang="en-US" sz="1100" dirty="0"/>
          </a:p>
        </p:txBody>
      </p:sp>
      <p:sp>
        <p:nvSpPr>
          <p:cNvPr id="8" name="Shape 6"/>
          <p:cNvSpPr/>
          <p:nvPr/>
        </p:nvSpPr>
        <p:spPr>
          <a:xfrm>
            <a:off x="1133856" y="2286000"/>
            <a:ext cx="3712464" cy="457200"/>
          </a:xfrm>
          <a:prstGeom prst="roundRect">
            <a:avLst>
              <a:gd name="adj" fmla="val 16000"/>
            </a:avLst>
          </a:prstGeom>
          <a:solidFill>
            <a:srgbClr val="EDF1F5"/>
          </a:solidFill>
          <a:ln w="12700">
            <a:solidFill>
              <a:srgbClr val="E2E6EB"/>
            </a:solidFill>
            <a:prstDash val="solid"/>
          </a:ln>
        </p:spPr>
      </p:sp>
      <p:sp>
        <p:nvSpPr>
          <p:cNvPr id="9" name="Text 7"/>
          <p:cNvSpPr/>
          <p:nvPr/>
        </p:nvSpPr>
        <p:spPr>
          <a:xfrm>
            <a:off x="1133856" y="2286000"/>
            <a:ext cx="3712464" cy="457200"/>
          </a:xfrm>
          <a:prstGeom prst="rect">
            <a:avLst/>
          </a:prstGeom>
          <a:noFill/>
          <a:ln/>
        </p:spPr>
        <p:txBody>
          <a:bodyPr wrap="square" lIns="0" tIns="0" rIns="0" bIns="0" rtlCol="0" anchor="ctr"/>
          <a:lstStyle/>
          <a:p>
            <a:pPr algn="ctr" indent="0" marL="0">
              <a:buNone/>
            </a:pPr>
            <a:r>
              <a:rPr lang="en-US" sz="1250" i="1" dirty="0">
                <a:solidFill>
                  <a:srgbClr val="5A6675"/>
                </a:solidFill>
                <a:latin typeface="Calibri" pitchFamily="34" charset="0"/>
                <a:ea typeface="Calibri" pitchFamily="34" charset="-122"/>
                <a:cs typeface="Calibri" pitchFamily="34" charset="-120"/>
              </a:rPr>
              <a:t>…the learner finishes “Try it”</a:t>
            </a:r>
            <a:endParaRPr lang="en-US" sz="1250" dirty="0"/>
          </a:p>
        </p:txBody>
      </p:sp>
      <p:sp>
        <p:nvSpPr>
          <p:cNvPr id="10" name="Shape 8"/>
          <p:cNvSpPr/>
          <p:nvPr/>
        </p:nvSpPr>
        <p:spPr>
          <a:xfrm>
            <a:off x="1133856" y="2889504"/>
            <a:ext cx="3712464" cy="457200"/>
          </a:xfrm>
          <a:prstGeom prst="roundRect">
            <a:avLst>
              <a:gd name="adj" fmla="val 16000"/>
            </a:avLst>
          </a:prstGeom>
          <a:solidFill>
            <a:srgbClr val="ED6A2A"/>
          </a:solidFill>
          <a:ln w="12700">
            <a:solidFill>
              <a:srgbClr val="ED6A2A"/>
            </a:solidFill>
            <a:prstDash val="solid"/>
          </a:ln>
        </p:spPr>
      </p:sp>
      <p:sp>
        <p:nvSpPr>
          <p:cNvPr id="11" name="Text 9"/>
          <p:cNvSpPr/>
          <p:nvPr/>
        </p:nvSpPr>
        <p:spPr>
          <a:xfrm>
            <a:off x="1133856" y="2889504"/>
            <a:ext cx="3712464"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Take the check</a:t>
            </a:r>
            <a:endParaRPr lang="en-US" sz="1300" dirty="0"/>
          </a:p>
        </p:txBody>
      </p:sp>
      <p:sp>
        <p:nvSpPr>
          <p:cNvPr id="12" name="Text 10"/>
          <p:cNvSpPr/>
          <p:nvPr/>
        </p:nvSpPr>
        <p:spPr>
          <a:xfrm>
            <a:off x="1133856" y="3346704"/>
            <a:ext cx="3712464" cy="274320"/>
          </a:xfrm>
          <a:prstGeom prst="rect">
            <a:avLst/>
          </a:prstGeom>
          <a:noFill/>
          <a:ln/>
        </p:spPr>
        <p:txBody>
          <a:bodyPr wrap="square" lIns="0" tIns="0" rIns="0" bIns="0" rtlCol="0" anchor="ctr"/>
          <a:lstStyle/>
          <a:p>
            <a:pPr algn="ctr" indent="0" marL="0">
              <a:buNone/>
            </a:pPr>
            <a:r>
              <a:rPr lang="en-US" sz="1050" dirty="0">
                <a:solidFill>
                  <a:srgbClr val="5A6675"/>
                </a:solidFill>
                <a:latin typeface="Calibri" pitchFamily="34" charset="0"/>
                <a:ea typeface="Calibri" pitchFamily="34" charset="-122"/>
                <a:cs typeface="Calibri" pitchFamily="34" charset="-120"/>
              </a:rPr>
              <a:t>→ the quiz</a:t>
            </a:r>
            <a:endParaRPr lang="en-US" sz="1050" dirty="0"/>
          </a:p>
        </p:txBody>
      </p:sp>
      <p:sp>
        <p:nvSpPr>
          <p:cNvPr id="13" name="Shape 11"/>
          <p:cNvSpPr/>
          <p:nvPr/>
        </p:nvSpPr>
        <p:spPr>
          <a:xfrm>
            <a:off x="1133856" y="3639312"/>
            <a:ext cx="3712464" cy="457200"/>
          </a:xfrm>
          <a:prstGeom prst="roundRect">
            <a:avLst>
              <a:gd name="adj" fmla="val 16000"/>
            </a:avLst>
          </a:prstGeom>
          <a:solidFill>
            <a:srgbClr val="ED6A2A"/>
          </a:solidFill>
          <a:ln w="12700">
            <a:solidFill>
              <a:srgbClr val="ED6A2A"/>
            </a:solidFill>
            <a:prstDash val="solid"/>
          </a:ln>
        </p:spPr>
      </p:sp>
      <p:sp>
        <p:nvSpPr>
          <p:cNvPr id="14" name="Text 12"/>
          <p:cNvSpPr/>
          <p:nvPr/>
        </p:nvSpPr>
        <p:spPr>
          <a:xfrm>
            <a:off x="1133856" y="3639312"/>
            <a:ext cx="3712464"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Read the template again</a:t>
            </a:r>
            <a:endParaRPr lang="en-US" sz="1300" dirty="0"/>
          </a:p>
        </p:txBody>
      </p:sp>
      <p:sp>
        <p:nvSpPr>
          <p:cNvPr id="15" name="Text 13"/>
          <p:cNvSpPr/>
          <p:nvPr/>
        </p:nvSpPr>
        <p:spPr>
          <a:xfrm>
            <a:off x="1133856" y="4096512"/>
            <a:ext cx="3712464" cy="274320"/>
          </a:xfrm>
          <a:prstGeom prst="rect">
            <a:avLst/>
          </a:prstGeom>
          <a:noFill/>
          <a:ln/>
        </p:spPr>
        <p:txBody>
          <a:bodyPr wrap="square" lIns="0" tIns="0" rIns="0" bIns="0" rtlCol="0" anchor="ctr"/>
          <a:lstStyle/>
          <a:p>
            <a:pPr algn="ctr" indent="0" marL="0">
              <a:buNone/>
            </a:pPr>
            <a:r>
              <a:rPr lang="en-US" sz="1050" dirty="0">
                <a:solidFill>
                  <a:srgbClr val="5A6675"/>
                </a:solidFill>
                <a:latin typeface="Calibri" pitchFamily="34" charset="0"/>
                <a:ea typeface="Calibri" pitchFamily="34" charset="-122"/>
                <a:cs typeface="Calibri" pitchFamily="34" charset="-120"/>
              </a:rPr>
              <a:t>→ lesson 1</a:t>
            </a:r>
            <a:endParaRPr lang="en-US" sz="1050" dirty="0"/>
          </a:p>
        </p:txBody>
      </p:sp>
      <p:sp>
        <p:nvSpPr>
          <p:cNvPr id="16" name="Shape 14"/>
          <p:cNvSpPr/>
          <p:nvPr/>
        </p:nvSpPr>
        <p:spPr>
          <a:xfrm>
            <a:off x="1133856" y="4389120"/>
            <a:ext cx="3712464" cy="457200"/>
          </a:xfrm>
          <a:prstGeom prst="roundRect">
            <a:avLst>
              <a:gd name="adj" fmla="val 16000"/>
            </a:avLst>
          </a:prstGeom>
          <a:solidFill>
            <a:srgbClr val="FFFFFF"/>
          </a:solidFill>
          <a:ln w="12700">
            <a:solidFill>
              <a:srgbClr val="ED6A2A"/>
            </a:solidFill>
            <a:prstDash val="solid"/>
          </a:ln>
        </p:spPr>
      </p:sp>
      <p:sp>
        <p:nvSpPr>
          <p:cNvPr id="17" name="Text 15"/>
          <p:cNvSpPr/>
          <p:nvPr/>
        </p:nvSpPr>
        <p:spPr>
          <a:xfrm>
            <a:off x="1133856" y="4389120"/>
            <a:ext cx="3712464" cy="457200"/>
          </a:xfrm>
          <a:prstGeom prst="rect">
            <a:avLst/>
          </a:prstGeom>
          <a:noFill/>
          <a:ln/>
        </p:spPr>
        <p:txBody>
          <a:bodyPr wrap="square" lIns="0" tIns="0" rIns="0" bIns="0" rtlCol="0" anchor="ctr"/>
          <a:lstStyle/>
          <a:p>
            <a:pPr algn="ctr" indent="0" marL="0">
              <a:buNone/>
            </a:pPr>
            <a:r>
              <a:rPr lang="en-US" sz="1300" b="1" dirty="0">
                <a:solidFill>
                  <a:srgbClr val="ED6A2A"/>
                </a:solidFill>
                <a:latin typeface="Calibri" pitchFamily="34" charset="0"/>
                <a:ea typeface="Calibri" pitchFamily="34" charset="-122"/>
                <a:cs typeface="Calibri" pitchFamily="34" charset="-120"/>
              </a:rPr>
              <a:t>Ask for a review</a:t>
            </a:r>
            <a:endParaRPr lang="en-US" sz="1300" dirty="0"/>
          </a:p>
        </p:txBody>
      </p:sp>
      <p:sp>
        <p:nvSpPr>
          <p:cNvPr id="18" name="Text 16"/>
          <p:cNvSpPr/>
          <p:nvPr/>
        </p:nvSpPr>
        <p:spPr>
          <a:xfrm>
            <a:off x="1133856" y="4846320"/>
            <a:ext cx="3712464" cy="274320"/>
          </a:xfrm>
          <a:prstGeom prst="rect">
            <a:avLst/>
          </a:prstGeom>
          <a:noFill/>
          <a:ln/>
        </p:spPr>
        <p:txBody>
          <a:bodyPr wrap="square" lIns="0" tIns="0" rIns="0" bIns="0" rtlCol="0" anchor="ctr"/>
          <a:lstStyle/>
          <a:p>
            <a:pPr algn="ctr" indent="0" marL="0">
              <a:buNone/>
            </a:pPr>
            <a:r>
              <a:rPr lang="en-US" sz="1050" dirty="0">
                <a:solidFill>
                  <a:srgbClr val="5A6675"/>
                </a:solidFill>
                <a:latin typeface="Calibri" pitchFamily="34" charset="0"/>
                <a:ea typeface="Calibri" pitchFamily="34" charset="-122"/>
                <a:cs typeface="Calibri" pitchFamily="34" charset="-120"/>
              </a:rPr>
              <a:t>→ an email draft</a:t>
            </a:r>
            <a:endParaRPr lang="en-US" sz="1050" dirty="0"/>
          </a:p>
        </p:txBody>
      </p:sp>
      <p:sp>
        <p:nvSpPr>
          <p:cNvPr id="19" name="Text 17"/>
          <p:cNvSpPr/>
          <p:nvPr/>
        </p:nvSpPr>
        <p:spPr>
          <a:xfrm>
            <a:off x="932688" y="5212080"/>
            <a:ext cx="4114800" cy="310896"/>
          </a:xfrm>
          <a:prstGeom prst="rect">
            <a:avLst/>
          </a:prstGeom>
          <a:noFill/>
          <a:ln/>
        </p:spPr>
        <p:txBody>
          <a:bodyPr wrap="square" lIns="0" tIns="0" rIns="0" bIns="0" rtlCol="0" anchor="ctr"/>
          <a:lstStyle/>
          <a:p>
            <a:pPr algn="ctr" indent="0" marL="0">
              <a:buNone/>
            </a:pPr>
            <a:r>
              <a:rPr lang="en-US" sz="1150" i="1" dirty="0">
                <a:solidFill>
                  <a:srgbClr val="5A6675"/>
                </a:solidFill>
                <a:latin typeface="Calibri" pitchFamily="34" charset="0"/>
                <a:ea typeface="Calibri" pitchFamily="34" charset="-122"/>
                <a:cs typeface="Calibri" pitchFamily="34" charset="-120"/>
              </a:rPr>
              <a:t>Nobody is trapped. The sidebar still works. You have offered, not enforced.</a:t>
            </a:r>
            <a:endParaRPr lang="en-US" sz="1150" dirty="0"/>
          </a:p>
        </p:txBody>
      </p:sp>
      <p:sp>
        <p:nvSpPr>
          <p:cNvPr id="20" name="Shape 18"/>
          <p:cNvSpPr/>
          <p:nvPr/>
        </p:nvSpPr>
        <p:spPr>
          <a:xfrm>
            <a:off x="5916168" y="1664208"/>
            <a:ext cx="5708599" cy="3931920"/>
          </a:xfrm>
          <a:prstGeom prst="roundRect">
            <a:avLst>
              <a:gd name="adj" fmla="val 2093"/>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21" name="Text 19"/>
          <p:cNvSpPr/>
          <p:nvPr/>
        </p:nvSpPr>
        <p:spPr>
          <a:xfrm>
            <a:off x="6281928" y="1883664"/>
            <a:ext cx="4977079" cy="274320"/>
          </a:xfrm>
          <a:prstGeom prst="rect">
            <a:avLst/>
          </a:prstGeom>
          <a:noFill/>
          <a:ln/>
        </p:spPr>
        <p:txBody>
          <a:bodyPr wrap="square" lIns="0" tIns="0" rIns="0" bIns="0" rtlCol="0" anchor="ctr"/>
          <a:lstStyle/>
          <a:p>
            <a:pPr indent="0" marL="0">
              <a:buNone/>
            </a:pPr>
            <a:r>
              <a:rPr lang="en-US" sz="1100" b="1" spc="180" kern="0" dirty="0">
                <a:solidFill>
                  <a:srgbClr val="5A6675"/>
                </a:solidFill>
                <a:latin typeface="Calibri" pitchFamily="34" charset="0"/>
                <a:ea typeface="Calibri" pitchFamily="34" charset="-122"/>
                <a:cs typeface="Calibri" pitchFamily="34" charset="-120"/>
              </a:rPr>
              <a:t>LABEL IT WITH WHAT HAPPENS</a:t>
            </a:r>
            <a:endParaRPr lang="en-US" sz="1100" dirty="0"/>
          </a:p>
        </p:txBody>
      </p:sp>
      <p:sp>
        <p:nvSpPr>
          <p:cNvPr id="22" name="Text 20"/>
          <p:cNvSpPr/>
          <p:nvPr/>
        </p:nvSpPr>
        <p:spPr>
          <a:xfrm>
            <a:off x="6245352" y="2340864"/>
            <a:ext cx="1691640" cy="365760"/>
          </a:xfrm>
          <a:prstGeom prst="rect">
            <a:avLst/>
          </a:prstGeom>
          <a:noFill/>
          <a:ln/>
        </p:spPr>
        <p:txBody>
          <a:bodyPr wrap="square" lIns="0" tIns="0" rIns="0" bIns="0" rtlCol="0" anchor="ctr"/>
          <a:lstStyle/>
          <a:p>
            <a:pPr indent="0" marL="0">
              <a:buNone/>
            </a:pPr>
            <a:r>
              <a:rPr lang="en-US" sz="1300" strike="sngStrike" dirty="0">
                <a:solidFill>
                  <a:srgbClr val="B4441F"/>
                </a:solidFill>
                <a:latin typeface="Calibri" pitchFamily="34" charset="0"/>
                <a:ea typeface="Calibri" pitchFamily="34" charset="-122"/>
                <a:cs typeface="Calibri" pitchFamily="34" charset="-120"/>
              </a:rPr>
              <a:t>Click here</a:t>
            </a:r>
            <a:endParaRPr lang="en-US" sz="1300" dirty="0"/>
          </a:p>
        </p:txBody>
      </p:sp>
      <p:sp>
        <p:nvSpPr>
          <p:cNvPr id="23" name="Text 21"/>
          <p:cNvSpPr/>
          <p:nvPr/>
        </p:nvSpPr>
        <p:spPr>
          <a:xfrm>
            <a:off x="7964424" y="2340864"/>
            <a:ext cx="310896" cy="365760"/>
          </a:xfrm>
          <a:prstGeom prst="rect">
            <a:avLst/>
          </a:prstGeom>
          <a:noFill/>
          <a:ln/>
        </p:spPr>
        <p:txBody>
          <a:bodyPr wrap="square" lIns="0" tIns="0" rIns="0" bIns="0" rtlCol="0" anchor="ctr"/>
          <a:lstStyle/>
          <a:p>
            <a:pPr algn="ctr" indent="0" marL="0">
              <a:buNone/>
            </a:pPr>
            <a:r>
              <a:rPr lang="en-US" sz="1300" dirty="0">
                <a:solidFill>
                  <a:srgbClr val="A9B3C0"/>
                </a:solidFill>
                <a:latin typeface="Calibri" pitchFamily="34" charset="0"/>
                <a:ea typeface="Calibri" pitchFamily="34" charset="-122"/>
                <a:cs typeface="Calibri" pitchFamily="34" charset="-120"/>
              </a:rPr>
              <a:t>→</a:t>
            </a:r>
            <a:endParaRPr lang="en-US" sz="1300" dirty="0"/>
          </a:p>
        </p:txBody>
      </p:sp>
      <p:sp>
        <p:nvSpPr>
          <p:cNvPr id="24" name="Text 22"/>
          <p:cNvSpPr/>
          <p:nvPr/>
        </p:nvSpPr>
        <p:spPr>
          <a:xfrm>
            <a:off x="8348472" y="2340864"/>
            <a:ext cx="2947111" cy="365760"/>
          </a:xfrm>
          <a:prstGeom prst="rect">
            <a:avLst/>
          </a:prstGeom>
          <a:noFill/>
          <a:ln/>
        </p:spPr>
        <p:txBody>
          <a:bodyPr wrap="square" lIns="0" tIns="0" rIns="0" bIns="0" rtlCol="0" anchor="ctr"/>
          <a:lstStyle/>
          <a:p>
            <a:pPr indent="0" marL="0">
              <a:buNone/>
            </a:pPr>
            <a:r>
              <a:rPr lang="en-US" sz="1300" b="1" dirty="0">
                <a:solidFill>
                  <a:srgbClr val="2E7D5B"/>
                </a:solidFill>
                <a:latin typeface="Calibri" pitchFamily="34" charset="0"/>
                <a:ea typeface="Calibri" pitchFamily="34" charset="-122"/>
                <a:cs typeface="Calibri" pitchFamily="34" charset="-120"/>
              </a:rPr>
              <a:t>Open the refund policy</a:t>
            </a:r>
            <a:endParaRPr lang="en-US" sz="1300" dirty="0"/>
          </a:p>
        </p:txBody>
      </p:sp>
      <p:sp>
        <p:nvSpPr>
          <p:cNvPr id="25" name="Text 23"/>
          <p:cNvSpPr/>
          <p:nvPr/>
        </p:nvSpPr>
        <p:spPr>
          <a:xfrm>
            <a:off x="6245352" y="3054096"/>
            <a:ext cx="1691640" cy="365760"/>
          </a:xfrm>
          <a:prstGeom prst="rect">
            <a:avLst/>
          </a:prstGeom>
          <a:noFill/>
          <a:ln/>
        </p:spPr>
        <p:txBody>
          <a:bodyPr wrap="square" lIns="0" tIns="0" rIns="0" bIns="0" rtlCol="0" anchor="ctr"/>
          <a:lstStyle/>
          <a:p>
            <a:pPr indent="0" marL="0">
              <a:buNone/>
            </a:pPr>
            <a:r>
              <a:rPr lang="en-US" sz="1300" strike="sngStrike" dirty="0">
                <a:solidFill>
                  <a:srgbClr val="B4441F"/>
                </a:solidFill>
                <a:latin typeface="Calibri" pitchFamily="34" charset="0"/>
                <a:ea typeface="Calibri" pitchFamily="34" charset="-122"/>
                <a:cs typeface="Calibri" pitchFamily="34" charset="-120"/>
              </a:rPr>
              <a:t>Learn more</a:t>
            </a:r>
            <a:endParaRPr lang="en-US" sz="1300" dirty="0"/>
          </a:p>
        </p:txBody>
      </p:sp>
      <p:sp>
        <p:nvSpPr>
          <p:cNvPr id="26" name="Text 24"/>
          <p:cNvSpPr/>
          <p:nvPr/>
        </p:nvSpPr>
        <p:spPr>
          <a:xfrm>
            <a:off x="7964424" y="3054096"/>
            <a:ext cx="310896" cy="365760"/>
          </a:xfrm>
          <a:prstGeom prst="rect">
            <a:avLst/>
          </a:prstGeom>
          <a:noFill/>
          <a:ln/>
        </p:spPr>
        <p:txBody>
          <a:bodyPr wrap="square" lIns="0" tIns="0" rIns="0" bIns="0" rtlCol="0" anchor="ctr"/>
          <a:lstStyle/>
          <a:p>
            <a:pPr algn="ctr" indent="0" marL="0">
              <a:buNone/>
            </a:pPr>
            <a:r>
              <a:rPr lang="en-US" sz="1300" dirty="0">
                <a:solidFill>
                  <a:srgbClr val="A9B3C0"/>
                </a:solidFill>
                <a:latin typeface="Calibri" pitchFamily="34" charset="0"/>
                <a:ea typeface="Calibri" pitchFamily="34" charset="-122"/>
                <a:cs typeface="Calibri" pitchFamily="34" charset="-120"/>
              </a:rPr>
              <a:t>→</a:t>
            </a:r>
            <a:endParaRPr lang="en-US" sz="1300" dirty="0"/>
          </a:p>
        </p:txBody>
      </p:sp>
      <p:sp>
        <p:nvSpPr>
          <p:cNvPr id="27" name="Text 25"/>
          <p:cNvSpPr/>
          <p:nvPr/>
        </p:nvSpPr>
        <p:spPr>
          <a:xfrm>
            <a:off x="8348472" y="3054096"/>
            <a:ext cx="2947111" cy="365760"/>
          </a:xfrm>
          <a:prstGeom prst="rect">
            <a:avLst/>
          </a:prstGeom>
          <a:noFill/>
          <a:ln/>
        </p:spPr>
        <p:txBody>
          <a:bodyPr wrap="square" lIns="0" tIns="0" rIns="0" bIns="0" rtlCol="0" anchor="ctr"/>
          <a:lstStyle/>
          <a:p>
            <a:pPr indent="0" marL="0">
              <a:buNone/>
            </a:pPr>
            <a:r>
              <a:rPr lang="en-US" sz="1300" b="1" dirty="0">
                <a:solidFill>
                  <a:srgbClr val="2E7D5B"/>
                </a:solidFill>
                <a:latin typeface="Calibri" pitchFamily="34" charset="0"/>
                <a:ea typeface="Calibri" pitchFamily="34" charset="-122"/>
                <a:cs typeface="Calibri" pitchFamily="34" charset="-120"/>
              </a:rPr>
              <a:t>See the three escalation levels</a:t>
            </a:r>
            <a:endParaRPr lang="en-US" sz="1300" dirty="0"/>
          </a:p>
        </p:txBody>
      </p:sp>
      <p:sp>
        <p:nvSpPr>
          <p:cNvPr id="28" name="Text 26"/>
          <p:cNvSpPr/>
          <p:nvPr/>
        </p:nvSpPr>
        <p:spPr>
          <a:xfrm>
            <a:off x="6245352" y="3767328"/>
            <a:ext cx="1691640" cy="365760"/>
          </a:xfrm>
          <a:prstGeom prst="rect">
            <a:avLst/>
          </a:prstGeom>
          <a:noFill/>
          <a:ln/>
        </p:spPr>
        <p:txBody>
          <a:bodyPr wrap="square" lIns="0" tIns="0" rIns="0" bIns="0" rtlCol="0" anchor="ctr"/>
          <a:lstStyle/>
          <a:p>
            <a:pPr indent="0" marL="0">
              <a:buNone/>
            </a:pPr>
            <a:r>
              <a:rPr lang="en-US" sz="1300" strike="sngStrike" dirty="0">
                <a:solidFill>
                  <a:srgbClr val="B4441F"/>
                </a:solidFill>
                <a:latin typeface="Calibri" pitchFamily="34" charset="0"/>
                <a:ea typeface="Calibri" pitchFamily="34" charset="-122"/>
                <a:cs typeface="Calibri" pitchFamily="34" charset="-120"/>
              </a:rPr>
              <a:t>Next</a:t>
            </a:r>
            <a:endParaRPr lang="en-US" sz="1300" dirty="0"/>
          </a:p>
        </p:txBody>
      </p:sp>
      <p:sp>
        <p:nvSpPr>
          <p:cNvPr id="29" name="Text 27"/>
          <p:cNvSpPr/>
          <p:nvPr/>
        </p:nvSpPr>
        <p:spPr>
          <a:xfrm>
            <a:off x="7964424" y="3767328"/>
            <a:ext cx="310896" cy="365760"/>
          </a:xfrm>
          <a:prstGeom prst="rect">
            <a:avLst/>
          </a:prstGeom>
          <a:noFill/>
          <a:ln/>
        </p:spPr>
        <p:txBody>
          <a:bodyPr wrap="square" lIns="0" tIns="0" rIns="0" bIns="0" rtlCol="0" anchor="ctr"/>
          <a:lstStyle/>
          <a:p>
            <a:pPr algn="ctr" indent="0" marL="0">
              <a:buNone/>
            </a:pPr>
            <a:r>
              <a:rPr lang="en-US" sz="1300" dirty="0">
                <a:solidFill>
                  <a:srgbClr val="A9B3C0"/>
                </a:solidFill>
                <a:latin typeface="Calibri" pitchFamily="34" charset="0"/>
                <a:ea typeface="Calibri" pitchFamily="34" charset="-122"/>
                <a:cs typeface="Calibri" pitchFamily="34" charset="-120"/>
              </a:rPr>
              <a:t>→</a:t>
            </a:r>
            <a:endParaRPr lang="en-US" sz="1300" dirty="0"/>
          </a:p>
        </p:txBody>
      </p:sp>
      <p:sp>
        <p:nvSpPr>
          <p:cNvPr id="30" name="Text 28"/>
          <p:cNvSpPr/>
          <p:nvPr/>
        </p:nvSpPr>
        <p:spPr>
          <a:xfrm>
            <a:off x="8348472" y="3767328"/>
            <a:ext cx="2947111" cy="365760"/>
          </a:xfrm>
          <a:prstGeom prst="rect">
            <a:avLst/>
          </a:prstGeom>
          <a:noFill/>
          <a:ln/>
        </p:spPr>
        <p:txBody>
          <a:bodyPr wrap="square" lIns="0" tIns="0" rIns="0" bIns="0" rtlCol="0" anchor="ctr"/>
          <a:lstStyle/>
          <a:p>
            <a:pPr indent="0" marL="0">
              <a:buNone/>
            </a:pPr>
            <a:r>
              <a:rPr lang="en-US" sz="1300" b="1" dirty="0">
                <a:solidFill>
                  <a:srgbClr val="2E7D5B"/>
                </a:solidFill>
                <a:latin typeface="Calibri" pitchFamily="34" charset="0"/>
                <a:ea typeface="Calibri" pitchFamily="34" charset="-122"/>
                <a:cs typeface="Calibri" pitchFamily="34" charset="-120"/>
              </a:rPr>
              <a:t>Take the check</a:t>
            </a:r>
            <a:endParaRPr lang="en-US" sz="1300" dirty="0"/>
          </a:p>
        </p:txBody>
      </p:sp>
      <p:sp>
        <p:nvSpPr>
          <p:cNvPr id="31" name="Text 29"/>
          <p:cNvSpPr/>
          <p:nvPr/>
        </p:nvSpPr>
        <p:spPr>
          <a:xfrm>
            <a:off x="6245352" y="4480560"/>
            <a:ext cx="1691640" cy="365760"/>
          </a:xfrm>
          <a:prstGeom prst="rect">
            <a:avLst/>
          </a:prstGeom>
          <a:noFill/>
          <a:ln/>
        </p:spPr>
        <p:txBody>
          <a:bodyPr wrap="square" lIns="0" tIns="0" rIns="0" bIns="0" rtlCol="0" anchor="ctr"/>
          <a:lstStyle/>
          <a:p>
            <a:pPr indent="0" marL="0">
              <a:buNone/>
            </a:pPr>
            <a:r>
              <a:rPr lang="en-US" sz="1300" strike="sngStrike" dirty="0">
                <a:solidFill>
                  <a:srgbClr val="B4441F"/>
                </a:solidFill>
                <a:latin typeface="Calibri" pitchFamily="34" charset="0"/>
                <a:ea typeface="Calibri" pitchFamily="34" charset="-122"/>
                <a:cs typeface="Calibri" pitchFamily="34" charset="-120"/>
              </a:rPr>
              <a:t>Read on</a:t>
            </a:r>
            <a:endParaRPr lang="en-US" sz="1300" dirty="0"/>
          </a:p>
        </p:txBody>
      </p:sp>
      <p:sp>
        <p:nvSpPr>
          <p:cNvPr id="32" name="Text 30"/>
          <p:cNvSpPr/>
          <p:nvPr/>
        </p:nvSpPr>
        <p:spPr>
          <a:xfrm>
            <a:off x="7964424" y="4480560"/>
            <a:ext cx="310896" cy="365760"/>
          </a:xfrm>
          <a:prstGeom prst="rect">
            <a:avLst/>
          </a:prstGeom>
          <a:noFill/>
          <a:ln/>
        </p:spPr>
        <p:txBody>
          <a:bodyPr wrap="square" lIns="0" tIns="0" rIns="0" bIns="0" rtlCol="0" anchor="ctr"/>
          <a:lstStyle/>
          <a:p>
            <a:pPr algn="ctr" indent="0" marL="0">
              <a:buNone/>
            </a:pPr>
            <a:r>
              <a:rPr lang="en-US" sz="1300" dirty="0">
                <a:solidFill>
                  <a:srgbClr val="A9B3C0"/>
                </a:solidFill>
                <a:latin typeface="Calibri" pitchFamily="34" charset="0"/>
                <a:ea typeface="Calibri" pitchFamily="34" charset="-122"/>
                <a:cs typeface="Calibri" pitchFamily="34" charset="-120"/>
              </a:rPr>
              <a:t>→</a:t>
            </a:r>
            <a:endParaRPr lang="en-US" sz="1300" dirty="0"/>
          </a:p>
        </p:txBody>
      </p:sp>
      <p:sp>
        <p:nvSpPr>
          <p:cNvPr id="33" name="Text 31"/>
          <p:cNvSpPr/>
          <p:nvPr/>
        </p:nvSpPr>
        <p:spPr>
          <a:xfrm>
            <a:off x="8348472" y="4480560"/>
            <a:ext cx="2947111" cy="365760"/>
          </a:xfrm>
          <a:prstGeom prst="rect">
            <a:avLst/>
          </a:prstGeom>
          <a:noFill/>
          <a:ln/>
        </p:spPr>
        <p:txBody>
          <a:bodyPr wrap="square" lIns="0" tIns="0" rIns="0" bIns="0" rtlCol="0" anchor="ctr"/>
          <a:lstStyle/>
          <a:p>
            <a:pPr indent="0" marL="0">
              <a:buNone/>
            </a:pPr>
            <a:r>
              <a:rPr lang="en-US" sz="1300" b="1" dirty="0">
                <a:solidFill>
                  <a:srgbClr val="2E7D5B"/>
                </a:solidFill>
                <a:latin typeface="Calibri" pitchFamily="34" charset="0"/>
                <a:ea typeface="Calibri" pitchFamily="34" charset="-122"/>
                <a:cs typeface="Calibri" pitchFamily="34" charset="-120"/>
              </a:rPr>
              <a:t>Email the onboarding team</a:t>
            </a:r>
            <a:endParaRPr lang="en-US" sz="1300" dirty="0"/>
          </a:p>
        </p:txBody>
      </p:sp>
      <p:sp>
        <p:nvSpPr>
          <p:cNvPr id="34" name="Text 32"/>
          <p:cNvSpPr/>
          <p:nvPr/>
        </p:nvSpPr>
        <p:spPr>
          <a:xfrm>
            <a:off x="6245352" y="5138928"/>
            <a:ext cx="5050231" cy="384048"/>
          </a:xfrm>
          <a:prstGeom prst="rect">
            <a:avLst/>
          </a:prstGeom>
          <a:noFill/>
          <a:ln/>
        </p:spPr>
        <p:txBody>
          <a:bodyPr wrap="square" lIns="0" tIns="0" rIns="0" bIns="0" rtlCol="0" anchor="t"/>
          <a:lstStyle/>
          <a:p>
            <a:pPr indent="0" marL="0">
              <a:buNone/>
            </a:pPr>
            <a:r>
              <a:rPr lang="en-US" sz="1200" i="1" dirty="0">
                <a:solidFill>
                  <a:srgbClr val="5A6675"/>
                </a:solidFill>
                <a:latin typeface="Calibri" pitchFamily="34" charset="0"/>
                <a:ea typeface="Calibri" pitchFamily="34" charset="-122"/>
                <a:cs typeface="Calibri" pitchFamily="34" charset="-120"/>
              </a:rPr>
              <a:t>The test: read the label with the screen covered. Can you say where you are about to land?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61F"/>
        </a:solidFill>
      </p:bgPr>
    </p:bg>
    <p:spTree>
      <p:nvGrpSpPr>
        <p:cNvPr id="1" name=""/>
        <p:cNvGrpSpPr/>
        <p:nvPr/>
      </p:nvGrpSpPr>
      <p:grpSpPr>
        <a:xfrm>
          <a:off x="0" y="0"/>
          <a:ext cx="0" cy="0"/>
          <a:chOff x="0" y="0"/>
          <a:chExt cx="0" cy="0"/>
        </a:xfrm>
      </p:grpSpPr>
      <p:sp>
        <p:nvSpPr>
          <p:cNvPr id="2" name="Text 0"/>
          <p:cNvSpPr/>
          <p:nvPr/>
        </p:nvSpPr>
        <p:spPr>
          <a:xfrm>
            <a:off x="566928" y="2148840"/>
            <a:ext cx="6634704" cy="274320"/>
          </a:xfrm>
          <a:prstGeom prst="rect">
            <a:avLst/>
          </a:prstGeom>
          <a:noFill/>
          <a:ln/>
        </p:spPr>
        <p:txBody>
          <a:bodyPr wrap="square" lIns="0" tIns="0" rIns="0" bIns="0" rtlCol="0" anchor="ctr"/>
          <a:lstStyle/>
          <a:p>
            <a:pPr indent="0" marL="0">
              <a:buNone/>
            </a:pPr>
            <a:r>
              <a:rPr lang="en-US" sz="1200" b="1" spc="220" kern="0" dirty="0">
                <a:solidFill>
                  <a:srgbClr val="ED6A2A"/>
                </a:solidFill>
                <a:latin typeface="Calibri" pitchFamily="34" charset="0"/>
                <a:ea typeface="Calibri" pitchFamily="34" charset="-122"/>
                <a:cs typeface="Calibri" pitchFamily="34" charset="-120"/>
              </a:rPr>
              <a:t>SECTION TWO</a:t>
            </a:r>
            <a:endParaRPr lang="en-US" sz="1200" dirty="0"/>
          </a:p>
        </p:txBody>
      </p:sp>
      <p:sp>
        <p:nvSpPr>
          <p:cNvPr id="3" name="Text 1"/>
          <p:cNvSpPr/>
          <p:nvPr/>
        </p:nvSpPr>
        <p:spPr>
          <a:xfrm>
            <a:off x="566928" y="2487168"/>
            <a:ext cx="6855860" cy="10515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Role-play with</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consequences</a:t>
            </a:r>
            <a:endParaRPr lang="en-US" sz="4000" dirty="0"/>
          </a:p>
        </p:txBody>
      </p:sp>
      <p:sp>
        <p:nvSpPr>
          <p:cNvPr id="4" name="Text 2"/>
          <p:cNvSpPr/>
          <p:nvPr/>
        </p:nvSpPr>
        <p:spPr>
          <a:xfrm>
            <a:off x="566928" y="3712464"/>
            <a:ext cx="5971233" cy="822960"/>
          </a:xfrm>
          <a:prstGeom prst="rect">
            <a:avLst/>
          </a:prstGeom>
          <a:noFill/>
          <a:ln/>
        </p:spPr>
        <p:txBody>
          <a:bodyPr wrap="square" lIns="0" tIns="0" rIns="0" bIns="0" rtlCol="0" anchor="t"/>
          <a:lstStyle/>
          <a:p>
            <a:pPr indent="0" marL="0">
              <a:lnSpc>
                <a:spcPts val="2200"/>
              </a:lnSpc>
              <a:buNone/>
            </a:pPr>
            <a:r>
              <a:rPr lang="en-US" sz="1450" dirty="0">
                <a:solidFill>
                  <a:srgbClr val="A9B3C0"/>
                </a:solidFill>
                <a:latin typeface="Calibri" pitchFamily="34" charset="0"/>
                <a:ea typeface="Calibri" pitchFamily="34" charset="-122"/>
                <a:cs typeface="Calibri" pitchFamily="34" charset="-120"/>
              </a:rPr>
              <a:t>The Scenario block is the only place in Rise where a learner finds out what their choice costs. It is also the only block you should write before you open the editor.</a:t>
            </a:r>
            <a:endParaRPr lang="en-US" sz="1450" dirty="0"/>
          </a:p>
        </p:txBody>
      </p:sp>
      <p:sp>
        <p:nvSpPr>
          <p:cNvPr id="5" name="Shape 3"/>
          <p:cNvSpPr/>
          <p:nvPr/>
        </p:nvSpPr>
        <p:spPr>
          <a:xfrm>
            <a:off x="9338767" y="2331720"/>
            <a:ext cx="1920240" cy="475488"/>
          </a:xfrm>
          <a:prstGeom prst="roundRect">
            <a:avLst>
              <a:gd name="adj" fmla="val 15385"/>
            </a:avLst>
          </a:prstGeom>
          <a:solidFill>
            <a:srgbClr val="1C2230"/>
          </a:solidFill>
          <a:ln w="12700">
            <a:solidFill>
              <a:srgbClr val="2A3242"/>
            </a:solidFill>
            <a:prstDash val="solid"/>
          </a:ln>
        </p:spPr>
      </p:sp>
      <p:sp>
        <p:nvSpPr>
          <p:cNvPr id="6" name="Shape 4"/>
          <p:cNvSpPr/>
          <p:nvPr/>
        </p:nvSpPr>
        <p:spPr>
          <a:xfrm>
            <a:off x="9466783" y="2990088"/>
            <a:ext cx="1920240" cy="475488"/>
          </a:xfrm>
          <a:prstGeom prst="roundRect">
            <a:avLst>
              <a:gd name="adj" fmla="val 15385"/>
            </a:avLst>
          </a:prstGeom>
          <a:solidFill>
            <a:srgbClr val="1C2230"/>
          </a:solidFill>
          <a:ln w="12700">
            <a:solidFill>
              <a:srgbClr val="2A3242"/>
            </a:solidFill>
            <a:prstDash val="solid"/>
          </a:ln>
        </p:spPr>
      </p:sp>
      <p:sp>
        <p:nvSpPr>
          <p:cNvPr id="7" name="Shape 5"/>
          <p:cNvSpPr/>
          <p:nvPr/>
        </p:nvSpPr>
        <p:spPr>
          <a:xfrm>
            <a:off x="9594799" y="3648456"/>
            <a:ext cx="1920240" cy="475488"/>
          </a:xfrm>
          <a:prstGeom prst="roundRect">
            <a:avLst>
              <a:gd name="adj" fmla="val 15385"/>
            </a:avLst>
          </a:prstGeom>
          <a:solidFill>
            <a:srgbClr val="ED6A2A"/>
          </a:solidFill>
          <a:ln w="12700">
            <a:solidFill>
              <a:srgbClr val="ED6A2A"/>
            </a:solidFill>
            <a:prstDash val="solid"/>
          </a:ln>
        </p:spPr>
      </p:sp>
      <p:sp>
        <p:nvSpPr>
          <p:cNvPr id="8" name="Text 6"/>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A9B3C0"/>
                </a:solidFill>
                <a:latin typeface="Calibri" pitchFamily="34" charset="0"/>
                <a:ea typeface="Calibri" pitchFamily="34" charset="-122"/>
                <a:cs typeface="Calibri" pitchFamily="34" charset="-120"/>
              </a:rPr>
              <a:t>Rise 360  ·  Day 4  ·  Decide, then ship</a:t>
            </a:r>
            <a:endParaRPr lang="en-US" sz="950" dirty="0"/>
          </a:p>
        </p:txBody>
      </p:sp>
      <p:sp>
        <p:nvSpPr>
          <p:cNvPr id="9" name="Text 7"/>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A9B3C0"/>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What a scenario is made of</a:t>
            </a:r>
            <a:endParaRPr lang="en-US" sz="3000" dirty="0"/>
          </a:p>
        </p:txBody>
      </p:sp>
      <p:sp>
        <p:nvSpPr>
          <p:cNvPr id="3" name="Text 1"/>
          <p:cNvSpPr/>
          <p:nvPr/>
        </p:nvSpPr>
        <p:spPr>
          <a:xfrm>
            <a:off x="566928" y="1005840"/>
            <a:ext cx="9067428"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Five things, nested. Learn the nesting and the editor stops being confusing.</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4  ·  Decide, then ship</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10</a:t>
            </a:r>
            <a:endParaRPr lang="en-US" sz="950" dirty="0"/>
          </a:p>
        </p:txBody>
      </p:sp>
      <p:sp>
        <p:nvSpPr>
          <p:cNvPr id="6" name="Shape 4"/>
          <p:cNvSpPr/>
          <p:nvPr/>
        </p:nvSpPr>
        <p:spPr>
          <a:xfrm>
            <a:off x="566928" y="1700784"/>
            <a:ext cx="3657600" cy="3500846"/>
          </a:xfrm>
          <a:prstGeom prst="roundRect">
            <a:avLst>
              <a:gd name="adj" fmla="val 2351"/>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7" name="Image 0" descr="/home/user/parallelism/rise360-curriculum/day2/assets/block-screenshots/scenario.png">    </p:cNvPr>
          <p:cNvPicPr>
            <a:picLocks noChangeAspect="1"/>
          </p:cNvPicPr>
          <p:nvPr/>
        </p:nvPicPr>
        <p:blipFill>
          <a:blip r:embed="rId1"/>
          <a:stretch>
            <a:fillRect/>
          </a:stretch>
        </p:blipFill>
        <p:spPr>
          <a:xfrm>
            <a:off x="795528" y="1920240"/>
            <a:ext cx="3200400" cy="2220686"/>
          </a:xfrm>
          <a:prstGeom prst="rect">
            <a:avLst/>
          </a:prstGeom>
        </p:spPr>
      </p:pic>
      <p:sp>
        <p:nvSpPr>
          <p:cNvPr id="8" name="Text 5"/>
          <p:cNvSpPr/>
          <p:nvPr/>
        </p:nvSpPr>
        <p:spPr>
          <a:xfrm>
            <a:off x="795528" y="4287230"/>
            <a:ext cx="3200400" cy="310896"/>
          </a:xfrm>
          <a:prstGeom prst="rect">
            <a:avLst/>
          </a:prstGeom>
          <a:noFill/>
          <a:ln/>
        </p:spPr>
        <p:txBody>
          <a:bodyPr wrap="square" lIns="0" tIns="0" rIns="0" bIns="0" rtlCol="0" anchor="ctr"/>
          <a:lstStyle/>
          <a:p>
            <a:pPr algn="ctr" indent="0" marL="0">
              <a:buNone/>
            </a:pPr>
            <a:r>
              <a:rPr lang="en-US" sz="1200" b="1" dirty="0">
                <a:solidFill>
                  <a:srgbClr val="12161F"/>
                </a:solidFill>
                <a:latin typeface="Calibri" pitchFamily="34" charset="0"/>
                <a:ea typeface="Calibri" pitchFamily="34" charset="-122"/>
                <a:cs typeface="Calibri" pitchFamily="34" charset="-120"/>
              </a:rPr>
              <a:t>Interactive › Scenario</a:t>
            </a:r>
            <a:endParaRPr lang="en-US" sz="1200" dirty="0"/>
          </a:p>
        </p:txBody>
      </p:sp>
      <p:sp>
        <p:nvSpPr>
          <p:cNvPr id="9" name="Text 6"/>
          <p:cNvSpPr/>
          <p:nvPr/>
        </p:nvSpPr>
        <p:spPr>
          <a:xfrm>
            <a:off x="795528" y="4598126"/>
            <a:ext cx="3200400" cy="457200"/>
          </a:xfrm>
          <a:prstGeom prst="rect">
            <a:avLst/>
          </a:prstGeom>
          <a:noFill/>
          <a:ln/>
        </p:spPr>
        <p:txBody>
          <a:bodyPr wrap="square" lIns="0" tIns="0" rIns="0" bIns="0" rtlCol="0" anchor="ctr"/>
          <a:lstStyle/>
          <a:p>
            <a:pPr algn="ctr" indent="0" marL="0">
              <a:lnSpc>
                <a:spcPts val="1500"/>
              </a:lnSpc>
              <a:buNone/>
            </a:pPr>
            <a:r>
              <a:rPr lang="en-US" sz="1150" dirty="0">
                <a:solidFill>
                  <a:srgbClr val="5A6675"/>
                </a:solidFill>
                <a:latin typeface="Calibri" pitchFamily="34" charset="0"/>
                <a:ea typeface="Calibri" pitchFamily="34" charset="-122"/>
                <a:cs typeface="Calibri" pitchFamily="34" charset="-120"/>
              </a:rPr>
              <a:t>Photographic characters, a background,</a:t>
            </a:r>
            <a:endParaRPr lang="en-US" sz="1150" dirty="0"/>
          </a:p>
          <a:p>
            <a:pPr algn="ctr" indent="0" marL="0">
              <a:lnSpc>
                <a:spcPts val="1500"/>
              </a:lnSpc>
              <a:buNone/>
            </a:pPr>
            <a:r>
              <a:rPr lang="en-US" sz="1150" dirty="0">
                <a:solidFill>
                  <a:srgbClr val="5A6675"/>
                </a:solidFill>
                <a:latin typeface="Calibri" pitchFamily="34" charset="0"/>
                <a:ea typeface="Calibri" pitchFamily="34" charset="-122"/>
                <a:cs typeface="Calibri" pitchFamily="34" charset="-120"/>
              </a:rPr>
              <a:t>and a conversation that forks.</a:t>
            </a:r>
            <a:endParaRPr lang="en-US" sz="1150" dirty="0"/>
          </a:p>
        </p:txBody>
      </p:sp>
      <p:sp>
        <p:nvSpPr>
          <p:cNvPr id="10" name="Shape 7"/>
          <p:cNvSpPr/>
          <p:nvPr/>
        </p:nvSpPr>
        <p:spPr>
          <a:xfrm>
            <a:off x="4727448" y="1773936"/>
            <a:ext cx="6897319" cy="530352"/>
          </a:xfrm>
          <a:prstGeom prst="roundRect">
            <a:avLst>
              <a:gd name="adj" fmla="val 13793"/>
            </a:avLst>
          </a:prstGeom>
          <a:solidFill>
            <a:srgbClr val="12161F"/>
          </a:solidFill>
          <a:ln w="12700">
            <a:solidFill>
              <a:srgbClr val="12161F"/>
            </a:solidFill>
            <a:prstDash val="solid"/>
          </a:ln>
        </p:spPr>
      </p:sp>
      <p:sp>
        <p:nvSpPr>
          <p:cNvPr id="11" name="Text 8"/>
          <p:cNvSpPr/>
          <p:nvPr/>
        </p:nvSpPr>
        <p:spPr>
          <a:xfrm>
            <a:off x="5001768" y="1773936"/>
            <a:ext cx="2011680" cy="530352"/>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Scenario</a:t>
            </a:r>
            <a:endParaRPr lang="en-US" sz="1500" dirty="0"/>
          </a:p>
        </p:txBody>
      </p:sp>
      <p:sp>
        <p:nvSpPr>
          <p:cNvPr id="12" name="Text 9"/>
          <p:cNvSpPr/>
          <p:nvPr/>
        </p:nvSpPr>
        <p:spPr>
          <a:xfrm>
            <a:off x="7013448" y="1773936"/>
            <a:ext cx="4336999" cy="530352"/>
          </a:xfrm>
          <a:prstGeom prst="rect">
            <a:avLst/>
          </a:prstGeom>
          <a:noFill/>
          <a:ln/>
        </p:spPr>
        <p:txBody>
          <a:bodyPr wrap="square" lIns="0" tIns="0" rIns="0" bIns="0" rtlCol="0" anchor="ctr"/>
          <a:lstStyle/>
          <a:p>
            <a:pPr indent="0" marL="0">
              <a:buNone/>
            </a:pPr>
            <a:r>
              <a:rPr lang="en-US" sz="1250" dirty="0">
                <a:solidFill>
                  <a:srgbClr val="A9B3C0"/>
                </a:solidFill>
                <a:latin typeface="Calibri" pitchFamily="34" charset="0"/>
                <a:ea typeface="Calibri" pitchFamily="34" charset="-122"/>
                <a:cs typeface="Calibri" pitchFamily="34" charset="-120"/>
              </a:rPr>
              <a:t>the block itself</a:t>
            </a:r>
            <a:endParaRPr lang="en-US" sz="1250" dirty="0"/>
          </a:p>
        </p:txBody>
      </p:sp>
      <p:sp>
        <p:nvSpPr>
          <p:cNvPr id="13" name="Shape 10"/>
          <p:cNvSpPr/>
          <p:nvPr/>
        </p:nvSpPr>
        <p:spPr>
          <a:xfrm>
            <a:off x="5111496" y="2432304"/>
            <a:ext cx="6513271" cy="530352"/>
          </a:xfrm>
          <a:prstGeom prst="roundRect">
            <a:avLst>
              <a:gd name="adj" fmla="val 13793"/>
            </a:avLst>
          </a:prstGeom>
          <a:solidFill>
            <a:srgbClr val="FFFFFF"/>
          </a:solidFill>
          <a:ln w="12700">
            <a:solidFill>
              <a:srgbClr val="E2E6EB"/>
            </a:solidFill>
            <a:prstDash val="solid"/>
          </a:ln>
        </p:spPr>
      </p:sp>
      <p:sp>
        <p:nvSpPr>
          <p:cNvPr id="14" name="Text 11"/>
          <p:cNvSpPr/>
          <p:nvPr/>
        </p:nvSpPr>
        <p:spPr>
          <a:xfrm>
            <a:off x="5385816" y="2432304"/>
            <a:ext cx="2011680" cy="530352"/>
          </a:xfrm>
          <a:prstGeom prst="rect">
            <a:avLst/>
          </a:prstGeom>
          <a:noFill/>
          <a:ln/>
        </p:spPr>
        <p:txBody>
          <a:bodyPr wrap="square" lIns="0" tIns="0" rIns="0" bIns="0" rtlCol="0" anchor="ctr"/>
          <a:lstStyle/>
          <a:p>
            <a:pPr indent="0" marL="0">
              <a:buNone/>
            </a:pPr>
            <a:r>
              <a:rPr lang="en-US" sz="1500" b="1" dirty="0">
                <a:solidFill>
                  <a:srgbClr val="12161F"/>
                </a:solidFill>
                <a:latin typeface="Cambria" pitchFamily="34" charset="0"/>
                <a:ea typeface="Cambria" pitchFamily="34" charset="-122"/>
                <a:cs typeface="Cambria" pitchFamily="34" charset="-120"/>
              </a:rPr>
              <a:t>Scene</a:t>
            </a:r>
            <a:endParaRPr lang="en-US" sz="1500" dirty="0"/>
          </a:p>
        </p:txBody>
      </p:sp>
      <p:sp>
        <p:nvSpPr>
          <p:cNvPr id="15" name="Text 12"/>
          <p:cNvSpPr/>
          <p:nvPr/>
        </p:nvSpPr>
        <p:spPr>
          <a:xfrm>
            <a:off x="7397496" y="2432304"/>
            <a:ext cx="3952951" cy="530352"/>
          </a:xfrm>
          <a:prstGeom prst="rect">
            <a:avLst/>
          </a:prstGeom>
          <a:noFill/>
          <a:ln/>
        </p:spPr>
        <p:txBody>
          <a:bodyPr wrap="square" lIns="0" tIns="0" rIns="0" bIns="0" rtlCol="0" anchor="ctr"/>
          <a:lstStyle/>
          <a:p>
            <a:pPr indent="0" marL="0">
              <a:buNone/>
            </a:pPr>
            <a:r>
              <a:rPr lang="en-US" sz="1250" dirty="0">
                <a:solidFill>
                  <a:srgbClr val="5A6675"/>
                </a:solidFill>
                <a:latin typeface="Calibri" pitchFamily="34" charset="0"/>
                <a:ea typeface="Calibri" pitchFamily="34" charset="-122"/>
                <a:cs typeface="Calibri" pitchFamily="34" charset="-120"/>
              </a:rPr>
              <a:t>one background, one character</a:t>
            </a:r>
            <a:endParaRPr lang="en-US" sz="1250" dirty="0"/>
          </a:p>
        </p:txBody>
      </p:sp>
      <p:sp>
        <p:nvSpPr>
          <p:cNvPr id="16" name="Shape 13"/>
          <p:cNvSpPr/>
          <p:nvPr/>
        </p:nvSpPr>
        <p:spPr>
          <a:xfrm>
            <a:off x="5495544" y="3090672"/>
            <a:ext cx="6129223" cy="530352"/>
          </a:xfrm>
          <a:prstGeom prst="roundRect">
            <a:avLst>
              <a:gd name="adj" fmla="val 13793"/>
            </a:avLst>
          </a:prstGeom>
          <a:solidFill>
            <a:srgbClr val="FFFFFF"/>
          </a:solidFill>
          <a:ln w="12700">
            <a:solidFill>
              <a:srgbClr val="E2E6EB"/>
            </a:solidFill>
            <a:prstDash val="solid"/>
          </a:ln>
        </p:spPr>
      </p:sp>
      <p:sp>
        <p:nvSpPr>
          <p:cNvPr id="17" name="Text 14"/>
          <p:cNvSpPr/>
          <p:nvPr/>
        </p:nvSpPr>
        <p:spPr>
          <a:xfrm>
            <a:off x="5769864" y="3090672"/>
            <a:ext cx="2011680" cy="530352"/>
          </a:xfrm>
          <a:prstGeom prst="rect">
            <a:avLst/>
          </a:prstGeom>
          <a:noFill/>
          <a:ln/>
        </p:spPr>
        <p:txBody>
          <a:bodyPr wrap="square" lIns="0" tIns="0" rIns="0" bIns="0" rtlCol="0" anchor="ctr"/>
          <a:lstStyle/>
          <a:p>
            <a:pPr indent="0" marL="0">
              <a:buNone/>
            </a:pPr>
            <a:r>
              <a:rPr lang="en-US" sz="1500" b="1" dirty="0">
                <a:solidFill>
                  <a:srgbClr val="12161F"/>
                </a:solidFill>
                <a:latin typeface="Cambria" pitchFamily="34" charset="0"/>
                <a:ea typeface="Cambria" pitchFamily="34" charset="-122"/>
                <a:cs typeface="Cambria" pitchFamily="34" charset="-120"/>
              </a:rPr>
              <a:t>Content</a:t>
            </a:r>
            <a:endParaRPr lang="en-US" sz="1500" dirty="0"/>
          </a:p>
        </p:txBody>
      </p:sp>
      <p:sp>
        <p:nvSpPr>
          <p:cNvPr id="18" name="Text 15"/>
          <p:cNvSpPr/>
          <p:nvPr/>
        </p:nvSpPr>
        <p:spPr>
          <a:xfrm>
            <a:off x="7781544" y="3090672"/>
            <a:ext cx="3568903" cy="530352"/>
          </a:xfrm>
          <a:prstGeom prst="rect">
            <a:avLst/>
          </a:prstGeom>
          <a:noFill/>
          <a:ln/>
        </p:spPr>
        <p:txBody>
          <a:bodyPr wrap="square" lIns="0" tIns="0" rIns="0" bIns="0" rtlCol="0" anchor="ctr"/>
          <a:lstStyle/>
          <a:p>
            <a:pPr indent="0" marL="0">
              <a:buNone/>
            </a:pPr>
            <a:r>
              <a:rPr lang="en-US" sz="1250" dirty="0">
                <a:solidFill>
                  <a:srgbClr val="5A6675"/>
                </a:solidFill>
                <a:latin typeface="Calibri" pitchFamily="34" charset="0"/>
                <a:ea typeface="Calibri" pitchFamily="34" charset="-122"/>
                <a:cs typeface="Calibri" pitchFamily="34" charset="-120"/>
              </a:rPr>
              <a:t>Dialogue, or Text</a:t>
            </a:r>
            <a:endParaRPr lang="en-US" sz="1250" dirty="0"/>
          </a:p>
        </p:txBody>
      </p:sp>
      <p:sp>
        <p:nvSpPr>
          <p:cNvPr id="19" name="Shape 16"/>
          <p:cNvSpPr/>
          <p:nvPr/>
        </p:nvSpPr>
        <p:spPr>
          <a:xfrm>
            <a:off x="5879592" y="3749040"/>
            <a:ext cx="5745175" cy="530352"/>
          </a:xfrm>
          <a:prstGeom prst="roundRect">
            <a:avLst>
              <a:gd name="adj" fmla="val 13793"/>
            </a:avLst>
          </a:prstGeom>
          <a:solidFill>
            <a:srgbClr val="FFF4EE"/>
          </a:solidFill>
          <a:ln w="12700">
            <a:solidFill>
              <a:srgbClr val="F6C7AC"/>
            </a:solidFill>
            <a:prstDash val="solid"/>
          </a:ln>
        </p:spPr>
      </p:sp>
      <p:sp>
        <p:nvSpPr>
          <p:cNvPr id="20" name="Text 17"/>
          <p:cNvSpPr/>
          <p:nvPr/>
        </p:nvSpPr>
        <p:spPr>
          <a:xfrm>
            <a:off x="6153912" y="3749040"/>
            <a:ext cx="2011680" cy="530352"/>
          </a:xfrm>
          <a:prstGeom prst="rect">
            <a:avLst/>
          </a:prstGeom>
          <a:noFill/>
          <a:ln/>
        </p:spPr>
        <p:txBody>
          <a:bodyPr wrap="square" lIns="0" tIns="0" rIns="0" bIns="0" rtlCol="0" anchor="ctr"/>
          <a:lstStyle/>
          <a:p>
            <a:pPr indent="0" marL="0">
              <a:buNone/>
            </a:pPr>
            <a:r>
              <a:rPr lang="en-US" sz="1500" b="1" dirty="0">
                <a:solidFill>
                  <a:srgbClr val="7A3F1C"/>
                </a:solidFill>
                <a:latin typeface="Cambria" pitchFamily="34" charset="0"/>
                <a:ea typeface="Cambria" pitchFamily="34" charset="-122"/>
                <a:cs typeface="Cambria" pitchFamily="34" charset="-120"/>
              </a:rPr>
              <a:t>Response</a:t>
            </a:r>
            <a:endParaRPr lang="en-US" sz="1500" dirty="0"/>
          </a:p>
        </p:txBody>
      </p:sp>
      <p:sp>
        <p:nvSpPr>
          <p:cNvPr id="21" name="Text 18"/>
          <p:cNvSpPr/>
          <p:nvPr/>
        </p:nvSpPr>
        <p:spPr>
          <a:xfrm>
            <a:off x="8165592" y="3749040"/>
            <a:ext cx="3184855" cy="530352"/>
          </a:xfrm>
          <a:prstGeom prst="rect">
            <a:avLst/>
          </a:prstGeom>
          <a:noFill/>
          <a:ln/>
        </p:spPr>
        <p:txBody>
          <a:bodyPr wrap="square" lIns="0" tIns="0" rIns="0" bIns="0" rtlCol="0" anchor="ctr"/>
          <a:lstStyle/>
          <a:p>
            <a:pPr indent="0" marL="0">
              <a:buNone/>
            </a:pPr>
            <a:r>
              <a:rPr lang="en-US" sz="1250" dirty="0">
                <a:solidFill>
                  <a:srgbClr val="7A3F1C"/>
                </a:solidFill>
                <a:latin typeface="Calibri" pitchFamily="34" charset="0"/>
                <a:ea typeface="Calibri" pitchFamily="34" charset="-122"/>
                <a:cs typeface="Calibri" pitchFamily="34" charset="-120"/>
              </a:rPr>
              <a:t>up to three, each with a pose</a:t>
            </a:r>
            <a:endParaRPr lang="en-US" sz="1250" dirty="0"/>
          </a:p>
        </p:txBody>
      </p:sp>
      <p:sp>
        <p:nvSpPr>
          <p:cNvPr id="22" name="Shape 19"/>
          <p:cNvSpPr/>
          <p:nvPr/>
        </p:nvSpPr>
        <p:spPr>
          <a:xfrm>
            <a:off x="6263640" y="4407408"/>
            <a:ext cx="5361127" cy="530352"/>
          </a:xfrm>
          <a:prstGeom prst="roundRect">
            <a:avLst>
              <a:gd name="adj" fmla="val 13793"/>
            </a:avLst>
          </a:prstGeom>
          <a:solidFill>
            <a:srgbClr val="FFF4EE"/>
          </a:solidFill>
          <a:ln w="12700">
            <a:solidFill>
              <a:srgbClr val="F6C7AC"/>
            </a:solidFill>
            <a:prstDash val="solid"/>
          </a:ln>
        </p:spPr>
      </p:sp>
      <p:sp>
        <p:nvSpPr>
          <p:cNvPr id="23" name="Text 20"/>
          <p:cNvSpPr/>
          <p:nvPr/>
        </p:nvSpPr>
        <p:spPr>
          <a:xfrm>
            <a:off x="6537960" y="4407408"/>
            <a:ext cx="2011680" cy="530352"/>
          </a:xfrm>
          <a:prstGeom prst="rect">
            <a:avLst/>
          </a:prstGeom>
          <a:noFill/>
          <a:ln/>
        </p:spPr>
        <p:txBody>
          <a:bodyPr wrap="square" lIns="0" tIns="0" rIns="0" bIns="0" rtlCol="0" anchor="ctr"/>
          <a:lstStyle/>
          <a:p>
            <a:pPr indent="0" marL="0">
              <a:buNone/>
            </a:pPr>
            <a:r>
              <a:rPr lang="en-US" sz="1500" b="1" dirty="0">
                <a:solidFill>
                  <a:srgbClr val="7A3F1C"/>
                </a:solidFill>
                <a:latin typeface="Cambria" pitchFamily="34" charset="0"/>
                <a:ea typeface="Cambria" pitchFamily="34" charset="-122"/>
                <a:cs typeface="Cambria" pitchFamily="34" charset="-120"/>
              </a:rPr>
              <a:t>Feedback</a:t>
            </a:r>
            <a:endParaRPr lang="en-US" sz="1500" dirty="0"/>
          </a:p>
        </p:txBody>
      </p:sp>
      <p:sp>
        <p:nvSpPr>
          <p:cNvPr id="24" name="Text 21"/>
          <p:cNvSpPr/>
          <p:nvPr/>
        </p:nvSpPr>
        <p:spPr>
          <a:xfrm>
            <a:off x="8549640" y="4407408"/>
            <a:ext cx="2800807" cy="530352"/>
          </a:xfrm>
          <a:prstGeom prst="rect">
            <a:avLst/>
          </a:prstGeom>
          <a:noFill/>
          <a:ln/>
        </p:spPr>
        <p:txBody>
          <a:bodyPr wrap="square" lIns="0" tIns="0" rIns="0" bIns="0" rtlCol="0" anchor="ctr"/>
          <a:lstStyle/>
          <a:p>
            <a:pPr indent="0" marL="0">
              <a:buNone/>
            </a:pPr>
            <a:r>
              <a:rPr lang="en-US" sz="1250" dirty="0">
                <a:solidFill>
                  <a:srgbClr val="7A3F1C"/>
                </a:solidFill>
                <a:latin typeface="Calibri" pitchFamily="34" charset="0"/>
                <a:ea typeface="Calibri" pitchFamily="34" charset="-122"/>
                <a:cs typeface="Calibri" pitchFamily="34" charset="-120"/>
              </a:rPr>
              <a:t>what the character says back</a:t>
            </a:r>
            <a:endParaRPr lang="en-US" sz="1250" dirty="0"/>
          </a:p>
        </p:txBody>
      </p:sp>
      <p:sp>
        <p:nvSpPr>
          <p:cNvPr id="25" name="Shape 22"/>
          <p:cNvSpPr/>
          <p:nvPr/>
        </p:nvSpPr>
        <p:spPr>
          <a:xfrm>
            <a:off x="6647688" y="5065776"/>
            <a:ext cx="4977079" cy="530352"/>
          </a:xfrm>
          <a:prstGeom prst="roundRect">
            <a:avLst>
              <a:gd name="adj" fmla="val 13793"/>
            </a:avLst>
          </a:prstGeom>
          <a:solidFill>
            <a:srgbClr val="FFF4EE"/>
          </a:solidFill>
          <a:ln w="12700">
            <a:solidFill>
              <a:srgbClr val="F6C7AC"/>
            </a:solidFill>
            <a:prstDash val="solid"/>
          </a:ln>
        </p:spPr>
      </p:sp>
      <p:sp>
        <p:nvSpPr>
          <p:cNvPr id="26" name="Text 23"/>
          <p:cNvSpPr/>
          <p:nvPr/>
        </p:nvSpPr>
        <p:spPr>
          <a:xfrm>
            <a:off x="6922008" y="5065776"/>
            <a:ext cx="2011680" cy="530352"/>
          </a:xfrm>
          <a:prstGeom prst="rect">
            <a:avLst/>
          </a:prstGeom>
          <a:noFill/>
          <a:ln/>
        </p:spPr>
        <p:txBody>
          <a:bodyPr wrap="square" lIns="0" tIns="0" rIns="0" bIns="0" rtlCol="0" anchor="ctr"/>
          <a:lstStyle/>
          <a:p>
            <a:pPr indent="0" marL="0">
              <a:buNone/>
            </a:pPr>
            <a:r>
              <a:rPr lang="en-US" sz="1500" b="1" dirty="0">
                <a:solidFill>
                  <a:srgbClr val="7A3F1C"/>
                </a:solidFill>
                <a:latin typeface="Cambria" pitchFamily="34" charset="0"/>
                <a:ea typeface="Cambria" pitchFamily="34" charset="-122"/>
                <a:cs typeface="Cambria" pitchFamily="34" charset="-120"/>
              </a:rPr>
              <a:t>Go to</a:t>
            </a:r>
            <a:endParaRPr lang="en-US" sz="1500" dirty="0"/>
          </a:p>
        </p:txBody>
      </p:sp>
      <p:sp>
        <p:nvSpPr>
          <p:cNvPr id="27" name="Text 24"/>
          <p:cNvSpPr/>
          <p:nvPr/>
        </p:nvSpPr>
        <p:spPr>
          <a:xfrm>
            <a:off x="8933688" y="5065776"/>
            <a:ext cx="2416759" cy="530352"/>
          </a:xfrm>
          <a:prstGeom prst="rect">
            <a:avLst/>
          </a:prstGeom>
          <a:noFill/>
          <a:ln/>
        </p:spPr>
        <p:txBody>
          <a:bodyPr wrap="square" lIns="0" tIns="0" rIns="0" bIns="0" rtlCol="0" anchor="ctr"/>
          <a:lstStyle/>
          <a:p>
            <a:pPr indent="0" marL="0">
              <a:buNone/>
            </a:pPr>
            <a:r>
              <a:rPr lang="en-US" sz="1250" dirty="0">
                <a:solidFill>
                  <a:srgbClr val="7A3F1C"/>
                </a:solidFill>
                <a:latin typeface="Calibri" pitchFamily="34" charset="0"/>
                <a:ea typeface="Calibri" pitchFamily="34" charset="-122"/>
                <a:cs typeface="Calibri" pitchFamily="34" charset="-120"/>
              </a:rPr>
              <a:t>where that choice leads</a:t>
            </a:r>
            <a:endParaRPr lang="en-US" sz="1250" dirty="0"/>
          </a:p>
        </p:txBody>
      </p:sp>
      <p:sp>
        <p:nvSpPr>
          <p:cNvPr id="28" name="Text 25"/>
          <p:cNvSpPr/>
          <p:nvPr/>
        </p:nvSpPr>
        <p:spPr>
          <a:xfrm>
            <a:off x="566928" y="5815584"/>
            <a:ext cx="11057839" cy="365760"/>
          </a:xfrm>
          <a:prstGeom prst="rect">
            <a:avLst/>
          </a:prstGeom>
          <a:noFill/>
          <a:ln/>
        </p:spPr>
        <p:txBody>
          <a:bodyPr wrap="square" lIns="0" tIns="0" rIns="0" bIns="0" rtlCol="0" anchor="ctr"/>
          <a:lstStyle/>
          <a:p>
            <a:pPr indent="0" marL="0">
              <a:buNone/>
            </a:pPr>
            <a:r>
              <a:rPr lang="en-US" sz="1250" i="1" dirty="0">
                <a:solidFill>
                  <a:srgbClr val="5A6675"/>
                </a:solidFill>
                <a:latin typeface="Calibri" pitchFamily="34" charset="0"/>
                <a:ea typeface="Calibri" pitchFamily="34" charset="-122"/>
                <a:cs typeface="Calibri" pitchFamily="34" charset="-120"/>
              </a:rPr>
              <a:t>Everything a learner experiences happens in the bottom three rows. That is where your writing time goes.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The pieces, exactly</a:t>
            </a:r>
            <a:endParaRPr lang="en-US" sz="3000" dirty="0"/>
          </a:p>
        </p:txBody>
      </p:sp>
      <p:sp>
        <p:nvSpPr>
          <p:cNvPr id="3" name="Text 1"/>
          <p:cNvSpPr/>
          <p:nvPr/>
        </p:nvSpPr>
        <p:spPr>
          <a:xfrm>
            <a:off x="566928" y="1005840"/>
            <a:ext cx="9067428"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What Rise gives you, what it constrains, and the one field people skip.</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4  ·  Decide, then ship</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11</a:t>
            </a:r>
            <a:endParaRPr lang="en-US" sz="950" dirty="0"/>
          </a:p>
        </p:txBody>
      </p:sp>
      <p:sp>
        <p:nvSpPr>
          <p:cNvPr id="6" name="Shape 4"/>
          <p:cNvSpPr/>
          <p:nvPr/>
        </p:nvSpPr>
        <p:spPr>
          <a:xfrm>
            <a:off x="566928" y="1737360"/>
            <a:ext cx="2558720" cy="3566160"/>
          </a:xfrm>
          <a:prstGeom prst="roundRect">
            <a:avLst>
              <a:gd name="adj" fmla="val 3216"/>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7" name="Shape 5"/>
          <p:cNvSpPr/>
          <p:nvPr/>
        </p:nvSpPr>
        <p:spPr>
          <a:xfrm>
            <a:off x="822960" y="1975104"/>
            <a:ext cx="402336" cy="402336"/>
          </a:xfrm>
          <a:prstGeom prst="roundRect">
            <a:avLst>
              <a:gd name="adj" fmla="val 22727"/>
            </a:avLst>
          </a:prstGeom>
          <a:solidFill>
            <a:srgbClr val="ED6A2A"/>
          </a:solidFill>
          <a:ln/>
        </p:spPr>
      </p:sp>
      <p:sp>
        <p:nvSpPr>
          <p:cNvPr id="8" name="Text 6"/>
          <p:cNvSpPr/>
          <p:nvPr/>
        </p:nvSpPr>
        <p:spPr>
          <a:xfrm>
            <a:off x="822960" y="197510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9" name="Text 7"/>
          <p:cNvSpPr/>
          <p:nvPr/>
        </p:nvSpPr>
        <p:spPr>
          <a:xfrm>
            <a:off x="822960" y="2505456"/>
            <a:ext cx="2046656" cy="694944"/>
          </a:xfrm>
          <a:prstGeom prst="rect">
            <a:avLst/>
          </a:prstGeom>
          <a:noFill/>
          <a:ln/>
        </p:spPr>
        <p:txBody>
          <a:bodyPr wrap="square" lIns="0" tIns="0" rIns="0" bIns="0" rtlCol="0" anchor="t"/>
          <a:lstStyle/>
          <a:p>
            <a:pPr indent="0" marL="0">
              <a:buNone/>
            </a:pPr>
            <a:r>
              <a:rPr lang="en-US" sz="1700" b="1" dirty="0">
                <a:solidFill>
                  <a:srgbClr val="12161F"/>
                </a:solidFill>
                <a:latin typeface="Cambria" pitchFamily="34" charset="0"/>
                <a:ea typeface="Cambria" pitchFamily="34" charset="-122"/>
                <a:cs typeface="Cambria" pitchFamily="34" charset="-120"/>
              </a:rPr>
              <a:t>Scene</a:t>
            </a:r>
            <a:endParaRPr lang="en-US" sz="1700" dirty="0"/>
          </a:p>
        </p:txBody>
      </p:sp>
      <p:sp>
        <p:nvSpPr>
          <p:cNvPr id="10" name="Text 8"/>
          <p:cNvSpPr/>
          <p:nvPr/>
        </p:nvSpPr>
        <p:spPr>
          <a:xfrm>
            <a:off x="822960" y="3218688"/>
            <a:ext cx="2046656" cy="1920240"/>
          </a:xfrm>
          <a:prstGeom prst="rect">
            <a:avLst/>
          </a:prstGeom>
          <a:noFill/>
          <a:ln/>
        </p:spPr>
        <p:txBody>
          <a:bodyPr wrap="square" lIns="0" tIns="0" rIns="0" bIns="0" rtlCol="0" anchor="t"/>
          <a:lstStyle/>
          <a:p>
            <a:pPr indent="0" marL="0">
              <a:lnSpc>
                <a:spcPts val="1700"/>
              </a:lnSpc>
              <a:buNone/>
            </a:pPr>
            <a:r>
              <a:rPr lang="en-US" sz="1200" dirty="0">
                <a:solidFill>
                  <a:srgbClr val="5A6675"/>
                </a:solidFill>
                <a:latin typeface="Calibri" pitchFamily="34" charset="0"/>
                <a:ea typeface="Calibri" pitchFamily="34" charset="-122"/>
                <a:cs typeface="Calibri" pitchFamily="34" charset="-120"/>
              </a:rPr>
              <a:t>Add Scene, at the top of the sidebar. Each new scene inherits the background and character of the one before, so you only change what changes. Drag to reorder, collapse to navigate.</a:t>
            </a:r>
            <a:endParaRPr lang="en-US" sz="1200" dirty="0"/>
          </a:p>
        </p:txBody>
      </p:sp>
      <p:sp>
        <p:nvSpPr>
          <p:cNvPr id="11" name="Shape 9"/>
          <p:cNvSpPr/>
          <p:nvPr/>
        </p:nvSpPr>
        <p:spPr>
          <a:xfrm>
            <a:off x="3399968" y="1737360"/>
            <a:ext cx="2558720" cy="3566160"/>
          </a:xfrm>
          <a:prstGeom prst="roundRect">
            <a:avLst>
              <a:gd name="adj" fmla="val 3216"/>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2" name="Shape 10"/>
          <p:cNvSpPr/>
          <p:nvPr/>
        </p:nvSpPr>
        <p:spPr>
          <a:xfrm>
            <a:off x="3656000" y="1975104"/>
            <a:ext cx="402336" cy="402336"/>
          </a:xfrm>
          <a:prstGeom prst="roundRect">
            <a:avLst>
              <a:gd name="adj" fmla="val 22727"/>
            </a:avLst>
          </a:prstGeom>
          <a:solidFill>
            <a:srgbClr val="ED6A2A"/>
          </a:solidFill>
          <a:ln/>
        </p:spPr>
      </p:sp>
      <p:sp>
        <p:nvSpPr>
          <p:cNvPr id="13" name="Text 11"/>
          <p:cNvSpPr/>
          <p:nvPr/>
        </p:nvSpPr>
        <p:spPr>
          <a:xfrm>
            <a:off x="3656000" y="197510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4" name="Text 12"/>
          <p:cNvSpPr/>
          <p:nvPr/>
        </p:nvSpPr>
        <p:spPr>
          <a:xfrm>
            <a:off x="3656000" y="2505456"/>
            <a:ext cx="2046656" cy="694944"/>
          </a:xfrm>
          <a:prstGeom prst="rect">
            <a:avLst/>
          </a:prstGeom>
          <a:noFill/>
          <a:ln/>
        </p:spPr>
        <p:txBody>
          <a:bodyPr wrap="square" lIns="0" tIns="0" rIns="0" bIns="0" rtlCol="0" anchor="t"/>
          <a:lstStyle/>
          <a:p>
            <a:pPr indent="0" marL="0">
              <a:buNone/>
            </a:pPr>
            <a:r>
              <a:rPr lang="en-US" sz="1700" b="1" dirty="0">
                <a:solidFill>
                  <a:srgbClr val="12161F"/>
                </a:solidFill>
                <a:latin typeface="Cambria" pitchFamily="34" charset="0"/>
                <a:ea typeface="Cambria" pitchFamily="34" charset="-122"/>
                <a:cs typeface="Cambria" pitchFamily="34" charset="-120"/>
              </a:rPr>
              <a:t>Character</a:t>
            </a:r>
            <a:endParaRPr lang="en-US" sz="1700" dirty="0"/>
          </a:p>
        </p:txBody>
      </p:sp>
      <p:sp>
        <p:nvSpPr>
          <p:cNvPr id="15" name="Text 13"/>
          <p:cNvSpPr/>
          <p:nvPr/>
        </p:nvSpPr>
        <p:spPr>
          <a:xfrm>
            <a:off x="3656000" y="3218688"/>
            <a:ext cx="2046656" cy="1920240"/>
          </a:xfrm>
          <a:prstGeom prst="rect">
            <a:avLst/>
          </a:prstGeom>
          <a:noFill/>
          <a:ln/>
        </p:spPr>
        <p:txBody>
          <a:bodyPr wrap="square" lIns="0" tIns="0" rIns="0" bIns="0" rtlCol="0" anchor="t"/>
          <a:lstStyle/>
          <a:p>
            <a:pPr indent="0" marL="0">
              <a:lnSpc>
                <a:spcPts val="1700"/>
              </a:lnSpc>
              <a:buNone/>
            </a:pPr>
            <a:r>
              <a:rPr lang="en-US" sz="1200" dirty="0">
                <a:solidFill>
                  <a:srgbClr val="5A6675"/>
                </a:solidFill>
                <a:latin typeface="Calibri" pitchFamily="34" charset="0"/>
                <a:ea typeface="Calibri" pitchFamily="34" charset="-122"/>
                <a:cs typeface="Calibri" pitchFamily="34" charset="-120"/>
              </a:rPr>
              <a:t>Photographic characters from Content Library 360 only — filter by clothing, gender or age. One character per scene, though scenes can use different people. You can hide the character entirely.</a:t>
            </a:r>
            <a:endParaRPr lang="en-US" sz="1200" dirty="0"/>
          </a:p>
        </p:txBody>
      </p:sp>
      <p:sp>
        <p:nvSpPr>
          <p:cNvPr id="16" name="Shape 14"/>
          <p:cNvSpPr/>
          <p:nvPr/>
        </p:nvSpPr>
        <p:spPr>
          <a:xfrm>
            <a:off x="6233008" y="1737360"/>
            <a:ext cx="2558720" cy="3566160"/>
          </a:xfrm>
          <a:prstGeom prst="roundRect">
            <a:avLst>
              <a:gd name="adj" fmla="val 3216"/>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7" name="Shape 15"/>
          <p:cNvSpPr/>
          <p:nvPr/>
        </p:nvSpPr>
        <p:spPr>
          <a:xfrm>
            <a:off x="6489040" y="1975104"/>
            <a:ext cx="402336" cy="402336"/>
          </a:xfrm>
          <a:prstGeom prst="roundRect">
            <a:avLst>
              <a:gd name="adj" fmla="val 22727"/>
            </a:avLst>
          </a:prstGeom>
          <a:solidFill>
            <a:srgbClr val="ED6A2A"/>
          </a:solidFill>
          <a:ln/>
        </p:spPr>
      </p:sp>
      <p:sp>
        <p:nvSpPr>
          <p:cNvPr id="18" name="Text 16"/>
          <p:cNvSpPr/>
          <p:nvPr/>
        </p:nvSpPr>
        <p:spPr>
          <a:xfrm>
            <a:off x="6489040" y="197510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9" name="Text 17"/>
          <p:cNvSpPr/>
          <p:nvPr/>
        </p:nvSpPr>
        <p:spPr>
          <a:xfrm>
            <a:off x="6489040" y="2505456"/>
            <a:ext cx="2046656" cy="694944"/>
          </a:xfrm>
          <a:prstGeom prst="rect">
            <a:avLst/>
          </a:prstGeom>
          <a:noFill/>
          <a:ln/>
        </p:spPr>
        <p:txBody>
          <a:bodyPr wrap="square" lIns="0" tIns="0" rIns="0" bIns="0" rtlCol="0" anchor="t"/>
          <a:lstStyle/>
          <a:p>
            <a:pPr indent="0" marL="0">
              <a:buNone/>
            </a:pPr>
            <a:r>
              <a:rPr lang="en-US" sz="1700" b="1" dirty="0">
                <a:solidFill>
                  <a:srgbClr val="12161F"/>
                </a:solidFill>
                <a:latin typeface="Cambria" pitchFamily="34" charset="0"/>
                <a:ea typeface="Cambria" pitchFamily="34" charset="-122"/>
                <a:cs typeface="Cambria" pitchFamily="34" charset="-120"/>
              </a:rPr>
              <a:t>Background</a:t>
            </a:r>
            <a:endParaRPr lang="en-US" sz="1700" dirty="0"/>
          </a:p>
        </p:txBody>
      </p:sp>
      <p:sp>
        <p:nvSpPr>
          <p:cNvPr id="20" name="Text 18"/>
          <p:cNvSpPr/>
          <p:nvPr/>
        </p:nvSpPr>
        <p:spPr>
          <a:xfrm>
            <a:off x="6489040" y="3218688"/>
            <a:ext cx="2046656" cy="1920240"/>
          </a:xfrm>
          <a:prstGeom prst="rect">
            <a:avLst/>
          </a:prstGeom>
          <a:noFill/>
          <a:ln/>
        </p:spPr>
        <p:txBody>
          <a:bodyPr wrap="square" lIns="0" tIns="0" rIns="0" bIns="0" rtlCol="0" anchor="t"/>
          <a:lstStyle/>
          <a:p>
            <a:pPr indent="0" marL="0">
              <a:lnSpc>
                <a:spcPts val="1700"/>
              </a:lnSpc>
              <a:buNone/>
            </a:pPr>
            <a:r>
              <a:rPr lang="en-US" sz="1200" dirty="0">
                <a:solidFill>
                  <a:srgbClr val="5A6675"/>
                </a:solidFill>
                <a:latin typeface="Calibri" pitchFamily="34" charset="0"/>
                <a:ea typeface="Calibri" pitchFamily="34" charset="-122"/>
                <a:cs typeface="Calibri" pitchFamily="34" charset="-120"/>
              </a:rPr>
              <a:t>Content Library, or upload your own. Use landscape images: only part of the picture shows. The background blur is a toggle if it fights the text.</a:t>
            </a:r>
            <a:endParaRPr lang="en-US" sz="1200" dirty="0"/>
          </a:p>
        </p:txBody>
      </p:sp>
      <p:sp>
        <p:nvSpPr>
          <p:cNvPr id="21" name="Shape 19"/>
          <p:cNvSpPr/>
          <p:nvPr/>
        </p:nvSpPr>
        <p:spPr>
          <a:xfrm>
            <a:off x="9066047" y="1737360"/>
            <a:ext cx="2558720" cy="3566160"/>
          </a:xfrm>
          <a:prstGeom prst="roundRect">
            <a:avLst>
              <a:gd name="adj" fmla="val 3216"/>
            </a:avLst>
          </a:prstGeom>
          <a:solidFill>
            <a:srgbClr val="12161F"/>
          </a:solidFill>
          <a:ln w="9525">
            <a:solidFill>
              <a:srgbClr val="12161F"/>
            </a:solidFill>
            <a:prstDash val="solid"/>
          </a:ln>
          <a:effectLst>
            <a:outerShdw sx="100000" sy="100000" kx="0" ky="0" algn="bl" rotWithShape="0" blurRad="177800" dist="38100" dir="5400000">
              <a:srgbClr val="9AA6B4">
                <a:alpha val="32000"/>
              </a:srgbClr>
            </a:outerShdw>
          </a:effectLst>
        </p:spPr>
      </p:sp>
      <p:sp>
        <p:nvSpPr>
          <p:cNvPr id="22" name="Shape 20"/>
          <p:cNvSpPr/>
          <p:nvPr/>
        </p:nvSpPr>
        <p:spPr>
          <a:xfrm>
            <a:off x="9322079" y="1975104"/>
            <a:ext cx="402336" cy="402336"/>
          </a:xfrm>
          <a:prstGeom prst="roundRect">
            <a:avLst>
              <a:gd name="adj" fmla="val 22727"/>
            </a:avLst>
          </a:prstGeom>
          <a:solidFill>
            <a:srgbClr val="ED6A2A"/>
          </a:solidFill>
          <a:ln/>
        </p:spPr>
      </p:sp>
      <p:sp>
        <p:nvSpPr>
          <p:cNvPr id="23" name="Text 21"/>
          <p:cNvSpPr/>
          <p:nvPr/>
        </p:nvSpPr>
        <p:spPr>
          <a:xfrm>
            <a:off x="9322079" y="197510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4" name="Text 22"/>
          <p:cNvSpPr/>
          <p:nvPr/>
        </p:nvSpPr>
        <p:spPr>
          <a:xfrm>
            <a:off x="9322079" y="2505456"/>
            <a:ext cx="2046656" cy="694944"/>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Scene description</a:t>
            </a:r>
            <a:endParaRPr lang="en-US" sz="1700" dirty="0"/>
          </a:p>
        </p:txBody>
      </p:sp>
      <p:sp>
        <p:nvSpPr>
          <p:cNvPr id="25" name="Text 23"/>
          <p:cNvSpPr/>
          <p:nvPr/>
        </p:nvSpPr>
        <p:spPr>
          <a:xfrm>
            <a:off x="9322079" y="3218688"/>
            <a:ext cx="2046656" cy="1920240"/>
          </a:xfrm>
          <a:prstGeom prst="rect">
            <a:avLst/>
          </a:prstGeom>
          <a:noFill/>
          <a:ln/>
        </p:spPr>
        <p:txBody>
          <a:bodyPr wrap="square" lIns="0" tIns="0" rIns="0" bIns="0" rtlCol="0" anchor="t"/>
          <a:lstStyle/>
          <a:p>
            <a:pPr indent="0" marL="0">
              <a:lnSpc>
                <a:spcPts val="1700"/>
              </a:lnSpc>
              <a:buNone/>
            </a:pPr>
            <a:r>
              <a:rPr lang="en-US" sz="1200" dirty="0">
                <a:solidFill>
                  <a:srgbClr val="A9B3C0"/>
                </a:solidFill>
                <a:latin typeface="Calibri" pitchFamily="34" charset="0"/>
                <a:ea typeface="Calibri" pitchFamily="34" charset="-122"/>
                <a:cs typeface="Calibri" pitchFamily="34" charset="-120"/>
              </a:rPr>
              <a:t>Rise asks for one. Write it properly — it is what a screen-reader user gets instead of the picture, and it is the field everyone skips.</a:t>
            </a:r>
            <a:endParaRPr lang="en-US" sz="1200" dirty="0"/>
          </a:p>
        </p:txBody>
      </p:sp>
      <p:sp>
        <p:nvSpPr>
          <p:cNvPr id="26" name="Shape 24"/>
          <p:cNvSpPr/>
          <p:nvPr/>
        </p:nvSpPr>
        <p:spPr>
          <a:xfrm>
            <a:off x="566928" y="5431536"/>
            <a:ext cx="11057839" cy="548640"/>
          </a:xfrm>
          <a:prstGeom prst="roundRect">
            <a:avLst>
              <a:gd name="adj" fmla="val 15000"/>
            </a:avLst>
          </a:prstGeom>
          <a:solidFill>
            <a:srgbClr val="FFF4EE"/>
          </a:solidFill>
          <a:ln w="9525">
            <a:solidFill>
              <a:srgbClr val="F6C7AC"/>
            </a:solidFill>
            <a:prstDash val="solid"/>
          </a:ln>
        </p:spPr>
      </p:sp>
      <p:sp>
        <p:nvSpPr>
          <p:cNvPr id="27" name="Text 25"/>
          <p:cNvSpPr/>
          <p:nvPr/>
        </p:nvSpPr>
        <p:spPr>
          <a:xfrm>
            <a:off x="914400" y="5431536"/>
            <a:ext cx="10362895" cy="548640"/>
          </a:xfrm>
          <a:prstGeom prst="rect">
            <a:avLst/>
          </a:prstGeom>
          <a:noFill/>
          <a:ln/>
        </p:spPr>
        <p:txBody>
          <a:bodyPr wrap="square" lIns="0" tIns="0" rIns="0" bIns="0" rtlCol="0" anchor="ctr"/>
          <a:lstStyle/>
          <a:p>
            <a:pPr indent="0" marL="0">
              <a:lnSpc>
                <a:spcPts val="1700"/>
              </a:lnSpc>
              <a:buNone/>
            </a:pPr>
            <a:r>
              <a:rPr lang="en-US" sz="1250" dirty="0">
                <a:solidFill>
                  <a:srgbClr val="7A3F1C"/>
                </a:solidFill>
                <a:latin typeface="Calibri" pitchFamily="34" charset="0"/>
                <a:ea typeface="Calibri" pitchFamily="34" charset="-122"/>
                <a:cs typeface="Calibri" pitchFamily="34" charset="-120"/>
              </a:rPr>
              <a:t>Accessibility is not a separate task you do later. The scene description is part of writing the scene.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Two kinds of content, and a hard ceiling</a:t>
            </a:r>
            <a:endParaRPr lang="en-US" sz="3000" dirty="0"/>
          </a:p>
        </p:txBody>
      </p:sp>
      <p:sp>
        <p:nvSpPr>
          <p:cNvPr id="3" name="Text 1"/>
          <p:cNvSpPr/>
          <p:nvPr/>
        </p:nvSpPr>
        <p:spPr>
          <a:xfrm>
            <a:off x="566928" y="1005840"/>
            <a:ext cx="9067428"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Every scene holds one or the other. Choosing right is most of what makes a scenario read well.</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4  ·  Decide, then ship</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12</a:t>
            </a:r>
            <a:endParaRPr lang="en-US" sz="950" dirty="0"/>
          </a:p>
        </p:txBody>
      </p:sp>
      <p:sp>
        <p:nvSpPr>
          <p:cNvPr id="6" name="Shape 4"/>
          <p:cNvSpPr/>
          <p:nvPr/>
        </p:nvSpPr>
        <p:spPr>
          <a:xfrm>
            <a:off x="566928" y="1664208"/>
            <a:ext cx="5117440" cy="3474720"/>
          </a:xfrm>
          <a:prstGeom prst="roundRect">
            <a:avLst>
              <a:gd name="adj" fmla="val 2368"/>
            </a:avLst>
          </a:prstGeom>
          <a:solidFill>
            <a:srgbClr val="12161F"/>
          </a:solidFill>
          <a:ln w="9525">
            <a:solidFill>
              <a:srgbClr val="12161F"/>
            </a:solidFill>
            <a:prstDash val="solid"/>
          </a:ln>
          <a:effectLst>
            <a:outerShdw sx="100000" sy="100000" kx="0" ky="0" algn="bl" rotWithShape="0" blurRad="177800" dist="38100" dir="5400000">
              <a:srgbClr val="9AA6B4">
                <a:alpha val="32000"/>
              </a:srgbClr>
            </a:outerShdw>
          </a:effectLst>
        </p:spPr>
      </p:sp>
      <p:sp>
        <p:nvSpPr>
          <p:cNvPr id="7" name="Text 5"/>
          <p:cNvSpPr/>
          <p:nvPr/>
        </p:nvSpPr>
        <p:spPr>
          <a:xfrm>
            <a:off x="950976" y="1883664"/>
            <a:ext cx="4349344" cy="274320"/>
          </a:xfrm>
          <a:prstGeom prst="rect">
            <a:avLst/>
          </a:prstGeom>
          <a:noFill/>
          <a:ln/>
        </p:spPr>
        <p:txBody>
          <a:bodyPr wrap="square" lIns="0" tIns="0" rIns="0" bIns="0" rtlCol="0" anchor="ctr"/>
          <a:lstStyle/>
          <a:p>
            <a:pPr indent="0" marL="0">
              <a:buNone/>
            </a:pPr>
            <a:r>
              <a:rPr lang="en-US" sz="1100" b="1" spc="180" kern="0" dirty="0">
                <a:solidFill>
                  <a:srgbClr val="ED6A2A"/>
                </a:solidFill>
                <a:latin typeface="Calibri" pitchFamily="34" charset="0"/>
                <a:ea typeface="Calibri" pitchFamily="34" charset="-122"/>
                <a:cs typeface="Calibri" pitchFamily="34" charset="-120"/>
              </a:rPr>
              <a:t>DIALOGUE</a:t>
            </a:r>
            <a:endParaRPr lang="en-US" sz="1100" dirty="0"/>
          </a:p>
        </p:txBody>
      </p:sp>
      <p:sp>
        <p:nvSpPr>
          <p:cNvPr id="8" name="Text 6"/>
          <p:cNvSpPr/>
          <p:nvPr/>
        </p:nvSpPr>
        <p:spPr>
          <a:xfrm>
            <a:off x="950976" y="2231136"/>
            <a:ext cx="4349344" cy="420624"/>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mbria" pitchFamily="34" charset="-122"/>
                <a:cs typeface="Cambria" pitchFamily="34" charset="-120"/>
              </a:rPr>
              <a:t>A decision.</a:t>
            </a:r>
            <a:endParaRPr lang="en-US" sz="2400" dirty="0"/>
          </a:p>
        </p:txBody>
      </p:sp>
      <p:sp>
        <p:nvSpPr>
          <p:cNvPr id="9" name="Text 7"/>
          <p:cNvSpPr/>
          <p:nvPr/>
        </p:nvSpPr>
        <p:spPr>
          <a:xfrm>
            <a:off x="950976" y="2798064"/>
            <a:ext cx="4349344" cy="1828800"/>
          </a:xfrm>
          <a:prstGeom prst="rect">
            <a:avLst/>
          </a:prstGeom>
          <a:noFill/>
          <a:ln/>
        </p:spPr>
        <p:txBody>
          <a:bodyPr wrap="square" lIns="0" tIns="0" rIns="0" bIns="0" rtlCol="0" anchor="t"/>
          <a:lstStyle/>
          <a:p>
            <a:pPr marL="342900" indent="-342900">
              <a:lnSpc>
                <a:spcPts val="2000"/>
              </a:lnSpc>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The character speaks, the learner picks a reply</a:t>
            </a:r>
            <a:endParaRPr lang="en-US" sz="1350" dirty="0"/>
          </a:p>
          <a:p>
            <a:pPr marL="342900" indent="-342900">
              <a:lnSpc>
                <a:spcPts val="2000"/>
              </a:lnSpc>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Up to three responses</a:t>
            </a:r>
            <a:endParaRPr lang="en-US" sz="1350" dirty="0"/>
          </a:p>
          <a:p>
            <a:pPr marL="342900" indent="-342900">
              <a:lnSpc>
                <a:spcPts val="2000"/>
              </a:lnSpc>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Each response gets its own character pose</a:t>
            </a:r>
            <a:endParaRPr lang="en-US" sz="1350" dirty="0"/>
          </a:p>
          <a:p>
            <a:pPr marL="342900" indent="-342900">
              <a:lnSpc>
                <a:spcPts val="2000"/>
              </a:lnSpc>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Each response gets feedback, spoken by the character</a:t>
            </a:r>
            <a:endParaRPr lang="en-US" sz="1350" dirty="0"/>
          </a:p>
        </p:txBody>
      </p:sp>
      <p:sp>
        <p:nvSpPr>
          <p:cNvPr id="10" name="Text 8"/>
          <p:cNvSpPr/>
          <p:nvPr/>
        </p:nvSpPr>
        <p:spPr>
          <a:xfrm>
            <a:off x="950976" y="4700016"/>
            <a:ext cx="4349344" cy="365760"/>
          </a:xfrm>
          <a:prstGeom prst="rect">
            <a:avLst/>
          </a:prstGeom>
          <a:noFill/>
          <a:ln/>
        </p:spPr>
        <p:txBody>
          <a:bodyPr wrap="square" lIns="0" tIns="0" rIns="0" bIns="0" rtlCol="0" anchor="ctr"/>
          <a:lstStyle/>
          <a:p>
            <a:pPr indent="0" marL="0">
              <a:buNone/>
            </a:pPr>
            <a:r>
              <a:rPr lang="en-US" sz="1200" i="1" dirty="0">
                <a:solidFill>
                  <a:srgbClr val="A9B3C0"/>
                </a:solidFill>
                <a:latin typeface="Calibri" pitchFamily="34" charset="0"/>
                <a:ea typeface="Calibri" pitchFamily="34" charset="-122"/>
                <a:cs typeface="Calibri" pitchFamily="34" charset="-120"/>
              </a:rPr>
              <a:t>Use it for the moments that actually matter.</a:t>
            </a:r>
            <a:endParaRPr lang="en-US" sz="1200" dirty="0"/>
          </a:p>
        </p:txBody>
      </p:sp>
      <p:sp>
        <p:nvSpPr>
          <p:cNvPr id="11" name="Shape 9"/>
          <p:cNvSpPr/>
          <p:nvPr/>
        </p:nvSpPr>
        <p:spPr>
          <a:xfrm>
            <a:off x="6507328" y="1664208"/>
            <a:ext cx="5117440" cy="3474720"/>
          </a:xfrm>
          <a:prstGeom prst="roundRect">
            <a:avLst>
              <a:gd name="adj" fmla="val 2368"/>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2" name="Text 10"/>
          <p:cNvSpPr/>
          <p:nvPr/>
        </p:nvSpPr>
        <p:spPr>
          <a:xfrm>
            <a:off x="6891376" y="1883664"/>
            <a:ext cx="4349344" cy="274320"/>
          </a:xfrm>
          <a:prstGeom prst="rect">
            <a:avLst/>
          </a:prstGeom>
          <a:noFill/>
          <a:ln/>
        </p:spPr>
        <p:txBody>
          <a:bodyPr wrap="square" lIns="0" tIns="0" rIns="0" bIns="0" rtlCol="0" anchor="ctr"/>
          <a:lstStyle/>
          <a:p>
            <a:pPr indent="0" marL="0">
              <a:buNone/>
            </a:pPr>
            <a:r>
              <a:rPr lang="en-US" sz="1100" b="1" spc="180" kern="0" dirty="0">
                <a:solidFill>
                  <a:srgbClr val="5A6675"/>
                </a:solidFill>
                <a:latin typeface="Calibri" pitchFamily="34" charset="0"/>
                <a:ea typeface="Calibri" pitchFamily="34" charset="-122"/>
                <a:cs typeface="Calibri" pitchFamily="34" charset="-120"/>
              </a:rPr>
              <a:t>TEXT</a:t>
            </a:r>
            <a:endParaRPr lang="en-US" sz="1100" dirty="0"/>
          </a:p>
        </p:txBody>
      </p:sp>
      <p:sp>
        <p:nvSpPr>
          <p:cNvPr id="13" name="Text 11"/>
          <p:cNvSpPr/>
          <p:nvPr/>
        </p:nvSpPr>
        <p:spPr>
          <a:xfrm>
            <a:off x="6891376" y="2231136"/>
            <a:ext cx="4349344" cy="420624"/>
          </a:xfrm>
          <a:prstGeom prst="rect">
            <a:avLst/>
          </a:prstGeom>
          <a:noFill/>
          <a:ln/>
        </p:spPr>
        <p:txBody>
          <a:bodyPr wrap="square" lIns="0" tIns="0" rIns="0" bIns="0" rtlCol="0" anchor="t"/>
          <a:lstStyle/>
          <a:p>
            <a:pPr indent="0" marL="0">
              <a:buNone/>
            </a:pPr>
            <a:r>
              <a:rPr lang="en-US" sz="2400" b="1" dirty="0">
                <a:solidFill>
                  <a:srgbClr val="12161F"/>
                </a:solidFill>
                <a:latin typeface="Cambria" pitchFamily="34" charset="0"/>
                <a:ea typeface="Cambria" pitchFamily="34" charset="-122"/>
                <a:cs typeface="Cambria" pitchFamily="34" charset="-120"/>
              </a:rPr>
              <a:t>A single statement.</a:t>
            </a:r>
            <a:endParaRPr lang="en-US" sz="2400" dirty="0"/>
          </a:p>
        </p:txBody>
      </p:sp>
      <p:sp>
        <p:nvSpPr>
          <p:cNvPr id="14" name="Text 12"/>
          <p:cNvSpPr/>
          <p:nvPr/>
        </p:nvSpPr>
        <p:spPr>
          <a:xfrm>
            <a:off x="6891376" y="2798064"/>
            <a:ext cx="4349344" cy="2011680"/>
          </a:xfrm>
          <a:prstGeom prst="rect">
            <a:avLst/>
          </a:prstGeom>
          <a:noFill/>
          <a:ln/>
        </p:spPr>
        <p:txBody>
          <a:bodyPr wrap="square" lIns="0" tIns="0" rIns="0" bIns="0" rtlCol="0" anchor="t"/>
          <a:lstStyle/>
          <a:p>
            <a:pPr marL="342900" indent="-342900">
              <a:lnSpc>
                <a:spcPts val="2000"/>
              </a:lnSpc>
              <a:spcAft>
                <a:spcPts val="800"/>
              </a:spcAft>
              <a:buSzPct val="100000"/>
              <a:buChar char="•"/>
            </a:pPr>
            <a:r>
              <a:rPr lang="en-US" sz="1350" dirty="0">
                <a:solidFill>
                  <a:srgbClr val="12161F"/>
                </a:solidFill>
                <a:latin typeface="Calibri" pitchFamily="34" charset="0"/>
                <a:ea typeface="Calibri" pitchFamily="34" charset="-122"/>
                <a:cs typeface="Calibri" pitchFamily="34" charset="-120"/>
              </a:rPr>
              <a:t>No responses, nothing for the learner to choose</a:t>
            </a:r>
            <a:endParaRPr lang="en-US" sz="1350" dirty="0"/>
          </a:p>
          <a:p>
            <a:pPr marL="342900" indent="-342900">
              <a:lnSpc>
                <a:spcPts val="2000"/>
              </a:lnSpc>
              <a:spcAft>
                <a:spcPts val="800"/>
              </a:spcAft>
              <a:buSzPct val="100000"/>
              <a:buChar char="•"/>
            </a:pPr>
            <a:r>
              <a:rPr lang="en-US" sz="1350" dirty="0">
                <a:solidFill>
                  <a:srgbClr val="12161F"/>
                </a:solidFill>
                <a:latin typeface="Calibri" pitchFamily="34" charset="0"/>
                <a:ea typeface="Calibri" pitchFamily="34" charset="-122"/>
                <a:cs typeface="Calibri" pitchFamily="34" charset="-120"/>
              </a:rPr>
              <a:t>One character pose, or no character at all</a:t>
            </a:r>
            <a:endParaRPr lang="en-US" sz="1350" dirty="0"/>
          </a:p>
          <a:p>
            <a:pPr marL="342900" indent="-342900">
              <a:lnSpc>
                <a:spcPts val="2000"/>
              </a:lnSpc>
              <a:spcAft>
                <a:spcPts val="800"/>
              </a:spcAft>
              <a:buSzPct val="100000"/>
              <a:buChar char="•"/>
            </a:pPr>
            <a:r>
              <a:rPr lang="en-US" sz="1350" dirty="0">
                <a:solidFill>
                  <a:srgbClr val="12161F"/>
                </a:solidFill>
                <a:latin typeface="Calibri" pitchFamily="34" charset="0"/>
                <a:ea typeface="Calibri" pitchFamily="34" charset="-122"/>
                <a:cs typeface="Calibri" pitchFamily="34" charset="-120"/>
              </a:rPr>
              <a:t>Sets the scene, resets after a wrong turn, or ends it</a:t>
            </a:r>
            <a:endParaRPr lang="en-US" sz="1350" dirty="0"/>
          </a:p>
        </p:txBody>
      </p:sp>
      <p:sp>
        <p:nvSpPr>
          <p:cNvPr id="15" name="Text 13"/>
          <p:cNvSpPr/>
          <p:nvPr/>
        </p:nvSpPr>
        <p:spPr>
          <a:xfrm>
            <a:off x="6891376" y="4700016"/>
            <a:ext cx="4349344" cy="365760"/>
          </a:xfrm>
          <a:prstGeom prst="rect">
            <a:avLst/>
          </a:prstGeom>
          <a:noFill/>
          <a:ln/>
        </p:spPr>
        <p:txBody>
          <a:bodyPr wrap="square" lIns="0" tIns="0" rIns="0" bIns="0" rtlCol="0" anchor="ctr"/>
          <a:lstStyle/>
          <a:p>
            <a:pPr indent="0" marL="0">
              <a:buNone/>
            </a:pPr>
            <a:r>
              <a:rPr lang="en-US" sz="1200" i="1" dirty="0">
                <a:solidFill>
                  <a:srgbClr val="5A6675"/>
                </a:solidFill>
                <a:latin typeface="Calibri" pitchFamily="34" charset="0"/>
                <a:ea typeface="Calibri" pitchFamily="34" charset="-122"/>
                <a:cs typeface="Calibri" pitchFamily="34" charset="-120"/>
              </a:rPr>
              <a:t>Use it for the connective tissue between decisions.</a:t>
            </a:r>
            <a:endParaRPr lang="en-US" sz="1200" dirty="0"/>
          </a:p>
        </p:txBody>
      </p:sp>
      <p:sp>
        <p:nvSpPr>
          <p:cNvPr id="16" name="Shape 14"/>
          <p:cNvSpPr/>
          <p:nvPr/>
        </p:nvSpPr>
        <p:spPr>
          <a:xfrm>
            <a:off x="566928" y="5340096"/>
            <a:ext cx="11057839" cy="548640"/>
          </a:xfrm>
          <a:prstGeom prst="roundRect">
            <a:avLst>
              <a:gd name="adj" fmla="val 15000"/>
            </a:avLst>
          </a:prstGeom>
          <a:solidFill>
            <a:srgbClr val="FFF4EE"/>
          </a:solidFill>
          <a:ln w="9525">
            <a:solidFill>
              <a:srgbClr val="F6C7AC"/>
            </a:solidFill>
            <a:prstDash val="solid"/>
          </a:ln>
        </p:spPr>
      </p:sp>
      <p:sp>
        <p:nvSpPr>
          <p:cNvPr id="17" name="Shape 15"/>
          <p:cNvSpPr/>
          <p:nvPr/>
        </p:nvSpPr>
        <p:spPr>
          <a:xfrm>
            <a:off x="786384" y="5513832"/>
            <a:ext cx="201168" cy="201168"/>
          </a:xfrm>
          <a:prstGeom prst="ellipse">
            <a:avLst/>
          </a:prstGeom>
          <a:solidFill>
            <a:srgbClr val="ED6A2A"/>
          </a:solidFill>
          <a:ln/>
        </p:spPr>
      </p:sp>
      <p:sp>
        <p:nvSpPr>
          <p:cNvPr id="18" name="Text 16"/>
          <p:cNvSpPr/>
          <p:nvPr/>
        </p:nvSpPr>
        <p:spPr>
          <a:xfrm>
            <a:off x="1115568" y="5340096"/>
            <a:ext cx="10253167" cy="548640"/>
          </a:xfrm>
          <a:prstGeom prst="rect">
            <a:avLst/>
          </a:prstGeom>
          <a:noFill/>
          <a:ln/>
        </p:spPr>
        <p:txBody>
          <a:bodyPr wrap="square" lIns="0" tIns="0" rIns="0" bIns="0" rtlCol="0" anchor="ctr"/>
          <a:lstStyle/>
          <a:p>
            <a:pPr indent="0" marL="0">
              <a:lnSpc>
                <a:spcPts val="1700"/>
              </a:lnSpc>
              <a:buNone/>
            </a:pPr>
            <a:r>
              <a:rPr lang="en-US" sz="1250" dirty="0">
                <a:solidFill>
                  <a:srgbClr val="7A3F1C"/>
                </a:solidFill>
                <a:latin typeface="Calibri" pitchFamily="34" charset="0"/>
                <a:ea typeface="Calibri" pitchFamily="34" charset="-122"/>
                <a:cs typeface="Calibri" pitchFamily="34" charset="-120"/>
              </a:rPr>
              <a:t>Three responses is a ceiling, not a target. If you need a fourth, you are looking at two decisions pretending to be one — split the scene.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Where each choice leads</a:t>
            </a:r>
            <a:endParaRPr lang="en-US" sz="3000" dirty="0"/>
          </a:p>
        </p:txBody>
      </p:sp>
      <p:sp>
        <p:nvSpPr>
          <p:cNvPr id="3" name="Text 1"/>
          <p:cNvSpPr/>
          <p:nvPr/>
        </p:nvSpPr>
        <p:spPr>
          <a:xfrm>
            <a:off x="566928" y="1005840"/>
            <a:ext cx="9067428"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The Go to menu on every response. Four options, and the third one is what makes a scenario fair.</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4  ·  Decide, then ship</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13</a:t>
            </a:r>
            <a:endParaRPr lang="en-US" sz="950" dirty="0"/>
          </a:p>
        </p:txBody>
      </p:sp>
      <p:sp>
        <p:nvSpPr>
          <p:cNvPr id="6" name="Shape 4"/>
          <p:cNvSpPr/>
          <p:nvPr/>
        </p:nvSpPr>
        <p:spPr>
          <a:xfrm>
            <a:off x="566928" y="1664208"/>
            <a:ext cx="6766560" cy="3968496"/>
          </a:xfrm>
          <a:prstGeom prst="roundRect">
            <a:avLst>
              <a:gd name="adj" fmla="val 2074"/>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7" name="Text 5"/>
          <p:cNvSpPr/>
          <p:nvPr/>
        </p:nvSpPr>
        <p:spPr>
          <a:xfrm>
            <a:off x="932688" y="1865376"/>
            <a:ext cx="6035040" cy="274320"/>
          </a:xfrm>
          <a:prstGeom prst="rect">
            <a:avLst/>
          </a:prstGeom>
          <a:noFill/>
          <a:ln/>
        </p:spPr>
        <p:txBody>
          <a:bodyPr wrap="square" lIns="0" tIns="0" rIns="0" bIns="0" rtlCol="0" anchor="ctr"/>
          <a:lstStyle/>
          <a:p>
            <a:pPr indent="0" marL="0">
              <a:buNone/>
            </a:pPr>
            <a:r>
              <a:rPr lang="en-US" sz="1050" b="1" spc="160" kern="0" dirty="0">
                <a:solidFill>
                  <a:srgbClr val="5A6675"/>
                </a:solidFill>
                <a:latin typeface="Calibri" pitchFamily="34" charset="0"/>
                <a:ea typeface="Calibri" pitchFamily="34" charset="-122"/>
                <a:cs typeface="Calibri" pitchFamily="34" charset="-120"/>
              </a:rPr>
              <a:t>THE SHAPE OF THIS AFTERNOON’S SCENARIO</a:t>
            </a:r>
            <a:endParaRPr lang="en-US" sz="1050" dirty="0"/>
          </a:p>
        </p:txBody>
      </p:sp>
      <p:sp>
        <p:nvSpPr>
          <p:cNvPr id="8" name="Shape 6"/>
          <p:cNvSpPr/>
          <p:nvPr/>
        </p:nvSpPr>
        <p:spPr>
          <a:xfrm>
            <a:off x="1024128" y="2212848"/>
            <a:ext cx="1920240" cy="512064"/>
          </a:xfrm>
          <a:prstGeom prst="roundRect">
            <a:avLst>
              <a:gd name="adj" fmla="val 14286"/>
            </a:avLst>
          </a:prstGeom>
          <a:solidFill>
            <a:srgbClr val="ED6A2A"/>
          </a:solidFill>
          <a:ln/>
        </p:spPr>
      </p:sp>
      <p:sp>
        <p:nvSpPr>
          <p:cNvPr id="9" name="Text 7"/>
          <p:cNvSpPr/>
          <p:nvPr/>
        </p:nvSpPr>
        <p:spPr>
          <a:xfrm>
            <a:off x="1024128" y="2212848"/>
            <a:ext cx="1920240"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Scene 1</a:t>
            </a:r>
            <a:endParaRPr lang="en-US" sz="1300" dirty="0"/>
          </a:p>
        </p:txBody>
      </p:sp>
      <p:sp>
        <p:nvSpPr>
          <p:cNvPr id="10" name="Text 8"/>
          <p:cNvSpPr/>
          <p:nvPr/>
        </p:nvSpPr>
        <p:spPr>
          <a:xfrm>
            <a:off x="3108960" y="2212848"/>
            <a:ext cx="3749040" cy="512064"/>
          </a:xfrm>
          <a:prstGeom prst="rect">
            <a:avLst/>
          </a:prstGeom>
          <a:noFill/>
          <a:ln/>
        </p:spPr>
        <p:txBody>
          <a:bodyPr wrap="square" lIns="0" tIns="0" rIns="0" bIns="0" rtlCol="0" anchor="ctr"/>
          <a:lstStyle/>
          <a:p>
            <a:pPr indent="0" marL="0">
              <a:buNone/>
            </a:pPr>
            <a:r>
              <a:rPr lang="en-US" sz="1250" dirty="0">
                <a:solidFill>
                  <a:srgbClr val="5A6675"/>
                </a:solidFill>
                <a:latin typeface="Calibri" pitchFamily="34" charset="0"/>
                <a:ea typeface="Calibri" pitchFamily="34" charset="-122"/>
                <a:cs typeface="Calibri" pitchFamily="34" charset="-120"/>
              </a:rPr>
              <a:t>Dialogue — the opening line</a:t>
            </a:r>
            <a:endParaRPr lang="en-US" sz="1250" dirty="0"/>
          </a:p>
        </p:txBody>
      </p:sp>
      <p:sp>
        <p:nvSpPr>
          <p:cNvPr id="11" name="Shape 9"/>
          <p:cNvSpPr/>
          <p:nvPr/>
        </p:nvSpPr>
        <p:spPr>
          <a:xfrm>
            <a:off x="1024128" y="2926080"/>
            <a:ext cx="1920240" cy="512064"/>
          </a:xfrm>
          <a:prstGeom prst="roundRect">
            <a:avLst>
              <a:gd name="adj" fmla="val 14286"/>
            </a:avLst>
          </a:prstGeom>
          <a:solidFill>
            <a:srgbClr val="ED6A2A"/>
          </a:solidFill>
          <a:ln/>
        </p:spPr>
      </p:sp>
      <p:sp>
        <p:nvSpPr>
          <p:cNvPr id="12" name="Text 10"/>
          <p:cNvSpPr/>
          <p:nvPr/>
        </p:nvSpPr>
        <p:spPr>
          <a:xfrm>
            <a:off x="1024128" y="2926080"/>
            <a:ext cx="1920240"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Scene 2</a:t>
            </a:r>
            <a:endParaRPr lang="en-US" sz="1300" dirty="0"/>
          </a:p>
        </p:txBody>
      </p:sp>
      <p:sp>
        <p:nvSpPr>
          <p:cNvPr id="13" name="Text 11"/>
          <p:cNvSpPr/>
          <p:nvPr/>
        </p:nvSpPr>
        <p:spPr>
          <a:xfrm>
            <a:off x="3108960" y="2926080"/>
            <a:ext cx="3749040" cy="512064"/>
          </a:xfrm>
          <a:prstGeom prst="rect">
            <a:avLst/>
          </a:prstGeom>
          <a:noFill/>
          <a:ln/>
        </p:spPr>
        <p:txBody>
          <a:bodyPr wrap="square" lIns="0" tIns="0" rIns="0" bIns="0" rtlCol="0" anchor="ctr"/>
          <a:lstStyle/>
          <a:p>
            <a:pPr indent="0" marL="0">
              <a:buNone/>
            </a:pPr>
            <a:r>
              <a:rPr lang="en-US" sz="1250" dirty="0">
                <a:solidFill>
                  <a:srgbClr val="5A6675"/>
                </a:solidFill>
                <a:latin typeface="Calibri" pitchFamily="34" charset="0"/>
                <a:ea typeface="Calibri" pitchFamily="34" charset="-122"/>
                <a:cs typeface="Calibri" pitchFamily="34" charset="-120"/>
              </a:rPr>
              <a:t>Dialogue — “so what would help?”</a:t>
            </a:r>
            <a:endParaRPr lang="en-US" sz="1250" dirty="0"/>
          </a:p>
        </p:txBody>
      </p:sp>
      <p:sp>
        <p:nvSpPr>
          <p:cNvPr id="14" name="Shape 12"/>
          <p:cNvSpPr/>
          <p:nvPr/>
        </p:nvSpPr>
        <p:spPr>
          <a:xfrm>
            <a:off x="1024128" y="3639312"/>
            <a:ext cx="1920240" cy="512064"/>
          </a:xfrm>
          <a:prstGeom prst="roundRect">
            <a:avLst>
              <a:gd name="adj" fmla="val 14286"/>
            </a:avLst>
          </a:prstGeom>
          <a:solidFill>
            <a:srgbClr val="12161F"/>
          </a:solidFill>
          <a:ln/>
        </p:spPr>
      </p:sp>
      <p:sp>
        <p:nvSpPr>
          <p:cNvPr id="15" name="Text 13"/>
          <p:cNvSpPr/>
          <p:nvPr/>
        </p:nvSpPr>
        <p:spPr>
          <a:xfrm>
            <a:off x="1024128" y="3639312"/>
            <a:ext cx="1920240"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Scene 4</a:t>
            </a:r>
            <a:endParaRPr lang="en-US" sz="1300" dirty="0"/>
          </a:p>
        </p:txBody>
      </p:sp>
      <p:sp>
        <p:nvSpPr>
          <p:cNvPr id="16" name="Text 14"/>
          <p:cNvSpPr/>
          <p:nvPr/>
        </p:nvSpPr>
        <p:spPr>
          <a:xfrm>
            <a:off x="3108960" y="3639312"/>
            <a:ext cx="3749040" cy="512064"/>
          </a:xfrm>
          <a:prstGeom prst="rect">
            <a:avLst/>
          </a:prstGeom>
          <a:noFill/>
          <a:ln/>
        </p:spPr>
        <p:txBody>
          <a:bodyPr wrap="square" lIns="0" tIns="0" rIns="0" bIns="0" rtlCol="0" anchor="ctr"/>
          <a:lstStyle/>
          <a:p>
            <a:pPr indent="0" marL="0">
              <a:buNone/>
            </a:pPr>
            <a:r>
              <a:rPr lang="en-US" sz="1250" dirty="0">
                <a:solidFill>
                  <a:srgbClr val="5A6675"/>
                </a:solidFill>
                <a:latin typeface="Calibri" pitchFamily="34" charset="0"/>
                <a:ea typeface="Calibri" pitchFamily="34" charset="-122"/>
                <a:cs typeface="Calibri" pitchFamily="34" charset="-120"/>
              </a:rPr>
              <a:t>Text — the ending</a:t>
            </a:r>
            <a:endParaRPr lang="en-US" sz="1250" dirty="0"/>
          </a:p>
        </p:txBody>
      </p:sp>
      <p:sp>
        <p:nvSpPr>
          <p:cNvPr id="17" name="Shape 15"/>
          <p:cNvSpPr/>
          <p:nvPr/>
        </p:nvSpPr>
        <p:spPr>
          <a:xfrm>
            <a:off x="1024128" y="4352544"/>
            <a:ext cx="1920240" cy="512064"/>
          </a:xfrm>
          <a:prstGeom prst="roundRect">
            <a:avLst>
              <a:gd name="adj" fmla="val 14286"/>
            </a:avLst>
          </a:prstGeom>
          <a:solidFill>
            <a:srgbClr val="5A6675"/>
          </a:solidFill>
          <a:ln/>
        </p:spPr>
      </p:sp>
      <p:sp>
        <p:nvSpPr>
          <p:cNvPr id="18" name="Text 16"/>
          <p:cNvSpPr/>
          <p:nvPr/>
        </p:nvSpPr>
        <p:spPr>
          <a:xfrm>
            <a:off x="1024128" y="4352544"/>
            <a:ext cx="1920240"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Scene 3</a:t>
            </a:r>
            <a:endParaRPr lang="en-US" sz="1300" dirty="0"/>
          </a:p>
        </p:txBody>
      </p:sp>
      <p:sp>
        <p:nvSpPr>
          <p:cNvPr id="19" name="Text 17"/>
          <p:cNvSpPr/>
          <p:nvPr/>
        </p:nvSpPr>
        <p:spPr>
          <a:xfrm>
            <a:off x="3108960" y="4352544"/>
            <a:ext cx="3749040" cy="512064"/>
          </a:xfrm>
          <a:prstGeom prst="rect">
            <a:avLst/>
          </a:prstGeom>
          <a:noFill/>
          <a:ln/>
        </p:spPr>
        <p:txBody>
          <a:bodyPr wrap="square" lIns="0" tIns="0" rIns="0" bIns="0" rtlCol="0" anchor="ctr"/>
          <a:lstStyle/>
          <a:p>
            <a:pPr indent="0" marL="0">
              <a:buNone/>
            </a:pPr>
            <a:r>
              <a:rPr lang="en-US" sz="1250" dirty="0">
                <a:solidFill>
                  <a:srgbClr val="5A6675"/>
                </a:solidFill>
                <a:latin typeface="Calibri" pitchFamily="34" charset="0"/>
                <a:ea typeface="Calibri" pitchFamily="34" charset="-122"/>
                <a:cs typeface="Calibri" pitchFamily="34" charset="-120"/>
              </a:rPr>
              <a:t>Text — the reset  →  Try again</a:t>
            </a:r>
            <a:endParaRPr lang="en-US" sz="1250" dirty="0"/>
          </a:p>
        </p:txBody>
      </p:sp>
      <p:sp>
        <p:nvSpPr>
          <p:cNvPr id="20" name="Text 18"/>
          <p:cNvSpPr/>
          <p:nvPr/>
        </p:nvSpPr>
        <p:spPr>
          <a:xfrm>
            <a:off x="1024128" y="4956048"/>
            <a:ext cx="5852160" cy="621792"/>
          </a:xfrm>
          <a:prstGeom prst="rect">
            <a:avLst/>
          </a:prstGeom>
          <a:noFill/>
          <a:ln/>
        </p:spPr>
        <p:txBody>
          <a:bodyPr wrap="square" lIns="0" tIns="0" rIns="0" bIns="0" rtlCol="0" anchor="t"/>
          <a:lstStyle/>
          <a:p>
            <a:pPr indent="0" marL="0">
              <a:lnSpc>
                <a:spcPts val="1600"/>
              </a:lnSpc>
              <a:buNone/>
            </a:pPr>
            <a:r>
              <a:rPr lang="en-US" sz="1150" i="1" dirty="0">
                <a:solidFill>
                  <a:srgbClr val="5A6675"/>
                </a:solidFill>
                <a:latin typeface="Calibri" pitchFamily="34" charset="0"/>
                <a:ea typeface="Calibri" pitchFamily="34" charset="-122"/>
                <a:cs typeface="Calibri" pitchFamily="34" charset="-120"/>
              </a:rPr>
              <a:t>A good answer moves down the chain. Anything else lands on Scene 3, which returns the learner to the decision — not to a telling-off.</a:t>
            </a:r>
            <a:endParaRPr lang="en-US" sz="1150" dirty="0"/>
          </a:p>
        </p:txBody>
      </p:sp>
      <p:sp>
        <p:nvSpPr>
          <p:cNvPr id="21" name="Shape 19"/>
          <p:cNvSpPr/>
          <p:nvPr/>
        </p:nvSpPr>
        <p:spPr>
          <a:xfrm>
            <a:off x="7790688" y="1664208"/>
            <a:ext cx="3834079" cy="3968496"/>
          </a:xfrm>
          <a:prstGeom prst="roundRect">
            <a:avLst>
              <a:gd name="adj" fmla="val 2146"/>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22" name="Text 20"/>
          <p:cNvSpPr/>
          <p:nvPr/>
        </p:nvSpPr>
        <p:spPr>
          <a:xfrm>
            <a:off x="8119872" y="1865376"/>
            <a:ext cx="3175711" cy="274320"/>
          </a:xfrm>
          <a:prstGeom prst="rect">
            <a:avLst/>
          </a:prstGeom>
          <a:noFill/>
          <a:ln/>
        </p:spPr>
        <p:txBody>
          <a:bodyPr wrap="square" lIns="0" tIns="0" rIns="0" bIns="0" rtlCol="0" anchor="ctr"/>
          <a:lstStyle/>
          <a:p>
            <a:pPr indent="0" marL="0">
              <a:buNone/>
            </a:pPr>
            <a:r>
              <a:rPr lang="en-US" sz="1050" b="1" spc="160" kern="0" dirty="0">
                <a:solidFill>
                  <a:srgbClr val="5A6675"/>
                </a:solidFill>
                <a:latin typeface="Calibri" pitchFamily="34" charset="0"/>
                <a:ea typeface="Calibri" pitchFamily="34" charset="-122"/>
                <a:cs typeface="Calibri" pitchFamily="34" charset="-120"/>
              </a:rPr>
              <a:t>THE GO TO MENU</a:t>
            </a:r>
            <a:endParaRPr lang="en-US" sz="1050" dirty="0"/>
          </a:p>
        </p:txBody>
      </p:sp>
      <p:sp>
        <p:nvSpPr>
          <p:cNvPr id="23" name="Text 21"/>
          <p:cNvSpPr/>
          <p:nvPr/>
        </p:nvSpPr>
        <p:spPr>
          <a:xfrm>
            <a:off x="8119872" y="2286000"/>
            <a:ext cx="3175711" cy="310896"/>
          </a:xfrm>
          <a:prstGeom prst="rect">
            <a:avLst/>
          </a:prstGeom>
          <a:noFill/>
          <a:ln/>
        </p:spPr>
        <p:txBody>
          <a:bodyPr wrap="square" lIns="0" tIns="0" rIns="0" bIns="0" rtlCol="0" anchor="ctr"/>
          <a:lstStyle/>
          <a:p>
            <a:pPr indent="0" marL="0">
              <a:buNone/>
            </a:pPr>
            <a:r>
              <a:rPr lang="en-US" sz="1500" b="1" dirty="0">
                <a:solidFill>
                  <a:srgbClr val="12161F"/>
                </a:solidFill>
                <a:latin typeface="Cambria" pitchFamily="34" charset="0"/>
                <a:ea typeface="Cambria" pitchFamily="34" charset="-122"/>
                <a:cs typeface="Cambria" pitchFamily="34" charset="-120"/>
              </a:rPr>
              <a:t>Next content</a:t>
            </a:r>
            <a:endParaRPr lang="en-US" sz="1500" dirty="0"/>
          </a:p>
        </p:txBody>
      </p:sp>
      <p:sp>
        <p:nvSpPr>
          <p:cNvPr id="24" name="Text 22"/>
          <p:cNvSpPr/>
          <p:nvPr/>
        </p:nvSpPr>
        <p:spPr>
          <a:xfrm>
            <a:off x="8119872" y="2578608"/>
            <a:ext cx="3175711" cy="384048"/>
          </a:xfrm>
          <a:prstGeom prst="rect">
            <a:avLst/>
          </a:prstGeom>
          <a:noFill/>
          <a:ln/>
        </p:spPr>
        <p:txBody>
          <a:bodyPr wrap="square" lIns="0" tIns="0" rIns="0" bIns="0" rtlCol="0" anchor="t"/>
          <a:lstStyle/>
          <a:p>
            <a:pPr indent="0" marL="0">
              <a:lnSpc>
                <a:spcPts val="1600"/>
              </a:lnSpc>
              <a:buNone/>
            </a:pPr>
            <a:r>
              <a:rPr lang="en-US" sz="1200" dirty="0">
                <a:solidFill>
                  <a:srgbClr val="5A6675"/>
                </a:solidFill>
                <a:latin typeface="Calibri" pitchFamily="34" charset="0"/>
                <a:ea typeface="Calibri" pitchFamily="34" charset="-122"/>
                <a:cs typeface="Calibri" pitchFamily="34" charset="-120"/>
              </a:rPr>
              <a:t>The default. Straight on.</a:t>
            </a:r>
            <a:endParaRPr lang="en-US" sz="1200" dirty="0"/>
          </a:p>
        </p:txBody>
      </p:sp>
      <p:sp>
        <p:nvSpPr>
          <p:cNvPr id="25" name="Text 23"/>
          <p:cNvSpPr/>
          <p:nvPr/>
        </p:nvSpPr>
        <p:spPr>
          <a:xfrm>
            <a:off x="8119872" y="3072384"/>
            <a:ext cx="3175711" cy="310896"/>
          </a:xfrm>
          <a:prstGeom prst="rect">
            <a:avLst/>
          </a:prstGeom>
          <a:noFill/>
          <a:ln/>
        </p:spPr>
        <p:txBody>
          <a:bodyPr wrap="square" lIns="0" tIns="0" rIns="0" bIns="0" rtlCol="0" anchor="ctr"/>
          <a:lstStyle/>
          <a:p>
            <a:pPr indent="0" marL="0">
              <a:buNone/>
            </a:pPr>
            <a:r>
              <a:rPr lang="en-US" sz="1500" b="1" dirty="0">
                <a:solidFill>
                  <a:srgbClr val="12161F"/>
                </a:solidFill>
                <a:latin typeface="Cambria" pitchFamily="34" charset="0"/>
                <a:ea typeface="Cambria" pitchFamily="34" charset="-122"/>
                <a:cs typeface="Cambria" pitchFamily="34" charset="-120"/>
              </a:rPr>
              <a:t>A specific scene or content</a:t>
            </a:r>
            <a:endParaRPr lang="en-US" sz="1500" dirty="0"/>
          </a:p>
        </p:txBody>
      </p:sp>
      <p:sp>
        <p:nvSpPr>
          <p:cNvPr id="26" name="Text 24"/>
          <p:cNvSpPr/>
          <p:nvPr/>
        </p:nvSpPr>
        <p:spPr>
          <a:xfrm>
            <a:off x="8119872" y="3364992"/>
            <a:ext cx="3175711" cy="384048"/>
          </a:xfrm>
          <a:prstGeom prst="rect">
            <a:avLst/>
          </a:prstGeom>
          <a:noFill/>
          <a:ln/>
        </p:spPr>
        <p:txBody>
          <a:bodyPr wrap="square" lIns="0" tIns="0" rIns="0" bIns="0" rtlCol="0" anchor="t"/>
          <a:lstStyle/>
          <a:p>
            <a:pPr indent="0" marL="0">
              <a:lnSpc>
                <a:spcPts val="1600"/>
              </a:lnSpc>
              <a:buNone/>
            </a:pPr>
            <a:r>
              <a:rPr lang="en-US" sz="1200" dirty="0">
                <a:solidFill>
                  <a:srgbClr val="5A6675"/>
                </a:solidFill>
                <a:latin typeface="Calibri" pitchFamily="34" charset="0"/>
                <a:ea typeface="Calibri" pitchFamily="34" charset="-122"/>
                <a:cs typeface="Calibri" pitchFamily="34" charset="-120"/>
              </a:rPr>
              <a:t>The actual branching. Point anywhere.</a:t>
            </a:r>
            <a:endParaRPr lang="en-US" sz="1200" dirty="0"/>
          </a:p>
        </p:txBody>
      </p:sp>
      <p:sp>
        <p:nvSpPr>
          <p:cNvPr id="27" name="Text 25"/>
          <p:cNvSpPr/>
          <p:nvPr/>
        </p:nvSpPr>
        <p:spPr>
          <a:xfrm>
            <a:off x="8119872" y="3858768"/>
            <a:ext cx="3175711" cy="310896"/>
          </a:xfrm>
          <a:prstGeom prst="rect">
            <a:avLst/>
          </a:prstGeom>
          <a:noFill/>
          <a:ln/>
        </p:spPr>
        <p:txBody>
          <a:bodyPr wrap="square" lIns="0" tIns="0" rIns="0" bIns="0" rtlCol="0" anchor="ctr"/>
          <a:lstStyle/>
          <a:p>
            <a:pPr indent="0" marL="0">
              <a:buNone/>
            </a:pPr>
            <a:r>
              <a:rPr lang="en-US" sz="1500" b="1" dirty="0">
                <a:solidFill>
                  <a:srgbClr val="ED6A2A"/>
                </a:solidFill>
                <a:latin typeface="Cambria" pitchFamily="34" charset="0"/>
                <a:ea typeface="Cambria" pitchFamily="34" charset="-122"/>
                <a:cs typeface="Cambria" pitchFamily="34" charset="-120"/>
              </a:rPr>
              <a:t>Try again</a:t>
            </a:r>
            <a:endParaRPr lang="en-US" sz="1500" dirty="0"/>
          </a:p>
        </p:txBody>
      </p:sp>
      <p:sp>
        <p:nvSpPr>
          <p:cNvPr id="28" name="Text 26"/>
          <p:cNvSpPr/>
          <p:nvPr/>
        </p:nvSpPr>
        <p:spPr>
          <a:xfrm>
            <a:off x="8119872" y="4151376"/>
            <a:ext cx="3175711" cy="384048"/>
          </a:xfrm>
          <a:prstGeom prst="rect">
            <a:avLst/>
          </a:prstGeom>
          <a:noFill/>
          <a:ln/>
        </p:spPr>
        <p:txBody>
          <a:bodyPr wrap="square" lIns="0" tIns="0" rIns="0" bIns="0" rtlCol="0" anchor="t"/>
          <a:lstStyle/>
          <a:p>
            <a:pPr indent="0" marL="0">
              <a:lnSpc>
                <a:spcPts val="1600"/>
              </a:lnSpc>
              <a:buNone/>
            </a:pPr>
            <a:r>
              <a:rPr lang="en-US" sz="1200" dirty="0">
                <a:solidFill>
                  <a:srgbClr val="5A6675"/>
                </a:solidFill>
                <a:latin typeface="Calibri" pitchFamily="34" charset="0"/>
                <a:ea typeface="Calibri" pitchFamily="34" charset="-122"/>
                <a:cs typeface="Calibri" pitchFamily="34" charset="-120"/>
              </a:rPr>
              <a:t>Back to the decision. Use it.</a:t>
            </a:r>
            <a:endParaRPr lang="en-US" sz="1200" dirty="0"/>
          </a:p>
        </p:txBody>
      </p:sp>
      <p:sp>
        <p:nvSpPr>
          <p:cNvPr id="29" name="Text 27"/>
          <p:cNvSpPr/>
          <p:nvPr/>
        </p:nvSpPr>
        <p:spPr>
          <a:xfrm>
            <a:off x="8119872" y="4645152"/>
            <a:ext cx="3175711" cy="310896"/>
          </a:xfrm>
          <a:prstGeom prst="rect">
            <a:avLst/>
          </a:prstGeom>
          <a:noFill/>
          <a:ln/>
        </p:spPr>
        <p:txBody>
          <a:bodyPr wrap="square" lIns="0" tIns="0" rIns="0" bIns="0" rtlCol="0" anchor="ctr"/>
          <a:lstStyle/>
          <a:p>
            <a:pPr indent="0" marL="0">
              <a:buNone/>
            </a:pPr>
            <a:r>
              <a:rPr lang="en-US" sz="1500" b="1" dirty="0">
                <a:solidFill>
                  <a:srgbClr val="12161F"/>
                </a:solidFill>
                <a:latin typeface="Cambria" pitchFamily="34" charset="0"/>
                <a:ea typeface="Cambria" pitchFamily="34" charset="-122"/>
                <a:cs typeface="Cambria" pitchFamily="34" charset="-120"/>
              </a:rPr>
              <a:t>End Scenario</a:t>
            </a:r>
            <a:endParaRPr lang="en-US" sz="1500" dirty="0"/>
          </a:p>
        </p:txBody>
      </p:sp>
      <p:sp>
        <p:nvSpPr>
          <p:cNvPr id="30" name="Text 28"/>
          <p:cNvSpPr/>
          <p:nvPr/>
        </p:nvSpPr>
        <p:spPr>
          <a:xfrm>
            <a:off x="8119872" y="4937760"/>
            <a:ext cx="3175711" cy="384048"/>
          </a:xfrm>
          <a:prstGeom prst="rect">
            <a:avLst/>
          </a:prstGeom>
          <a:noFill/>
          <a:ln/>
        </p:spPr>
        <p:txBody>
          <a:bodyPr wrap="square" lIns="0" tIns="0" rIns="0" bIns="0" rtlCol="0" anchor="t"/>
          <a:lstStyle/>
          <a:p>
            <a:pPr indent="0" marL="0">
              <a:lnSpc>
                <a:spcPts val="1600"/>
              </a:lnSpc>
              <a:buNone/>
            </a:pPr>
            <a:r>
              <a:rPr lang="en-US" sz="1200" dirty="0">
                <a:solidFill>
                  <a:srgbClr val="5A6675"/>
                </a:solidFill>
                <a:latin typeface="Calibri" pitchFamily="34" charset="0"/>
                <a:ea typeface="Calibri" pitchFamily="34" charset="-122"/>
                <a:cs typeface="Calibri" pitchFamily="34" charset="-120"/>
              </a:rPr>
              <a:t>Stop here, and hand back to the lesson.</a:t>
            </a:r>
            <a:endParaRPr lang="en-US" sz="1200" dirty="0"/>
          </a:p>
        </p:txBody>
      </p:sp>
      <p:sp>
        <p:nvSpPr>
          <p:cNvPr id="31" name="Shape 29"/>
          <p:cNvSpPr/>
          <p:nvPr/>
        </p:nvSpPr>
        <p:spPr>
          <a:xfrm>
            <a:off x="566928" y="5724144"/>
            <a:ext cx="11057839" cy="493776"/>
          </a:xfrm>
          <a:prstGeom prst="roundRect">
            <a:avLst>
              <a:gd name="adj" fmla="val 16667"/>
            </a:avLst>
          </a:prstGeom>
          <a:solidFill>
            <a:srgbClr val="FFF4EE"/>
          </a:solidFill>
          <a:ln w="9525">
            <a:solidFill>
              <a:srgbClr val="F6C7AC"/>
            </a:solidFill>
            <a:prstDash val="solid"/>
          </a:ln>
        </p:spPr>
      </p:sp>
      <p:sp>
        <p:nvSpPr>
          <p:cNvPr id="32" name="Shape 30"/>
          <p:cNvSpPr/>
          <p:nvPr/>
        </p:nvSpPr>
        <p:spPr>
          <a:xfrm>
            <a:off x="786384" y="5870448"/>
            <a:ext cx="201168" cy="201168"/>
          </a:xfrm>
          <a:prstGeom prst="ellipse">
            <a:avLst/>
          </a:prstGeom>
          <a:solidFill>
            <a:srgbClr val="ED6A2A"/>
          </a:solidFill>
          <a:ln/>
        </p:spPr>
      </p:sp>
      <p:sp>
        <p:nvSpPr>
          <p:cNvPr id="33" name="Text 31"/>
          <p:cNvSpPr/>
          <p:nvPr/>
        </p:nvSpPr>
        <p:spPr>
          <a:xfrm>
            <a:off x="1115568" y="5724144"/>
            <a:ext cx="10253167" cy="493776"/>
          </a:xfrm>
          <a:prstGeom prst="rect">
            <a:avLst/>
          </a:prstGeom>
          <a:noFill/>
          <a:ln/>
        </p:spPr>
        <p:txBody>
          <a:bodyPr wrap="square" lIns="0" tIns="0" rIns="0" bIns="0" rtlCol="0" anchor="ctr"/>
          <a:lstStyle/>
          <a:p>
            <a:pPr indent="0" marL="0">
              <a:lnSpc>
                <a:spcPts val="1700"/>
              </a:lnSpc>
              <a:buNone/>
            </a:pPr>
            <a:r>
              <a:rPr lang="en-US" sz="1200" dirty="0">
                <a:solidFill>
                  <a:srgbClr val="7A3F1C"/>
                </a:solidFill>
                <a:latin typeface="Calibri" pitchFamily="34" charset="0"/>
                <a:ea typeface="Calibri" pitchFamily="34" charset="-122"/>
                <a:cs typeface="Calibri" pitchFamily="34" charset="-120"/>
              </a:rPr>
              <a:t>“Try again” is the difference between a scenario and a trick question. It returns the learner to the decision instead of scolding them for it.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Write it before you open the editor</a:t>
            </a:r>
            <a:endParaRPr lang="en-US" sz="3000" dirty="0"/>
          </a:p>
        </p:txBody>
      </p:sp>
      <p:sp>
        <p:nvSpPr>
          <p:cNvPr id="3" name="Text 1"/>
          <p:cNvSpPr/>
          <p:nvPr/>
        </p:nvSpPr>
        <p:spPr>
          <a:xfrm>
            <a:off x="566928" y="1005840"/>
            <a:ext cx="9067428"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Branching written live turns into a maze you cannot follow. Five steps, on paper, first.</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4  ·  Decide, then ship</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14</a:t>
            </a:r>
            <a:endParaRPr lang="en-US" sz="950" dirty="0"/>
          </a:p>
        </p:txBody>
      </p:sp>
      <p:sp>
        <p:nvSpPr>
          <p:cNvPr id="6" name="Shape 4"/>
          <p:cNvSpPr/>
          <p:nvPr/>
        </p:nvSpPr>
        <p:spPr>
          <a:xfrm>
            <a:off x="566928" y="1700784"/>
            <a:ext cx="2036003" cy="3657600"/>
          </a:xfrm>
          <a:prstGeom prst="roundRect">
            <a:avLst>
              <a:gd name="adj" fmla="val 4042"/>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7" name="Shape 5"/>
          <p:cNvSpPr/>
          <p:nvPr/>
        </p:nvSpPr>
        <p:spPr>
          <a:xfrm>
            <a:off x="786384" y="1920240"/>
            <a:ext cx="384048" cy="384048"/>
          </a:xfrm>
          <a:prstGeom prst="roundRect">
            <a:avLst>
              <a:gd name="adj" fmla="val 23810"/>
            </a:avLst>
          </a:prstGeom>
          <a:solidFill>
            <a:srgbClr val="ED6A2A"/>
          </a:solidFill>
          <a:ln/>
        </p:spPr>
      </p:sp>
      <p:sp>
        <p:nvSpPr>
          <p:cNvPr id="8" name="Text 6"/>
          <p:cNvSpPr/>
          <p:nvPr/>
        </p:nvSpPr>
        <p:spPr>
          <a:xfrm>
            <a:off x="786384" y="1920240"/>
            <a:ext cx="384048" cy="384048"/>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1</a:t>
            </a:r>
            <a:endParaRPr lang="en-US" sz="1450" dirty="0"/>
          </a:p>
        </p:txBody>
      </p:sp>
      <p:sp>
        <p:nvSpPr>
          <p:cNvPr id="9" name="Text 7"/>
          <p:cNvSpPr/>
          <p:nvPr/>
        </p:nvSpPr>
        <p:spPr>
          <a:xfrm>
            <a:off x="786384" y="2414016"/>
            <a:ext cx="1597091" cy="914400"/>
          </a:xfrm>
          <a:prstGeom prst="rect">
            <a:avLst/>
          </a:prstGeom>
          <a:noFill/>
          <a:ln/>
        </p:spPr>
        <p:txBody>
          <a:bodyPr wrap="square" lIns="0" tIns="0" rIns="0" bIns="0" rtlCol="0" anchor="t"/>
          <a:lstStyle/>
          <a:p>
            <a:pPr indent="0" marL="0">
              <a:lnSpc>
                <a:spcPts val="1900"/>
              </a:lnSpc>
              <a:buNone/>
            </a:pPr>
            <a:r>
              <a:rPr lang="en-US" sz="1500" b="1" dirty="0">
                <a:solidFill>
                  <a:srgbClr val="12161F"/>
                </a:solidFill>
                <a:latin typeface="Cambria" pitchFamily="34" charset="0"/>
                <a:ea typeface="Cambria" pitchFamily="34" charset="-122"/>
                <a:cs typeface="Cambria" pitchFamily="34" charset="-120"/>
              </a:rPr>
              <a:t>Name the ending</a:t>
            </a:r>
            <a:endParaRPr lang="en-US" sz="1500" dirty="0"/>
          </a:p>
        </p:txBody>
      </p:sp>
      <p:sp>
        <p:nvSpPr>
          <p:cNvPr id="10" name="Text 8"/>
          <p:cNvSpPr/>
          <p:nvPr/>
        </p:nvSpPr>
        <p:spPr>
          <a:xfrm>
            <a:off x="786384" y="3401568"/>
            <a:ext cx="1597091" cy="1792224"/>
          </a:xfrm>
          <a:prstGeom prst="rect">
            <a:avLst/>
          </a:prstGeom>
          <a:noFill/>
          <a:ln/>
        </p:spPr>
        <p:txBody>
          <a:bodyPr wrap="square" lIns="0" tIns="0" rIns="0" bIns="0" rtlCol="0" anchor="t"/>
          <a:lstStyle/>
          <a:p>
            <a:pPr indent="0" marL="0">
              <a:lnSpc>
                <a:spcPts val="1600"/>
              </a:lnSpc>
              <a:buNone/>
            </a:pPr>
            <a:r>
              <a:rPr lang="en-US" sz="1150" dirty="0">
                <a:solidFill>
                  <a:srgbClr val="5A6675"/>
                </a:solidFill>
                <a:latin typeface="Calibri" pitchFamily="34" charset="0"/>
                <a:ea typeface="Calibri" pitchFamily="34" charset="-122"/>
                <a:cs typeface="Calibri" pitchFamily="34" charset="-120"/>
              </a:rPr>
              <a:t>What does the learner do differently on Monday? Write that one sentence before anything else. Everything in the scenario either serves it or goes.</a:t>
            </a:r>
            <a:endParaRPr lang="en-US" sz="1150" dirty="0"/>
          </a:p>
        </p:txBody>
      </p:sp>
      <p:sp>
        <p:nvSpPr>
          <p:cNvPr id="11" name="Shape 9"/>
          <p:cNvSpPr/>
          <p:nvPr/>
        </p:nvSpPr>
        <p:spPr>
          <a:xfrm>
            <a:off x="2822387" y="1700784"/>
            <a:ext cx="2036003" cy="3657600"/>
          </a:xfrm>
          <a:prstGeom prst="roundRect">
            <a:avLst>
              <a:gd name="adj" fmla="val 4042"/>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2" name="Shape 10"/>
          <p:cNvSpPr/>
          <p:nvPr/>
        </p:nvSpPr>
        <p:spPr>
          <a:xfrm>
            <a:off x="3041843" y="1920240"/>
            <a:ext cx="384048" cy="384048"/>
          </a:xfrm>
          <a:prstGeom prst="roundRect">
            <a:avLst>
              <a:gd name="adj" fmla="val 23810"/>
            </a:avLst>
          </a:prstGeom>
          <a:solidFill>
            <a:srgbClr val="ED6A2A"/>
          </a:solidFill>
          <a:ln/>
        </p:spPr>
      </p:sp>
      <p:sp>
        <p:nvSpPr>
          <p:cNvPr id="13" name="Text 11"/>
          <p:cNvSpPr/>
          <p:nvPr/>
        </p:nvSpPr>
        <p:spPr>
          <a:xfrm>
            <a:off x="3041843" y="1920240"/>
            <a:ext cx="384048" cy="384048"/>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2</a:t>
            </a:r>
            <a:endParaRPr lang="en-US" sz="1450" dirty="0"/>
          </a:p>
        </p:txBody>
      </p:sp>
      <p:sp>
        <p:nvSpPr>
          <p:cNvPr id="14" name="Text 12"/>
          <p:cNvSpPr/>
          <p:nvPr/>
        </p:nvSpPr>
        <p:spPr>
          <a:xfrm>
            <a:off x="3041843" y="2414016"/>
            <a:ext cx="1597091" cy="914400"/>
          </a:xfrm>
          <a:prstGeom prst="rect">
            <a:avLst/>
          </a:prstGeom>
          <a:noFill/>
          <a:ln/>
        </p:spPr>
        <p:txBody>
          <a:bodyPr wrap="square" lIns="0" tIns="0" rIns="0" bIns="0" rtlCol="0" anchor="t"/>
          <a:lstStyle/>
          <a:p>
            <a:pPr indent="0" marL="0">
              <a:lnSpc>
                <a:spcPts val="1900"/>
              </a:lnSpc>
              <a:buNone/>
            </a:pPr>
            <a:r>
              <a:rPr lang="en-US" sz="1500" b="1" dirty="0">
                <a:solidFill>
                  <a:srgbClr val="12161F"/>
                </a:solidFill>
                <a:latin typeface="Cambria" pitchFamily="34" charset="0"/>
                <a:ea typeface="Cambria" pitchFamily="34" charset="-122"/>
                <a:cs typeface="Cambria" pitchFamily="34" charset="-120"/>
              </a:rPr>
              <a:t>Find the decision</a:t>
            </a:r>
            <a:endParaRPr lang="en-US" sz="1500" dirty="0"/>
          </a:p>
        </p:txBody>
      </p:sp>
      <p:sp>
        <p:nvSpPr>
          <p:cNvPr id="15" name="Text 13"/>
          <p:cNvSpPr/>
          <p:nvPr/>
        </p:nvSpPr>
        <p:spPr>
          <a:xfrm>
            <a:off x="3041843" y="3401568"/>
            <a:ext cx="1597091" cy="1792224"/>
          </a:xfrm>
          <a:prstGeom prst="rect">
            <a:avLst/>
          </a:prstGeom>
          <a:noFill/>
          <a:ln/>
        </p:spPr>
        <p:txBody>
          <a:bodyPr wrap="square" lIns="0" tIns="0" rIns="0" bIns="0" rtlCol="0" anchor="t"/>
          <a:lstStyle/>
          <a:p>
            <a:pPr indent="0" marL="0">
              <a:lnSpc>
                <a:spcPts val="1600"/>
              </a:lnSpc>
              <a:buNone/>
            </a:pPr>
            <a:r>
              <a:rPr lang="en-US" sz="1150" dirty="0">
                <a:solidFill>
                  <a:srgbClr val="5A6675"/>
                </a:solidFill>
                <a:latin typeface="Calibri" pitchFamily="34" charset="0"/>
                <a:ea typeface="Calibri" pitchFamily="34" charset="-122"/>
                <a:cs typeface="Calibri" pitchFamily="34" charset="-120"/>
              </a:rPr>
              <a:t>One real moment where a competent person could plausibly go either way. If there is no such moment, you do not have a scenario — you have an explanation.</a:t>
            </a:r>
            <a:endParaRPr lang="en-US" sz="1150" dirty="0"/>
          </a:p>
        </p:txBody>
      </p:sp>
      <p:sp>
        <p:nvSpPr>
          <p:cNvPr id="16" name="Shape 14"/>
          <p:cNvSpPr/>
          <p:nvPr/>
        </p:nvSpPr>
        <p:spPr>
          <a:xfrm>
            <a:off x="5077846" y="1700784"/>
            <a:ext cx="2036003" cy="3657600"/>
          </a:xfrm>
          <a:prstGeom prst="roundRect">
            <a:avLst>
              <a:gd name="adj" fmla="val 4042"/>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7" name="Shape 15"/>
          <p:cNvSpPr/>
          <p:nvPr/>
        </p:nvSpPr>
        <p:spPr>
          <a:xfrm>
            <a:off x="5297302" y="1920240"/>
            <a:ext cx="384048" cy="384048"/>
          </a:xfrm>
          <a:prstGeom prst="roundRect">
            <a:avLst>
              <a:gd name="adj" fmla="val 23810"/>
            </a:avLst>
          </a:prstGeom>
          <a:solidFill>
            <a:srgbClr val="ED6A2A"/>
          </a:solidFill>
          <a:ln/>
        </p:spPr>
      </p:sp>
      <p:sp>
        <p:nvSpPr>
          <p:cNvPr id="18" name="Text 16"/>
          <p:cNvSpPr/>
          <p:nvPr/>
        </p:nvSpPr>
        <p:spPr>
          <a:xfrm>
            <a:off x="5297302" y="1920240"/>
            <a:ext cx="384048" cy="384048"/>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3</a:t>
            </a:r>
            <a:endParaRPr lang="en-US" sz="1450" dirty="0"/>
          </a:p>
        </p:txBody>
      </p:sp>
      <p:sp>
        <p:nvSpPr>
          <p:cNvPr id="19" name="Text 17"/>
          <p:cNvSpPr/>
          <p:nvPr/>
        </p:nvSpPr>
        <p:spPr>
          <a:xfrm>
            <a:off x="5297302" y="2414016"/>
            <a:ext cx="1597091" cy="914400"/>
          </a:xfrm>
          <a:prstGeom prst="rect">
            <a:avLst/>
          </a:prstGeom>
          <a:noFill/>
          <a:ln/>
        </p:spPr>
        <p:txBody>
          <a:bodyPr wrap="square" lIns="0" tIns="0" rIns="0" bIns="0" rtlCol="0" anchor="t"/>
          <a:lstStyle/>
          <a:p>
            <a:pPr indent="0" marL="0">
              <a:lnSpc>
                <a:spcPts val="1900"/>
              </a:lnSpc>
              <a:buNone/>
            </a:pPr>
            <a:r>
              <a:rPr lang="en-US" sz="1500" b="1" dirty="0">
                <a:solidFill>
                  <a:srgbClr val="12161F"/>
                </a:solidFill>
                <a:latin typeface="Cambria" pitchFamily="34" charset="0"/>
                <a:ea typeface="Cambria" pitchFamily="34" charset="-122"/>
                <a:cs typeface="Cambria" pitchFamily="34" charset="-120"/>
              </a:rPr>
              <a:t>Write three options a real person would pick</a:t>
            </a:r>
            <a:endParaRPr lang="en-US" sz="1500" dirty="0"/>
          </a:p>
        </p:txBody>
      </p:sp>
      <p:sp>
        <p:nvSpPr>
          <p:cNvPr id="20" name="Text 18"/>
          <p:cNvSpPr/>
          <p:nvPr/>
        </p:nvSpPr>
        <p:spPr>
          <a:xfrm>
            <a:off x="5297302" y="3401568"/>
            <a:ext cx="1597091" cy="1792224"/>
          </a:xfrm>
          <a:prstGeom prst="rect">
            <a:avLst/>
          </a:prstGeom>
          <a:noFill/>
          <a:ln/>
        </p:spPr>
        <p:txBody>
          <a:bodyPr wrap="square" lIns="0" tIns="0" rIns="0" bIns="0" rtlCol="0" anchor="t"/>
          <a:lstStyle/>
          <a:p>
            <a:pPr indent="0" marL="0">
              <a:lnSpc>
                <a:spcPts val="1600"/>
              </a:lnSpc>
              <a:buNone/>
            </a:pPr>
            <a:r>
              <a:rPr lang="en-US" sz="1150" dirty="0">
                <a:solidFill>
                  <a:srgbClr val="5A6675"/>
                </a:solidFill>
                <a:latin typeface="Calibri" pitchFamily="34" charset="0"/>
                <a:ea typeface="Calibri" pitchFamily="34" charset="-122"/>
                <a:cs typeface="Calibri" pitchFamily="34" charset="-120"/>
              </a:rPr>
              <a:t>If one option is obviously stupid, it is not an option. It is filler, and it tells the learner the whole thing is a game.</a:t>
            </a:r>
            <a:endParaRPr lang="en-US" sz="1150" dirty="0"/>
          </a:p>
        </p:txBody>
      </p:sp>
      <p:sp>
        <p:nvSpPr>
          <p:cNvPr id="21" name="Shape 19"/>
          <p:cNvSpPr/>
          <p:nvPr/>
        </p:nvSpPr>
        <p:spPr>
          <a:xfrm>
            <a:off x="7333305" y="1700784"/>
            <a:ext cx="2036003" cy="3657600"/>
          </a:xfrm>
          <a:prstGeom prst="roundRect">
            <a:avLst>
              <a:gd name="adj" fmla="val 4042"/>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22" name="Shape 20"/>
          <p:cNvSpPr/>
          <p:nvPr/>
        </p:nvSpPr>
        <p:spPr>
          <a:xfrm>
            <a:off x="7552761" y="1920240"/>
            <a:ext cx="384048" cy="384048"/>
          </a:xfrm>
          <a:prstGeom prst="roundRect">
            <a:avLst>
              <a:gd name="adj" fmla="val 23810"/>
            </a:avLst>
          </a:prstGeom>
          <a:solidFill>
            <a:srgbClr val="ED6A2A"/>
          </a:solidFill>
          <a:ln/>
        </p:spPr>
      </p:sp>
      <p:sp>
        <p:nvSpPr>
          <p:cNvPr id="23" name="Text 21"/>
          <p:cNvSpPr/>
          <p:nvPr/>
        </p:nvSpPr>
        <p:spPr>
          <a:xfrm>
            <a:off x="7552761" y="1920240"/>
            <a:ext cx="384048" cy="384048"/>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4</a:t>
            </a:r>
            <a:endParaRPr lang="en-US" sz="1450" dirty="0"/>
          </a:p>
        </p:txBody>
      </p:sp>
      <p:sp>
        <p:nvSpPr>
          <p:cNvPr id="24" name="Text 22"/>
          <p:cNvSpPr/>
          <p:nvPr/>
        </p:nvSpPr>
        <p:spPr>
          <a:xfrm>
            <a:off x="7552761" y="2414016"/>
            <a:ext cx="1597091" cy="914400"/>
          </a:xfrm>
          <a:prstGeom prst="rect">
            <a:avLst/>
          </a:prstGeom>
          <a:noFill/>
          <a:ln/>
        </p:spPr>
        <p:txBody>
          <a:bodyPr wrap="square" lIns="0" tIns="0" rIns="0" bIns="0" rtlCol="0" anchor="t"/>
          <a:lstStyle/>
          <a:p>
            <a:pPr indent="0" marL="0">
              <a:lnSpc>
                <a:spcPts val="1900"/>
              </a:lnSpc>
              <a:buNone/>
            </a:pPr>
            <a:r>
              <a:rPr lang="en-US" sz="1500" b="1" dirty="0">
                <a:solidFill>
                  <a:srgbClr val="12161F"/>
                </a:solidFill>
                <a:latin typeface="Cambria" pitchFamily="34" charset="0"/>
                <a:ea typeface="Cambria" pitchFamily="34" charset="-122"/>
                <a:cs typeface="Cambria" pitchFamily="34" charset="-120"/>
              </a:rPr>
              <a:t>Write feedback as consequence</a:t>
            </a:r>
            <a:endParaRPr lang="en-US" sz="1500" dirty="0"/>
          </a:p>
        </p:txBody>
      </p:sp>
      <p:sp>
        <p:nvSpPr>
          <p:cNvPr id="25" name="Text 23"/>
          <p:cNvSpPr/>
          <p:nvPr/>
        </p:nvSpPr>
        <p:spPr>
          <a:xfrm>
            <a:off x="7552761" y="3401568"/>
            <a:ext cx="1597091" cy="1792224"/>
          </a:xfrm>
          <a:prstGeom prst="rect">
            <a:avLst/>
          </a:prstGeom>
          <a:noFill/>
          <a:ln/>
        </p:spPr>
        <p:txBody>
          <a:bodyPr wrap="square" lIns="0" tIns="0" rIns="0" bIns="0" rtlCol="0" anchor="t"/>
          <a:lstStyle/>
          <a:p>
            <a:pPr indent="0" marL="0">
              <a:lnSpc>
                <a:spcPts val="1600"/>
              </a:lnSpc>
              <a:buNone/>
            </a:pPr>
            <a:r>
              <a:rPr lang="en-US" sz="1150" dirty="0">
                <a:solidFill>
                  <a:srgbClr val="5A6675"/>
                </a:solidFill>
                <a:latin typeface="Calibri" pitchFamily="34" charset="0"/>
                <a:ea typeface="Calibri" pitchFamily="34" charset="-122"/>
                <a:cs typeface="Calibri" pitchFamily="34" charset="-120"/>
              </a:rPr>
              <a:t>What happens next, in the character’s voice. Not a verdict on the learner. The character answers; the course does not grade.</a:t>
            </a:r>
            <a:endParaRPr lang="en-US" sz="1150" dirty="0"/>
          </a:p>
        </p:txBody>
      </p:sp>
      <p:sp>
        <p:nvSpPr>
          <p:cNvPr id="26" name="Shape 24"/>
          <p:cNvSpPr/>
          <p:nvPr/>
        </p:nvSpPr>
        <p:spPr>
          <a:xfrm>
            <a:off x="9588764" y="1700784"/>
            <a:ext cx="2036003" cy="3657600"/>
          </a:xfrm>
          <a:prstGeom prst="roundRect">
            <a:avLst>
              <a:gd name="adj" fmla="val 4042"/>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27" name="Shape 25"/>
          <p:cNvSpPr/>
          <p:nvPr/>
        </p:nvSpPr>
        <p:spPr>
          <a:xfrm>
            <a:off x="9808220" y="1920240"/>
            <a:ext cx="384048" cy="384048"/>
          </a:xfrm>
          <a:prstGeom prst="roundRect">
            <a:avLst>
              <a:gd name="adj" fmla="val 23810"/>
            </a:avLst>
          </a:prstGeom>
          <a:solidFill>
            <a:srgbClr val="ED6A2A"/>
          </a:solidFill>
          <a:ln/>
        </p:spPr>
      </p:sp>
      <p:sp>
        <p:nvSpPr>
          <p:cNvPr id="28" name="Text 26"/>
          <p:cNvSpPr/>
          <p:nvPr/>
        </p:nvSpPr>
        <p:spPr>
          <a:xfrm>
            <a:off x="9808220" y="1920240"/>
            <a:ext cx="384048" cy="384048"/>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5</a:t>
            </a:r>
            <a:endParaRPr lang="en-US" sz="1450" dirty="0"/>
          </a:p>
        </p:txBody>
      </p:sp>
      <p:sp>
        <p:nvSpPr>
          <p:cNvPr id="29" name="Text 27"/>
          <p:cNvSpPr/>
          <p:nvPr/>
        </p:nvSpPr>
        <p:spPr>
          <a:xfrm>
            <a:off x="9808220" y="2414016"/>
            <a:ext cx="1597091" cy="914400"/>
          </a:xfrm>
          <a:prstGeom prst="rect">
            <a:avLst/>
          </a:prstGeom>
          <a:noFill/>
          <a:ln/>
        </p:spPr>
        <p:txBody>
          <a:bodyPr wrap="square" lIns="0" tIns="0" rIns="0" bIns="0" rtlCol="0" anchor="t"/>
          <a:lstStyle/>
          <a:p>
            <a:pPr indent="0" marL="0">
              <a:lnSpc>
                <a:spcPts val="1900"/>
              </a:lnSpc>
              <a:buNone/>
            </a:pPr>
            <a:r>
              <a:rPr lang="en-US" sz="1500" b="1" dirty="0">
                <a:solidFill>
                  <a:srgbClr val="12161F"/>
                </a:solidFill>
                <a:latin typeface="Cambria" pitchFamily="34" charset="0"/>
                <a:ea typeface="Cambria" pitchFamily="34" charset="-122"/>
                <a:cs typeface="Cambria" pitchFamily="34" charset="-120"/>
              </a:rPr>
              <a:t>Give the wrong turn a way back</a:t>
            </a:r>
            <a:endParaRPr lang="en-US" sz="1500" dirty="0"/>
          </a:p>
        </p:txBody>
      </p:sp>
      <p:sp>
        <p:nvSpPr>
          <p:cNvPr id="30" name="Text 28"/>
          <p:cNvSpPr/>
          <p:nvPr/>
        </p:nvSpPr>
        <p:spPr>
          <a:xfrm>
            <a:off x="9808220" y="3401568"/>
            <a:ext cx="1597091" cy="1792224"/>
          </a:xfrm>
          <a:prstGeom prst="rect">
            <a:avLst/>
          </a:prstGeom>
          <a:noFill/>
          <a:ln/>
        </p:spPr>
        <p:txBody>
          <a:bodyPr wrap="square" lIns="0" tIns="0" rIns="0" bIns="0" rtlCol="0" anchor="t"/>
          <a:lstStyle/>
          <a:p>
            <a:pPr indent="0" marL="0">
              <a:lnSpc>
                <a:spcPts val="1600"/>
              </a:lnSpc>
              <a:buNone/>
            </a:pPr>
            <a:r>
              <a:rPr lang="en-US" sz="1150" dirty="0">
                <a:solidFill>
                  <a:srgbClr val="5A6675"/>
                </a:solidFill>
                <a:latin typeface="Calibri" pitchFamily="34" charset="0"/>
                <a:ea typeface="Calibri" pitchFamily="34" charset="-122"/>
                <a:cs typeface="Calibri" pitchFamily="34" charset="-120"/>
              </a:rPr>
              <a:t>A Text scene that names the consequence, then Try again. A scenario without one is a trap, and traps teach people to stop trying.</a:t>
            </a:r>
            <a:endParaRPr lang="en-US" sz="1150" dirty="0"/>
          </a:p>
        </p:txBody>
      </p:sp>
      <p:sp>
        <p:nvSpPr>
          <p:cNvPr id="31" name="Shape 29"/>
          <p:cNvSpPr/>
          <p:nvPr/>
        </p:nvSpPr>
        <p:spPr>
          <a:xfrm>
            <a:off x="566928" y="5468112"/>
            <a:ext cx="11057839" cy="548640"/>
          </a:xfrm>
          <a:prstGeom prst="roundRect">
            <a:avLst>
              <a:gd name="adj" fmla="val 15000"/>
            </a:avLst>
          </a:prstGeom>
          <a:solidFill>
            <a:srgbClr val="FFF4EE"/>
          </a:solidFill>
          <a:ln w="9525">
            <a:solidFill>
              <a:srgbClr val="F6C7AC"/>
            </a:solidFill>
            <a:prstDash val="solid"/>
          </a:ln>
        </p:spPr>
      </p:sp>
      <p:sp>
        <p:nvSpPr>
          <p:cNvPr id="32" name="Text 30"/>
          <p:cNvSpPr/>
          <p:nvPr/>
        </p:nvSpPr>
        <p:spPr>
          <a:xfrm>
            <a:off x="914400" y="5468112"/>
            <a:ext cx="10362895" cy="548640"/>
          </a:xfrm>
          <a:prstGeom prst="rect">
            <a:avLst/>
          </a:prstGeom>
          <a:noFill/>
          <a:ln/>
        </p:spPr>
        <p:txBody>
          <a:bodyPr wrap="square" lIns="0" tIns="0" rIns="0" bIns="0" rtlCol="0" anchor="ctr"/>
          <a:lstStyle/>
          <a:p>
            <a:pPr indent="0" marL="0">
              <a:lnSpc>
                <a:spcPts val="1700"/>
              </a:lnSpc>
              <a:buNone/>
            </a:pPr>
            <a:r>
              <a:rPr lang="en-US" sz="1250" dirty="0">
                <a:solidFill>
                  <a:srgbClr val="7A3F1C"/>
                </a:solidFill>
                <a:latin typeface="Calibri" pitchFamily="34" charset="0"/>
                <a:ea typeface="Calibri" pitchFamily="34" charset="-122"/>
                <a:cs typeface="Calibri" pitchFamily="34" charset="-120"/>
              </a:rPr>
              <a:t>Steps 1 to 3 happen on paper, away from Rise. Building a written scenario takes about ten minutes; writing one in the editor takes an afternoon and reads like it.</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The character answers. The course does not grade.</a:t>
            </a:r>
            <a:endParaRPr lang="en-US" sz="3000" dirty="0"/>
          </a:p>
        </p:txBody>
      </p:sp>
      <p:sp>
        <p:nvSpPr>
          <p:cNvPr id="3" name="Text 1"/>
          <p:cNvSpPr/>
          <p:nvPr/>
        </p:nvSpPr>
        <p:spPr>
          <a:xfrm>
            <a:off x="566928" y="1005840"/>
            <a:ext cx="9067428"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Scenario feedback is the hardest writing in the block, and the easiest to get wrong.</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4  ·  Decide, then ship</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15</a:t>
            </a:r>
            <a:endParaRPr lang="en-US" sz="950" dirty="0"/>
          </a:p>
        </p:txBody>
      </p:sp>
      <p:sp>
        <p:nvSpPr>
          <p:cNvPr id="6" name="Shape 4"/>
          <p:cNvSpPr/>
          <p:nvPr/>
        </p:nvSpPr>
        <p:spPr>
          <a:xfrm>
            <a:off x="566928" y="1664208"/>
            <a:ext cx="5254600" cy="3877056"/>
          </a:xfrm>
          <a:prstGeom prst="roundRect">
            <a:avLst>
              <a:gd name="adj" fmla="val 2123"/>
            </a:avLst>
          </a:prstGeom>
          <a:solidFill>
            <a:srgbClr val="FFF1EC"/>
          </a:solidFill>
          <a:ln w="9525">
            <a:solidFill>
              <a:srgbClr val="F3C9BC"/>
            </a:solidFill>
            <a:prstDash val="solid"/>
          </a:ln>
          <a:effectLst>
            <a:outerShdw sx="100000" sy="100000" kx="0" ky="0" algn="bl" rotWithShape="0" blurRad="177800" dist="38100" dir="5400000">
              <a:srgbClr val="9AA6B4">
                <a:alpha val="32000"/>
              </a:srgbClr>
            </a:outerShdw>
          </a:effectLst>
        </p:spPr>
      </p:sp>
      <p:sp>
        <p:nvSpPr>
          <p:cNvPr id="7" name="Text 5"/>
          <p:cNvSpPr/>
          <p:nvPr/>
        </p:nvSpPr>
        <p:spPr>
          <a:xfrm>
            <a:off x="932688" y="1883664"/>
            <a:ext cx="4523080" cy="274320"/>
          </a:xfrm>
          <a:prstGeom prst="rect">
            <a:avLst/>
          </a:prstGeom>
          <a:noFill/>
          <a:ln/>
        </p:spPr>
        <p:txBody>
          <a:bodyPr wrap="square" lIns="0" tIns="0" rIns="0" bIns="0" rtlCol="0" anchor="ctr"/>
          <a:lstStyle/>
          <a:p>
            <a:pPr indent="0" marL="0">
              <a:buNone/>
            </a:pPr>
            <a:r>
              <a:rPr lang="en-US" sz="1100" b="1" spc="180" kern="0" dirty="0">
                <a:solidFill>
                  <a:srgbClr val="B4441F"/>
                </a:solidFill>
                <a:latin typeface="Calibri" pitchFamily="34" charset="0"/>
                <a:ea typeface="Calibri" pitchFamily="34" charset="-122"/>
                <a:cs typeface="Calibri" pitchFamily="34" charset="-120"/>
              </a:rPr>
              <a:t>A COURSE MARKING A LEARNER</a:t>
            </a:r>
            <a:endParaRPr lang="en-US" sz="1100" dirty="0"/>
          </a:p>
        </p:txBody>
      </p:sp>
      <p:sp>
        <p:nvSpPr>
          <p:cNvPr id="8" name="Shape 6"/>
          <p:cNvSpPr/>
          <p:nvPr/>
        </p:nvSpPr>
        <p:spPr>
          <a:xfrm>
            <a:off x="6370168" y="1664208"/>
            <a:ext cx="5254600" cy="3877056"/>
          </a:xfrm>
          <a:prstGeom prst="roundRect">
            <a:avLst>
              <a:gd name="adj" fmla="val 2123"/>
            </a:avLst>
          </a:prstGeom>
          <a:solidFill>
            <a:srgbClr val="EEF7F2"/>
          </a:solidFill>
          <a:ln w="9525">
            <a:solidFill>
              <a:srgbClr val="C3E0D2"/>
            </a:solidFill>
            <a:prstDash val="solid"/>
          </a:ln>
          <a:effectLst>
            <a:outerShdw sx="100000" sy="100000" kx="0" ky="0" algn="bl" rotWithShape="0" blurRad="177800" dist="38100" dir="5400000">
              <a:srgbClr val="9AA6B4">
                <a:alpha val="32000"/>
              </a:srgbClr>
            </a:outerShdw>
          </a:effectLst>
        </p:spPr>
      </p:sp>
      <p:sp>
        <p:nvSpPr>
          <p:cNvPr id="9" name="Text 7"/>
          <p:cNvSpPr/>
          <p:nvPr/>
        </p:nvSpPr>
        <p:spPr>
          <a:xfrm>
            <a:off x="6735928" y="1883664"/>
            <a:ext cx="4523080" cy="274320"/>
          </a:xfrm>
          <a:prstGeom prst="rect">
            <a:avLst/>
          </a:prstGeom>
          <a:noFill/>
          <a:ln/>
        </p:spPr>
        <p:txBody>
          <a:bodyPr wrap="square" lIns="0" tIns="0" rIns="0" bIns="0" rtlCol="0" anchor="ctr"/>
          <a:lstStyle/>
          <a:p>
            <a:pPr indent="0" marL="0">
              <a:buNone/>
            </a:pPr>
            <a:r>
              <a:rPr lang="en-US" sz="1100" b="1" spc="180" kern="0" dirty="0">
                <a:solidFill>
                  <a:srgbClr val="2E7D5B"/>
                </a:solidFill>
                <a:latin typeface="Calibri" pitchFamily="34" charset="0"/>
                <a:ea typeface="Calibri" pitchFamily="34" charset="-122"/>
                <a:cs typeface="Calibri" pitchFamily="34" charset="-120"/>
              </a:rPr>
              <a:t>A PERSON REACTING</a:t>
            </a:r>
            <a:endParaRPr lang="en-US" sz="1100" dirty="0"/>
          </a:p>
        </p:txBody>
      </p:sp>
      <p:sp>
        <p:nvSpPr>
          <p:cNvPr id="10" name="Text 8"/>
          <p:cNvSpPr/>
          <p:nvPr/>
        </p:nvSpPr>
        <p:spPr>
          <a:xfrm>
            <a:off x="932688" y="2304288"/>
            <a:ext cx="4523080" cy="914400"/>
          </a:xfrm>
          <a:prstGeom prst="rect">
            <a:avLst/>
          </a:prstGeom>
          <a:noFill/>
          <a:ln/>
        </p:spPr>
        <p:txBody>
          <a:bodyPr wrap="square" lIns="0" tIns="0" rIns="0" bIns="0" rtlCol="0" anchor="t"/>
          <a:lstStyle/>
          <a:p>
            <a:pPr indent="0" marL="0">
              <a:lnSpc>
                <a:spcPts val="2000"/>
              </a:lnSpc>
              <a:buNone/>
            </a:pPr>
            <a:r>
              <a:rPr lang="en-US" sz="1400" dirty="0">
                <a:solidFill>
                  <a:srgbClr val="B4441F"/>
                </a:solidFill>
                <a:latin typeface="Calibri" pitchFamily="34" charset="0"/>
                <a:ea typeface="Calibri" pitchFamily="34" charset="-122"/>
                <a:cs typeface="Calibri" pitchFamily="34" charset="-120"/>
              </a:rPr>
              <a:t>Incorrect. Try again.</a:t>
            </a:r>
            <a:endParaRPr lang="en-US" sz="1400" dirty="0"/>
          </a:p>
        </p:txBody>
      </p:sp>
      <p:sp>
        <p:nvSpPr>
          <p:cNvPr id="11" name="Text 9"/>
          <p:cNvSpPr/>
          <p:nvPr/>
        </p:nvSpPr>
        <p:spPr>
          <a:xfrm>
            <a:off x="6735928" y="2304288"/>
            <a:ext cx="4523080" cy="914400"/>
          </a:xfrm>
          <a:prstGeom prst="rect">
            <a:avLst/>
          </a:prstGeom>
          <a:noFill/>
          <a:ln/>
        </p:spPr>
        <p:txBody>
          <a:bodyPr wrap="square" lIns="0" tIns="0" rIns="0" bIns="0" rtlCol="0" anchor="t"/>
          <a:lstStyle/>
          <a:p>
            <a:pPr indent="0" marL="0">
              <a:lnSpc>
                <a:spcPts val="2000"/>
              </a:lnSpc>
              <a:buNone/>
            </a:pPr>
            <a:r>
              <a:rPr lang="en-US" sz="1400" i="1" dirty="0">
                <a:solidFill>
                  <a:srgbClr val="1F5E42"/>
                </a:solidFill>
                <a:latin typeface="Calibri" pitchFamily="34" charset="0"/>
                <a:ea typeface="Calibri" pitchFamily="34" charset="-122"/>
                <a:cs typeface="Calibri" pitchFamily="34" charset="-120"/>
              </a:rPr>
              <a:t>“…Right. Okay. What do you want me to say?”</a:t>
            </a:r>
            <a:endParaRPr lang="en-US" sz="1400" dirty="0"/>
          </a:p>
        </p:txBody>
      </p:sp>
      <p:sp>
        <p:nvSpPr>
          <p:cNvPr id="12" name="Text 10"/>
          <p:cNvSpPr/>
          <p:nvPr/>
        </p:nvSpPr>
        <p:spPr>
          <a:xfrm>
            <a:off x="932688" y="3346704"/>
            <a:ext cx="4523080" cy="914400"/>
          </a:xfrm>
          <a:prstGeom prst="rect">
            <a:avLst/>
          </a:prstGeom>
          <a:noFill/>
          <a:ln/>
        </p:spPr>
        <p:txBody>
          <a:bodyPr wrap="square" lIns="0" tIns="0" rIns="0" bIns="0" rtlCol="0" anchor="t"/>
          <a:lstStyle/>
          <a:p>
            <a:pPr indent="0" marL="0">
              <a:lnSpc>
                <a:spcPts val="2000"/>
              </a:lnSpc>
              <a:buNone/>
            </a:pPr>
            <a:r>
              <a:rPr lang="en-US" sz="1400" dirty="0">
                <a:solidFill>
                  <a:srgbClr val="B4441F"/>
                </a:solidFill>
                <a:latin typeface="Calibri" pitchFamily="34" charset="0"/>
                <a:ea typeface="Calibri" pitchFamily="34" charset="-122"/>
                <a:cs typeface="Calibri" pitchFamily="34" charset="-120"/>
              </a:rPr>
              <a:t>That was the rude option.</a:t>
            </a:r>
            <a:endParaRPr lang="en-US" sz="1400" dirty="0"/>
          </a:p>
        </p:txBody>
      </p:sp>
      <p:sp>
        <p:nvSpPr>
          <p:cNvPr id="13" name="Text 11"/>
          <p:cNvSpPr/>
          <p:nvPr/>
        </p:nvSpPr>
        <p:spPr>
          <a:xfrm>
            <a:off x="6735928" y="3346704"/>
            <a:ext cx="4523080" cy="914400"/>
          </a:xfrm>
          <a:prstGeom prst="rect">
            <a:avLst/>
          </a:prstGeom>
          <a:noFill/>
          <a:ln/>
        </p:spPr>
        <p:txBody>
          <a:bodyPr wrap="square" lIns="0" tIns="0" rIns="0" bIns="0" rtlCol="0" anchor="t"/>
          <a:lstStyle/>
          <a:p>
            <a:pPr indent="0" marL="0">
              <a:lnSpc>
                <a:spcPts val="2000"/>
              </a:lnSpc>
              <a:buNone/>
            </a:pPr>
            <a:r>
              <a:rPr lang="en-US" sz="1400" i="1" dirty="0">
                <a:solidFill>
                  <a:srgbClr val="1F5E42"/>
                </a:solidFill>
                <a:latin typeface="Calibri" pitchFamily="34" charset="0"/>
                <a:ea typeface="Calibri" pitchFamily="34" charset="-122"/>
                <a:cs typeface="Calibri" pitchFamily="34" charset="-120"/>
              </a:rPr>
              <a:t>“Great — I’m heads-down on the launch, so I’ll crack on.”</a:t>
            </a:r>
            <a:endParaRPr lang="en-US" sz="1400" dirty="0"/>
          </a:p>
        </p:txBody>
      </p:sp>
      <p:sp>
        <p:nvSpPr>
          <p:cNvPr id="14" name="Text 12"/>
          <p:cNvSpPr/>
          <p:nvPr/>
        </p:nvSpPr>
        <p:spPr>
          <a:xfrm>
            <a:off x="932688" y="4389120"/>
            <a:ext cx="4523080" cy="914400"/>
          </a:xfrm>
          <a:prstGeom prst="rect">
            <a:avLst/>
          </a:prstGeom>
          <a:noFill/>
          <a:ln/>
        </p:spPr>
        <p:txBody>
          <a:bodyPr wrap="square" lIns="0" tIns="0" rIns="0" bIns="0" rtlCol="0" anchor="t"/>
          <a:lstStyle/>
          <a:p>
            <a:pPr indent="0" marL="0">
              <a:lnSpc>
                <a:spcPts val="2000"/>
              </a:lnSpc>
              <a:buNone/>
            </a:pPr>
            <a:r>
              <a:rPr lang="en-US" sz="1400" dirty="0">
                <a:solidFill>
                  <a:srgbClr val="B4441F"/>
                </a:solidFill>
                <a:latin typeface="Calibri" pitchFamily="34" charset="0"/>
                <a:ea typeface="Calibri" pitchFamily="34" charset="-122"/>
                <a:cs typeface="Calibri" pitchFamily="34" charset="-120"/>
              </a:rPr>
              <a:t>Correct! Well done.</a:t>
            </a:r>
            <a:endParaRPr lang="en-US" sz="1400" dirty="0"/>
          </a:p>
        </p:txBody>
      </p:sp>
      <p:sp>
        <p:nvSpPr>
          <p:cNvPr id="15" name="Text 13"/>
          <p:cNvSpPr/>
          <p:nvPr/>
        </p:nvSpPr>
        <p:spPr>
          <a:xfrm>
            <a:off x="6735928" y="4389120"/>
            <a:ext cx="4523080" cy="914400"/>
          </a:xfrm>
          <a:prstGeom prst="rect">
            <a:avLst/>
          </a:prstGeom>
          <a:noFill/>
          <a:ln/>
        </p:spPr>
        <p:txBody>
          <a:bodyPr wrap="square" lIns="0" tIns="0" rIns="0" bIns="0" rtlCol="0" anchor="t"/>
          <a:lstStyle/>
          <a:p>
            <a:pPr indent="0" marL="0">
              <a:lnSpc>
                <a:spcPts val="2000"/>
              </a:lnSpc>
              <a:buNone/>
            </a:pPr>
            <a:r>
              <a:rPr lang="en-US" sz="1400" i="1" dirty="0">
                <a:solidFill>
                  <a:srgbClr val="1F5E42"/>
                </a:solidFill>
                <a:latin typeface="Calibri" pitchFamily="34" charset="0"/>
                <a:ea typeface="Calibri" pitchFamily="34" charset="-122"/>
                <a:cs typeface="Calibri" pitchFamily="34" charset="-120"/>
              </a:rPr>
              <a:t>“Yeah. I got stuck on the pricing section and didn’t want to send something half-finished.”</a:t>
            </a:r>
            <a:endParaRPr lang="en-US" sz="1400" dirty="0"/>
          </a:p>
        </p:txBody>
      </p:sp>
      <p:sp>
        <p:nvSpPr>
          <p:cNvPr id="16" name="Shape 14"/>
          <p:cNvSpPr/>
          <p:nvPr/>
        </p:nvSpPr>
        <p:spPr>
          <a:xfrm>
            <a:off x="566928" y="5669280"/>
            <a:ext cx="11057839" cy="493776"/>
          </a:xfrm>
          <a:prstGeom prst="roundRect">
            <a:avLst>
              <a:gd name="adj" fmla="val 16667"/>
            </a:avLst>
          </a:prstGeom>
          <a:solidFill>
            <a:srgbClr val="FFF4EE"/>
          </a:solidFill>
          <a:ln w="9525">
            <a:solidFill>
              <a:srgbClr val="F6C7AC"/>
            </a:solidFill>
            <a:prstDash val="solid"/>
          </a:ln>
        </p:spPr>
      </p:sp>
      <p:sp>
        <p:nvSpPr>
          <p:cNvPr id="17" name="Shape 15"/>
          <p:cNvSpPr/>
          <p:nvPr/>
        </p:nvSpPr>
        <p:spPr>
          <a:xfrm>
            <a:off x="786384" y="5815584"/>
            <a:ext cx="201168" cy="201168"/>
          </a:xfrm>
          <a:prstGeom prst="ellipse">
            <a:avLst/>
          </a:prstGeom>
          <a:solidFill>
            <a:srgbClr val="ED6A2A"/>
          </a:solidFill>
          <a:ln/>
        </p:spPr>
      </p:sp>
      <p:sp>
        <p:nvSpPr>
          <p:cNvPr id="18" name="Text 16"/>
          <p:cNvSpPr/>
          <p:nvPr/>
        </p:nvSpPr>
        <p:spPr>
          <a:xfrm>
            <a:off x="1115568" y="5669280"/>
            <a:ext cx="10253167" cy="493776"/>
          </a:xfrm>
          <a:prstGeom prst="rect">
            <a:avLst/>
          </a:prstGeom>
          <a:noFill/>
          <a:ln/>
        </p:spPr>
        <p:txBody>
          <a:bodyPr wrap="square" lIns="0" tIns="0" rIns="0" bIns="0" rtlCol="0" anchor="ctr"/>
          <a:lstStyle/>
          <a:p>
            <a:pPr indent="0" marL="0">
              <a:lnSpc>
                <a:spcPts val="1700"/>
              </a:lnSpc>
              <a:buNone/>
            </a:pPr>
            <a:r>
              <a:rPr lang="en-US" sz="1200" dirty="0">
                <a:solidFill>
                  <a:srgbClr val="7A3F1C"/>
                </a:solidFill>
                <a:latin typeface="Calibri" pitchFamily="34" charset="0"/>
                <a:ea typeface="Calibri" pitchFamily="34" charset="-122"/>
                <a:cs typeface="Calibri" pitchFamily="34" charset="-120"/>
              </a:rPr>
              <a:t>If your feedback could be pasted into any scenario in any course, it is not feedback. It is a verdict with a costume on.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161F"/>
        </a:solidFill>
      </p:bgPr>
    </p:bg>
    <p:spTree>
      <p:nvGrpSpPr>
        <p:cNvPr id="1" name=""/>
        <p:cNvGrpSpPr/>
        <p:nvPr/>
      </p:nvGrpSpPr>
      <p:grpSpPr>
        <a:xfrm>
          <a:off x="0" y="0"/>
          <a:ext cx="0" cy="0"/>
          <a:chOff x="0" y="0"/>
          <a:chExt cx="0" cy="0"/>
        </a:xfrm>
      </p:grpSpPr>
      <p:sp>
        <p:nvSpPr>
          <p:cNvPr id="2" name="Text 0"/>
          <p:cNvSpPr/>
          <p:nvPr/>
        </p:nvSpPr>
        <p:spPr>
          <a:xfrm>
            <a:off x="566928" y="2148840"/>
            <a:ext cx="6634704" cy="274320"/>
          </a:xfrm>
          <a:prstGeom prst="rect">
            <a:avLst/>
          </a:prstGeom>
          <a:noFill/>
          <a:ln/>
        </p:spPr>
        <p:txBody>
          <a:bodyPr wrap="square" lIns="0" tIns="0" rIns="0" bIns="0" rtlCol="0" anchor="ctr"/>
          <a:lstStyle/>
          <a:p>
            <a:pPr indent="0" marL="0">
              <a:buNone/>
            </a:pPr>
            <a:r>
              <a:rPr lang="en-US" sz="1200" b="1" spc="220" kern="0" dirty="0">
                <a:solidFill>
                  <a:srgbClr val="ED6A2A"/>
                </a:solidFill>
                <a:latin typeface="Calibri" pitchFamily="34" charset="0"/>
                <a:ea typeface="Calibri" pitchFamily="34" charset="-122"/>
                <a:cs typeface="Calibri" pitchFamily="34" charset="-120"/>
              </a:rPr>
              <a:t>SECTION THREE</a:t>
            </a:r>
            <a:endParaRPr lang="en-US" sz="1200" dirty="0"/>
          </a:p>
        </p:txBody>
      </p:sp>
      <p:sp>
        <p:nvSpPr>
          <p:cNvPr id="3" name="Text 1"/>
          <p:cNvSpPr/>
          <p:nvPr/>
        </p:nvSpPr>
        <p:spPr>
          <a:xfrm>
            <a:off x="566928" y="2487168"/>
            <a:ext cx="6855860" cy="10515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Watch me</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build one</a:t>
            </a:r>
            <a:endParaRPr lang="en-US" sz="4000" dirty="0"/>
          </a:p>
        </p:txBody>
      </p:sp>
      <p:sp>
        <p:nvSpPr>
          <p:cNvPr id="4" name="Text 2"/>
          <p:cNvSpPr/>
          <p:nvPr/>
        </p:nvSpPr>
        <p:spPr>
          <a:xfrm>
            <a:off x="566928" y="3712464"/>
            <a:ext cx="5971233" cy="822960"/>
          </a:xfrm>
          <a:prstGeom prst="rect">
            <a:avLst/>
          </a:prstGeom>
          <a:noFill/>
          <a:ln/>
        </p:spPr>
        <p:txBody>
          <a:bodyPr wrap="square" lIns="0" tIns="0" rIns="0" bIns="0" rtlCol="0" anchor="t"/>
          <a:lstStyle/>
          <a:p>
            <a:pPr indent="0" marL="0">
              <a:lnSpc>
                <a:spcPts val="2200"/>
              </a:lnSpc>
              <a:buNone/>
            </a:pPr>
            <a:r>
              <a:rPr lang="en-US" sz="1450" dirty="0">
                <a:solidFill>
                  <a:srgbClr val="A9B3C0"/>
                </a:solidFill>
                <a:latin typeface="Calibri" pitchFamily="34" charset="0"/>
                <a:ea typeface="Calibri" pitchFamily="34" charset="-122"/>
                <a:cs typeface="Calibri" pitchFamily="34" charset="-120"/>
              </a:rPr>
              <a:t>A blank course to a live link in forty-five minutes. Two lessons, a quiz, nothing skipped — including the parts that go wrong.</a:t>
            </a:r>
            <a:endParaRPr lang="en-US" sz="1450" dirty="0"/>
          </a:p>
        </p:txBody>
      </p:sp>
      <p:sp>
        <p:nvSpPr>
          <p:cNvPr id="5" name="Shape 3"/>
          <p:cNvSpPr/>
          <p:nvPr/>
        </p:nvSpPr>
        <p:spPr>
          <a:xfrm>
            <a:off x="9338767" y="2331720"/>
            <a:ext cx="1920240" cy="475488"/>
          </a:xfrm>
          <a:prstGeom prst="roundRect">
            <a:avLst>
              <a:gd name="adj" fmla="val 15385"/>
            </a:avLst>
          </a:prstGeom>
          <a:solidFill>
            <a:srgbClr val="1C2230"/>
          </a:solidFill>
          <a:ln w="12700">
            <a:solidFill>
              <a:srgbClr val="2A3242"/>
            </a:solidFill>
            <a:prstDash val="solid"/>
          </a:ln>
        </p:spPr>
      </p:sp>
      <p:sp>
        <p:nvSpPr>
          <p:cNvPr id="6" name="Shape 4"/>
          <p:cNvSpPr/>
          <p:nvPr/>
        </p:nvSpPr>
        <p:spPr>
          <a:xfrm>
            <a:off x="9466783" y="2990088"/>
            <a:ext cx="1920240" cy="475488"/>
          </a:xfrm>
          <a:prstGeom prst="roundRect">
            <a:avLst>
              <a:gd name="adj" fmla="val 15385"/>
            </a:avLst>
          </a:prstGeom>
          <a:solidFill>
            <a:srgbClr val="1C2230"/>
          </a:solidFill>
          <a:ln w="12700">
            <a:solidFill>
              <a:srgbClr val="2A3242"/>
            </a:solidFill>
            <a:prstDash val="solid"/>
          </a:ln>
        </p:spPr>
      </p:sp>
      <p:sp>
        <p:nvSpPr>
          <p:cNvPr id="7" name="Shape 5"/>
          <p:cNvSpPr/>
          <p:nvPr/>
        </p:nvSpPr>
        <p:spPr>
          <a:xfrm>
            <a:off x="9594799" y="3648456"/>
            <a:ext cx="1920240" cy="475488"/>
          </a:xfrm>
          <a:prstGeom prst="roundRect">
            <a:avLst>
              <a:gd name="adj" fmla="val 15385"/>
            </a:avLst>
          </a:prstGeom>
          <a:solidFill>
            <a:srgbClr val="ED6A2A"/>
          </a:solidFill>
          <a:ln w="12700">
            <a:solidFill>
              <a:srgbClr val="ED6A2A"/>
            </a:solidFill>
            <a:prstDash val="solid"/>
          </a:ln>
        </p:spPr>
      </p:sp>
      <p:sp>
        <p:nvSpPr>
          <p:cNvPr id="8" name="Text 6"/>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A9B3C0"/>
                </a:solidFill>
                <a:latin typeface="Calibri" pitchFamily="34" charset="0"/>
                <a:ea typeface="Calibri" pitchFamily="34" charset="-122"/>
                <a:cs typeface="Calibri" pitchFamily="34" charset="-120"/>
              </a:rPr>
              <a:t>Rise 360  ·  Day 4  ·  Decide, then ship</a:t>
            </a:r>
            <a:endParaRPr lang="en-US" sz="950" dirty="0"/>
          </a:p>
        </p:txBody>
      </p:sp>
      <p:sp>
        <p:nvSpPr>
          <p:cNvPr id="9" name="Text 7"/>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A9B3C0"/>
                </a:solidFill>
                <a:latin typeface="Calibri" pitchFamily="34" charset="0"/>
                <a:ea typeface="Calibri" pitchFamily="34" charset="-122"/>
                <a:cs typeface="Calibri"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What you are about to watch</a:t>
            </a:r>
            <a:endParaRPr lang="en-US" sz="3000" dirty="0"/>
          </a:p>
        </p:txBody>
      </p:sp>
      <p:sp>
        <p:nvSpPr>
          <p:cNvPr id="3" name="Text 1"/>
          <p:cNvSpPr/>
          <p:nvPr/>
        </p:nvSpPr>
        <p:spPr>
          <a:xfrm>
            <a:off x="566928" y="1005840"/>
            <a:ext cx="9067428"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Nine blocks and four questions. Small enough to finish, real enough to matter.</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4  ·  Decide, then ship</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17</a:t>
            </a:r>
            <a:endParaRPr lang="en-US" sz="950" dirty="0"/>
          </a:p>
        </p:txBody>
      </p:sp>
      <p:sp>
        <p:nvSpPr>
          <p:cNvPr id="6" name="Shape 4"/>
          <p:cNvSpPr/>
          <p:nvPr/>
        </p:nvSpPr>
        <p:spPr>
          <a:xfrm>
            <a:off x="566928" y="1700784"/>
            <a:ext cx="3503066" cy="3291840"/>
          </a:xfrm>
          <a:prstGeom prst="roundRect">
            <a:avLst>
              <a:gd name="adj" fmla="val 2500"/>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7" name="Shape 5"/>
          <p:cNvSpPr/>
          <p:nvPr/>
        </p:nvSpPr>
        <p:spPr>
          <a:xfrm>
            <a:off x="859536" y="1938528"/>
            <a:ext cx="1005840" cy="274320"/>
          </a:xfrm>
          <a:prstGeom prst="roundRect">
            <a:avLst>
              <a:gd name="adj" fmla="val 50000"/>
            </a:avLst>
          </a:prstGeom>
          <a:solidFill>
            <a:srgbClr val="12161F"/>
          </a:solidFill>
          <a:ln/>
        </p:spPr>
      </p:sp>
      <p:sp>
        <p:nvSpPr>
          <p:cNvPr id="8" name="Text 6"/>
          <p:cNvSpPr/>
          <p:nvPr/>
        </p:nvSpPr>
        <p:spPr>
          <a:xfrm>
            <a:off x="859536" y="1938528"/>
            <a:ext cx="1005840" cy="274320"/>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alibri" pitchFamily="34" charset="0"/>
                <a:ea typeface="Calibri" pitchFamily="34" charset="-122"/>
                <a:cs typeface="Calibri" pitchFamily="34" charset="-120"/>
              </a:rPr>
              <a:t>read</a:t>
            </a:r>
            <a:endParaRPr lang="en-US" sz="1000" dirty="0"/>
          </a:p>
        </p:txBody>
      </p:sp>
      <p:sp>
        <p:nvSpPr>
          <p:cNvPr id="9" name="Text 7"/>
          <p:cNvSpPr/>
          <p:nvPr/>
        </p:nvSpPr>
        <p:spPr>
          <a:xfrm>
            <a:off x="1993392" y="1901952"/>
            <a:ext cx="1765706" cy="329184"/>
          </a:xfrm>
          <a:prstGeom prst="rect">
            <a:avLst/>
          </a:prstGeom>
          <a:noFill/>
          <a:ln/>
        </p:spPr>
        <p:txBody>
          <a:bodyPr wrap="square" lIns="0" tIns="0" rIns="0" bIns="0" rtlCol="0" anchor="ctr"/>
          <a:lstStyle/>
          <a:p>
            <a:pPr indent="0" marL="0">
              <a:buNone/>
            </a:pPr>
            <a:r>
              <a:rPr lang="en-US" sz="1100" b="1" spc="140" kern="0" dirty="0">
                <a:solidFill>
                  <a:srgbClr val="5A6675"/>
                </a:solidFill>
                <a:latin typeface="Calibri" pitchFamily="34" charset="0"/>
                <a:ea typeface="Calibri" pitchFamily="34" charset="-122"/>
                <a:cs typeface="Calibri" pitchFamily="34" charset="-120"/>
              </a:rPr>
              <a:t>Lesson 1</a:t>
            </a:r>
            <a:endParaRPr lang="en-US" sz="1100" dirty="0"/>
          </a:p>
        </p:txBody>
      </p:sp>
      <p:sp>
        <p:nvSpPr>
          <p:cNvPr id="10" name="Text 8"/>
          <p:cNvSpPr/>
          <p:nvPr/>
        </p:nvSpPr>
        <p:spPr>
          <a:xfrm>
            <a:off x="859536" y="2377440"/>
            <a:ext cx="2917850" cy="457200"/>
          </a:xfrm>
          <a:prstGeom prst="rect">
            <a:avLst/>
          </a:prstGeom>
          <a:noFill/>
          <a:ln/>
        </p:spPr>
        <p:txBody>
          <a:bodyPr wrap="square" lIns="0" tIns="0" rIns="0" bIns="0" rtlCol="0" anchor="t"/>
          <a:lstStyle/>
          <a:p>
            <a:pPr indent="0" marL="0">
              <a:buNone/>
            </a:pPr>
            <a:r>
              <a:rPr lang="en-US" sz="1900" b="1" dirty="0">
                <a:solidFill>
                  <a:srgbClr val="12161F"/>
                </a:solidFill>
                <a:latin typeface="Cambria" pitchFamily="34" charset="0"/>
                <a:ea typeface="Cambria" pitchFamily="34" charset="-122"/>
                <a:cs typeface="Cambria" pitchFamily="34" charset="-120"/>
              </a:rPr>
              <a:t>Why feedback fails</a:t>
            </a:r>
            <a:endParaRPr lang="en-US" sz="1900" dirty="0"/>
          </a:p>
        </p:txBody>
      </p:sp>
      <p:sp>
        <p:nvSpPr>
          <p:cNvPr id="11" name="Text 9"/>
          <p:cNvSpPr/>
          <p:nvPr/>
        </p:nvSpPr>
        <p:spPr>
          <a:xfrm>
            <a:off x="859536" y="2926080"/>
            <a:ext cx="2917850" cy="1828800"/>
          </a:xfrm>
          <a:prstGeom prst="rect">
            <a:avLst/>
          </a:prstGeom>
          <a:noFill/>
          <a:ln/>
        </p:spPr>
        <p:txBody>
          <a:bodyPr wrap="square" lIns="0" tIns="0" rIns="0" bIns="0" rtlCol="0" anchor="t"/>
          <a:lstStyle/>
          <a:p>
            <a:pPr marL="342900" indent="-342900">
              <a:lnSpc>
                <a:spcPts val="2000"/>
              </a:lnSpc>
              <a:spcAft>
                <a:spcPts val="600"/>
              </a:spcAft>
              <a:buSzPct val="100000"/>
              <a:buChar char="•"/>
            </a:pPr>
            <a:r>
              <a:rPr lang="en-US" sz="1300" dirty="0">
                <a:solidFill>
                  <a:srgbClr val="5A6675"/>
                </a:solidFill>
                <a:latin typeface="Calibri" pitchFamily="34" charset="0"/>
                <a:ea typeface="Calibri" pitchFamily="34" charset="-122"/>
                <a:cs typeface="Calibri" pitchFamily="34" charset="-120"/>
              </a:rPr>
              <a:t>Heading</a:t>
            </a:r>
            <a:endParaRPr lang="en-US" sz="1300" dirty="0"/>
          </a:p>
          <a:p>
            <a:pPr marL="342900" indent="-342900">
              <a:lnSpc>
                <a:spcPts val="2000"/>
              </a:lnSpc>
              <a:spcAft>
                <a:spcPts val="600"/>
              </a:spcAft>
              <a:buSzPct val="100000"/>
              <a:buChar char="•"/>
            </a:pPr>
            <a:r>
              <a:rPr lang="en-US" sz="1300" dirty="0">
                <a:solidFill>
                  <a:srgbClr val="5A6675"/>
                </a:solidFill>
                <a:latin typeface="Calibri" pitchFamily="34" charset="0"/>
                <a:ea typeface="Calibri" pitchFamily="34" charset="-122"/>
                <a:cs typeface="Calibri" pitchFamily="34" charset="-120"/>
              </a:rPr>
              <a:t>Paragraph</a:t>
            </a:r>
            <a:endParaRPr lang="en-US" sz="1300" dirty="0"/>
          </a:p>
          <a:p>
            <a:pPr marL="342900" indent="-342900">
              <a:lnSpc>
                <a:spcPts val="2000"/>
              </a:lnSpc>
              <a:spcAft>
                <a:spcPts val="600"/>
              </a:spcAft>
              <a:buSzPct val="100000"/>
              <a:buChar char="•"/>
            </a:pPr>
            <a:r>
              <a:rPr lang="en-US" sz="1300" dirty="0">
                <a:solidFill>
                  <a:srgbClr val="5A6675"/>
                </a:solidFill>
                <a:latin typeface="Calibri" pitchFamily="34" charset="0"/>
                <a:ea typeface="Calibri" pitchFamily="34" charset="-122"/>
                <a:cs typeface="Calibri" pitchFamily="34" charset="-120"/>
              </a:rPr>
              <a:t>Statement A</a:t>
            </a:r>
            <a:endParaRPr lang="en-US" sz="1300" dirty="0"/>
          </a:p>
          <a:p>
            <a:pPr marL="342900" indent="-342900">
              <a:lnSpc>
                <a:spcPts val="2000"/>
              </a:lnSpc>
              <a:spcAft>
                <a:spcPts val="600"/>
              </a:spcAft>
              <a:buSzPct val="100000"/>
              <a:buChar char="•"/>
            </a:pPr>
            <a:r>
              <a:rPr lang="en-US" sz="1300" dirty="0">
                <a:solidFill>
                  <a:srgbClr val="5A6675"/>
                </a:solidFill>
                <a:latin typeface="Calibri" pitchFamily="34" charset="0"/>
                <a:ea typeface="Calibri" pitchFamily="34" charset="-122"/>
                <a:cs typeface="Calibri" pitchFamily="34" charset="-120"/>
              </a:rPr>
              <a:t>Numbered list</a:t>
            </a:r>
            <a:endParaRPr lang="en-US" sz="1300" dirty="0"/>
          </a:p>
          <a:p>
            <a:pPr marL="342900" indent="-342900">
              <a:lnSpc>
                <a:spcPts val="2000"/>
              </a:lnSpc>
              <a:spcAft>
                <a:spcPts val="600"/>
              </a:spcAft>
              <a:buSzPct val="100000"/>
              <a:buChar char="•"/>
            </a:pPr>
            <a:r>
              <a:rPr lang="en-US" sz="1300" dirty="0">
                <a:solidFill>
                  <a:srgbClr val="5A6675"/>
                </a:solidFill>
                <a:latin typeface="Calibri" pitchFamily="34" charset="0"/>
                <a:ea typeface="Calibri" pitchFamily="34" charset="-122"/>
                <a:cs typeface="Calibri" pitchFamily="34" charset="-120"/>
              </a:rPr>
              <a:t>Button</a:t>
            </a:r>
            <a:endParaRPr lang="en-US" sz="1300" dirty="0"/>
          </a:p>
        </p:txBody>
      </p:sp>
      <p:sp>
        <p:nvSpPr>
          <p:cNvPr id="12" name="Shape 10"/>
          <p:cNvSpPr/>
          <p:nvPr/>
        </p:nvSpPr>
        <p:spPr>
          <a:xfrm>
            <a:off x="4344314" y="1700784"/>
            <a:ext cx="3503066" cy="3291840"/>
          </a:xfrm>
          <a:prstGeom prst="roundRect">
            <a:avLst>
              <a:gd name="adj" fmla="val 2500"/>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3" name="Shape 11"/>
          <p:cNvSpPr/>
          <p:nvPr/>
        </p:nvSpPr>
        <p:spPr>
          <a:xfrm>
            <a:off x="4636922" y="1938528"/>
            <a:ext cx="1005840" cy="274320"/>
          </a:xfrm>
          <a:prstGeom prst="roundRect">
            <a:avLst>
              <a:gd name="adj" fmla="val 50000"/>
            </a:avLst>
          </a:prstGeom>
          <a:solidFill>
            <a:srgbClr val="12161F"/>
          </a:solidFill>
          <a:ln/>
        </p:spPr>
      </p:sp>
      <p:sp>
        <p:nvSpPr>
          <p:cNvPr id="14" name="Text 12"/>
          <p:cNvSpPr/>
          <p:nvPr/>
        </p:nvSpPr>
        <p:spPr>
          <a:xfrm>
            <a:off x="4636922" y="1938528"/>
            <a:ext cx="1005840" cy="274320"/>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alibri" pitchFamily="34" charset="0"/>
                <a:ea typeface="Calibri" pitchFamily="34" charset="-122"/>
                <a:cs typeface="Calibri" pitchFamily="34" charset="-120"/>
              </a:rPr>
              <a:t>do</a:t>
            </a:r>
            <a:endParaRPr lang="en-US" sz="1000" dirty="0"/>
          </a:p>
        </p:txBody>
      </p:sp>
      <p:sp>
        <p:nvSpPr>
          <p:cNvPr id="15" name="Text 13"/>
          <p:cNvSpPr/>
          <p:nvPr/>
        </p:nvSpPr>
        <p:spPr>
          <a:xfrm>
            <a:off x="5770778" y="1901952"/>
            <a:ext cx="1765706" cy="329184"/>
          </a:xfrm>
          <a:prstGeom prst="rect">
            <a:avLst/>
          </a:prstGeom>
          <a:noFill/>
          <a:ln/>
        </p:spPr>
        <p:txBody>
          <a:bodyPr wrap="square" lIns="0" tIns="0" rIns="0" bIns="0" rtlCol="0" anchor="ctr"/>
          <a:lstStyle/>
          <a:p>
            <a:pPr indent="0" marL="0">
              <a:buNone/>
            </a:pPr>
            <a:r>
              <a:rPr lang="en-US" sz="1100" b="1" spc="140" kern="0" dirty="0">
                <a:solidFill>
                  <a:srgbClr val="5A6675"/>
                </a:solidFill>
                <a:latin typeface="Calibri" pitchFamily="34" charset="0"/>
                <a:ea typeface="Calibri" pitchFamily="34" charset="-122"/>
                <a:cs typeface="Calibri" pitchFamily="34" charset="-120"/>
              </a:rPr>
              <a:t>Lesson 2</a:t>
            </a:r>
            <a:endParaRPr lang="en-US" sz="1100" dirty="0"/>
          </a:p>
        </p:txBody>
      </p:sp>
      <p:sp>
        <p:nvSpPr>
          <p:cNvPr id="16" name="Text 14"/>
          <p:cNvSpPr/>
          <p:nvPr/>
        </p:nvSpPr>
        <p:spPr>
          <a:xfrm>
            <a:off x="4636922" y="2377440"/>
            <a:ext cx="2917850" cy="457200"/>
          </a:xfrm>
          <a:prstGeom prst="rect">
            <a:avLst/>
          </a:prstGeom>
          <a:noFill/>
          <a:ln/>
        </p:spPr>
        <p:txBody>
          <a:bodyPr wrap="square" lIns="0" tIns="0" rIns="0" bIns="0" rtlCol="0" anchor="t"/>
          <a:lstStyle/>
          <a:p>
            <a:pPr indent="0" marL="0">
              <a:buNone/>
            </a:pPr>
            <a:r>
              <a:rPr lang="en-US" sz="1900" b="1" dirty="0">
                <a:solidFill>
                  <a:srgbClr val="12161F"/>
                </a:solidFill>
                <a:latin typeface="Cambria" pitchFamily="34" charset="0"/>
                <a:ea typeface="Cambria" pitchFamily="34" charset="-122"/>
                <a:cs typeface="Cambria" pitchFamily="34" charset="-120"/>
              </a:rPr>
              <a:t>Try it</a:t>
            </a:r>
            <a:endParaRPr lang="en-US" sz="1900" dirty="0"/>
          </a:p>
        </p:txBody>
      </p:sp>
      <p:sp>
        <p:nvSpPr>
          <p:cNvPr id="17" name="Text 15"/>
          <p:cNvSpPr/>
          <p:nvPr/>
        </p:nvSpPr>
        <p:spPr>
          <a:xfrm>
            <a:off x="4636922" y="2926080"/>
            <a:ext cx="2917850" cy="1828800"/>
          </a:xfrm>
          <a:prstGeom prst="rect">
            <a:avLst/>
          </a:prstGeom>
          <a:noFill/>
          <a:ln/>
        </p:spPr>
        <p:txBody>
          <a:bodyPr wrap="square" lIns="0" tIns="0" rIns="0" bIns="0" rtlCol="0" anchor="t"/>
          <a:lstStyle/>
          <a:p>
            <a:pPr marL="342900" indent="-342900">
              <a:lnSpc>
                <a:spcPts val="2000"/>
              </a:lnSpc>
              <a:spcAft>
                <a:spcPts val="600"/>
              </a:spcAft>
              <a:buSzPct val="100000"/>
              <a:buChar char="•"/>
            </a:pPr>
            <a:r>
              <a:rPr lang="en-US" sz="1300" dirty="0">
                <a:solidFill>
                  <a:srgbClr val="5A6675"/>
                </a:solidFill>
                <a:latin typeface="Calibri" pitchFamily="34" charset="0"/>
                <a:ea typeface="Calibri" pitchFamily="34" charset="-122"/>
                <a:cs typeface="Calibri" pitchFamily="34" charset="-120"/>
              </a:rPr>
              <a:t>Paragraph with heading</a:t>
            </a:r>
            <a:endParaRPr lang="en-US" sz="1300" dirty="0"/>
          </a:p>
          <a:p>
            <a:pPr marL="342900" indent="-342900">
              <a:lnSpc>
                <a:spcPts val="2000"/>
              </a:lnSpc>
              <a:spcAft>
                <a:spcPts val="600"/>
              </a:spcAft>
              <a:buSzPct val="100000"/>
              <a:buChar char="•"/>
            </a:pPr>
            <a:r>
              <a:rPr lang="en-US" sz="1300" dirty="0">
                <a:solidFill>
                  <a:srgbClr val="5A6675"/>
                </a:solidFill>
                <a:latin typeface="Calibri" pitchFamily="34" charset="0"/>
                <a:ea typeface="Calibri" pitchFamily="34" charset="-122"/>
                <a:cs typeface="Calibri" pitchFamily="34" charset="-120"/>
              </a:rPr>
              <a:t>Scenario — 3 scenes</a:t>
            </a:r>
            <a:endParaRPr lang="en-US" sz="1300" dirty="0"/>
          </a:p>
          <a:p>
            <a:pPr marL="342900" indent="-342900">
              <a:lnSpc>
                <a:spcPts val="2000"/>
              </a:lnSpc>
              <a:spcAft>
                <a:spcPts val="600"/>
              </a:spcAft>
              <a:buSzPct val="100000"/>
              <a:buChar char="•"/>
            </a:pPr>
            <a:r>
              <a:rPr lang="en-US" sz="1300" dirty="0">
                <a:solidFill>
                  <a:srgbClr val="5A6675"/>
                </a:solidFill>
                <a:latin typeface="Calibri" pitchFamily="34" charset="0"/>
                <a:ea typeface="Calibri" pitchFamily="34" charset="-122"/>
                <a:cs typeface="Calibri" pitchFamily="34" charset="-120"/>
              </a:rPr>
              <a:t>Button stack</a:t>
            </a:r>
            <a:endParaRPr lang="en-US" sz="1300" dirty="0"/>
          </a:p>
        </p:txBody>
      </p:sp>
      <p:sp>
        <p:nvSpPr>
          <p:cNvPr id="18" name="Shape 16"/>
          <p:cNvSpPr/>
          <p:nvPr/>
        </p:nvSpPr>
        <p:spPr>
          <a:xfrm>
            <a:off x="8121701" y="1700784"/>
            <a:ext cx="3503066" cy="3291840"/>
          </a:xfrm>
          <a:prstGeom prst="roundRect">
            <a:avLst>
              <a:gd name="adj" fmla="val 2500"/>
            </a:avLst>
          </a:prstGeom>
          <a:solidFill>
            <a:srgbClr val="12161F"/>
          </a:solidFill>
          <a:ln w="9525">
            <a:solidFill>
              <a:srgbClr val="12161F"/>
            </a:solidFill>
            <a:prstDash val="solid"/>
          </a:ln>
          <a:effectLst>
            <a:outerShdw sx="100000" sy="100000" kx="0" ky="0" algn="bl" rotWithShape="0" blurRad="177800" dist="38100" dir="5400000">
              <a:srgbClr val="9AA6B4">
                <a:alpha val="32000"/>
              </a:srgbClr>
            </a:outerShdw>
          </a:effectLst>
        </p:spPr>
      </p:sp>
      <p:sp>
        <p:nvSpPr>
          <p:cNvPr id="19" name="Shape 17"/>
          <p:cNvSpPr/>
          <p:nvPr/>
        </p:nvSpPr>
        <p:spPr>
          <a:xfrm>
            <a:off x="8414309" y="1938528"/>
            <a:ext cx="1005840" cy="274320"/>
          </a:xfrm>
          <a:prstGeom prst="roundRect">
            <a:avLst>
              <a:gd name="adj" fmla="val 50000"/>
            </a:avLst>
          </a:prstGeom>
          <a:solidFill>
            <a:srgbClr val="ED6A2A"/>
          </a:solidFill>
          <a:ln/>
        </p:spPr>
      </p:sp>
      <p:sp>
        <p:nvSpPr>
          <p:cNvPr id="20" name="Text 18"/>
          <p:cNvSpPr/>
          <p:nvPr/>
        </p:nvSpPr>
        <p:spPr>
          <a:xfrm>
            <a:off x="8414309" y="1938528"/>
            <a:ext cx="1005840" cy="274320"/>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alibri" pitchFamily="34" charset="0"/>
                <a:ea typeface="Calibri" pitchFamily="34" charset="-122"/>
                <a:cs typeface="Calibri" pitchFamily="34" charset="-120"/>
              </a:rPr>
              <a:t>score</a:t>
            </a:r>
            <a:endParaRPr lang="en-US" sz="1000" dirty="0"/>
          </a:p>
        </p:txBody>
      </p:sp>
      <p:sp>
        <p:nvSpPr>
          <p:cNvPr id="21" name="Text 19"/>
          <p:cNvSpPr/>
          <p:nvPr/>
        </p:nvSpPr>
        <p:spPr>
          <a:xfrm>
            <a:off x="9548165" y="1901952"/>
            <a:ext cx="1765706" cy="329184"/>
          </a:xfrm>
          <a:prstGeom prst="rect">
            <a:avLst/>
          </a:prstGeom>
          <a:noFill/>
          <a:ln/>
        </p:spPr>
        <p:txBody>
          <a:bodyPr wrap="square" lIns="0" tIns="0" rIns="0" bIns="0" rtlCol="0" anchor="ctr"/>
          <a:lstStyle/>
          <a:p>
            <a:pPr indent="0" marL="0">
              <a:buNone/>
            </a:pPr>
            <a:r>
              <a:rPr lang="en-US" sz="1100" b="1" spc="140" kern="0" dirty="0">
                <a:solidFill>
                  <a:srgbClr val="A9B3C0"/>
                </a:solidFill>
                <a:latin typeface="Calibri" pitchFamily="34" charset="0"/>
                <a:ea typeface="Calibri" pitchFamily="34" charset="-122"/>
                <a:cs typeface="Calibri" pitchFamily="34" charset="-120"/>
              </a:rPr>
              <a:t>Quiz</a:t>
            </a:r>
            <a:endParaRPr lang="en-US" sz="1100" dirty="0"/>
          </a:p>
        </p:txBody>
      </p:sp>
      <p:sp>
        <p:nvSpPr>
          <p:cNvPr id="22" name="Text 20"/>
          <p:cNvSpPr/>
          <p:nvPr/>
        </p:nvSpPr>
        <p:spPr>
          <a:xfrm>
            <a:off x="8414309" y="2377440"/>
            <a:ext cx="2917850" cy="457200"/>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Check yourself</a:t>
            </a:r>
            <a:endParaRPr lang="en-US" sz="1900" dirty="0"/>
          </a:p>
        </p:txBody>
      </p:sp>
      <p:sp>
        <p:nvSpPr>
          <p:cNvPr id="23" name="Text 21"/>
          <p:cNvSpPr/>
          <p:nvPr/>
        </p:nvSpPr>
        <p:spPr>
          <a:xfrm>
            <a:off x="8414309" y="2926080"/>
            <a:ext cx="2917850" cy="1828800"/>
          </a:xfrm>
          <a:prstGeom prst="rect">
            <a:avLst/>
          </a:prstGeom>
          <a:noFill/>
          <a:ln/>
        </p:spPr>
        <p:txBody>
          <a:bodyPr wrap="square" lIns="0" tIns="0" rIns="0" bIns="0" rtlCol="0" anchor="t"/>
          <a:lstStyle/>
          <a:p>
            <a:pPr marL="342900" indent="-342900">
              <a:lnSpc>
                <a:spcPts val="2000"/>
              </a:lnSpc>
              <a:spcAft>
                <a:spcPts val="600"/>
              </a:spcAft>
              <a:buSzPct val="100000"/>
              <a:buChar char="•"/>
            </a:pPr>
            <a:r>
              <a:rPr lang="en-US" sz="1300" dirty="0">
                <a:solidFill>
                  <a:srgbClr val="A9B3C0"/>
                </a:solidFill>
                <a:latin typeface="Calibri" pitchFamily="34" charset="0"/>
                <a:ea typeface="Calibri" pitchFamily="34" charset="-122"/>
                <a:cs typeface="Calibri" pitchFamily="34" charset="-120"/>
              </a:rPr>
              <a:t>Multiple Choice</a:t>
            </a:r>
            <a:endParaRPr lang="en-US" sz="1300" dirty="0"/>
          </a:p>
          <a:p>
            <a:pPr marL="342900" indent="-342900">
              <a:lnSpc>
                <a:spcPts val="2000"/>
              </a:lnSpc>
              <a:spcAft>
                <a:spcPts val="600"/>
              </a:spcAft>
              <a:buSzPct val="100000"/>
              <a:buChar char="•"/>
            </a:pPr>
            <a:r>
              <a:rPr lang="en-US" sz="1300" dirty="0">
                <a:solidFill>
                  <a:srgbClr val="A9B3C0"/>
                </a:solidFill>
                <a:latin typeface="Calibri" pitchFamily="34" charset="0"/>
                <a:ea typeface="Calibri" pitchFamily="34" charset="-122"/>
                <a:cs typeface="Calibri" pitchFamily="34" charset="-120"/>
              </a:rPr>
              <a:t>Multiple Response</a:t>
            </a:r>
            <a:endParaRPr lang="en-US" sz="1300" dirty="0"/>
          </a:p>
          <a:p>
            <a:pPr marL="342900" indent="-342900">
              <a:lnSpc>
                <a:spcPts val="2000"/>
              </a:lnSpc>
              <a:spcAft>
                <a:spcPts val="600"/>
              </a:spcAft>
              <a:buSzPct val="100000"/>
              <a:buChar char="•"/>
            </a:pPr>
            <a:r>
              <a:rPr lang="en-US" sz="1300" dirty="0">
                <a:solidFill>
                  <a:srgbClr val="A9B3C0"/>
                </a:solidFill>
                <a:latin typeface="Calibri" pitchFamily="34" charset="0"/>
                <a:ea typeface="Calibri" pitchFamily="34" charset="-122"/>
                <a:cs typeface="Calibri" pitchFamily="34" charset="-120"/>
              </a:rPr>
              <a:t>Fill in the Blank</a:t>
            </a:r>
            <a:endParaRPr lang="en-US" sz="1300" dirty="0"/>
          </a:p>
          <a:p>
            <a:pPr marL="342900" indent="-342900">
              <a:lnSpc>
                <a:spcPts val="2000"/>
              </a:lnSpc>
              <a:spcAft>
                <a:spcPts val="600"/>
              </a:spcAft>
              <a:buSzPct val="100000"/>
              <a:buChar char="•"/>
            </a:pPr>
            <a:r>
              <a:rPr lang="en-US" sz="1300" dirty="0">
                <a:solidFill>
                  <a:srgbClr val="A9B3C0"/>
                </a:solidFill>
                <a:latin typeface="Calibri" pitchFamily="34" charset="0"/>
                <a:ea typeface="Calibri" pitchFamily="34" charset="-122"/>
                <a:cs typeface="Calibri" pitchFamily="34" charset="-120"/>
              </a:rPr>
              <a:t>Matching</a:t>
            </a:r>
            <a:endParaRPr lang="en-US" sz="1300" dirty="0"/>
          </a:p>
        </p:txBody>
      </p:sp>
      <p:sp>
        <p:nvSpPr>
          <p:cNvPr id="24" name="Shape 22"/>
          <p:cNvSpPr/>
          <p:nvPr/>
        </p:nvSpPr>
        <p:spPr>
          <a:xfrm>
            <a:off x="566928" y="5138928"/>
            <a:ext cx="11057839" cy="694944"/>
          </a:xfrm>
          <a:prstGeom prst="roundRect">
            <a:avLst>
              <a:gd name="adj" fmla="val 11842"/>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25" name="Text 23"/>
          <p:cNvSpPr/>
          <p:nvPr/>
        </p:nvSpPr>
        <p:spPr>
          <a:xfrm>
            <a:off x="914400" y="5138928"/>
            <a:ext cx="10362895" cy="694944"/>
          </a:xfrm>
          <a:prstGeom prst="rect">
            <a:avLst/>
          </a:prstGeom>
          <a:noFill/>
          <a:ln/>
        </p:spPr>
        <p:txBody>
          <a:bodyPr wrap="square" lIns="0" tIns="0" rIns="0" bIns="0" rtlCol="0" anchor="ctr"/>
          <a:lstStyle/>
          <a:p>
            <a:pPr indent="0" marL="0">
              <a:lnSpc>
                <a:spcPts val="1800"/>
              </a:lnSpc>
              <a:buNone/>
            </a:pPr>
            <a:r>
              <a:rPr lang="en-US" sz="1300" b="1" dirty="0">
                <a:solidFill>
                  <a:srgbClr val="12161F"/>
                </a:solidFill>
                <a:latin typeface="Calibri" pitchFamily="34" charset="0"/>
                <a:ea typeface="Calibri" pitchFamily="34" charset="-122"/>
                <a:cs typeface="Calibri" pitchFamily="34" charset="-120"/>
              </a:rPr>
              <a:t>Watch the order, not the clicks.  </a:t>
            </a:r>
            <a:pPr indent="0" marL="0">
              <a:lnSpc>
                <a:spcPts val="1800"/>
              </a:lnSpc>
              <a:buNone/>
            </a:pPr>
            <a:r>
              <a:rPr lang="en-US" sz="1300" dirty="0">
                <a:solidFill>
                  <a:srgbClr val="5A6675"/>
                </a:solidFill>
                <a:latin typeface="Calibri" pitchFamily="34" charset="0"/>
                <a:ea typeface="Calibri" pitchFamily="34" charset="-122"/>
                <a:cs typeface="Calibri" pitchFamily="34" charset="-120"/>
              </a:rPr>
              <a:t>The scenario gets written before it gets built. The quiz questions get written while the content is still fresh. Publishing happens last and takes four minutes.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The four question types</a:t>
            </a:r>
            <a:endParaRPr lang="en-US" sz="3000" dirty="0"/>
          </a:p>
        </p:txBody>
      </p:sp>
      <p:sp>
        <p:nvSpPr>
          <p:cNvPr id="3" name="Text 1"/>
          <p:cNvSpPr/>
          <p:nvPr/>
        </p:nvSpPr>
        <p:spPr>
          <a:xfrm>
            <a:off x="566928" y="1005840"/>
            <a:ext cx="9067428"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Everything a Rise quiz can ask. A fifth block, Draw from Question Bank, serves a random subset from a bank you build.</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4  ·  Decide, then ship</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18</a:t>
            </a:r>
            <a:endParaRPr lang="en-US" sz="950" dirty="0"/>
          </a:p>
        </p:txBody>
      </p:sp>
      <p:sp>
        <p:nvSpPr>
          <p:cNvPr id="6" name="Shape 4"/>
          <p:cNvSpPr/>
          <p:nvPr/>
        </p:nvSpPr>
        <p:spPr>
          <a:xfrm>
            <a:off x="566928" y="1682496"/>
            <a:ext cx="2558720" cy="3749040"/>
          </a:xfrm>
          <a:prstGeom prst="roundRect">
            <a:avLst>
              <a:gd name="adj" fmla="val 3216"/>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7" name="Image 0" descr="/home/user/parallelism/rise360-curriculum/day2/assets/block-screenshots/multiple_choice.jpg">    </p:cNvPr>
          <p:cNvPicPr>
            <a:picLocks noChangeAspect="1"/>
          </p:cNvPicPr>
          <p:nvPr/>
        </p:nvPicPr>
        <p:blipFill>
          <a:blip r:embed="rId1"/>
          <a:stretch>
            <a:fillRect/>
          </a:stretch>
        </p:blipFill>
        <p:spPr>
          <a:xfrm>
            <a:off x="886968" y="1865376"/>
            <a:ext cx="1918640" cy="1331301"/>
          </a:xfrm>
          <a:prstGeom prst="rect">
            <a:avLst/>
          </a:prstGeom>
        </p:spPr>
      </p:pic>
      <p:sp>
        <p:nvSpPr>
          <p:cNvPr id="8" name="Text 5"/>
          <p:cNvSpPr/>
          <p:nvPr/>
        </p:nvSpPr>
        <p:spPr>
          <a:xfrm>
            <a:off x="749808" y="3269829"/>
            <a:ext cx="2192960" cy="457200"/>
          </a:xfrm>
          <a:prstGeom prst="rect">
            <a:avLst/>
          </a:prstGeom>
          <a:noFill/>
          <a:ln/>
        </p:spPr>
        <p:txBody>
          <a:bodyPr wrap="square" lIns="0" tIns="0" rIns="0" bIns="0" rtlCol="0" anchor="ctr"/>
          <a:lstStyle/>
          <a:p>
            <a:pPr algn="ctr" indent="0" marL="0">
              <a:buNone/>
            </a:pPr>
            <a:r>
              <a:rPr lang="en-US" sz="1500" b="1" dirty="0">
                <a:solidFill>
                  <a:srgbClr val="12161F"/>
                </a:solidFill>
                <a:latin typeface="Cambria" pitchFamily="34" charset="0"/>
                <a:ea typeface="Cambria" pitchFamily="34" charset="-122"/>
                <a:cs typeface="Cambria" pitchFamily="34" charset="-120"/>
              </a:rPr>
              <a:t>Multiple Choice</a:t>
            </a:r>
            <a:endParaRPr lang="en-US" sz="1500" dirty="0"/>
          </a:p>
        </p:txBody>
      </p:sp>
      <p:sp>
        <p:nvSpPr>
          <p:cNvPr id="9" name="Text 6"/>
          <p:cNvSpPr/>
          <p:nvPr/>
        </p:nvSpPr>
        <p:spPr>
          <a:xfrm>
            <a:off x="841248" y="3818469"/>
            <a:ext cx="2010080" cy="1371600"/>
          </a:xfrm>
          <a:prstGeom prst="rect">
            <a:avLst/>
          </a:prstGeom>
          <a:noFill/>
          <a:ln/>
        </p:spPr>
        <p:txBody>
          <a:bodyPr wrap="square" lIns="0" tIns="0" rIns="0" bIns="0" rtlCol="0" anchor="t"/>
          <a:lstStyle/>
          <a:p>
            <a:pPr indent="0" marL="0">
              <a:lnSpc>
                <a:spcPts val="1600"/>
              </a:lnSpc>
              <a:buNone/>
            </a:pPr>
            <a:r>
              <a:rPr lang="en-US" sz="1150" dirty="0">
                <a:solidFill>
                  <a:srgbClr val="5A6675"/>
                </a:solidFill>
                <a:latin typeface="Calibri" pitchFamily="34" charset="0"/>
                <a:ea typeface="Calibri" pitchFamily="34" charset="-122"/>
                <a:cs typeface="Calibri" pitchFamily="34" charset="-120"/>
              </a:rPr>
              <a:t>One right answer. The default, and the one most often ruined by three obviously wrong distractors.</a:t>
            </a:r>
            <a:endParaRPr lang="en-US" sz="1150" dirty="0"/>
          </a:p>
        </p:txBody>
      </p:sp>
      <p:sp>
        <p:nvSpPr>
          <p:cNvPr id="10" name="Shape 7"/>
          <p:cNvSpPr/>
          <p:nvPr/>
        </p:nvSpPr>
        <p:spPr>
          <a:xfrm>
            <a:off x="3399968" y="1682496"/>
            <a:ext cx="2558720" cy="3749040"/>
          </a:xfrm>
          <a:prstGeom prst="roundRect">
            <a:avLst>
              <a:gd name="adj" fmla="val 3216"/>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11" name="Image 1" descr="/home/user/parallelism/rise360-curriculum/day2/assets/block-screenshots/multiple_response.jpg">    </p:cNvPr>
          <p:cNvPicPr>
            <a:picLocks noChangeAspect="1"/>
          </p:cNvPicPr>
          <p:nvPr/>
        </p:nvPicPr>
        <p:blipFill>
          <a:blip r:embed="rId2"/>
          <a:stretch>
            <a:fillRect/>
          </a:stretch>
        </p:blipFill>
        <p:spPr>
          <a:xfrm>
            <a:off x="3720008" y="1865376"/>
            <a:ext cx="1918640" cy="1331301"/>
          </a:xfrm>
          <a:prstGeom prst="rect">
            <a:avLst/>
          </a:prstGeom>
        </p:spPr>
      </p:pic>
      <p:sp>
        <p:nvSpPr>
          <p:cNvPr id="12" name="Text 8"/>
          <p:cNvSpPr/>
          <p:nvPr/>
        </p:nvSpPr>
        <p:spPr>
          <a:xfrm>
            <a:off x="3582848" y="3269829"/>
            <a:ext cx="2192960" cy="457200"/>
          </a:xfrm>
          <a:prstGeom prst="rect">
            <a:avLst/>
          </a:prstGeom>
          <a:noFill/>
          <a:ln/>
        </p:spPr>
        <p:txBody>
          <a:bodyPr wrap="square" lIns="0" tIns="0" rIns="0" bIns="0" rtlCol="0" anchor="ctr"/>
          <a:lstStyle/>
          <a:p>
            <a:pPr algn="ctr" indent="0" marL="0">
              <a:buNone/>
            </a:pPr>
            <a:r>
              <a:rPr lang="en-US" sz="1500" b="1" dirty="0">
                <a:solidFill>
                  <a:srgbClr val="12161F"/>
                </a:solidFill>
                <a:latin typeface="Cambria" pitchFamily="34" charset="0"/>
                <a:ea typeface="Cambria" pitchFamily="34" charset="-122"/>
                <a:cs typeface="Cambria" pitchFamily="34" charset="-120"/>
              </a:rPr>
              <a:t>Multiple Response</a:t>
            </a:r>
            <a:endParaRPr lang="en-US" sz="1500" dirty="0"/>
          </a:p>
        </p:txBody>
      </p:sp>
      <p:sp>
        <p:nvSpPr>
          <p:cNvPr id="13" name="Text 9"/>
          <p:cNvSpPr/>
          <p:nvPr/>
        </p:nvSpPr>
        <p:spPr>
          <a:xfrm>
            <a:off x="3674288" y="3818469"/>
            <a:ext cx="2010080" cy="1371600"/>
          </a:xfrm>
          <a:prstGeom prst="rect">
            <a:avLst/>
          </a:prstGeom>
          <a:noFill/>
          <a:ln/>
        </p:spPr>
        <p:txBody>
          <a:bodyPr wrap="square" lIns="0" tIns="0" rIns="0" bIns="0" rtlCol="0" anchor="t"/>
          <a:lstStyle/>
          <a:p>
            <a:pPr indent="0" marL="0">
              <a:lnSpc>
                <a:spcPts val="1600"/>
              </a:lnSpc>
              <a:buNone/>
            </a:pPr>
            <a:r>
              <a:rPr lang="en-US" sz="1150" dirty="0">
                <a:solidFill>
                  <a:srgbClr val="5A6675"/>
                </a:solidFill>
                <a:latin typeface="Calibri" pitchFamily="34" charset="0"/>
                <a:ea typeface="Calibri" pitchFamily="34" charset="-122"/>
                <a:cs typeface="Calibri" pitchFamily="34" charset="-120"/>
              </a:rPr>
              <a:t>Several right answers. Say “select all that apply” in the stem or people pick one and stop.</a:t>
            </a:r>
            <a:endParaRPr lang="en-US" sz="1150" dirty="0"/>
          </a:p>
        </p:txBody>
      </p:sp>
      <p:sp>
        <p:nvSpPr>
          <p:cNvPr id="14" name="Shape 10"/>
          <p:cNvSpPr/>
          <p:nvPr/>
        </p:nvSpPr>
        <p:spPr>
          <a:xfrm>
            <a:off x="6233008" y="1682496"/>
            <a:ext cx="2558720" cy="3749040"/>
          </a:xfrm>
          <a:prstGeom prst="roundRect">
            <a:avLst>
              <a:gd name="adj" fmla="val 3216"/>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15" name="Image 2" descr="/home/user/parallelism/rise360-curriculum/day2/assets/block-screenshots/fill_in_the_blank.jpg">    </p:cNvPr>
          <p:cNvPicPr>
            <a:picLocks noChangeAspect="1"/>
          </p:cNvPicPr>
          <p:nvPr/>
        </p:nvPicPr>
        <p:blipFill>
          <a:blip r:embed="rId3"/>
          <a:stretch>
            <a:fillRect/>
          </a:stretch>
        </p:blipFill>
        <p:spPr>
          <a:xfrm>
            <a:off x="6553048" y="1865376"/>
            <a:ext cx="1918640" cy="1331301"/>
          </a:xfrm>
          <a:prstGeom prst="rect">
            <a:avLst/>
          </a:prstGeom>
        </p:spPr>
      </p:pic>
      <p:sp>
        <p:nvSpPr>
          <p:cNvPr id="16" name="Text 11"/>
          <p:cNvSpPr/>
          <p:nvPr/>
        </p:nvSpPr>
        <p:spPr>
          <a:xfrm>
            <a:off x="6415888" y="3269829"/>
            <a:ext cx="2192960" cy="457200"/>
          </a:xfrm>
          <a:prstGeom prst="rect">
            <a:avLst/>
          </a:prstGeom>
          <a:noFill/>
          <a:ln/>
        </p:spPr>
        <p:txBody>
          <a:bodyPr wrap="square" lIns="0" tIns="0" rIns="0" bIns="0" rtlCol="0" anchor="ctr"/>
          <a:lstStyle/>
          <a:p>
            <a:pPr algn="ctr" indent="0" marL="0">
              <a:buNone/>
            </a:pPr>
            <a:r>
              <a:rPr lang="en-US" sz="1500" b="1" dirty="0">
                <a:solidFill>
                  <a:srgbClr val="12161F"/>
                </a:solidFill>
                <a:latin typeface="Cambria" pitchFamily="34" charset="0"/>
                <a:ea typeface="Cambria" pitchFamily="34" charset="-122"/>
                <a:cs typeface="Cambria" pitchFamily="34" charset="-120"/>
              </a:rPr>
              <a:t>Fill in the Blank</a:t>
            </a:r>
            <a:endParaRPr lang="en-US" sz="1500" dirty="0"/>
          </a:p>
        </p:txBody>
      </p:sp>
      <p:sp>
        <p:nvSpPr>
          <p:cNvPr id="17" name="Text 12"/>
          <p:cNvSpPr/>
          <p:nvPr/>
        </p:nvSpPr>
        <p:spPr>
          <a:xfrm>
            <a:off x="6507328" y="3818469"/>
            <a:ext cx="2010080" cy="1371600"/>
          </a:xfrm>
          <a:prstGeom prst="rect">
            <a:avLst/>
          </a:prstGeom>
          <a:noFill/>
          <a:ln/>
        </p:spPr>
        <p:txBody>
          <a:bodyPr wrap="square" lIns="0" tIns="0" rIns="0" bIns="0" rtlCol="0" anchor="t"/>
          <a:lstStyle/>
          <a:p>
            <a:pPr indent="0" marL="0">
              <a:lnSpc>
                <a:spcPts val="1600"/>
              </a:lnSpc>
              <a:buNone/>
            </a:pPr>
            <a:r>
              <a:rPr lang="en-US" sz="1150" dirty="0">
                <a:solidFill>
                  <a:srgbClr val="5A6675"/>
                </a:solidFill>
                <a:latin typeface="Calibri" pitchFamily="34" charset="0"/>
                <a:ea typeface="Calibri" pitchFamily="34" charset="-122"/>
                <a:cs typeface="Calibri" pitchFamily="34" charset="-120"/>
              </a:rPr>
              <a:t>A typed answer, matched as text. Add every spelling and synonym you will accept, or you will fail people who are right.</a:t>
            </a:r>
            <a:endParaRPr lang="en-US" sz="1150" dirty="0"/>
          </a:p>
        </p:txBody>
      </p:sp>
      <p:sp>
        <p:nvSpPr>
          <p:cNvPr id="18" name="Shape 13"/>
          <p:cNvSpPr/>
          <p:nvPr/>
        </p:nvSpPr>
        <p:spPr>
          <a:xfrm>
            <a:off x="9066047" y="1682496"/>
            <a:ext cx="2558720" cy="3749040"/>
          </a:xfrm>
          <a:prstGeom prst="roundRect">
            <a:avLst>
              <a:gd name="adj" fmla="val 3216"/>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19" name="Image 3" descr="/home/user/parallelism/rise360-curriculum/day2/assets/block-screenshots/matching.jpg">    </p:cNvPr>
          <p:cNvPicPr>
            <a:picLocks noChangeAspect="1"/>
          </p:cNvPicPr>
          <p:nvPr/>
        </p:nvPicPr>
        <p:blipFill>
          <a:blip r:embed="rId4"/>
          <a:stretch>
            <a:fillRect/>
          </a:stretch>
        </p:blipFill>
        <p:spPr>
          <a:xfrm>
            <a:off x="9386087" y="1865376"/>
            <a:ext cx="1918640" cy="1331301"/>
          </a:xfrm>
          <a:prstGeom prst="rect">
            <a:avLst/>
          </a:prstGeom>
        </p:spPr>
      </p:pic>
      <p:sp>
        <p:nvSpPr>
          <p:cNvPr id="20" name="Text 14"/>
          <p:cNvSpPr/>
          <p:nvPr/>
        </p:nvSpPr>
        <p:spPr>
          <a:xfrm>
            <a:off x="9248927" y="3269829"/>
            <a:ext cx="2192960" cy="457200"/>
          </a:xfrm>
          <a:prstGeom prst="rect">
            <a:avLst/>
          </a:prstGeom>
          <a:noFill/>
          <a:ln/>
        </p:spPr>
        <p:txBody>
          <a:bodyPr wrap="square" lIns="0" tIns="0" rIns="0" bIns="0" rtlCol="0" anchor="ctr"/>
          <a:lstStyle/>
          <a:p>
            <a:pPr algn="ctr" indent="0" marL="0">
              <a:buNone/>
            </a:pPr>
            <a:r>
              <a:rPr lang="en-US" sz="1500" b="1" dirty="0">
                <a:solidFill>
                  <a:srgbClr val="12161F"/>
                </a:solidFill>
                <a:latin typeface="Cambria" pitchFamily="34" charset="0"/>
                <a:ea typeface="Cambria" pitchFamily="34" charset="-122"/>
                <a:cs typeface="Cambria" pitchFamily="34" charset="-120"/>
              </a:rPr>
              <a:t>Matching</a:t>
            </a:r>
            <a:endParaRPr lang="en-US" sz="1500" dirty="0"/>
          </a:p>
        </p:txBody>
      </p:sp>
      <p:sp>
        <p:nvSpPr>
          <p:cNvPr id="21" name="Text 15"/>
          <p:cNvSpPr/>
          <p:nvPr/>
        </p:nvSpPr>
        <p:spPr>
          <a:xfrm>
            <a:off x="9340367" y="3818469"/>
            <a:ext cx="2010080" cy="1371600"/>
          </a:xfrm>
          <a:prstGeom prst="rect">
            <a:avLst/>
          </a:prstGeom>
          <a:noFill/>
          <a:ln/>
        </p:spPr>
        <p:txBody>
          <a:bodyPr wrap="square" lIns="0" tIns="0" rIns="0" bIns="0" rtlCol="0" anchor="t"/>
          <a:lstStyle/>
          <a:p>
            <a:pPr indent="0" marL="0">
              <a:lnSpc>
                <a:spcPts val="1600"/>
              </a:lnSpc>
              <a:buNone/>
            </a:pPr>
            <a:r>
              <a:rPr lang="en-US" sz="1150" dirty="0">
                <a:solidFill>
                  <a:srgbClr val="5A6675"/>
                </a:solidFill>
                <a:latin typeface="Calibri" pitchFamily="34" charset="0"/>
                <a:ea typeface="Calibri" pitchFamily="34" charset="-122"/>
                <a:cs typeface="Calibri" pitchFamily="34" charset="-120"/>
              </a:rPr>
              <a:t>Pairs. Excellent for term to definition. Useless if the pairs can be guessed from length or wording.</a:t>
            </a:r>
            <a:endParaRPr lang="en-US" sz="1150" dirty="0"/>
          </a:p>
        </p:txBody>
      </p:sp>
      <p:sp>
        <p:nvSpPr>
          <p:cNvPr id="22" name="Shape 16"/>
          <p:cNvSpPr/>
          <p:nvPr/>
        </p:nvSpPr>
        <p:spPr>
          <a:xfrm>
            <a:off x="566928" y="5541264"/>
            <a:ext cx="11057839" cy="548640"/>
          </a:xfrm>
          <a:prstGeom prst="roundRect">
            <a:avLst>
              <a:gd name="adj" fmla="val 15000"/>
            </a:avLst>
          </a:prstGeom>
          <a:solidFill>
            <a:srgbClr val="FFF4EE"/>
          </a:solidFill>
          <a:ln w="9525">
            <a:solidFill>
              <a:srgbClr val="F6C7AC"/>
            </a:solidFill>
            <a:prstDash val="solid"/>
          </a:ln>
        </p:spPr>
      </p:sp>
      <p:sp>
        <p:nvSpPr>
          <p:cNvPr id="23" name="Shape 17"/>
          <p:cNvSpPr/>
          <p:nvPr/>
        </p:nvSpPr>
        <p:spPr>
          <a:xfrm>
            <a:off x="786384" y="5715000"/>
            <a:ext cx="201168" cy="201168"/>
          </a:xfrm>
          <a:prstGeom prst="ellipse">
            <a:avLst/>
          </a:prstGeom>
          <a:solidFill>
            <a:srgbClr val="ED6A2A"/>
          </a:solidFill>
          <a:ln/>
        </p:spPr>
      </p:sp>
      <p:sp>
        <p:nvSpPr>
          <p:cNvPr id="24" name="Text 18"/>
          <p:cNvSpPr/>
          <p:nvPr/>
        </p:nvSpPr>
        <p:spPr>
          <a:xfrm>
            <a:off x="1115568" y="5541264"/>
            <a:ext cx="10253167" cy="548640"/>
          </a:xfrm>
          <a:prstGeom prst="rect">
            <a:avLst/>
          </a:prstGeom>
          <a:noFill/>
          <a:ln/>
        </p:spPr>
        <p:txBody>
          <a:bodyPr wrap="square" lIns="0" tIns="0" rIns="0" bIns="0" rtlCol="0" anchor="ctr"/>
          <a:lstStyle/>
          <a:p>
            <a:pPr indent="0" marL="0">
              <a:lnSpc>
                <a:spcPts val="1700"/>
              </a:lnSpc>
              <a:buNone/>
            </a:pPr>
            <a:r>
              <a:rPr lang="en-US" sz="1250" dirty="0">
                <a:solidFill>
                  <a:srgbClr val="7A3F1C"/>
                </a:solidFill>
                <a:latin typeface="Calibri" pitchFamily="34" charset="0"/>
                <a:ea typeface="Calibri" pitchFamily="34" charset="-122"/>
                <a:cs typeface="Calibri" pitchFamily="34" charset="-120"/>
              </a:rPr>
              <a:t>Write feedback on every question, right and wrong. An unexplained wrong answer teaches nothing and a bare “Correct” wastes the one moment you had their attention.</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Quiz settings, and what to actually do with them</a:t>
            </a:r>
            <a:endParaRPr lang="en-US" sz="3000" dirty="0"/>
          </a:p>
        </p:txBody>
      </p:sp>
      <p:sp>
        <p:nvSpPr>
          <p:cNvPr id="3" name="Text 1"/>
          <p:cNvSpPr/>
          <p:nvPr/>
        </p:nvSpPr>
        <p:spPr>
          <a:xfrm>
            <a:off x="566928" y="1005840"/>
            <a:ext cx="9067428"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Defaults are choices somebody else made. Two of these are worth changing every single time.</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4  ·  Decide, then ship</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19</a:t>
            </a:r>
            <a:endParaRPr lang="en-US" sz="950" dirty="0"/>
          </a:p>
        </p:txBody>
      </p:sp>
      <p:sp>
        <p:nvSpPr>
          <p:cNvPr id="6" name="Shape 4"/>
          <p:cNvSpPr/>
          <p:nvPr/>
        </p:nvSpPr>
        <p:spPr>
          <a:xfrm>
            <a:off x="566928" y="1700784"/>
            <a:ext cx="11057839" cy="402336"/>
          </a:xfrm>
          <a:prstGeom prst="roundRect">
            <a:avLst>
              <a:gd name="adj" fmla="val 13636"/>
            </a:avLst>
          </a:prstGeom>
          <a:solidFill>
            <a:srgbClr val="12161F"/>
          </a:solidFill>
          <a:ln/>
        </p:spPr>
      </p:sp>
      <p:sp>
        <p:nvSpPr>
          <p:cNvPr id="7" name="Text 5"/>
          <p:cNvSpPr/>
          <p:nvPr/>
        </p:nvSpPr>
        <p:spPr>
          <a:xfrm>
            <a:off x="841248" y="1700784"/>
            <a:ext cx="3273552" cy="402336"/>
          </a:xfrm>
          <a:prstGeom prst="rect">
            <a:avLst/>
          </a:prstGeom>
          <a:noFill/>
          <a:ln/>
        </p:spPr>
        <p:txBody>
          <a:bodyPr wrap="square" lIns="0" tIns="0" rIns="0" bIns="0" rtlCol="0" anchor="ctr"/>
          <a:lstStyle/>
          <a:p>
            <a:pPr indent="0" marL="0">
              <a:buNone/>
            </a:pPr>
            <a:r>
              <a:rPr lang="en-US" sz="1150" b="1" spc="80" kern="0" dirty="0">
                <a:solidFill>
                  <a:srgbClr val="FFFFFF"/>
                </a:solidFill>
                <a:latin typeface="Calibri" pitchFamily="34" charset="0"/>
                <a:ea typeface="Calibri" pitchFamily="34" charset="-122"/>
                <a:cs typeface="Calibri" pitchFamily="34" charset="-120"/>
              </a:rPr>
              <a:t>Setting</a:t>
            </a:r>
            <a:endParaRPr lang="en-US" sz="1150" dirty="0"/>
          </a:p>
        </p:txBody>
      </p:sp>
      <p:sp>
        <p:nvSpPr>
          <p:cNvPr id="8" name="Text 6"/>
          <p:cNvSpPr/>
          <p:nvPr/>
        </p:nvSpPr>
        <p:spPr>
          <a:xfrm>
            <a:off x="4498848" y="1700784"/>
            <a:ext cx="1444752" cy="402336"/>
          </a:xfrm>
          <a:prstGeom prst="rect">
            <a:avLst/>
          </a:prstGeom>
          <a:noFill/>
          <a:ln/>
        </p:spPr>
        <p:txBody>
          <a:bodyPr wrap="square" lIns="0" tIns="0" rIns="0" bIns="0" rtlCol="0" anchor="ctr"/>
          <a:lstStyle/>
          <a:p>
            <a:pPr indent="0" marL="0">
              <a:buNone/>
            </a:pPr>
            <a:r>
              <a:rPr lang="en-US" sz="1150" b="1" spc="80" kern="0" dirty="0">
                <a:solidFill>
                  <a:srgbClr val="FFFFFF"/>
                </a:solidFill>
                <a:latin typeface="Calibri" pitchFamily="34" charset="0"/>
                <a:ea typeface="Calibri" pitchFamily="34" charset="-122"/>
                <a:cs typeface="Calibri" pitchFamily="34" charset="-120"/>
              </a:rPr>
              <a:t>Default</a:t>
            </a:r>
            <a:endParaRPr lang="en-US" sz="1150" dirty="0"/>
          </a:p>
        </p:txBody>
      </p:sp>
      <p:sp>
        <p:nvSpPr>
          <p:cNvPr id="9" name="Text 7"/>
          <p:cNvSpPr/>
          <p:nvPr/>
        </p:nvSpPr>
        <p:spPr>
          <a:xfrm>
            <a:off x="6327648" y="1700784"/>
            <a:ext cx="5187391" cy="402336"/>
          </a:xfrm>
          <a:prstGeom prst="rect">
            <a:avLst/>
          </a:prstGeom>
          <a:noFill/>
          <a:ln/>
        </p:spPr>
        <p:txBody>
          <a:bodyPr wrap="square" lIns="0" tIns="0" rIns="0" bIns="0" rtlCol="0" anchor="ctr"/>
          <a:lstStyle/>
          <a:p>
            <a:pPr indent="0" marL="0">
              <a:buNone/>
            </a:pPr>
            <a:r>
              <a:rPr lang="en-US" sz="1150" b="1" spc="80" kern="0" dirty="0">
                <a:solidFill>
                  <a:srgbClr val="FFFFFF"/>
                </a:solidFill>
                <a:latin typeface="Calibri" pitchFamily="34" charset="0"/>
                <a:ea typeface="Calibri" pitchFamily="34" charset="-122"/>
                <a:cs typeface="Calibri" pitchFamily="34" charset="-120"/>
              </a:rPr>
              <a:t>What to do</a:t>
            </a:r>
            <a:endParaRPr lang="en-US" sz="1150" dirty="0"/>
          </a:p>
        </p:txBody>
      </p:sp>
      <p:sp>
        <p:nvSpPr>
          <p:cNvPr id="10" name="Shape 8"/>
          <p:cNvSpPr/>
          <p:nvPr/>
        </p:nvSpPr>
        <p:spPr>
          <a:xfrm>
            <a:off x="566928" y="2103120"/>
            <a:ext cx="11057839" cy="457200"/>
          </a:xfrm>
          <a:prstGeom prst="rect">
            <a:avLst/>
          </a:prstGeom>
          <a:solidFill>
            <a:srgbClr val="FFFFFF"/>
          </a:solidFill>
          <a:ln w="6350">
            <a:solidFill>
              <a:srgbClr val="E2E6EB"/>
            </a:solidFill>
            <a:prstDash val="solid"/>
          </a:ln>
        </p:spPr>
      </p:sp>
      <p:sp>
        <p:nvSpPr>
          <p:cNvPr id="11" name="Text 9"/>
          <p:cNvSpPr/>
          <p:nvPr/>
        </p:nvSpPr>
        <p:spPr>
          <a:xfrm>
            <a:off x="841248" y="2103120"/>
            <a:ext cx="3273552" cy="457200"/>
          </a:xfrm>
          <a:prstGeom prst="rect">
            <a:avLst/>
          </a:prstGeom>
          <a:noFill/>
          <a:ln/>
        </p:spPr>
        <p:txBody>
          <a:bodyPr wrap="square" lIns="0" tIns="0" rIns="0" bIns="0" rtlCol="0" anchor="ctr"/>
          <a:lstStyle/>
          <a:p>
            <a:pPr indent="0" marL="0">
              <a:lnSpc>
                <a:spcPts val="1500"/>
              </a:lnSpc>
              <a:buNone/>
            </a:pPr>
            <a:r>
              <a:rPr lang="en-US" sz="1200" b="1" dirty="0">
                <a:solidFill>
                  <a:srgbClr val="12161F"/>
                </a:solidFill>
                <a:latin typeface="Calibri" pitchFamily="34" charset="0"/>
                <a:ea typeface="Calibri" pitchFamily="34" charset="-122"/>
                <a:cs typeface="Calibri" pitchFamily="34" charset="-120"/>
              </a:rPr>
              <a:t>Passing Score</a:t>
            </a:r>
            <a:endParaRPr lang="en-US" sz="1200" dirty="0"/>
          </a:p>
        </p:txBody>
      </p:sp>
      <p:sp>
        <p:nvSpPr>
          <p:cNvPr id="12" name="Text 10"/>
          <p:cNvSpPr/>
          <p:nvPr/>
        </p:nvSpPr>
        <p:spPr>
          <a:xfrm>
            <a:off x="4498848" y="2103120"/>
            <a:ext cx="1444752" cy="457200"/>
          </a:xfrm>
          <a:prstGeom prst="rect">
            <a:avLst/>
          </a:prstGeom>
          <a:noFill/>
          <a:ln/>
        </p:spPr>
        <p:txBody>
          <a:bodyPr wrap="square" lIns="0" tIns="0" rIns="0" bIns="0" rtlCol="0" anchor="ctr"/>
          <a:lstStyle/>
          <a:p>
            <a:pPr indent="0" marL="0">
              <a:lnSpc>
                <a:spcPts val="1500"/>
              </a:lnSpc>
              <a:buNone/>
            </a:pPr>
            <a:r>
              <a:rPr lang="en-US" sz="1200" dirty="0">
                <a:solidFill>
                  <a:srgbClr val="5A6675"/>
                </a:solidFill>
                <a:latin typeface="Calibri" pitchFamily="34" charset="0"/>
                <a:ea typeface="Calibri" pitchFamily="34" charset="-122"/>
                <a:cs typeface="Calibri" pitchFamily="34" charset="-120"/>
              </a:rPr>
              <a:t>80%</a:t>
            </a:r>
            <a:endParaRPr lang="en-US" sz="1200" dirty="0"/>
          </a:p>
        </p:txBody>
      </p:sp>
      <p:sp>
        <p:nvSpPr>
          <p:cNvPr id="13" name="Text 11"/>
          <p:cNvSpPr/>
          <p:nvPr/>
        </p:nvSpPr>
        <p:spPr>
          <a:xfrm>
            <a:off x="6327648" y="2103120"/>
            <a:ext cx="5187391" cy="457200"/>
          </a:xfrm>
          <a:prstGeom prst="rect">
            <a:avLst/>
          </a:prstGeom>
          <a:noFill/>
          <a:ln/>
        </p:spPr>
        <p:txBody>
          <a:bodyPr wrap="square" lIns="0" tIns="0" rIns="0" bIns="0" rtlCol="0" anchor="ctr"/>
          <a:lstStyle/>
          <a:p>
            <a:pPr indent="0" marL="0">
              <a:lnSpc>
                <a:spcPts val="1500"/>
              </a:lnSpc>
              <a:buNone/>
            </a:pPr>
            <a:r>
              <a:rPr lang="en-US" sz="1200" dirty="0">
                <a:solidFill>
                  <a:srgbClr val="5A6675"/>
                </a:solidFill>
                <a:latin typeface="Calibri" pitchFamily="34" charset="0"/>
                <a:ea typeface="Calibri" pitchFamily="34" charset="-122"/>
                <a:cs typeface="Calibri" pitchFamily="34" charset="-120"/>
              </a:rPr>
              <a:t>Do the arithmetic for your question count. 80% of four questions is four out of four.</a:t>
            </a:r>
            <a:endParaRPr lang="en-US" sz="1200" dirty="0"/>
          </a:p>
        </p:txBody>
      </p:sp>
      <p:sp>
        <p:nvSpPr>
          <p:cNvPr id="14" name="Shape 12"/>
          <p:cNvSpPr/>
          <p:nvPr/>
        </p:nvSpPr>
        <p:spPr>
          <a:xfrm>
            <a:off x="566928" y="2560320"/>
            <a:ext cx="11057839" cy="457200"/>
          </a:xfrm>
          <a:prstGeom prst="rect">
            <a:avLst/>
          </a:prstGeom>
          <a:solidFill>
            <a:srgbClr val="EDF1F5"/>
          </a:solidFill>
          <a:ln w="6350">
            <a:solidFill>
              <a:srgbClr val="E2E6EB"/>
            </a:solidFill>
            <a:prstDash val="solid"/>
          </a:ln>
        </p:spPr>
      </p:sp>
      <p:sp>
        <p:nvSpPr>
          <p:cNvPr id="15" name="Text 13"/>
          <p:cNvSpPr/>
          <p:nvPr/>
        </p:nvSpPr>
        <p:spPr>
          <a:xfrm>
            <a:off x="841248" y="2560320"/>
            <a:ext cx="3273552" cy="457200"/>
          </a:xfrm>
          <a:prstGeom prst="rect">
            <a:avLst/>
          </a:prstGeom>
          <a:noFill/>
          <a:ln/>
        </p:spPr>
        <p:txBody>
          <a:bodyPr wrap="square" lIns="0" tIns="0" rIns="0" bIns="0" rtlCol="0" anchor="ctr"/>
          <a:lstStyle/>
          <a:p>
            <a:pPr indent="0" marL="0">
              <a:lnSpc>
                <a:spcPts val="1500"/>
              </a:lnSpc>
              <a:buNone/>
            </a:pPr>
            <a:r>
              <a:rPr lang="en-US" sz="1200" b="1" dirty="0">
                <a:solidFill>
                  <a:srgbClr val="12161F"/>
                </a:solidFill>
                <a:latin typeface="Calibri" pitchFamily="34" charset="0"/>
                <a:ea typeface="Calibri" pitchFamily="34" charset="-122"/>
                <a:cs typeface="Calibri" pitchFamily="34" charset="-120"/>
              </a:rPr>
              <a:t>Shuffle Answer Choices</a:t>
            </a:r>
            <a:endParaRPr lang="en-US" sz="1200" dirty="0"/>
          </a:p>
        </p:txBody>
      </p:sp>
      <p:sp>
        <p:nvSpPr>
          <p:cNvPr id="16" name="Text 14"/>
          <p:cNvSpPr/>
          <p:nvPr/>
        </p:nvSpPr>
        <p:spPr>
          <a:xfrm>
            <a:off x="4498848" y="2560320"/>
            <a:ext cx="1444752" cy="457200"/>
          </a:xfrm>
          <a:prstGeom prst="rect">
            <a:avLst/>
          </a:prstGeom>
          <a:noFill/>
          <a:ln/>
        </p:spPr>
        <p:txBody>
          <a:bodyPr wrap="square" lIns="0" tIns="0" rIns="0" bIns="0" rtlCol="0" anchor="ctr"/>
          <a:lstStyle/>
          <a:p>
            <a:pPr indent="0" marL="0">
              <a:lnSpc>
                <a:spcPts val="1500"/>
              </a:lnSpc>
              <a:buNone/>
            </a:pPr>
            <a:r>
              <a:rPr lang="en-US" sz="1200" dirty="0">
                <a:solidFill>
                  <a:srgbClr val="5A6675"/>
                </a:solidFill>
                <a:latin typeface="Calibri" pitchFamily="34" charset="0"/>
                <a:ea typeface="Calibri" pitchFamily="34" charset="-122"/>
                <a:cs typeface="Calibri" pitchFamily="34" charset="-120"/>
              </a:rPr>
              <a:t>Off</a:t>
            </a:r>
            <a:endParaRPr lang="en-US" sz="1200" dirty="0"/>
          </a:p>
        </p:txBody>
      </p:sp>
      <p:sp>
        <p:nvSpPr>
          <p:cNvPr id="17" name="Text 15"/>
          <p:cNvSpPr/>
          <p:nvPr/>
        </p:nvSpPr>
        <p:spPr>
          <a:xfrm>
            <a:off x="6327648" y="2560320"/>
            <a:ext cx="5187391" cy="457200"/>
          </a:xfrm>
          <a:prstGeom prst="rect">
            <a:avLst/>
          </a:prstGeom>
          <a:noFill/>
          <a:ln/>
        </p:spPr>
        <p:txBody>
          <a:bodyPr wrap="square" lIns="0" tIns="0" rIns="0" bIns="0" rtlCol="0" anchor="ctr"/>
          <a:lstStyle/>
          <a:p>
            <a:pPr indent="0" marL="0">
              <a:lnSpc>
                <a:spcPts val="1500"/>
              </a:lnSpc>
              <a:buNone/>
            </a:pPr>
            <a:r>
              <a:rPr lang="en-US" sz="1200" dirty="0">
                <a:solidFill>
                  <a:srgbClr val="5A6675"/>
                </a:solidFill>
                <a:latin typeface="Calibri" pitchFamily="34" charset="0"/>
                <a:ea typeface="Calibri" pitchFamily="34" charset="-122"/>
                <a:cs typeface="Calibri" pitchFamily="34" charset="-120"/>
              </a:rPr>
              <a:t>Turn it on. It costs nothing and stops people remembering “it was the third one”.</a:t>
            </a:r>
            <a:endParaRPr lang="en-US" sz="1200" dirty="0"/>
          </a:p>
        </p:txBody>
      </p:sp>
      <p:sp>
        <p:nvSpPr>
          <p:cNvPr id="18" name="Shape 16"/>
          <p:cNvSpPr/>
          <p:nvPr/>
        </p:nvSpPr>
        <p:spPr>
          <a:xfrm>
            <a:off x="566928" y="3017520"/>
            <a:ext cx="11057839" cy="457200"/>
          </a:xfrm>
          <a:prstGeom prst="rect">
            <a:avLst/>
          </a:prstGeom>
          <a:solidFill>
            <a:srgbClr val="FFFFFF"/>
          </a:solidFill>
          <a:ln w="6350">
            <a:solidFill>
              <a:srgbClr val="E2E6EB"/>
            </a:solidFill>
            <a:prstDash val="solid"/>
          </a:ln>
        </p:spPr>
      </p:sp>
      <p:sp>
        <p:nvSpPr>
          <p:cNvPr id="19" name="Text 17"/>
          <p:cNvSpPr/>
          <p:nvPr/>
        </p:nvSpPr>
        <p:spPr>
          <a:xfrm>
            <a:off x="841248" y="3017520"/>
            <a:ext cx="3273552" cy="457200"/>
          </a:xfrm>
          <a:prstGeom prst="rect">
            <a:avLst/>
          </a:prstGeom>
          <a:noFill/>
          <a:ln/>
        </p:spPr>
        <p:txBody>
          <a:bodyPr wrap="square" lIns="0" tIns="0" rIns="0" bIns="0" rtlCol="0" anchor="ctr"/>
          <a:lstStyle/>
          <a:p>
            <a:pPr indent="0" marL="0">
              <a:lnSpc>
                <a:spcPts val="1500"/>
              </a:lnSpc>
              <a:buNone/>
            </a:pPr>
            <a:r>
              <a:rPr lang="en-US" sz="1200" b="1" dirty="0">
                <a:solidFill>
                  <a:srgbClr val="12161F"/>
                </a:solidFill>
                <a:latin typeface="Calibri" pitchFamily="34" charset="0"/>
                <a:ea typeface="Calibri" pitchFamily="34" charset="-122"/>
                <a:cs typeface="Calibri" pitchFamily="34" charset="-120"/>
              </a:rPr>
              <a:t>Reveal Answers</a:t>
            </a:r>
            <a:endParaRPr lang="en-US" sz="1200" dirty="0"/>
          </a:p>
        </p:txBody>
      </p:sp>
      <p:sp>
        <p:nvSpPr>
          <p:cNvPr id="20" name="Text 18"/>
          <p:cNvSpPr/>
          <p:nvPr/>
        </p:nvSpPr>
        <p:spPr>
          <a:xfrm>
            <a:off x="4498848" y="3017520"/>
            <a:ext cx="1444752" cy="457200"/>
          </a:xfrm>
          <a:prstGeom prst="rect">
            <a:avLst/>
          </a:prstGeom>
          <a:noFill/>
          <a:ln/>
        </p:spPr>
        <p:txBody>
          <a:bodyPr wrap="square" lIns="0" tIns="0" rIns="0" bIns="0" rtlCol="0" anchor="ctr"/>
          <a:lstStyle/>
          <a:p>
            <a:pPr indent="0" marL="0">
              <a:lnSpc>
                <a:spcPts val="1500"/>
              </a:lnSpc>
              <a:buNone/>
            </a:pPr>
            <a:r>
              <a:rPr lang="en-US" sz="1200" dirty="0">
                <a:solidFill>
                  <a:srgbClr val="5A6675"/>
                </a:solidFill>
                <a:latin typeface="Calibri" pitchFamily="34" charset="0"/>
                <a:ea typeface="Calibri" pitchFamily="34" charset="-122"/>
                <a:cs typeface="Calibri" pitchFamily="34" charset="-120"/>
              </a:rPr>
              <a:t>—</a:t>
            </a:r>
            <a:endParaRPr lang="en-US" sz="1200" dirty="0"/>
          </a:p>
        </p:txBody>
      </p:sp>
      <p:sp>
        <p:nvSpPr>
          <p:cNvPr id="21" name="Text 19"/>
          <p:cNvSpPr/>
          <p:nvPr/>
        </p:nvSpPr>
        <p:spPr>
          <a:xfrm>
            <a:off x="6327648" y="3017520"/>
            <a:ext cx="5187391" cy="457200"/>
          </a:xfrm>
          <a:prstGeom prst="rect">
            <a:avLst/>
          </a:prstGeom>
          <a:noFill/>
          <a:ln/>
        </p:spPr>
        <p:txBody>
          <a:bodyPr wrap="square" lIns="0" tIns="0" rIns="0" bIns="0" rtlCol="0" anchor="ctr"/>
          <a:lstStyle/>
          <a:p>
            <a:pPr indent="0" marL="0">
              <a:lnSpc>
                <a:spcPts val="1500"/>
              </a:lnSpc>
              <a:buNone/>
            </a:pPr>
            <a:r>
              <a:rPr lang="en-US" sz="1200" dirty="0">
                <a:solidFill>
                  <a:srgbClr val="5A6675"/>
                </a:solidFill>
                <a:latin typeface="Calibri" pitchFamily="34" charset="0"/>
                <a:ea typeface="Calibri" pitchFamily="34" charset="-122"/>
                <a:cs typeface="Calibri" pitchFamily="34" charset="-120"/>
              </a:rPr>
              <a:t>Show incorrect answers with feedback, or nobody ever reads the feedback you wrote.</a:t>
            </a:r>
            <a:endParaRPr lang="en-US" sz="1200" dirty="0"/>
          </a:p>
        </p:txBody>
      </p:sp>
      <p:sp>
        <p:nvSpPr>
          <p:cNvPr id="22" name="Shape 20"/>
          <p:cNvSpPr/>
          <p:nvPr/>
        </p:nvSpPr>
        <p:spPr>
          <a:xfrm>
            <a:off x="566928" y="3474720"/>
            <a:ext cx="11057839" cy="457200"/>
          </a:xfrm>
          <a:prstGeom prst="rect">
            <a:avLst/>
          </a:prstGeom>
          <a:solidFill>
            <a:srgbClr val="EDF1F5"/>
          </a:solidFill>
          <a:ln w="6350">
            <a:solidFill>
              <a:srgbClr val="E2E6EB"/>
            </a:solidFill>
            <a:prstDash val="solid"/>
          </a:ln>
        </p:spPr>
      </p:sp>
      <p:sp>
        <p:nvSpPr>
          <p:cNvPr id="23" name="Text 21"/>
          <p:cNvSpPr/>
          <p:nvPr/>
        </p:nvSpPr>
        <p:spPr>
          <a:xfrm>
            <a:off x="841248" y="3474720"/>
            <a:ext cx="3273552" cy="457200"/>
          </a:xfrm>
          <a:prstGeom prst="rect">
            <a:avLst/>
          </a:prstGeom>
          <a:noFill/>
          <a:ln/>
        </p:spPr>
        <p:txBody>
          <a:bodyPr wrap="square" lIns="0" tIns="0" rIns="0" bIns="0" rtlCol="0" anchor="ctr"/>
          <a:lstStyle/>
          <a:p>
            <a:pPr indent="0" marL="0">
              <a:lnSpc>
                <a:spcPts val="1500"/>
              </a:lnSpc>
              <a:buNone/>
            </a:pPr>
            <a:r>
              <a:rPr lang="en-US" sz="1200" b="1" dirty="0">
                <a:solidFill>
                  <a:srgbClr val="12161F"/>
                </a:solidFill>
                <a:latin typeface="Calibri" pitchFamily="34" charset="0"/>
                <a:ea typeface="Calibri" pitchFamily="34" charset="-122"/>
                <a:cs typeface="Calibri" pitchFamily="34" charset="-120"/>
              </a:rPr>
              <a:t>Quiz Retries</a:t>
            </a:r>
            <a:endParaRPr lang="en-US" sz="1200" dirty="0"/>
          </a:p>
        </p:txBody>
      </p:sp>
      <p:sp>
        <p:nvSpPr>
          <p:cNvPr id="24" name="Text 22"/>
          <p:cNvSpPr/>
          <p:nvPr/>
        </p:nvSpPr>
        <p:spPr>
          <a:xfrm>
            <a:off x="4498848" y="3474720"/>
            <a:ext cx="1444752" cy="457200"/>
          </a:xfrm>
          <a:prstGeom prst="rect">
            <a:avLst/>
          </a:prstGeom>
          <a:noFill/>
          <a:ln/>
        </p:spPr>
        <p:txBody>
          <a:bodyPr wrap="square" lIns="0" tIns="0" rIns="0" bIns="0" rtlCol="0" anchor="ctr"/>
          <a:lstStyle/>
          <a:p>
            <a:pPr indent="0" marL="0">
              <a:lnSpc>
                <a:spcPts val="1500"/>
              </a:lnSpc>
              <a:buNone/>
            </a:pPr>
            <a:r>
              <a:rPr lang="en-US" sz="1200" dirty="0">
                <a:solidFill>
                  <a:srgbClr val="5A6675"/>
                </a:solidFill>
                <a:latin typeface="Calibri" pitchFamily="34" charset="0"/>
                <a:ea typeface="Calibri" pitchFamily="34" charset="-122"/>
                <a:cs typeface="Calibri" pitchFamily="34" charset="-120"/>
              </a:rPr>
              <a:t>Unlimited</a:t>
            </a:r>
            <a:endParaRPr lang="en-US" sz="1200" dirty="0"/>
          </a:p>
        </p:txBody>
      </p:sp>
      <p:sp>
        <p:nvSpPr>
          <p:cNvPr id="25" name="Text 23"/>
          <p:cNvSpPr/>
          <p:nvPr/>
        </p:nvSpPr>
        <p:spPr>
          <a:xfrm>
            <a:off x="6327648" y="3474720"/>
            <a:ext cx="5187391" cy="457200"/>
          </a:xfrm>
          <a:prstGeom prst="rect">
            <a:avLst/>
          </a:prstGeom>
          <a:noFill/>
          <a:ln/>
        </p:spPr>
        <p:txBody>
          <a:bodyPr wrap="square" lIns="0" tIns="0" rIns="0" bIns="0" rtlCol="0" anchor="ctr"/>
          <a:lstStyle/>
          <a:p>
            <a:pPr indent="0" marL="0">
              <a:lnSpc>
                <a:spcPts val="1500"/>
              </a:lnSpc>
              <a:buNone/>
            </a:pPr>
            <a:r>
              <a:rPr lang="en-US" sz="1200" dirty="0">
                <a:solidFill>
                  <a:srgbClr val="5A6675"/>
                </a:solidFill>
                <a:latin typeface="Calibri" pitchFamily="34" charset="0"/>
                <a:ea typeface="Calibri" pitchFamily="34" charset="-122"/>
                <a:cs typeface="Calibri" pitchFamily="34" charset="-120"/>
              </a:rPr>
              <a:t>Limit it only when the score has consequences. Fail every attempt and the learner is stuck.</a:t>
            </a:r>
            <a:endParaRPr lang="en-US" sz="1200" dirty="0"/>
          </a:p>
        </p:txBody>
      </p:sp>
      <p:sp>
        <p:nvSpPr>
          <p:cNvPr id="26" name="Shape 24"/>
          <p:cNvSpPr/>
          <p:nvPr/>
        </p:nvSpPr>
        <p:spPr>
          <a:xfrm>
            <a:off x="566928" y="3931920"/>
            <a:ext cx="11057839" cy="457200"/>
          </a:xfrm>
          <a:prstGeom prst="rect">
            <a:avLst/>
          </a:prstGeom>
          <a:solidFill>
            <a:srgbClr val="FFFFFF"/>
          </a:solidFill>
          <a:ln w="6350">
            <a:solidFill>
              <a:srgbClr val="E2E6EB"/>
            </a:solidFill>
            <a:prstDash val="solid"/>
          </a:ln>
        </p:spPr>
      </p:sp>
      <p:sp>
        <p:nvSpPr>
          <p:cNvPr id="27" name="Text 25"/>
          <p:cNvSpPr/>
          <p:nvPr/>
        </p:nvSpPr>
        <p:spPr>
          <a:xfrm>
            <a:off x="841248" y="3931920"/>
            <a:ext cx="3273552" cy="457200"/>
          </a:xfrm>
          <a:prstGeom prst="rect">
            <a:avLst/>
          </a:prstGeom>
          <a:noFill/>
          <a:ln/>
        </p:spPr>
        <p:txBody>
          <a:bodyPr wrap="square" lIns="0" tIns="0" rIns="0" bIns="0" rtlCol="0" anchor="ctr"/>
          <a:lstStyle/>
          <a:p>
            <a:pPr indent="0" marL="0">
              <a:lnSpc>
                <a:spcPts val="1500"/>
              </a:lnSpc>
              <a:buNone/>
            </a:pPr>
            <a:r>
              <a:rPr lang="en-US" sz="1200" b="1" dirty="0">
                <a:solidFill>
                  <a:srgbClr val="12161F"/>
                </a:solidFill>
                <a:latin typeface="Calibri" pitchFamily="34" charset="0"/>
                <a:ea typeface="Calibri" pitchFamily="34" charset="-122"/>
                <a:cs typeface="Calibri" pitchFamily="34" charset="-120"/>
              </a:rPr>
              <a:t>Randomize Question Order</a:t>
            </a:r>
            <a:endParaRPr lang="en-US" sz="1200" dirty="0"/>
          </a:p>
        </p:txBody>
      </p:sp>
      <p:sp>
        <p:nvSpPr>
          <p:cNvPr id="28" name="Text 26"/>
          <p:cNvSpPr/>
          <p:nvPr/>
        </p:nvSpPr>
        <p:spPr>
          <a:xfrm>
            <a:off x="4498848" y="3931920"/>
            <a:ext cx="1444752" cy="457200"/>
          </a:xfrm>
          <a:prstGeom prst="rect">
            <a:avLst/>
          </a:prstGeom>
          <a:noFill/>
          <a:ln/>
        </p:spPr>
        <p:txBody>
          <a:bodyPr wrap="square" lIns="0" tIns="0" rIns="0" bIns="0" rtlCol="0" anchor="ctr"/>
          <a:lstStyle/>
          <a:p>
            <a:pPr indent="0" marL="0">
              <a:lnSpc>
                <a:spcPts val="1500"/>
              </a:lnSpc>
              <a:buNone/>
            </a:pPr>
            <a:r>
              <a:rPr lang="en-US" sz="1200" dirty="0">
                <a:solidFill>
                  <a:srgbClr val="5A6675"/>
                </a:solidFill>
                <a:latin typeface="Calibri" pitchFamily="34" charset="0"/>
                <a:ea typeface="Calibri" pitchFamily="34" charset="-122"/>
                <a:cs typeface="Calibri" pitchFamily="34" charset="-120"/>
              </a:rPr>
              <a:t>Off</a:t>
            </a:r>
            <a:endParaRPr lang="en-US" sz="1200" dirty="0"/>
          </a:p>
        </p:txBody>
      </p:sp>
      <p:sp>
        <p:nvSpPr>
          <p:cNvPr id="29" name="Text 27"/>
          <p:cNvSpPr/>
          <p:nvPr/>
        </p:nvSpPr>
        <p:spPr>
          <a:xfrm>
            <a:off x="6327648" y="3931920"/>
            <a:ext cx="5187391" cy="457200"/>
          </a:xfrm>
          <a:prstGeom prst="rect">
            <a:avLst/>
          </a:prstGeom>
          <a:noFill/>
          <a:ln/>
        </p:spPr>
        <p:txBody>
          <a:bodyPr wrap="square" lIns="0" tIns="0" rIns="0" bIns="0" rtlCol="0" anchor="ctr"/>
          <a:lstStyle/>
          <a:p>
            <a:pPr indent="0" marL="0">
              <a:lnSpc>
                <a:spcPts val="1500"/>
              </a:lnSpc>
              <a:buNone/>
            </a:pPr>
            <a:r>
              <a:rPr lang="en-US" sz="1200" dirty="0">
                <a:solidFill>
                  <a:srgbClr val="5A6675"/>
                </a:solidFill>
                <a:latin typeface="Calibri" pitchFamily="34" charset="0"/>
                <a:ea typeface="Calibri" pitchFamily="34" charset="-122"/>
                <a:cs typeface="Calibri" pitchFamily="34" charset="-120"/>
              </a:rPr>
              <a:t>On for a real assessment. Off for four questions — it only makes support harder.</a:t>
            </a:r>
            <a:endParaRPr lang="en-US" sz="1200" dirty="0"/>
          </a:p>
        </p:txBody>
      </p:sp>
      <p:sp>
        <p:nvSpPr>
          <p:cNvPr id="30" name="Shape 28"/>
          <p:cNvSpPr/>
          <p:nvPr/>
        </p:nvSpPr>
        <p:spPr>
          <a:xfrm>
            <a:off x="566928" y="4389120"/>
            <a:ext cx="11057839" cy="457200"/>
          </a:xfrm>
          <a:prstGeom prst="rect">
            <a:avLst/>
          </a:prstGeom>
          <a:solidFill>
            <a:srgbClr val="EDF1F5"/>
          </a:solidFill>
          <a:ln w="6350">
            <a:solidFill>
              <a:srgbClr val="E2E6EB"/>
            </a:solidFill>
            <a:prstDash val="solid"/>
          </a:ln>
        </p:spPr>
      </p:sp>
      <p:sp>
        <p:nvSpPr>
          <p:cNvPr id="31" name="Text 29"/>
          <p:cNvSpPr/>
          <p:nvPr/>
        </p:nvSpPr>
        <p:spPr>
          <a:xfrm>
            <a:off x="841248" y="4389120"/>
            <a:ext cx="3273552" cy="457200"/>
          </a:xfrm>
          <a:prstGeom prst="rect">
            <a:avLst/>
          </a:prstGeom>
          <a:noFill/>
          <a:ln/>
        </p:spPr>
        <p:txBody>
          <a:bodyPr wrap="square" lIns="0" tIns="0" rIns="0" bIns="0" rtlCol="0" anchor="ctr"/>
          <a:lstStyle/>
          <a:p>
            <a:pPr indent="0" marL="0">
              <a:lnSpc>
                <a:spcPts val="1500"/>
              </a:lnSpc>
              <a:buNone/>
            </a:pPr>
            <a:r>
              <a:rPr lang="en-US" sz="1200" b="1" dirty="0">
                <a:solidFill>
                  <a:srgbClr val="12161F"/>
                </a:solidFill>
                <a:latin typeface="Calibri" pitchFamily="34" charset="0"/>
                <a:ea typeface="Calibri" pitchFamily="34" charset="-122"/>
                <a:cs typeface="Calibri" pitchFamily="34" charset="-120"/>
              </a:rPr>
              <a:t>Require Passing Score to Continue</a:t>
            </a:r>
            <a:endParaRPr lang="en-US" sz="1200" dirty="0"/>
          </a:p>
        </p:txBody>
      </p:sp>
      <p:sp>
        <p:nvSpPr>
          <p:cNvPr id="32" name="Text 30"/>
          <p:cNvSpPr/>
          <p:nvPr/>
        </p:nvSpPr>
        <p:spPr>
          <a:xfrm>
            <a:off x="4498848" y="4389120"/>
            <a:ext cx="1444752" cy="457200"/>
          </a:xfrm>
          <a:prstGeom prst="rect">
            <a:avLst/>
          </a:prstGeom>
          <a:noFill/>
          <a:ln/>
        </p:spPr>
        <p:txBody>
          <a:bodyPr wrap="square" lIns="0" tIns="0" rIns="0" bIns="0" rtlCol="0" anchor="ctr"/>
          <a:lstStyle/>
          <a:p>
            <a:pPr indent="0" marL="0">
              <a:lnSpc>
                <a:spcPts val="1500"/>
              </a:lnSpc>
              <a:buNone/>
            </a:pPr>
            <a:r>
              <a:rPr lang="en-US" sz="1200" dirty="0">
                <a:solidFill>
                  <a:srgbClr val="5A6675"/>
                </a:solidFill>
                <a:latin typeface="Calibri" pitchFamily="34" charset="0"/>
                <a:ea typeface="Calibri" pitchFamily="34" charset="-122"/>
                <a:cs typeface="Calibri" pitchFamily="34" charset="-120"/>
              </a:rPr>
              <a:t>Off</a:t>
            </a:r>
            <a:endParaRPr lang="en-US" sz="1200" dirty="0"/>
          </a:p>
        </p:txBody>
      </p:sp>
      <p:sp>
        <p:nvSpPr>
          <p:cNvPr id="33" name="Text 31"/>
          <p:cNvSpPr/>
          <p:nvPr/>
        </p:nvSpPr>
        <p:spPr>
          <a:xfrm>
            <a:off x="6327648" y="4389120"/>
            <a:ext cx="5187391" cy="457200"/>
          </a:xfrm>
          <a:prstGeom prst="rect">
            <a:avLst/>
          </a:prstGeom>
          <a:noFill/>
          <a:ln/>
        </p:spPr>
        <p:txBody>
          <a:bodyPr wrap="square" lIns="0" tIns="0" rIns="0" bIns="0" rtlCol="0" anchor="ctr"/>
          <a:lstStyle/>
          <a:p>
            <a:pPr indent="0" marL="0">
              <a:lnSpc>
                <a:spcPts val="1500"/>
              </a:lnSpc>
              <a:buNone/>
            </a:pPr>
            <a:r>
              <a:rPr lang="en-US" sz="1200" dirty="0">
                <a:solidFill>
                  <a:srgbClr val="5A6675"/>
                </a:solidFill>
                <a:latin typeface="Calibri" pitchFamily="34" charset="0"/>
                <a:ea typeface="Calibri" pitchFamily="34" charset="-122"/>
                <a:cs typeface="Calibri" pitchFamily="34" charset="-120"/>
              </a:rPr>
              <a:t>This is the gate. Know it exists before somebody asks you to lock the course.</a:t>
            </a:r>
            <a:endParaRPr lang="en-US" sz="1200" dirty="0"/>
          </a:p>
        </p:txBody>
      </p:sp>
      <p:sp>
        <p:nvSpPr>
          <p:cNvPr id="34" name="Shape 32"/>
          <p:cNvSpPr/>
          <p:nvPr/>
        </p:nvSpPr>
        <p:spPr>
          <a:xfrm>
            <a:off x="566928" y="4846320"/>
            <a:ext cx="11057839" cy="457200"/>
          </a:xfrm>
          <a:prstGeom prst="rect">
            <a:avLst/>
          </a:prstGeom>
          <a:solidFill>
            <a:srgbClr val="FFFFFF"/>
          </a:solidFill>
          <a:ln w="6350">
            <a:solidFill>
              <a:srgbClr val="E2E6EB"/>
            </a:solidFill>
            <a:prstDash val="solid"/>
          </a:ln>
        </p:spPr>
      </p:sp>
      <p:sp>
        <p:nvSpPr>
          <p:cNvPr id="35" name="Text 33"/>
          <p:cNvSpPr/>
          <p:nvPr/>
        </p:nvSpPr>
        <p:spPr>
          <a:xfrm>
            <a:off x="841248" y="4846320"/>
            <a:ext cx="3273552" cy="457200"/>
          </a:xfrm>
          <a:prstGeom prst="rect">
            <a:avLst/>
          </a:prstGeom>
          <a:noFill/>
          <a:ln/>
        </p:spPr>
        <p:txBody>
          <a:bodyPr wrap="square" lIns="0" tIns="0" rIns="0" bIns="0" rtlCol="0" anchor="ctr"/>
          <a:lstStyle/>
          <a:p>
            <a:pPr indent="0" marL="0">
              <a:lnSpc>
                <a:spcPts val="1500"/>
              </a:lnSpc>
              <a:buNone/>
            </a:pPr>
            <a:r>
              <a:rPr lang="en-US" sz="1200" b="1" dirty="0">
                <a:solidFill>
                  <a:srgbClr val="12161F"/>
                </a:solidFill>
                <a:latin typeface="Calibri" pitchFamily="34" charset="0"/>
                <a:ea typeface="Calibri" pitchFamily="34" charset="-122"/>
                <a:cs typeface="Calibri" pitchFamily="34" charset="-120"/>
              </a:rPr>
              <a:t>Skip Ahead If Passed</a:t>
            </a:r>
            <a:endParaRPr lang="en-US" sz="1200" dirty="0"/>
          </a:p>
        </p:txBody>
      </p:sp>
      <p:sp>
        <p:nvSpPr>
          <p:cNvPr id="36" name="Text 34"/>
          <p:cNvSpPr/>
          <p:nvPr/>
        </p:nvSpPr>
        <p:spPr>
          <a:xfrm>
            <a:off x="4498848" y="4846320"/>
            <a:ext cx="1444752" cy="457200"/>
          </a:xfrm>
          <a:prstGeom prst="rect">
            <a:avLst/>
          </a:prstGeom>
          <a:noFill/>
          <a:ln/>
        </p:spPr>
        <p:txBody>
          <a:bodyPr wrap="square" lIns="0" tIns="0" rIns="0" bIns="0" rtlCol="0" anchor="ctr"/>
          <a:lstStyle/>
          <a:p>
            <a:pPr indent="0" marL="0">
              <a:lnSpc>
                <a:spcPts val="1500"/>
              </a:lnSpc>
              <a:buNone/>
            </a:pPr>
            <a:r>
              <a:rPr lang="en-US" sz="1200" dirty="0">
                <a:solidFill>
                  <a:srgbClr val="5A6675"/>
                </a:solidFill>
                <a:latin typeface="Calibri" pitchFamily="34" charset="0"/>
                <a:ea typeface="Calibri" pitchFamily="34" charset="-122"/>
                <a:cs typeface="Calibri" pitchFamily="34" charset="-120"/>
              </a:rPr>
              <a:t>Off</a:t>
            </a:r>
            <a:endParaRPr lang="en-US" sz="1200" dirty="0"/>
          </a:p>
        </p:txBody>
      </p:sp>
      <p:sp>
        <p:nvSpPr>
          <p:cNvPr id="37" name="Text 35"/>
          <p:cNvSpPr/>
          <p:nvPr/>
        </p:nvSpPr>
        <p:spPr>
          <a:xfrm>
            <a:off x="6327648" y="4846320"/>
            <a:ext cx="5187391" cy="457200"/>
          </a:xfrm>
          <a:prstGeom prst="rect">
            <a:avLst/>
          </a:prstGeom>
          <a:noFill/>
          <a:ln/>
        </p:spPr>
        <p:txBody>
          <a:bodyPr wrap="square" lIns="0" tIns="0" rIns="0" bIns="0" rtlCol="0" anchor="ctr"/>
          <a:lstStyle/>
          <a:p>
            <a:pPr indent="0" marL="0">
              <a:lnSpc>
                <a:spcPts val="1500"/>
              </a:lnSpc>
              <a:buNone/>
            </a:pPr>
            <a:r>
              <a:rPr lang="en-US" sz="1200" dirty="0">
                <a:solidFill>
                  <a:srgbClr val="5A6675"/>
                </a:solidFill>
                <a:latin typeface="Calibri" pitchFamily="34" charset="0"/>
                <a:ea typeface="Calibri" pitchFamily="34" charset="-122"/>
                <a:cs typeface="Calibri" pitchFamily="34" charset="-120"/>
              </a:rPr>
              <a:t>Turns the quiz into a pre-test: pass it and the content you already know is skipped.</a:t>
            </a:r>
            <a:endParaRPr lang="en-US" sz="1200" dirty="0"/>
          </a:p>
        </p:txBody>
      </p:sp>
      <p:sp>
        <p:nvSpPr>
          <p:cNvPr id="38" name="Shape 36"/>
          <p:cNvSpPr/>
          <p:nvPr/>
        </p:nvSpPr>
        <p:spPr>
          <a:xfrm>
            <a:off x="566928" y="5303520"/>
            <a:ext cx="11057839" cy="457200"/>
          </a:xfrm>
          <a:prstGeom prst="rect">
            <a:avLst/>
          </a:prstGeom>
          <a:solidFill>
            <a:srgbClr val="EDF1F5"/>
          </a:solidFill>
          <a:ln w="6350">
            <a:solidFill>
              <a:srgbClr val="E2E6EB"/>
            </a:solidFill>
            <a:prstDash val="solid"/>
          </a:ln>
        </p:spPr>
      </p:sp>
      <p:sp>
        <p:nvSpPr>
          <p:cNvPr id="39" name="Text 37"/>
          <p:cNvSpPr/>
          <p:nvPr/>
        </p:nvSpPr>
        <p:spPr>
          <a:xfrm>
            <a:off x="841248" y="5303520"/>
            <a:ext cx="3273552" cy="457200"/>
          </a:xfrm>
          <a:prstGeom prst="rect">
            <a:avLst/>
          </a:prstGeom>
          <a:noFill/>
          <a:ln/>
        </p:spPr>
        <p:txBody>
          <a:bodyPr wrap="square" lIns="0" tIns="0" rIns="0" bIns="0" rtlCol="0" anchor="ctr"/>
          <a:lstStyle/>
          <a:p>
            <a:pPr indent="0" marL="0">
              <a:lnSpc>
                <a:spcPts val="1500"/>
              </a:lnSpc>
              <a:buNone/>
            </a:pPr>
            <a:r>
              <a:rPr lang="en-US" sz="1200" b="1" dirty="0">
                <a:solidFill>
                  <a:srgbClr val="12161F"/>
                </a:solidFill>
                <a:latin typeface="Calibri" pitchFamily="34" charset="0"/>
                <a:ea typeface="Calibri" pitchFamily="34" charset="-122"/>
                <a:cs typeface="Calibri" pitchFamily="34" charset="-120"/>
              </a:rPr>
              <a:t>Timer</a:t>
            </a:r>
            <a:endParaRPr lang="en-US" sz="1200" dirty="0"/>
          </a:p>
        </p:txBody>
      </p:sp>
      <p:sp>
        <p:nvSpPr>
          <p:cNvPr id="40" name="Text 38"/>
          <p:cNvSpPr/>
          <p:nvPr/>
        </p:nvSpPr>
        <p:spPr>
          <a:xfrm>
            <a:off x="4498848" y="5303520"/>
            <a:ext cx="1444752" cy="457200"/>
          </a:xfrm>
          <a:prstGeom prst="rect">
            <a:avLst/>
          </a:prstGeom>
          <a:noFill/>
          <a:ln/>
        </p:spPr>
        <p:txBody>
          <a:bodyPr wrap="square" lIns="0" tIns="0" rIns="0" bIns="0" rtlCol="0" anchor="ctr"/>
          <a:lstStyle/>
          <a:p>
            <a:pPr indent="0" marL="0">
              <a:lnSpc>
                <a:spcPts val="1500"/>
              </a:lnSpc>
              <a:buNone/>
            </a:pPr>
            <a:r>
              <a:rPr lang="en-US" sz="1200" dirty="0">
                <a:solidFill>
                  <a:srgbClr val="5A6675"/>
                </a:solidFill>
                <a:latin typeface="Calibri" pitchFamily="34" charset="0"/>
                <a:ea typeface="Calibri" pitchFamily="34" charset="-122"/>
                <a:cs typeface="Calibri" pitchFamily="34" charset="-120"/>
              </a:rPr>
              <a:t>Off, 10 min</a:t>
            </a:r>
            <a:endParaRPr lang="en-US" sz="1200" dirty="0"/>
          </a:p>
        </p:txBody>
      </p:sp>
      <p:sp>
        <p:nvSpPr>
          <p:cNvPr id="41" name="Text 39"/>
          <p:cNvSpPr/>
          <p:nvPr/>
        </p:nvSpPr>
        <p:spPr>
          <a:xfrm>
            <a:off x="6327648" y="5303520"/>
            <a:ext cx="5187391" cy="457200"/>
          </a:xfrm>
          <a:prstGeom prst="rect">
            <a:avLst/>
          </a:prstGeom>
          <a:noFill/>
          <a:ln/>
        </p:spPr>
        <p:txBody>
          <a:bodyPr wrap="square" lIns="0" tIns="0" rIns="0" bIns="0" rtlCol="0" anchor="ctr"/>
          <a:lstStyle/>
          <a:p>
            <a:pPr indent="0" marL="0">
              <a:lnSpc>
                <a:spcPts val="1500"/>
              </a:lnSpc>
              <a:buNone/>
            </a:pPr>
            <a:r>
              <a:rPr lang="en-US" sz="1200" dirty="0">
                <a:solidFill>
                  <a:srgbClr val="5A6675"/>
                </a:solidFill>
                <a:latin typeface="Calibri" pitchFamily="34" charset="0"/>
                <a:ea typeface="Calibri" pitchFamily="34" charset="-122"/>
                <a:cs typeface="Calibri" pitchFamily="34" charset="-120"/>
              </a:rPr>
              <a:t>Almost never. Time pressure tests typing speed, not knowledge.</a:t>
            </a:r>
            <a:endParaRPr lang="en-US" sz="1200" dirty="0"/>
          </a:p>
        </p:txBody>
      </p:sp>
      <p:sp>
        <p:nvSpPr>
          <p:cNvPr id="42" name="Text 40"/>
          <p:cNvSpPr/>
          <p:nvPr/>
        </p:nvSpPr>
        <p:spPr>
          <a:xfrm>
            <a:off x="566928" y="5852160"/>
            <a:ext cx="11057839" cy="329184"/>
          </a:xfrm>
          <a:prstGeom prst="rect">
            <a:avLst/>
          </a:prstGeom>
          <a:noFill/>
          <a:ln/>
        </p:spPr>
        <p:txBody>
          <a:bodyPr wrap="square" lIns="0" tIns="0" rIns="0" bIns="0" rtlCol="0" anchor="ctr"/>
          <a:lstStyle/>
          <a:p>
            <a:pPr indent="0" marL="0">
              <a:buNone/>
            </a:pPr>
            <a:r>
              <a:rPr lang="en-US" sz="1150" i="1" dirty="0">
                <a:solidFill>
                  <a:srgbClr val="5A6675"/>
                </a:solidFill>
                <a:latin typeface="Calibri" pitchFamily="34" charset="0"/>
                <a:ea typeface="Calibri" pitchFamily="34" charset="-122"/>
                <a:cs typeface="Calibri" pitchFamily="34" charset="-120"/>
              </a:rPr>
              <a:t>Settings live behind the Settings button in the top right of the quiz editor — not in the block panel.</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Knowledge check or quiz?</a:t>
            </a:r>
            <a:endParaRPr lang="en-US" sz="3000" dirty="0"/>
          </a:p>
        </p:txBody>
      </p:sp>
      <p:sp>
        <p:nvSpPr>
          <p:cNvPr id="3" name="Text 1"/>
          <p:cNvSpPr/>
          <p:nvPr/>
        </p:nvSpPr>
        <p:spPr>
          <a:xfrm>
            <a:off x="566928" y="1005840"/>
            <a:ext cx="9067428"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They look almost identical to a learner. Only one of them can ever report a score.</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4  ·  Decide, then ship</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20</a:t>
            </a:r>
            <a:endParaRPr lang="en-US" sz="950" dirty="0"/>
          </a:p>
        </p:txBody>
      </p:sp>
      <p:sp>
        <p:nvSpPr>
          <p:cNvPr id="6" name="Shape 4"/>
          <p:cNvSpPr/>
          <p:nvPr/>
        </p:nvSpPr>
        <p:spPr>
          <a:xfrm>
            <a:off x="566928" y="1682496"/>
            <a:ext cx="5117440" cy="3200400"/>
          </a:xfrm>
          <a:prstGeom prst="roundRect">
            <a:avLst>
              <a:gd name="adj" fmla="val 2571"/>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7" name="Text 5"/>
          <p:cNvSpPr/>
          <p:nvPr/>
        </p:nvSpPr>
        <p:spPr>
          <a:xfrm>
            <a:off x="932688" y="1901952"/>
            <a:ext cx="4385920" cy="274320"/>
          </a:xfrm>
          <a:prstGeom prst="rect">
            <a:avLst/>
          </a:prstGeom>
          <a:noFill/>
          <a:ln/>
        </p:spPr>
        <p:txBody>
          <a:bodyPr wrap="square" lIns="0" tIns="0" rIns="0" bIns="0" rtlCol="0" anchor="ctr"/>
          <a:lstStyle/>
          <a:p>
            <a:pPr indent="0" marL="0">
              <a:buNone/>
            </a:pPr>
            <a:r>
              <a:rPr lang="en-US" sz="1100" b="1" spc="180" kern="0" dirty="0">
                <a:solidFill>
                  <a:srgbClr val="5A6675"/>
                </a:solidFill>
                <a:latin typeface="Calibri" pitchFamily="34" charset="0"/>
                <a:ea typeface="Calibri" pitchFamily="34" charset="-122"/>
                <a:cs typeface="Calibri" pitchFamily="34" charset="-120"/>
              </a:rPr>
              <a:t>KNOWLEDGE CHECK BLOCKS</a:t>
            </a:r>
            <a:endParaRPr lang="en-US" sz="1100" dirty="0"/>
          </a:p>
        </p:txBody>
      </p:sp>
      <p:sp>
        <p:nvSpPr>
          <p:cNvPr id="8" name="Text 6"/>
          <p:cNvSpPr/>
          <p:nvPr/>
        </p:nvSpPr>
        <p:spPr>
          <a:xfrm>
            <a:off x="932688" y="2286000"/>
            <a:ext cx="4385920" cy="2377440"/>
          </a:xfrm>
          <a:prstGeom prst="rect">
            <a:avLst/>
          </a:prstGeom>
          <a:noFill/>
          <a:ln/>
        </p:spPr>
        <p:txBody>
          <a:bodyPr wrap="square" lIns="0" tIns="0" rIns="0" bIns="0" rtlCol="0" anchor="t"/>
          <a:lstStyle/>
          <a:p>
            <a:pPr marL="342900" indent="-342900">
              <a:lnSpc>
                <a:spcPts val="2000"/>
              </a:lnSpc>
              <a:spcAft>
                <a:spcPts val="800"/>
              </a:spcAft>
              <a:buSzPct val="100000"/>
              <a:buChar char="•"/>
            </a:pPr>
            <a:r>
              <a:rPr lang="en-US" sz="1350" dirty="0">
                <a:solidFill>
                  <a:srgbClr val="12161F"/>
                </a:solidFill>
                <a:latin typeface="Calibri" pitchFamily="34" charset="0"/>
                <a:ea typeface="Calibri" pitchFamily="34" charset="-122"/>
                <a:cs typeface="Calibri" pitchFamily="34" charset="-120"/>
              </a:rPr>
              <a:t>Question types placed as blocks, inside a normal lesson</a:t>
            </a:r>
            <a:endParaRPr lang="en-US" sz="1350" dirty="0"/>
          </a:p>
          <a:p>
            <a:pPr marL="342900" indent="-342900">
              <a:lnSpc>
                <a:spcPts val="2000"/>
              </a:lnSpc>
              <a:spcAft>
                <a:spcPts val="800"/>
              </a:spcAft>
              <a:buSzPct val="100000"/>
              <a:buChar char="•"/>
            </a:pPr>
            <a:r>
              <a:rPr lang="en-US" sz="1350" dirty="0">
                <a:solidFill>
                  <a:srgbClr val="12161F"/>
                </a:solidFill>
                <a:latin typeface="Calibri" pitchFamily="34" charset="0"/>
                <a:ea typeface="Calibri" pitchFamily="34" charset="-122"/>
                <a:cs typeface="Calibri" pitchFamily="34" charset="-120"/>
              </a:rPr>
              <a:t>Practice — checking understanding as you go</a:t>
            </a:r>
            <a:endParaRPr lang="en-US" sz="1350" dirty="0"/>
          </a:p>
          <a:p>
            <a:pPr marL="342900" indent="-342900">
              <a:lnSpc>
                <a:spcPts val="2000"/>
              </a:lnSpc>
              <a:spcAft>
                <a:spcPts val="800"/>
              </a:spcAft>
              <a:buSzPct val="100000"/>
              <a:buChar char="•"/>
            </a:pPr>
            <a:r>
              <a:rPr lang="en-US" sz="1350" dirty="0">
                <a:solidFill>
                  <a:srgbClr val="12161F"/>
                </a:solidFill>
                <a:latin typeface="Calibri" pitchFamily="34" charset="0"/>
                <a:ea typeface="Calibri" pitchFamily="34" charset="-122"/>
                <a:cs typeface="Calibri" pitchFamily="34" charset="-120"/>
              </a:rPr>
              <a:t>No score, no pass mark, no record</a:t>
            </a:r>
            <a:endParaRPr lang="en-US" sz="1350" dirty="0"/>
          </a:p>
          <a:p>
            <a:pPr marL="342900" indent="-342900">
              <a:lnSpc>
                <a:spcPts val="2000"/>
              </a:lnSpc>
              <a:spcAft>
                <a:spcPts val="800"/>
              </a:spcAft>
              <a:buSzPct val="100000"/>
              <a:buChar char="•"/>
            </a:pPr>
            <a:r>
              <a:rPr lang="en-US" sz="1350" dirty="0">
                <a:solidFill>
                  <a:srgbClr val="12161F"/>
                </a:solidFill>
                <a:latin typeface="Calibri" pitchFamily="34" charset="0"/>
                <a:ea typeface="Calibri" pitchFamily="34" charset="-122"/>
                <a:cs typeface="Calibri" pitchFamily="34" charset="-120"/>
              </a:rPr>
              <a:t>Use them freely; they cost the learner nothing</a:t>
            </a:r>
            <a:endParaRPr lang="en-US" sz="1350" dirty="0"/>
          </a:p>
        </p:txBody>
      </p:sp>
      <p:sp>
        <p:nvSpPr>
          <p:cNvPr id="9" name="Shape 7"/>
          <p:cNvSpPr/>
          <p:nvPr/>
        </p:nvSpPr>
        <p:spPr>
          <a:xfrm>
            <a:off x="6507328" y="1682496"/>
            <a:ext cx="5117440" cy="3200400"/>
          </a:xfrm>
          <a:prstGeom prst="roundRect">
            <a:avLst>
              <a:gd name="adj" fmla="val 2571"/>
            </a:avLst>
          </a:prstGeom>
          <a:solidFill>
            <a:srgbClr val="12161F"/>
          </a:solidFill>
          <a:ln w="9525">
            <a:solidFill>
              <a:srgbClr val="12161F"/>
            </a:solidFill>
            <a:prstDash val="solid"/>
          </a:ln>
          <a:effectLst>
            <a:outerShdw sx="100000" sy="100000" kx="0" ky="0" algn="bl" rotWithShape="0" blurRad="177800" dist="38100" dir="5400000">
              <a:srgbClr val="9AA6B4">
                <a:alpha val="32000"/>
              </a:srgbClr>
            </a:outerShdw>
          </a:effectLst>
        </p:spPr>
      </p:sp>
      <p:sp>
        <p:nvSpPr>
          <p:cNvPr id="10" name="Text 8"/>
          <p:cNvSpPr/>
          <p:nvPr/>
        </p:nvSpPr>
        <p:spPr>
          <a:xfrm>
            <a:off x="6873088" y="1901952"/>
            <a:ext cx="4385920" cy="274320"/>
          </a:xfrm>
          <a:prstGeom prst="rect">
            <a:avLst/>
          </a:prstGeom>
          <a:noFill/>
          <a:ln/>
        </p:spPr>
        <p:txBody>
          <a:bodyPr wrap="square" lIns="0" tIns="0" rIns="0" bIns="0" rtlCol="0" anchor="ctr"/>
          <a:lstStyle/>
          <a:p>
            <a:pPr indent="0" marL="0">
              <a:buNone/>
            </a:pPr>
            <a:r>
              <a:rPr lang="en-US" sz="1100" b="1" spc="180" kern="0" dirty="0">
                <a:solidFill>
                  <a:srgbClr val="ED6A2A"/>
                </a:solidFill>
                <a:latin typeface="Calibri" pitchFamily="34" charset="0"/>
                <a:ea typeface="Calibri" pitchFamily="34" charset="-122"/>
                <a:cs typeface="Calibri" pitchFamily="34" charset="-120"/>
              </a:rPr>
              <a:t>A QUIZ LESSON</a:t>
            </a:r>
            <a:endParaRPr lang="en-US" sz="1100" dirty="0"/>
          </a:p>
        </p:txBody>
      </p:sp>
      <p:sp>
        <p:nvSpPr>
          <p:cNvPr id="11" name="Text 9"/>
          <p:cNvSpPr/>
          <p:nvPr/>
        </p:nvSpPr>
        <p:spPr>
          <a:xfrm>
            <a:off x="6873088" y="2286000"/>
            <a:ext cx="4385920" cy="2377440"/>
          </a:xfrm>
          <a:prstGeom prst="rect">
            <a:avLst/>
          </a:prstGeom>
          <a:noFill/>
          <a:ln/>
        </p:spPr>
        <p:txBody>
          <a:bodyPr wrap="square" lIns="0" tIns="0" rIns="0" bIns="0" rtlCol="0" anchor="t"/>
          <a:lstStyle/>
          <a:p>
            <a:pPr marL="342900" indent="-342900">
              <a:lnSpc>
                <a:spcPts val="2000"/>
              </a:lnSpc>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A lesson type of its own, added from the outline</a:t>
            </a:r>
            <a:endParaRPr lang="en-US" sz="1350" dirty="0"/>
          </a:p>
          <a:p>
            <a:pPr marL="342900" indent="-342900">
              <a:lnSpc>
                <a:spcPts val="2000"/>
              </a:lnSpc>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Scored, with a passing score and retries</a:t>
            </a:r>
            <a:endParaRPr lang="en-US" sz="1350" dirty="0"/>
          </a:p>
          <a:p>
            <a:pPr marL="342900" indent="-342900">
              <a:lnSpc>
                <a:spcPts val="2000"/>
              </a:lnSpc>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The only thing an LMS can read as a result</a:t>
            </a:r>
            <a:endParaRPr lang="en-US" sz="1350" dirty="0"/>
          </a:p>
          <a:p>
            <a:pPr marL="342900" indent="-342900">
              <a:lnSpc>
                <a:spcPts val="2000"/>
              </a:lnSpc>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Microlearning cannot hold one — you need a Course</a:t>
            </a:r>
            <a:endParaRPr lang="en-US" sz="1350" dirty="0"/>
          </a:p>
        </p:txBody>
      </p:sp>
      <p:sp>
        <p:nvSpPr>
          <p:cNvPr id="12" name="Shape 10"/>
          <p:cNvSpPr/>
          <p:nvPr/>
        </p:nvSpPr>
        <p:spPr>
          <a:xfrm>
            <a:off x="566928" y="5084064"/>
            <a:ext cx="11057839" cy="786384"/>
          </a:xfrm>
          <a:prstGeom prst="roundRect">
            <a:avLst>
              <a:gd name="adj" fmla="val 10465"/>
            </a:avLst>
          </a:prstGeom>
          <a:solidFill>
            <a:srgbClr val="FFF4EE"/>
          </a:solidFill>
          <a:ln w="9525">
            <a:solidFill>
              <a:srgbClr val="F6C7AC"/>
            </a:solidFill>
            <a:prstDash val="solid"/>
          </a:ln>
        </p:spPr>
      </p:sp>
      <p:sp>
        <p:nvSpPr>
          <p:cNvPr id="13" name="Text 11"/>
          <p:cNvSpPr/>
          <p:nvPr/>
        </p:nvSpPr>
        <p:spPr>
          <a:xfrm>
            <a:off x="932688" y="5084064"/>
            <a:ext cx="10326319" cy="786384"/>
          </a:xfrm>
          <a:prstGeom prst="rect">
            <a:avLst/>
          </a:prstGeom>
          <a:noFill/>
          <a:ln/>
        </p:spPr>
        <p:txBody>
          <a:bodyPr wrap="square" lIns="0" tIns="0" rIns="0" bIns="0" rtlCol="0" anchor="ctr"/>
          <a:lstStyle/>
          <a:p>
            <a:pPr algn="ctr" indent="0" marL="0">
              <a:buNone/>
            </a:pPr>
            <a:r>
              <a:rPr lang="en-US" sz="1900" b="1" dirty="0">
                <a:solidFill>
                  <a:srgbClr val="7A3F1C"/>
                </a:solidFill>
                <a:latin typeface="Cambria" pitchFamily="34" charset="0"/>
                <a:ea typeface="Cambria" pitchFamily="34" charset="-122"/>
                <a:cs typeface="Cambria" pitchFamily="34" charset="-120"/>
              </a:rPr>
              <a:t>Build a course entirely of knowledge checks and your LMS report will be empty.</a:t>
            </a:r>
            <a:endParaRPr lang="en-US" sz="1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2161F"/>
        </a:solidFill>
      </p:bgPr>
    </p:bg>
    <p:spTree>
      <p:nvGrpSpPr>
        <p:cNvPr id="1" name=""/>
        <p:cNvGrpSpPr/>
        <p:nvPr/>
      </p:nvGrpSpPr>
      <p:grpSpPr>
        <a:xfrm>
          <a:off x="0" y="0"/>
          <a:ext cx="0" cy="0"/>
          <a:chOff x="0" y="0"/>
          <a:chExt cx="0" cy="0"/>
        </a:xfrm>
      </p:grpSpPr>
      <p:sp>
        <p:nvSpPr>
          <p:cNvPr id="2" name="Text 0"/>
          <p:cNvSpPr/>
          <p:nvPr/>
        </p:nvSpPr>
        <p:spPr>
          <a:xfrm>
            <a:off x="566928" y="2148840"/>
            <a:ext cx="6634704" cy="274320"/>
          </a:xfrm>
          <a:prstGeom prst="rect">
            <a:avLst/>
          </a:prstGeom>
          <a:noFill/>
          <a:ln/>
        </p:spPr>
        <p:txBody>
          <a:bodyPr wrap="square" lIns="0" tIns="0" rIns="0" bIns="0" rtlCol="0" anchor="ctr"/>
          <a:lstStyle/>
          <a:p>
            <a:pPr indent="0" marL="0">
              <a:buNone/>
            </a:pPr>
            <a:r>
              <a:rPr lang="en-US" sz="1200" b="1" spc="220" kern="0" dirty="0">
                <a:solidFill>
                  <a:srgbClr val="ED6A2A"/>
                </a:solidFill>
                <a:latin typeface="Calibri" pitchFamily="34" charset="0"/>
                <a:ea typeface="Calibri" pitchFamily="34" charset="-122"/>
                <a:cs typeface="Calibri" pitchFamily="34" charset="-120"/>
              </a:rPr>
              <a:t>SECTION FOUR</a:t>
            </a:r>
            <a:endParaRPr lang="en-US" sz="1200" dirty="0"/>
          </a:p>
        </p:txBody>
      </p:sp>
      <p:sp>
        <p:nvSpPr>
          <p:cNvPr id="3" name="Text 1"/>
          <p:cNvSpPr/>
          <p:nvPr/>
        </p:nvSpPr>
        <p:spPr>
          <a:xfrm>
            <a:off x="566928" y="2487168"/>
            <a:ext cx="6855860" cy="10515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Four ways out</a:t>
            </a:r>
            <a:endParaRPr lang="en-US" sz="4000" dirty="0"/>
          </a:p>
        </p:txBody>
      </p:sp>
      <p:sp>
        <p:nvSpPr>
          <p:cNvPr id="4" name="Text 2"/>
          <p:cNvSpPr/>
          <p:nvPr/>
        </p:nvSpPr>
        <p:spPr>
          <a:xfrm>
            <a:off x="566928" y="3712464"/>
            <a:ext cx="5971233" cy="822960"/>
          </a:xfrm>
          <a:prstGeom prst="rect">
            <a:avLst/>
          </a:prstGeom>
          <a:noFill/>
          <a:ln/>
        </p:spPr>
        <p:txBody>
          <a:bodyPr wrap="square" lIns="0" tIns="0" rIns="0" bIns="0" rtlCol="0" anchor="t"/>
          <a:lstStyle/>
          <a:p>
            <a:pPr indent="0" marL="0">
              <a:lnSpc>
                <a:spcPts val="2200"/>
              </a:lnSpc>
              <a:buNone/>
            </a:pPr>
            <a:r>
              <a:rPr lang="en-US" sz="1450" dirty="0">
                <a:solidFill>
                  <a:srgbClr val="A9B3C0"/>
                </a:solidFill>
                <a:latin typeface="Calibri" pitchFamily="34" charset="0"/>
                <a:ea typeface="Calibri" pitchFamily="34" charset="-122"/>
                <a:cs typeface="Calibri" pitchFamily="34" charset="-120"/>
              </a:rPr>
              <a:t>Preview like a learner first. Then pick the door that matches who is taking this and what you need to know about them.</a:t>
            </a:r>
            <a:endParaRPr lang="en-US" sz="1450" dirty="0"/>
          </a:p>
        </p:txBody>
      </p:sp>
      <p:sp>
        <p:nvSpPr>
          <p:cNvPr id="5" name="Shape 3"/>
          <p:cNvSpPr/>
          <p:nvPr/>
        </p:nvSpPr>
        <p:spPr>
          <a:xfrm>
            <a:off x="9338767" y="2331720"/>
            <a:ext cx="1920240" cy="475488"/>
          </a:xfrm>
          <a:prstGeom prst="roundRect">
            <a:avLst>
              <a:gd name="adj" fmla="val 15385"/>
            </a:avLst>
          </a:prstGeom>
          <a:solidFill>
            <a:srgbClr val="1C2230"/>
          </a:solidFill>
          <a:ln w="12700">
            <a:solidFill>
              <a:srgbClr val="2A3242"/>
            </a:solidFill>
            <a:prstDash val="solid"/>
          </a:ln>
        </p:spPr>
      </p:sp>
      <p:sp>
        <p:nvSpPr>
          <p:cNvPr id="6" name="Shape 4"/>
          <p:cNvSpPr/>
          <p:nvPr/>
        </p:nvSpPr>
        <p:spPr>
          <a:xfrm>
            <a:off x="9466783" y="2990088"/>
            <a:ext cx="1920240" cy="475488"/>
          </a:xfrm>
          <a:prstGeom prst="roundRect">
            <a:avLst>
              <a:gd name="adj" fmla="val 15385"/>
            </a:avLst>
          </a:prstGeom>
          <a:solidFill>
            <a:srgbClr val="1C2230"/>
          </a:solidFill>
          <a:ln w="12700">
            <a:solidFill>
              <a:srgbClr val="2A3242"/>
            </a:solidFill>
            <a:prstDash val="solid"/>
          </a:ln>
        </p:spPr>
      </p:sp>
      <p:sp>
        <p:nvSpPr>
          <p:cNvPr id="7" name="Shape 5"/>
          <p:cNvSpPr/>
          <p:nvPr/>
        </p:nvSpPr>
        <p:spPr>
          <a:xfrm>
            <a:off x="9594799" y="3648456"/>
            <a:ext cx="1920240" cy="475488"/>
          </a:xfrm>
          <a:prstGeom prst="roundRect">
            <a:avLst>
              <a:gd name="adj" fmla="val 15385"/>
            </a:avLst>
          </a:prstGeom>
          <a:solidFill>
            <a:srgbClr val="ED6A2A"/>
          </a:solidFill>
          <a:ln w="12700">
            <a:solidFill>
              <a:srgbClr val="ED6A2A"/>
            </a:solidFill>
            <a:prstDash val="solid"/>
          </a:ln>
        </p:spPr>
      </p:sp>
      <p:sp>
        <p:nvSpPr>
          <p:cNvPr id="8" name="Text 6"/>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A9B3C0"/>
                </a:solidFill>
                <a:latin typeface="Calibri" pitchFamily="34" charset="0"/>
                <a:ea typeface="Calibri" pitchFamily="34" charset="-122"/>
                <a:cs typeface="Calibri" pitchFamily="34" charset="-120"/>
              </a:rPr>
              <a:t>Rise 360  ·  Day 4  ·  Decide, then ship</a:t>
            </a:r>
            <a:endParaRPr lang="en-US" sz="950" dirty="0"/>
          </a:p>
        </p:txBody>
      </p:sp>
      <p:sp>
        <p:nvSpPr>
          <p:cNvPr id="9" name="Text 7"/>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A9B3C0"/>
                </a:solidFill>
                <a:latin typeface="Calibri" pitchFamily="34" charset="0"/>
                <a:ea typeface="Calibri" pitchFamily="34" charset="-122"/>
                <a:cs typeface="Calibri" pitchFamily="34" charset="-120"/>
              </a:rPr>
              <a:t>21</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Preview like a learner, not like an author</a:t>
            </a:r>
            <a:endParaRPr lang="en-US" sz="3000" dirty="0"/>
          </a:p>
        </p:txBody>
      </p:sp>
      <p:sp>
        <p:nvSpPr>
          <p:cNvPr id="3" name="Text 1"/>
          <p:cNvSpPr/>
          <p:nvPr/>
        </p:nvSpPr>
        <p:spPr>
          <a:xfrm>
            <a:off x="566928" y="1005840"/>
            <a:ext cx="9067428"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Rise reflows rather than laying out fixed pages, so you never design for a device — but you do have to look.</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4  ·  Decide, then ship</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22</a:t>
            </a:r>
            <a:endParaRPr lang="en-US" sz="950" dirty="0"/>
          </a:p>
        </p:txBody>
      </p:sp>
      <p:sp>
        <p:nvSpPr>
          <p:cNvPr id="6" name="Shape 4"/>
          <p:cNvSpPr/>
          <p:nvPr/>
        </p:nvSpPr>
        <p:spPr>
          <a:xfrm>
            <a:off x="883768" y="2194560"/>
            <a:ext cx="2743200" cy="1737360"/>
          </a:xfrm>
          <a:prstGeom prst="roundRect">
            <a:avLst>
              <a:gd name="adj" fmla="val 4211"/>
            </a:avLst>
          </a:prstGeom>
          <a:solidFill>
            <a:srgbClr val="FFFFFF"/>
          </a:solidFill>
          <a:ln w="15875">
            <a:solidFill>
              <a:srgbClr val="A9B3C0"/>
            </a:solidFill>
            <a:prstDash val="solid"/>
          </a:ln>
          <a:effectLst>
            <a:outerShdw sx="100000" sy="100000" kx="0" ky="0" algn="bl" rotWithShape="0" blurRad="127000" dist="38100" dir="5400000">
              <a:srgbClr val="9AA6B4">
                <a:alpha val="20000"/>
              </a:srgbClr>
            </a:outerShdw>
          </a:effectLst>
        </p:spPr>
      </p:sp>
      <p:sp>
        <p:nvSpPr>
          <p:cNvPr id="7" name="Text 5"/>
          <p:cNvSpPr/>
          <p:nvPr/>
        </p:nvSpPr>
        <p:spPr>
          <a:xfrm>
            <a:off x="700888" y="4041648"/>
            <a:ext cx="3108960" cy="548640"/>
          </a:xfrm>
          <a:prstGeom prst="rect">
            <a:avLst/>
          </a:prstGeom>
          <a:noFill/>
          <a:ln/>
        </p:spPr>
        <p:txBody>
          <a:bodyPr wrap="square" lIns="0" tIns="0" rIns="0" bIns="0" rtlCol="0" anchor="t"/>
          <a:lstStyle/>
          <a:p>
            <a:pPr algn="ctr" indent="0" marL="0">
              <a:lnSpc>
                <a:spcPts val="1500"/>
              </a:lnSpc>
              <a:buNone/>
            </a:pPr>
            <a:r>
              <a:rPr lang="en-US" sz="1200" b="1" dirty="0">
                <a:solidFill>
                  <a:srgbClr val="12161F"/>
                </a:solidFill>
                <a:latin typeface="Calibri" pitchFamily="34" charset="0"/>
                <a:ea typeface="Calibri" pitchFamily="34" charset="-122"/>
                <a:cs typeface="Calibri" pitchFamily="34" charset="-120"/>
              </a:rPr>
              <a:t>Desktop</a:t>
            </a:r>
            <a:endParaRPr lang="en-US" sz="1200" dirty="0"/>
          </a:p>
        </p:txBody>
      </p:sp>
      <p:sp>
        <p:nvSpPr>
          <p:cNvPr id="8" name="Text 6"/>
          <p:cNvSpPr/>
          <p:nvPr/>
        </p:nvSpPr>
        <p:spPr>
          <a:xfrm>
            <a:off x="563728" y="4608576"/>
            <a:ext cx="3383280" cy="457200"/>
          </a:xfrm>
          <a:prstGeom prst="rect">
            <a:avLst/>
          </a:prstGeom>
          <a:noFill/>
          <a:ln/>
        </p:spPr>
        <p:txBody>
          <a:bodyPr wrap="square" lIns="0" tIns="0" rIns="0" bIns="0" rtlCol="0" anchor="t"/>
          <a:lstStyle/>
          <a:p>
            <a:pPr algn="ctr" indent="0" marL="0">
              <a:lnSpc>
                <a:spcPts val="1400"/>
              </a:lnSpc>
              <a:buNone/>
            </a:pPr>
            <a:r>
              <a:rPr lang="en-US" sz="1050" i="1" dirty="0">
                <a:solidFill>
                  <a:srgbClr val="5A6675"/>
                </a:solidFill>
                <a:latin typeface="Calibri" pitchFamily="34" charset="0"/>
                <a:ea typeface="Calibri" pitchFamily="34" charset="-122"/>
                <a:cs typeface="Calibri" pitchFamily="34" charset="-120"/>
              </a:rPr>
              <a:t>the one you built in</a:t>
            </a:r>
            <a:endParaRPr lang="en-US" sz="1050" dirty="0"/>
          </a:p>
        </p:txBody>
      </p:sp>
      <p:sp>
        <p:nvSpPr>
          <p:cNvPr id="9" name="Shape 7"/>
          <p:cNvSpPr/>
          <p:nvPr/>
        </p:nvSpPr>
        <p:spPr>
          <a:xfrm>
            <a:off x="4084168" y="2560320"/>
            <a:ext cx="2011680" cy="1371600"/>
          </a:xfrm>
          <a:prstGeom prst="roundRect">
            <a:avLst>
              <a:gd name="adj" fmla="val 5333"/>
            </a:avLst>
          </a:prstGeom>
          <a:solidFill>
            <a:srgbClr val="FFFFFF"/>
          </a:solidFill>
          <a:ln w="15875">
            <a:solidFill>
              <a:srgbClr val="A9B3C0"/>
            </a:solidFill>
            <a:prstDash val="solid"/>
          </a:ln>
          <a:effectLst>
            <a:outerShdw sx="100000" sy="100000" kx="0" ky="0" algn="bl" rotWithShape="0" blurRad="127000" dist="38100" dir="5400000">
              <a:srgbClr val="9AA6B4">
                <a:alpha val="20000"/>
              </a:srgbClr>
            </a:outerShdw>
          </a:effectLst>
        </p:spPr>
      </p:sp>
      <p:sp>
        <p:nvSpPr>
          <p:cNvPr id="10" name="Text 8"/>
          <p:cNvSpPr/>
          <p:nvPr/>
        </p:nvSpPr>
        <p:spPr>
          <a:xfrm>
            <a:off x="3901288" y="4041648"/>
            <a:ext cx="2377440" cy="548640"/>
          </a:xfrm>
          <a:prstGeom prst="rect">
            <a:avLst/>
          </a:prstGeom>
          <a:noFill/>
          <a:ln/>
        </p:spPr>
        <p:txBody>
          <a:bodyPr wrap="square" lIns="0" tIns="0" rIns="0" bIns="0" rtlCol="0" anchor="t"/>
          <a:lstStyle/>
          <a:p>
            <a:pPr algn="ctr" indent="0" marL="0">
              <a:lnSpc>
                <a:spcPts val="1500"/>
              </a:lnSpc>
              <a:buNone/>
            </a:pPr>
            <a:r>
              <a:rPr lang="en-US" sz="1200" b="1" dirty="0">
                <a:solidFill>
                  <a:srgbClr val="12161F"/>
                </a:solidFill>
                <a:latin typeface="Calibri" pitchFamily="34" charset="0"/>
                <a:ea typeface="Calibri" pitchFamily="34" charset="-122"/>
                <a:cs typeface="Calibri" pitchFamily="34" charset="-120"/>
              </a:rPr>
              <a:t>Tablet</a:t>
            </a:r>
            <a:endParaRPr lang="en-US" sz="1200" dirty="0"/>
          </a:p>
          <a:p>
            <a:pPr algn="ctr" indent="0" marL="0">
              <a:lnSpc>
                <a:spcPts val="1500"/>
              </a:lnSpc>
              <a:buNone/>
            </a:pPr>
            <a:r>
              <a:rPr lang="en-US" sz="1200" b="1" dirty="0">
                <a:solidFill>
                  <a:srgbClr val="12161F"/>
                </a:solidFill>
                <a:latin typeface="Calibri" pitchFamily="34" charset="0"/>
                <a:ea typeface="Calibri" pitchFamily="34" charset="-122"/>
                <a:cs typeface="Calibri" pitchFamily="34" charset="-120"/>
              </a:rPr>
              <a:t>landscape</a:t>
            </a:r>
            <a:endParaRPr lang="en-US" sz="1200" dirty="0"/>
          </a:p>
        </p:txBody>
      </p:sp>
      <p:sp>
        <p:nvSpPr>
          <p:cNvPr id="11" name="Shape 9"/>
          <p:cNvSpPr/>
          <p:nvPr/>
        </p:nvSpPr>
        <p:spPr>
          <a:xfrm>
            <a:off x="6553048" y="2011680"/>
            <a:ext cx="1371600" cy="1920240"/>
          </a:xfrm>
          <a:prstGeom prst="roundRect">
            <a:avLst>
              <a:gd name="adj" fmla="val 5333"/>
            </a:avLst>
          </a:prstGeom>
          <a:solidFill>
            <a:srgbClr val="FFFFFF"/>
          </a:solidFill>
          <a:ln w="15875">
            <a:solidFill>
              <a:srgbClr val="A9B3C0"/>
            </a:solidFill>
            <a:prstDash val="solid"/>
          </a:ln>
          <a:effectLst>
            <a:outerShdw sx="100000" sy="100000" kx="0" ky="0" algn="bl" rotWithShape="0" blurRad="127000" dist="38100" dir="5400000">
              <a:srgbClr val="9AA6B4">
                <a:alpha val="20000"/>
              </a:srgbClr>
            </a:outerShdw>
          </a:effectLst>
        </p:spPr>
      </p:sp>
      <p:sp>
        <p:nvSpPr>
          <p:cNvPr id="12" name="Text 10"/>
          <p:cNvSpPr/>
          <p:nvPr/>
        </p:nvSpPr>
        <p:spPr>
          <a:xfrm>
            <a:off x="6370168" y="4041648"/>
            <a:ext cx="1737360" cy="548640"/>
          </a:xfrm>
          <a:prstGeom prst="rect">
            <a:avLst/>
          </a:prstGeom>
          <a:noFill/>
          <a:ln/>
        </p:spPr>
        <p:txBody>
          <a:bodyPr wrap="square" lIns="0" tIns="0" rIns="0" bIns="0" rtlCol="0" anchor="t"/>
          <a:lstStyle/>
          <a:p>
            <a:pPr algn="ctr" indent="0" marL="0">
              <a:lnSpc>
                <a:spcPts val="1500"/>
              </a:lnSpc>
              <a:buNone/>
            </a:pPr>
            <a:r>
              <a:rPr lang="en-US" sz="1200" b="1" dirty="0">
                <a:solidFill>
                  <a:srgbClr val="12161F"/>
                </a:solidFill>
                <a:latin typeface="Calibri" pitchFamily="34" charset="0"/>
                <a:ea typeface="Calibri" pitchFamily="34" charset="-122"/>
                <a:cs typeface="Calibri" pitchFamily="34" charset="-120"/>
              </a:rPr>
              <a:t>Tablet</a:t>
            </a:r>
            <a:endParaRPr lang="en-US" sz="1200" dirty="0"/>
          </a:p>
          <a:p>
            <a:pPr algn="ctr" indent="0" marL="0">
              <a:lnSpc>
                <a:spcPts val="1500"/>
              </a:lnSpc>
              <a:buNone/>
            </a:pPr>
            <a:r>
              <a:rPr lang="en-US" sz="1200" b="1" dirty="0">
                <a:solidFill>
                  <a:srgbClr val="12161F"/>
                </a:solidFill>
                <a:latin typeface="Calibri" pitchFamily="34" charset="0"/>
                <a:ea typeface="Calibri" pitchFamily="34" charset="-122"/>
                <a:cs typeface="Calibri" pitchFamily="34" charset="-120"/>
              </a:rPr>
              <a:t>portrait</a:t>
            </a:r>
            <a:endParaRPr lang="en-US" sz="1200" dirty="0"/>
          </a:p>
        </p:txBody>
      </p:sp>
      <p:sp>
        <p:nvSpPr>
          <p:cNvPr id="13" name="Shape 11"/>
          <p:cNvSpPr/>
          <p:nvPr/>
        </p:nvSpPr>
        <p:spPr>
          <a:xfrm>
            <a:off x="8381848" y="3017520"/>
            <a:ext cx="1554480" cy="914400"/>
          </a:xfrm>
          <a:prstGeom prst="roundRect">
            <a:avLst>
              <a:gd name="adj" fmla="val 8000"/>
            </a:avLst>
          </a:prstGeom>
          <a:solidFill>
            <a:srgbClr val="FFFFFF"/>
          </a:solidFill>
          <a:ln w="15875">
            <a:solidFill>
              <a:srgbClr val="A9B3C0"/>
            </a:solidFill>
            <a:prstDash val="solid"/>
          </a:ln>
          <a:effectLst>
            <a:outerShdw sx="100000" sy="100000" kx="0" ky="0" algn="bl" rotWithShape="0" blurRad="127000" dist="38100" dir="5400000">
              <a:srgbClr val="9AA6B4">
                <a:alpha val="20000"/>
              </a:srgbClr>
            </a:outerShdw>
          </a:effectLst>
        </p:spPr>
      </p:sp>
      <p:sp>
        <p:nvSpPr>
          <p:cNvPr id="14" name="Text 12"/>
          <p:cNvSpPr/>
          <p:nvPr/>
        </p:nvSpPr>
        <p:spPr>
          <a:xfrm>
            <a:off x="8198968" y="4041648"/>
            <a:ext cx="1920240" cy="548640"/>
          </a:xfrm>
          <a:prstGeom prst="rect">
            <a:avLst/>
          </a:prstGeom>
          <a:noFill/>
          <a:ln/>
        </p:spPr>
        <p:txBody>
          <a:bodyPr wrap="square" lIns="0" tIns="0" rIns="0" bIns="0" rtlCol="0" anchor="t"/>
          <a:lstStyle/>
          <a:p>
            <a:pPr algn="ctr" indent="0" marL="0">
              <a:lnSpc>
                <a:spcPts val="1500"/>
              </a:lnSpc>
              <a:buNone/>
            </a:pPr>
            <a:r>
              <a:rPr lang="en-US" sz="1200" b="1" dirty="0">
                <a:solidFill>
                  <a:srgbClr val="12161F"/>
                </a:solidFill>
                <a:latin typeface="Calibri" pitchFamily="34" charset="0"/>
                <a:ea typeface="Calibri" pitchFamily="34" charset="-122"/>
                <a:cs typeface="Calibri" pitchFamily="34" charset="-120"/>
              </a:rPr>
              <a:t>Mobile</a:t>
            </a:r>
            <a:endParaRPr lang="en-US" sz="1200" dirty="0"/>
          </a:p>
          <a:p>
            <a:pPr algn="ctr" indent="0" marL="0">
              <a:lnSpc>
                <a:spcPts val="1500"/>
              </a:lnSpc>
              <a:buNone/>
            </a:pPr>
            <a:r>
              <a:rPr lang="en-US" sz="1200" b="1" dirty="0">
                <a:solidFill>
                  <a:srgbClr val="12161F"/>
                </a:solidFill>
                <a:latin typeface="Calibri" pitchFamily="34" charset="0"/>
                <a:ea typeface="Calibri" pitchFamily="34" charset="-122"/>
                <a:cs typeface="Calibri" pitchFamily="34" charset="-120"/>
              </a:rPr>
              <a:t>landscape</a:t>
            </a:r>
            <a:endParaRPr lang="en-US" sz="1200" dirty="0"/>
          </a:p>
        </p:txBody>
      </p:sp>
      <p:sp>
        <p:nvSpPr>
          <p:cNvPr id="15" name="Shape 13"/>
          <p:cNvSpPr/>
          <p:nvPr/>
        </p:nvSpPr>
        <p:spPr>
          <a:xfrm>
            <a:off x="10393528" y="2240280"/>
            <a:ext cx="914400" cy="1691640"/>
          </a:xfrm>
          <a:prstGeom prst="roundRect">
            <a:avLst>
              <a:gd name="adj" fmla="val 8000"/>
            </a:avLst>
          </a:prstGeom>
          <a:solidFill>
            <a:srgbClr val="ED6A2A"/>
          </a:solidFill>
          <a:ln w="25400">
            <a:solidFill>
              <a:srgbClr val="ED6A2A"/>
            </a:solidFill>
            <a:prstDash val="solid"/>
          </a:ln>
          <a:effectLst>
            <a:outerShdw sx="100000" sy="100000" kx="0" ky="0" algn="bl" rotWithShape="0" blurRad="127000" dist="38100" dir="5400000">
              <a:srgbClr val="9AA6B4">
                <a:alpha val="20000"/>
              </a:srgbClr>
            </a:outerShdw>
          </a:effectLst>
        </p:spPr>
      </p:sp>
      <p:sp>
        <p:nvSpPr>
          <p:cNvPr id="16" name="Text 14"/>
          <p:cNvSpPr/>
          <p:nvPr/>
        </p:nvSpPr>
        <p:spPr>
          <a:xfrm>
            <a:off x="10210648" y="4041648"/>
            <a:ext cx="1280160" cy="548640"/>
          </a:xfrm>
          <a:prstGeom prst="rect">
            <a:avLst/>
          </a:prstGeom>
          <a:noFill/>
          <a:ln/>
        </p:spPr>
        <p:txBody>
          <a:bodyPr wrap="square" lIns="0" tIns="0" rIns="0" bIns="0" rtlCol="0" anchor="t"/>
          <a:lstStyle/>
          <a:p>
            <a:pPr algn="ctr" indent="0" marL="0">
              <a:lnSpc>
                <a:spcPts val="1500"/>
              </a:lnSpc>
              <a:buNone/>
            </a:pPr>
            <a:r>
              <a:rPr lang="en-US" sz="1200" b="1" dirty="0">
                <a:solidFill>
                  <a:srgbClr val="ED6A2A"/>
                </a:solidFill>
                <a:latin typeface="Calibri" pitchFamily="34" charset="0"/>
                <a:ea typeface="Calibri" pitchFamily="34" charset="-122"/>
                <a:cs typeface="Calibri" pitchFamily="34" charset="-120"/>
              </a:rPr>
              <a:t>Mobile</a:t>
            </a:r>
            <a:endParaRPr lang="en-US" sz="1200" dirty="0"/>
          </a:p>
          <a:p>
            <a:pPr algn="ctr" indent="0" marL="0">
              <a:lnSpc>
                <a:spcPts val="1500"/>
              </a:lnSpc>
              <a:buNone/>
            </a:pPr>
            <a:r>
              <a:rPr lang="en-US" sz="1200" b="1" dirty="0">
                <a:solidFill>
                  <a:srgbClr val="ED6A2A"/>
                </a:solidFill>
                <a:latin typeface="Calibri" pitchFamily="34" charset="0"/>
                <a:ea typeface="Calibri" pitchFamily="34" charset="-122"/>
                <a:cs typeface="Calibri" pitchFamily="34" charset="-120"/>
              </a:rPr>
              <a:t>portrait</a:t>
            </a:r>
            <a:endParaRPr lang="en-US" sz="1200" dirty="0"/>
          </a:p>
        </p:txBody>
      </p:sp>
      <p:sp>
        <p:nvSpPr>
          <p:cNvPr id="17" name="Text 15"/>
          <p:cNvSpPr/>
          <p:nvPr/>
        </p:nvSpPr>
        <p:spPr>
          <a:xfrm>
            <a:off x="10073488" y="4608576"/>
            <a:ext cx="1554480" cy="457200"/>
          </a:xfrm>
          <a:prstGeom prst="rect">
            <a:avLst/>
          </a:prstGeom>
          <a:noFill/>
          <a:ln/>
        </p:spPr>
        <p:txBody>
          <a:bodyPr wrap="square" lIns="0" tIns="0" rIns="0" bIns="0" rtlCol="0" anchor="t"/>
          <a:lstStyle/>
          <a:p>
            <a:pPr algn="ctr" indent="0" marL="0">
              <a:lnSpc>
                <a:spcPts val="1400"/>
              </a:lnSpc>
              <a:buNone/>
            </a:pPr>
            <a:r>
              <a:rPr lang="en-US" sz="1050" i="1" dirty="0">
                <a:solidFill>
                  <a:srgbClr val="5A6675"/>
                </a:solidFill>
                <a:latin typeface="Calibri" pitchFamily="34" charset="0"/>
                <a:ea typeface="Calibri" pitchFamily="34" charset="-122"/>
                <a:cs typeface="Calibri" pitchFamily="34" charset="-120"/>
              </a:rPr>
              <a:t>where most of them are</a:t>
            </a:r>
            <a:endParaRPr lang="en-US" sz="1050" dirty="0"/>
          </a:p>
        </p:txBody>
      </p:sp>
      <p:sp>
        <p:nvSpPr>
          <p:cNvPr id="18" name="Shape 16"/>
          <p:cNvSpPr/>
          <p:nvPr/>
        </p:nvSpPr>
        <p:spPr>
          <a:xfrm>
            <a:off x="566928" y="5138928"/>
            <a:ext cx="11057839" cy="548640"/>
          </a:xfrm>
          <a:prstGeom prst="roundRect">
            <a:avLst>
              <a:gd name="adj" fmla="val 15000"/>
            </a:avLst>
          </a:prstGeom>
          <a:solidFill>
            <a:srgbClr val="FFF4EE"/>
          </a:solidFill>
          <a:ln w="9525">
            <a:solidFill>
              <a:srgbClr val="F6C7AC"/>
            </a:solidFill>
            <a:prstDash val="solid"/>
          </a:ln>
        </p:spPr>
      </p:sp>
      <p:sp>
        <p:nvSpPr>
          <p:cNvPr id="19" name="Shape 17"/>
          <p:cNvSpPr/>
          <p:nvPr/>
        </p:nvSpPr>
        <p:spPr>
          <a:xfrm>
            <a:off x="786384" y="5312664"/>
            <a:ext cx="201168" cy="201168"/>
          </a:xfrm>
          <a:prstGeom prst="ellipse">
            <a:avLst/>
          </a:prstGeom>
          <a:solidFill>
            <a:srgbClr val="ED6A2A"/>
          </a:solidFill>
          <a:ln/>
        </p:spPr>
      </p:sp>
      <p:sp>
        <p:nvSpPr>
          <p:cNvPr id="20" name="Text 18"/>
          <p:cNvSpPr/>
          <p:nvPr/>
        </p:nvSpPr>
        <p:spPr>
          <a:xfrm>
            <a:off x="1115568" y="5138928"/>
            <a:ext cx="10253167" cy="548640"/>
          </a:xfrm>
          <a:prstGeom prst="rect">
            <a:avLst/>
          </a:prstGeom>
          <a:noFill/>
          <a:ln/>
        </p:spPr>
        <p:txBody>
          <a:bodyPr wrap="square" lIns="0" tIns="0" rIns="0" bIns="0" rtlCol="0" anchor="ctr"/>
          <a:lstStyle/>
          <a:p>
            <a:pPr indent="0" marL="0">
              <a:lnSpc>
                <a:spcPts val="1700"/>
              </a:lnSpc>
              <a:buNone/>
            </a:pPr>
            <a:r>
              <a:rPr lang="en-US" sz="1250" dirty="0">
                <a:solidFill>
                  <a:srgbClr val="7A3F1C"/>
                </a:solidFill>
                <a:latin typeface="Calibri" pitchFamily="34" charset="0"/>
                <a:ea typeface="Calibri" pitchFamily="34" charset="-122"/>
                <a:cs typeface="Calibri" pitchFamily="34" charset="-120"/>
              </a:rPr>
              <a:t>Land on mobile portrait and stay there. Button labels wrap, scenario text crowds the character, and labelled-graphic markers collide — all of it invisible on your desktop.</a:t>
            </a:r>
            <a:endParaRPr lang="en-US" sz="1250" dirty="0"/>
          </a:p>
        </p:txBody>
      </p:sp>
      <p:sp>
        <p:nvSpPr>
          <p:cNvPr id="21" name="Text 19"/>
          <p:cNvSpPr/>
          <p:nvPr/>
        </p:nvSpPr>
        <p:spPr>
          <a:xfrm>
            <a:off x="566928" y="5815584"/>
            <a:ext cx="11057839" cy="329184"/>
          </a:xfrm>
          <a:prstGeom prst="rect">
            <a:avLst/>
          </a:prstGeom>
          <a:noFill/>
          <a:ln/>
        </p:spPr>
        <p:txBody>
          <a:bodyPr wrap="square" lIns="0" tIns="0" rIns="0" bIns="0" rtlCol="0" anchor="ctr"/>
          <a:lstStyle/>
          <a:p>
            <a:pPr indent="0" marL="0">
              <a:buNone/>
            </a:pPr>
            <a:r>
              <a:rPr lang="en-US" sz="1150" i="1" dirty="0">
                <a:solidFill>
                  <a:srgbClr val="5A6675"/>
                </a:solidFill>
                <a:latin typeface="Calibri" pitchFamily="34" charset="0"/>
                <a:ea typeface="Calibri" pitchFamily="34" charset="-122"/>
                <a:cs typeface="Calibri" pitchFamily="34" charset="-120"/>
              </a:rPr>
              <a:t>Preview is beside Publish, top right. Five views, one click each.</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Four ways out of Rise</a:t>
            </a:r>
            <a:endParaRPr lang="en-US" sz="3000" dirty="0"/>
          </a:p>
        </p:txBody>
      </p:sp>
      <p:sp>
        <p:nvSpPr>
          <p:cNvPr id="3" name="Text 1"/>
          <p:cNvSpPr/>
          <p:nvPr/>
        </p:nvSpPr>
        <p:spPr>
          <a:xfrm>
            <a:off x="566928" y="1005840"/>
            <a:ext cx="9067428"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One question decides it: do you need to know who completed this?</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4  ·  Decide, then ship</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23</a:t>
            </a:r>
            <a:endParaRPr lang="en-US" sz="950" dirty="0"/>
          </a:p>
        </p:txBody>
      </p:sp>
      <p:sp>
        <p:nvSpPr>
          <p:cNvPr id="6" name="Shape 4"/>
          <p:cNvSpPr/>
          <p:nvPr/>
        </p:nvSpPr>
        <p:spPr>
          <a:xfrm>
            <a:off x="566928" y="1700784"/>
            <a:ext cx="11057839" cy="402336"/>
          </a:xfrm>
          <a:prstGeom prst="roundRect">
            <a:avLst>
              <a:gd name="adj" fmla="val 13636"/>
            </a:avLst>
          </a:prstGeom>
          <a:solidFill>
            <a:srgbClr val="12161F"/>
          </a:solidFill>
          <a:ln/>
        </p:spPr>
      </p:sp>
      <p:sp>
        <p:nvSpPr>
          <p:cNvPr id="7" name="Text 5"/>
          <p:cNvSpPr/>
          <p:nvPr/>
        </p:nvSpPr>
        <p:spPr>
          <a:xfrm>
            <a:off x="841248" y="1700784"/>
            <a:ext cx="1993392" cy="402336"/>
          </a:xfrm>
          <a:prstGeom prst="rect">
            <a:avLst/>
          </a:prstGeom>
          <a:noFill/>
          <a:ln/>
        </p:spPr>
        <p:txBody>
          <a:bodyPr wrap="square" lIns="0" tIns="0" rIns="0" bIns="0" rtlCol="0" anchor="ctr"/>
          <a:lstStyle/>
          <a:p>
            <a:pPr indent="0" marL="0">
              <a:buNone/>
            </a:pPr>
            <a:r>
              <a:rPr lang="en-US" sz="1150" b="1" spc="80" kern="0" dirty="0">
                <a:solidFill>
                  <a:srgbClr val="FFFFFF"/>
                </a:solidFill>
                <a:latin typeface="Calibri" pitchFamily="34" charset="0"/>
                <a:ea typeface="Calibri" pitchFamily="34" charset="-122"/>
                <a:cs typeface="Calibri" pitchFamily="34" charset="-120"/>
              </a:rPr>
              <a:t>Path</a:t>
            </a:r>
            <a:endParaRPr lang="en-US" sz="1150" dirty="0"/>
          </a:p>
        </p:txBody>
      </p:sp>
      <p:sp>
        <p:nvSpPr>
          <p:cNvPr id="8" name="Text 6"/>
          <p:cNvSpPr/>
          <p:nvPr/>
        </p:nvSpPr>
        <p:spPr>
          <a:xfrm>
            <a:off x="3218688" y="1700784"/>
            <a:ext cx="2816352" cy="402336"/>
          </a:xfrm>
          <a:prstGeom prst="rect">
            <a:avLst/>
          </a:prstGeom>
          <a:noFill/>
          <a:ln/>
        </p:spPr>
        <p:txBody>
          <a:bodyPr wrap="square" lIns="0" tIns="0" rIns="0" bIns="0" rtlCol="0" anchor="ctr"/>
          <a:lstStyle/>
          <a:p>
            <a:pPr indent="0" marL="0">
              <a:buNone/>
            </a:pPr>
            <a:r>
              <a:rPr lang="en-US" sz="1150" b="1" spc="80" kern="0" dirty="0">
                <a:solidFill>
                  <a:srgbClr val="FFFFFF"/>
                </a:solidFill>
                <a:latin typeface="Calibri" pitchFamily="34" charset="0"/>
                <a:ea typeface="Calibri" pitchFamily="34" charset="-122"/>
                <a:cs typeface="Calibri" pitchFamily="34" charset="-120"/>
              </a:rPr>
              <a:t>What you get</a:t>
            </a:r>
            <a:endParaRPr lang="en-US" sz="1150" dirty="0"/>
          </a:p>
        </p:txBody>
      </p:sp>
      <p:sp>
        <p:nvSpPr>
          <p:cNvPr id="9" name="Text 7"/>
          <p:cNvSpPr/>
          <p:nvPr/>
        </p:nvSpPr>
        <p:spPr>
          <a:xfrm>
            <a:off x="6419088" y="1700784"/>
            <a:ext cx="2542032" cy="402336"/>
          </a:xfrm>
          <a:prstGeom prst="rect">
            <a:avLst/>
          </a:prstGeom>
          <a:noFill/>
          <a:ln/>
        </p:spPr>
        <p:txBody>
          <a:bodyPr wrap="square" lIns="0" tIns="0" rIns="0" bIns="0" rtlCol="0" anchor="ctr"/>
          <a:lstStyle/>
          <a:p>
            <a:pPr indent="0" marL="0">
              <a:buNone/>
            </a:pPr>
            <a:r>
              <a:rPr lang="en-US" sz="1150" b="1" spc="80" kern="0" dirty="0">
                <a:solidFill>
                  <a:srgbClr val="FFFFFF"/>
                </a:solidFill>
                <a:latin typeface="Calibri" pitchFamily="34" charset="0"/>
                <a:ea typeface="Calibri" pitchFamily="34" charset="-122"/>
                <a:cs typeface="Calibri" pitchFamily="34" charset="-120"/>
              </a:rPr>
              <a:t>What it can tell you</a:t>
            </a:r>
            <a:endParaRPr lang="en-US" sz="1150" dirty="0"/>
          </a:p>
        </p:txBody>
      </p:sp>
      <p:sp>
        <p:nvSpPr>
          <p:cNvPr id="10" name="Text 8"/>
          <p:cNvSpPr/>
          <p:nvPr/>
        </p:nvSpPr>
        <p:spPr>
          <a:xfrm>
            <a:off x="9345168" y="1700784"/>
            <a:ext cx="2169871" cy="402336"/>
          </a:xfrm>
          <a:prstGeom prst="rect">
            <a:avLst/>
          </a:prstGeom>
          <a:noFill/>
          <a:ln/>
        </p:spPr>
        <p:txBody>
          <a:bodyPr wrap="square" lIns="0" tIns="0" rIns="0" bIns="0" rtlCol="0" anchor="ctr"/>
          <a:lstStyle/>
          <a:p>
            <a:pPr indent="0" marL="0">
              <a:buNone/>
            </a:pPr>
            <a:r>
              <a:rPr lang="en-US" sz="1150" b="1" spc="80" kern="0" dirty="0">
                <a:solidFill>
                  <a:srgbClr val="FFFFFF"/>
                </a:solidFill>
                <a:latin typeface="Calibri" pitchFamily="34" charset="0"/>
                <a:ea typeface="Calibri" pitchFamily="34" charset="-122"/>
                <a:cs typeface="Calibri" pitchFamily="34" charset="-120"/>
              </a:rPr>
              <a:t>Use it when</a:t>
            </a:r>
            <a:endParaRPr lang="en-US" sz="1150" dirty="0"/>
          </a:p>
        </p:txBody>
      </p:sp>
      <p:sp>
        <p:nvSpPr>
          <p:cNvPr id="11" name="Shape 9"/>
          <p:cNvSpPr/>
          <p:nvPr/>
        </p:nvSpPr>
        <p:spPr>
          <a:xfrm>
            <a:off x="566928" y="2103120"/>
            <a:ext cx="11057839" cy="603504"/>
          </a:xfrm>
          <a:prstGeom prst="rect">
            <a:avLst/>
          </a:prstGeom>
          <a:solidFill>
            <a:srgbClr val="FFFFFF"/>
          </a:solidFill>
          <a:ln w="6350">
            <a:solidFill>
              <a:srgbClr val="E2E6EB"/>
            </a:solidFill>
            <a:prstDash val="solid"/>
          </a:ln>
        </p:spPr>
      </p:sp>
      <p:sp>
        <p:nvSpPr>
          <p:cNvPr id="12" name="Text 10"/>
          <p:cNvSpPr/>
          <p:nvPr/>
        </p:nvSpPr>
        <p:spPr>
          <a:xfrm>
            <a:off x="841248" y="2103120"/>
            <a:ext cx="1993392" cy="603504"/>
          </a:xfrm>
          <a:prstGeom prst="rect">
            <a:avLst/>
          </a:prstGeom>
          <a:noFill/>
          <a:ln/>
        </p:spPr>
        <p:txBody>
          <a:bodyPr wrap="square" lIns="0" tIns="0" rIns="0" bIns="0" rtlCol="0" anchor="ctr"/>
          <a:lstStyle/>
          <a:p>
            <a:pPr indent="0" marL="0">
              <a:lnSpc>
                <a:spcPts val="1500"/>
              </a:lnSpc>
              <a:buNone/>
            </a:pPr>
            <a:r>
              <a:rPr lang="en-US" sz="1250" b="1" dirty="0">
                <a:solidFill>
                  <a:srgbClr val="ED6A2A"/>
                </a:solidFill>
                <a:latin typeface="Calibri" pitchFamily="34" charset="0"/>
                <a:ea typeface="Calibri" pitchFamily="34" charset="-122"/>
                <a:cs typeface="Calibri" pitchFamily="34" charset="-120"/>
              </a:rPr>
              <a:t>Quick Share</a:t>
            </a:r>
            <a:endParaRPr lang="en-US" sz="1250" dirty="0"/>
          </a:p>
        </p:txBody>
      </p:sp>
      <p:sp>
        <p:nvSpPr>
          <p:cNvPr id="13" name="Text 11"/>
          <p:cNvSpPr/>
          <p:nvPr/>
        </p:nvSpPr>
        <p:spPr>
          <a:xfrm>
            <a:off x="3218688" y="2103120"/>
            <a:ext cx="2816352" cy="603504"/>
          </a:xfrm>
          <a:prstGeom prst="rect">
            <a:avLst/>
          </a:prstGeom>
          <a:noFill/>
          <a:ln/>
        </p:spPr>
        <p:txBody>
          <a:bodyPr wrap="square" lIns="0" tIns="0" rIns="0" bIns="0" rtlCol="0" anchor="ctr"/>
          <a:lstStyle/>
          <a:p>
            <a:pPr indent="0" marL="0">
              <a:lnSpc>
                <a:spcPts val="1500"/>
              </a:lnSpc>
              <a:buNone/>
            </a:pPr>
            <a:r>
              <a:rPr lang="en-US" sz="1250" dirty="0">
                <a:solidFill>
                  <a:srgbClr val="12161F"/>
                </a:solidFill>
                <a:latin typeface="Calibri" pitchFamily="34" charset="0"/>
                <a:ea typeface="Calibri" pitchFamily="34" charset="-122"/>
                <a:cs typeface="Calibri" pitchFamily="34" charset="-120"/>
              </a:rPr>
              <a:t>One public link, immediately</a:t>
            </a:r>
            <a:endParaRPr lang="en-US" sz="1250" dirty="0"/>
          </a:p>
        </p:txBody>
      </p:sp>
      <p:sp>
        <p:nvSpPr>
          <p:cNvPr id="14" name="Text 12"/>
          <p:cNvSpPr/>
          <p:nvPr/>
        </p:nvSpPr>
        <p:spPr>
          <a:xfrm>
            <a:off x="6419088" y="2103120"/>
            <a:ext cx="2542032" cy="603504"/>
          </a:xfrm>
          <a:prstGeom prst="rect">
            <a:avLst/>
          </a:prstGeom>
          <a:noFill/>
          <a:ln/>
        </p:spPr>
        <p:txBody>
          <a:bodyPr wrap="square" lIns="0" tIns="0" rIns="0" bIns="0" rtlCol="0" anchor="ctr"/>
          <a:lstStyle/>
          <a:p>
            <a:pPr indent="0" marL="0">
              <a:lnSpc>
                <a:spcPts val="1500"/>
              </a:lnSpc>
              <a:buNone/>
            </a:pPr>
            <a:r>
              <a:rPr lang="en-US" sz="1250" dirty="0">
                <a:solidFill>
                  <a:srgbClr val="5A6675"/>
                </a:solidFill>
                <a:latin typeface="Calibri" pitchFamily="34" charset="0"/>
                <a:ea typeface="Calibri" pitchFamily="34" charset="-122"/>
                <a:cs typeface="Calibri" pitchFamily="34" charset="-120"/>
              </a:rPr>
              <a:t>Views and guestbook entries</a:t>
            </a:r>
            <a:endParaRPr lang="en-US" sz="1250" dirty="0"/>
          </a:p>
        </p:txBody>
      </p:sp>
      <p:sp>
        <p:nvSpPr>
          <p:cNvPr id="15" name="Text 13"/>
          <p:cNvSpPr/>
          <p:nvPr/>
        </p:nvSpPr>
        <p:spPr>
          <a:xfrm>
            <a:off x="9345168" y="2103120"/>
            <a:ext cx="2169871" cy="603504"/>
          </a:xfrm>
          <a:prstGeom prst="rect">
            <a:avLst/>
          </a:prstGeom>
          <a:noFill/>
          <a:ln/>
        </p:spPr>
        <p:txBody>
          <a:bodyPr wrap="square" lIns="0" tIns="0" rIns="0" bIns="0" rtlCol="0" anchor="ctr"/>
          <a:lstStyle/>
          <a:p>
            <a:pPr indent="0" marL="0">
              <a:lnSpc>
                <a:spcPts val="1500"/>
              </a:lnSpc>
              <a:buNone/>
            </a:pPr>
            <a:r>
              <a:rPr lang="en-US" sz="1250" dirty="0">
                <a:solidFill>
                  <a:srgbClr val="5A6675"/>
                </a:solidFill>
                <a:latin typeface="Calibri" pitchFamily="34" charset="0"/>
                <a:ea typeface="Calibri" pitchFamily="34" charset="-122"/>
                <a:cs typeface="Calibri" pitchFamily="34" charset="-120"/>
              </a:rPr>
              <a:t>It needs to be in someone’s hands today</a:t>
            </a:r>
            <a:endParaRPr lang="en-US" sz="1250" dirty="0"/>
          </a:p>
        </p:txBody>
      </p:sp>
      <p:sp>
        <p:nvSpPr>
          <p:cNvPr id="16" name="Shape 14"/>
          <p:cNvSpPr/>
          <p:nvPr/>
        </p:nvSpPr>
        <p:spPr>
          <a:xfrm>
            <a:off x="566928" y="2706624"/>
            <a:ext cx="11057839" cy="603504"/>
          </a:xfrm>
          <a:prstGeom prst="rect">
            <a:avLst/>
          </a:prstGeom>
          <a:solidFill>
            <a:srgbClr val="EDF1F5"/>
          </a:solidFill>
          <a:ln w="6350">
            <a:solidFill>
              <a:srgbClr val="E2E6EB"/>
            </a:solidFill>
            <a:prstDash val="solid"/>
          </a:ln>
        </p:spPr>
      </p:sp>
      <p:sp>
        <p:nvSpPr>
          <p:cNvPr id="17" name="Text 15"/>
          <p:cNvSpPr/>
          <p:nvPr/>
        </p:nvSpPr>
        <p:spPr>
          <a:xfrm>
            <a:off x="841248" y="2706624"/>
            <a:ext cx="1993392" cy="603504"/>
          </a:xfrm>
          <a:prstGeom prst="rect">
            <a:avLst/>
          </a:prstGeom>
          <a:noFill/>
          <a:ln/>
        </p:spPr>
        <p:txBody>
          <a:bodyPr wrap="square" lIns="0" tIns="0" rIns="0" bIns="0" rtlCol="0" anchor="ctr"/>
          <a:lstStyle/>
          <a:p>
            <a:pPr indent="0" marL="0">
              <a:lnSpc>
                <a:spcPts val="1500"/>
              </a:lnSpc>
              <a:buNone/>
            </a:pPr>
            <a:r>
              <a:rPr lang="en-US" sz="1250" b="1" dirty="0">
                <a:solidFill>
                  <a:srgbClr val="ED6A2A"/>
                </a:solidFill>
                <a:latin typeface="Calibri" pitchFamily="34" charset="0"/>
                <a:ea typeface="Calibri" pitchFamily="34" charset="-122"/>
                <a:cs typeface="Calibri" pitchFamily="34" charset="-120"/>
              </a:rPr>
              <a:t>Reach 360</a:t>
            </a:r>
            <a:endParaRPr lang="en-US" sz="1250" dirty="0"/>
          </a:p>
        </p:txBody>
      </p:sp>
      <p:sp>
        <p:nvSpPr>
          <p:cNvPr id="18" name="Text 16"/>
          <p:cNvSpPr/>
          <p:nvPr/>
        </p:nvSpPr>
        <p:spPr>
          <a:xfrm>
            <a:off x="3218688" y="2706624"/>
            <a:ext cx="2816352" cy="603504"/>
          </a:xfrm>
          <a:prstGeom prst="rect">
            <a:avLst/>
          </a:prstGeom>
          <a:noFill/>
          <a:ln/>
        </p:spPr>
        <p:txBody>
          <a:bodyPr wrap="square" lIns="0" tIns="0" rIns="0" bIns="0" rtlCol="0" anchor="ctr"/>
          <a:lstStyle/>
          <a:p>
            <a:pPr indent="0" marL="0">
              <a:lnSpc>
                <a:spcPts val="1500"/>
              </a:lnSpc>
              <a:buNone/>
            </a:pPr>
            <a:r>
              <a:rPr lang="en-US" sz="1250" dirty="0">
                <a:solidFill>
                  <a:srgbClr val="12161F"/>
                </a:solidFill>
                <a:latin typeface="Calibri" pitchFamily="34" charset="0"/>
                <a:ea typeface="Calibri" pitchFamily="34" charset="-122"/>
                <a:cs typeface="Calibri" pitchFamily="34" charset="-120"/>
              </a:rPr>
              <a:t>Articulate’s own LMS</a:t>
            </a:r>
            <a:endParaRPr lang="en-US" sz="1250" dirty="0"/>
          </a:p>
        </p:txBody>
      </p:sp>
      <p:sp>
        <p:nvSpPr>
          <p:cNvPr id="19" name="Text 17"/>
          <p:cNvSpPr/>
          <p:nvPr/>
        </p:nvSpPr>
        <p:spPr>
          <a:xfrm>
            <a:off x="6419088" y="2706624"/>
            <a:ext cx="2542032" cy="603504"/>
          </a:xfrm>
          <a:prstGeom prst="rect">
            <a:avLst/>
          </a:prstGeom>
          <a:noFill/>
          <a:ln/>
        </p:spPr>
        <p:txBody>
          <a:bodyPr wrap="square" lIns="0" tIns="0" rIns="0" bIns="0" rtlCol="0" anchor="ctr"/>
          <a:lstStyle/>
          <a:p>
            <a:pPr indent="0" marL="0">
              <a:lnSpc>
                <a:spcPts val="1500"/>
              </a:lnSpc>
              <a:buNone/>
            </a:pPr>
            <a:r>
              <a:rPr lang="en-US" sz="1250" dirty="0">
                <a:solidFill>
                  <a:srgbClr val="5A6675"/>
                </a:solidFill>
                <a:latin typeface="Calibri" pitchFamily="34" charset="0"/>
                <a:ea typeface="Calibri" pitchFamily="34" charset="-122"/>
                <a:cs typeface="Calibri" pitchFamily="34" charset="-120"/>
              </a:rPr>
              <a:t>Full learner reporting, certificates</a:t>
            </a:r>
            <a:endParaRPr lang="en-US" sz="1250" dirty="0"/>
          </a:p>
        </p:txBody>
      </p:sp>
      <p:sp>
        <p:nvSpPr>
          <p:cNvPr id="20" name="Text 18"/>
          <p:cNvSpPr/>
          <p:nvPr/>
        </p:nvSpPr>
        <p:spPr>
          <a:xfrm>
            <a:off x="9345168" y="2706624"/>
            <a:ext cx="2169871" cy="603504"/>
          </a:xfrm>
          <a:prstGeom prst="rect">
            <a:avLst/>
          </a:prstGeom>
          <a:noFill/>
          <a:ln/>
        </p:spPr>
        <p:txBody>
          <a:bodyPr wrap="square" lIns="0" tIns="0" rIns="0" bIns="0" rtlCol="0" anchor="ctr"/>
          <a:lstStyle/>
          <a:p>
            <a:pPr indent="0" marL="0">
              <a:lnSpc>
                <a:spcPts val="1500"/>
              </a:lnSpc>
              <a:buNone/>
            </a:pPr>
            <a:r>
              <a:rPr lang="en-US" sz="1250" dirty="0">
                <a:solidFill>
                  <a:srgbClr val="5A6675"/>
                </a:solidFill>
                <a:latin typeface="Calibri" pitchFamily="34" charset="0"/>
                <a:ea typeface="Calibri" pitchFamily="34" charset="-122"/>
                <a:cs typeface="Calibri" pitchFamily="34" charset="-120"/>
              </a:rPr>
              <a:t>Your learners are outside the company</a:t>
            </a:r>
            <a:endParaRPr lang="en-US" sz="1250" dirty="0"/>
          </a:p>
        </p:txBody>
      </p:sp>
      <p:sp>
        <p:nvSpPr>
          <p:cNvPr id="21" name="Shape 19"/>
          <p:cNvSpPr/>
          <p:nvPr/>
        </p:nvSpPr>
        <p:spPr>
          <a:xfrm>
            <a:off x="566928" y="3310128"/>
            <a:ext cx="11057839" cy="603504"/>
          </a:xfrm>
          <a:prstGeom prst="rect">
            <a:avLst/>
          </a:prstGeom>
          <a:solidFill>
            <a:srgbClr val="FFFFFF"/>
          </a:solidFill>
          <a:ln w="6350">
            <a:solidFill>
              <a:srgbClr val="E2E6EB"/>
            </a:solidFill>
            <a:prstDash val="solid"/>
          </a:ln>
        </p:spPr>
      </p:sp>
      <p:sp>
        <p:nvSpPr>
          <p:cNvPr id="22" name="Text 20"/>
          <p:cNvSpPr/>
          <p:nvPr/>
        </p:nvSpPr>
        <p:spPr>
          <a:xfrm>
            <a:off x="841248" y="3310128"/>
            <a:ext cx="1993392" cy="603504"/>
          </a:xfrm>
          <a:prstGeom prst="rect">
            <a:avLst/>
          </a:prstGeom>
          <a:noFill/>
          <a:ln/>
        </p:spPr>
        <p:txBody>
          <a:bodyPr wrap="square" lIns="0" tIns="0" rIns="0" bIns="0" rtlCol="0" anchor="ctr"/>
          <a:lstStyle/>
          <a:p>
            <a:pPr indent="0" marL="0">
              <a:lnSpc>
                <a:spcPts val="1500"/>
              </a:lnSpc>
              <a:buNone/>
            </a:pPr>
            <a:r>
              <a:rPr lang="en-US" sz="1250" b="1" dirty="0">
                <a:solidFill>
                  <a:srgbClr val="ED6A2A"/>
                </a:solidFill>
                <a:latin typeface="Calibri" pitchFamily="34" charset="0"/>
                <a:ea typeface="Calibri" pitchFamily="34" charset="-122"/>
                <a:cs typeface="Calibri" pitchFamily="34" charset="-120"/>
              </a:rPr>
              <a:t>LMS export</a:t>
            </a:r>
            <a:endParaRPr lang="en-US" sz="1250" dirty="0"/>
          </a:p>
        </p:txBody>
      </p:sp>
      <p:sp>
        <p:nvSpPr>
          <p:cNvPr id="23" name="Text 21"/>
          <p:cNvSpPr/>
          <p:nvPr/>
        </p:nvSpPr>
        <p:spPr>
          <a:xfrm>
            <a:off x="3218688" y="3310128"/>
            <a:ext cx="2816352" cy="603504"/>
          </a:xfrm>
          <a:prstGeom prst="rect">
            <a:avLst/>
          </a:prstGeom>
          <a:noFill/>
          <a:ln/>
        </p:spPr>
        <p:txBody>
          <a:bodyPr wrap="square" lIns="0" tIns="0" rIns="0" bIns="0" rtlCol="0" anchor="ctr"/>
          <a:lstStyle/>
          <a:p>
            <a:pPr indent="0" marL="0">
              <a:lnSpc>
                <a:spcPts val="1500"/>
              </a:lnSpc>
              <a:buNone/>
            </a:pPr>
            <a:r>
              <a:rPr lang="en-US" sz="1250" dirty="0">
                <a:solidFill>
                  <a:srgbClr val="12161F"/>
                </a:solidFill>
                <a:latin typeface="Calibri" pitchFamily="34" charset="0"/>
                <a:ea typeface="Calibri" pitchFamily="34" charset="-122"/>
                <a:cs typeface="Calibri" pitchFamily="34" charset="-120"/>
              </a:rPr>
              <a:t>A package for your LMS</a:t>
            </a:r>
            <a:endParaRPr lang="en-US" sz="1250" dirty="0"/>
          </a:p>
        </p:txBody>
      </p:sp>
      <p:sp>
        <p:nvSpPr>
          <p:cNvPr id="24" name="Text 22"/>
          <p:cNvSpPr/>
          <p:nvPr/>
        </p:nvSpPr>
        <p:spPr>
          <a:xfrm>
            <a:off x="6419088" y="3310128"/>
            <a:ext cx="2542032" cy="603504"/>
          </a:xfrm>
          <a:prstGeom prst="rect">
            <a:avLst/>
          </a:prstGeom>
          <a:noFill/>
          <a:ln/>
        </p:spPr>
        <p:txBody>
          <a:bodyPr wrap="square" lIns="0" tIns="0" rIns="0" bIns="0" rtlCol="0" anchor="ctr"/>
          <a:lstStyle/>
          <a:p>
            <a:pPr indent="0" marL="0">
              <a:lnSpc>
                <a:spcPts val="1500"/>
              </a:lnSpc>
              <a:buNone/>
            </a:pPr>
            <a:r>
              <a:rPr lang="en-US" sz="1250" dirty="0">
                <a:solidFill>
                  <a:srgbClr val="5A6675"/>
                </a:solidFill>
                <a:latin typeface="Calibri" pitchFamily="34" charset="0"/>
                <a:ea typeface="Calibri" pitchFamily="34" charset="-122"/>
                <a:cs typeface="Calibri" pitchFamily="34" charset="-120"/>
              </a:rPr>
              <a:t>Whatever the standard supports</a:t>
            </a:r>
            <a:endParaRPr lang="en-US" sz="1250" dirty="0"/>
          </a:p>
        </p:txBody>
      </p:sp>
      <p:sp>
        <p:nvSpPr>
          <p:cNvPr id="25" name="Text 23"/>
          <p:cNvSpPr/>
          <p:nvPr/>
        </p:nvSpPr>
        <p:spPr>
          <a:xfrm>
            <a:off x="9345168" y="3310128"/>
            <a:ext cx="2169871" cy="603504"/>
          </a:xfrm>
          <a:prstGeom prst="rect">
            <a:avLst/>
          </a:prstGeom>
          <a:noFill/>
          <a:ln/>
        </p:spPr>
        <p:txBody>
          <a:bodyPr wrap="square" lIns="0" tIns="0" rIns="0" bIns="0" rtlCol="0" anchor="ctr"/>
          <a:lstStyle/>
          <a:p>
            <a:pPr indent="0" marL="0">
              <a:lnSpc>
                <a:spcPts val="1500"/>
              </a:lnSpc>
              <a:buNone/>
            </a:pPr>
            <a:r>
              <a:rPr lang="en-US" sz="1250" dirty="0">
                <a:solidFill>
                  <a:srgbClr val="5A6675"/>
                </a:solidFill>
                <a:latin typeface="Calibri" pitchFamily="34" charset="0"/>
                <a:ea typeface="Calibri" pitchFamily="34" charset="-122"/>
                <a:cs typeface="Calibri" pitchFamily="34" charset="-120"/>
              </a:rPr>
              <a:t>Someone needs a completion record</a:t>
            </a:r>
            <a:endParaRPr lang="en-US" sz="1250" dirty="0"/>
          </a:p>
        </p:txBody>
      </p:sp>
      <p:sp>
        <p:nvSpPr>
          <p:cNvPr id="26" name="Shape 24"/>
          <p:cNvSpPr/>
          <p:nvPr/>
        </p:nvSpPr>
        <p:spPr>
          <a:xfrm>
            <a:off x="566928" y="3913632"/>
            <a:ext cx="11057839" cy="603504"/>
          </a:xfrm>
          <a:prstGeom prst="rect">
            <a:avLst/>
          </a:prstGeom>
          <a:solidFill>
            <a:srgbClr val="EDF1F5"/>
          </a:solidFill>
          <a:ln w="6350">
            <a:solidFill>
              <a:srgbClr val="E2E6EB"/>
            </a:solidFill>
            <a:prstDash val="solid"/>
          </a:ln>
        </p:spPr>
      </p:sp>
      <p:sp>
        <p:nvSpPr>
          <p:cNvPr id="27" name="Text 25"/>
          <p:cNvSpPr/>
          <p:nvPr/>
        </p:nvSpPr>
        <p:spPr>
          <a:xfrm>
            <a:off x="841248" y="3913632"/>
            <a:ext cx="1993392" cy="603504"/>
          </a:xfrm>
          <a:prstGeom prst="rect">
            <a:avLst/>
          </a:prstGeom>
          <a:noFill/>
          <a:ln/>
        </p:spPr>
        <p:txBody>
          <a:bodyPr wrap="square" lIns="0" tIns="0" rIns="0" bIns="0" rtlCol="0" anchor="ctr"/>
          <a:lstStyle/>
          <a:p>
            <a:pPr indent="0" marL="0">
              <a:lnSpc>
                <a:spcPts val="1500"/>
              </a:lnSpc>
              <a:buNone/>
            </a:pPr>
            <a:r>
              <a:rPr lang="en-US" sz="1250" b="1" dirty="0">
                <a:solidFill>
                  <a:srgbClr val="ED6A2A"/>
                </a:solidFill>
                <a:latin typeface="Calibri" pitchFamily="34" charset="0"/>
                <a:ea typeface="Calibri" pitchFamily="34" charset="-122"/>
                <a:cs typeface="Calibri" pitchFamily="34" charset="-120"/>
              </a:rPr>
              <a:t>Web / PDF</a:t>
            </a:r>
            <a:endParaRPr lang="en-US" sz="1250" dirty="0"/>
          </a:p>
        </p:txBody>
      </p:sp>
      <p:sp>
        <p:nvSpPr>
          <p:cNvPr id="28" name="Text 26"/>
          <p:cNvSpPr/>
          <p:nvPr/>
        </p:nvSpPr>
        <p:spPr>
          <a:xfrm>
            <a:off x="3218688" y="3913632"/>
            <a:ext cx="2816352" cy="603504"/>
          </a:xfrm>
          <a:prstGeom prst="rect">
            <a:avLst/>
          </a:prstGeom>
          <a:noFill/>
          <a:ln/>
        </p:spPr>
        <p:txBody>
          <a:bodyPr wrap="square" lIns="0" tIns="0" rIns="0" bIns="0" rtlCol="0" anchor="ctr"/>
          <a:lstStyle/>
          <a:p>
            <a:pPr indent="0" marL="0">
              <a:lnSpc>
                <a:spcPts val="1500"/>
              </a:lnSpc>
              <a:buNone/>
            </a:pPr>
            <a:r>
              <a:rPr lang="en-US" sz="1250" dirty="0">
                <a:solidFill>
                  <a:srgbClr val="12161F"/>
                </a:solidFill>
                <a:latin typeface="Calibri" pitchFamily="34" charset="0"/>
                <a:ea typeface="Calibri" pitchFamily="34" charset="-122"/>
                <a:cs typeface="Calibri" pitchFamily="34" charset="-120"/>
              </a:rPr>
              <a:t>A zip you host, or a document</a:t>
            </a:r>
            <a:endParaRPr lang="en-US" sz="1250" dirty="0"/>
          </a:p>
        </p:txBody>
      </p:sp>
      <p:sp>
        <p:nvSpPr>
          <p:cNvPr id="29" name="Text 27"/>
          <p:cNvSpPr/>
          <p:nvPr/>
        </p:nvSpPr>
        <p:spPr>
          <a:xfrm>
            <a:off x="6419088" y="3913632"/>
            <a:ext cx="2542032" cy="603504"/>
          </a:xfrm>
          <a:prstGeom prst="rect">
            <a:avLst/>
          </a:prstGeom>
          <a:noFill/>
          <a:ln/>
        </p:spPr>
        <p:txBody>
          <a:bodyPr wrap="square" lIns="0" tIns="0" rIns="0" bIns="0" rtlCol="0" anchor="ctr"/>
          <a:lstStyle/>
          <a:p>
            <a:pPr indent="0" marL="0">
              <a:lnSpc>
                <a:spcPts val="1500"/>
              </a:lnSpc>
              <a:buNone/>
            </a:pPr>
            <a:r>
              <a:rPr lang="en-US" sz="1250" dirty="0">
                <a:solidFill>
                  <a:srgbClr val="5A6675"/>
                </a:solidFill>
                <a:latin typeface="Calibri" pitchFamily="34" charset="0"/>
                <a:ea typeface="Calibri" pitchFamily="34" charset="-122"/>
                <a:cs typeface="Calibri" pitchFamily="34" charset="-120"/>
              </a:rPr>
              <a:t>Nothing at all</a:t>
            </a:r>
            <a:endParaRPr lang="en-US" sz="1250" dirty="0"/>
          </a:p>
        </p:txBody>
      </p:sp>
      <p:sp>
        <p:nvSpPr>
          <p:cNvPr id="30" name="Text 28"/>
          <p:cNvSpPr/>
          <p:nvPr/>
        </p:nvSpPr>
        <p:spPr>
          <a:xfrm>
            <a:off x="9345168" y="3913632"/>
            <a:ext cx="2169871" cy="603504"/>
          </a:xfrm>
          <a:prstGeom prst="rect">
            <a:avLst/>
          </a:prstGeom>
          <a:noFill/>
          <a:ln/>
        </p:spPr>
        <p:txBody>
          <a:bodyPr wrap="square" lIns="0" tIns="0" rIns="0" bIns="0" rtlCol="0" anchor="ctr"/>
          <a:lstStyle/>
          <a:p>
            <a:pPr indent="0" marL="0">
              <a:lnSpc>
                <a:spcPts val="1500"/>
              </a:lnSpc>
              <a:buNone/>
            </a:pPr>
            <a:r>
              <a:rPr lang="en-US" sz="1250" dirty="0">
                <a:solidFill>
                  <a:srgbClr val="5A6675"/>
                </a:solidFill>
                <a:latin typeface="Calibri" pitchFamily="34" charset="0"/>
                <a:ea typeface="Calibri" pitchFamily="34" charset="-122"/>
                <a:cs typeface="Calibri" pitchFamily="34" charset="-120"/>
              </a:rPr>
              <a:t>You own the server, or you need a handout</a:t>
            </a:r>
            <a:endParaRPr lang="en-US" sz="1250" dirty="0"/>
          </a:p>
        </p:txBody>
      </p:sp>
      <p:sp>
        <p:nvSpPr>
          <p:cNvPr id="31" name="Shape 29"/>
          <p:cNvSpPr/>
          <p:nvPr/>
        </p:nvSpPr>
        <p:spPr>
          <a:xfrm>
            <a:off x="566928" y="4626864"/>
            <a:ext cx="11057839" cy="749808"/>
          </a:xfrm>
          <a:prstGeom prst="roundRect">
            <a:avLst>
              <a:gd name="adj" fmla="val 10976"/>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32" name="Text 30"/>
          <p:cNvSpPr/>
          <p:nvPr/>
        </p:nvSpPr>
        <p:spPr>
          <a:xfrm>
            <a:off x="914400" y="4626864"/>
            <a:ext cx="10362895" cy="749808"/>
          </a:xfrm>
          <a:prstGeom prst="rect">
            <a:avLst/>
          </a:prstGeom>
          <a:noFill/>
          <a:ln/>
        </p:spPr>
        <p:txBody>
          <a:bodyPr wrap="square" lIns="0" tIns="0" rIns="0" bIns="0" rtlCol="0" anchor="ctr"/>
          <a:lstStyle/>
          <a:p>
            <a:pPr indent="0" marL="0">
              <a:lnSpc>
                <a:spcPts val="1800"/>
              </a:lnSpc>
              <a:buNone/>
            </a:pPr>
            <a:r>
              <a:rPr lang="en-US" sz="1300" b="1" dirty="0">
                <a:solidFill>
                  <a:srgbClr val="12161F"/>
                </a:solidFill>
                <a:latin typeface="Calibri" pitchFamily="34" charset="0"/>
                <a:ea typeface="Calibri" pitchFamily="34" charset="-122"/>
                <a:cs typeface="Calibri" pitchFamily="34" charset="-120"/>
              </a:rPr>
              <a:t>PDF is not a course.  </a:t>
            </a:r>
            <a:pPr indent="0" marL="0">
              <a:lnSpc>
                <a:spcPts val="1800"/>
              </a:lnSpc>
              <a:buNone/>
            </a:pPr>
            <a:r>
              <a:rPr lang="en-US" sz="1300" dirty="0">
                <a:solidFill>
                  <a:srgbClr val="5A6675"/>
                </a:solidFill>
                <a:latin typeface="Calibri" pitchFamily="34" charset="0"/>
                <a:ea typeface="Calibri" pitchFamily="34" charset="-122"/>
                <a:cs typeface="Calibri" pitchFamily="34" charset="-120"/>
              </a:rPr>
              <a:t>Every interaction becomes a static picture — your scenario turns into a screenshot. It is a useful reference handout and nothing more.</a:t>
            </a:r>
            <a:endParaRPr lang="en-US" sz="1300" dirty="0"/>
          </a:p>
        </p:txBody>
      </p:sp>
      <p:sp>
        <p:nvSpPr>
          <p:cNvPr id="33" name="Shape 31"/>
          <p:cNvSpPr/>
          <p:nvPr/>
        </p:nvSpPr>
        <p:spPr>
          <a:xfrm>
            <a:off x="566928" y="5522976"/>
            <a:ext cx="11057839" cy="493776"/>
          </a:xfrm>
          <a:prstGeom prst="roundRect">
            <a:avLst>
              <a:gd name="adj" fmla="val 16667"/>
            </a:avLst>
          </a:prstGeom>
          <a:solidFill>
            <a:srgbClr val="FFF4EE"/>
          </a:solidFill>
          <a:ln w="9525">
            <a:solidFill>
              <a:srgbClr val="F6C7AC"/>
            </a:solidFill>
            <a:prstDash val="solid"/>
          </a:ln>
        </p:spPr>
      </p:sp>
      <p:sp>
        <p:nvSpPr>
          <p:cNvPr id="34" name="Shape 32"/>
          <p:cNvSpPr/>
          <p:nvPr/>
        </p:nvSpPr>
        <p:spPr>
          <a:xfrm>
            <a:off x="786384" y="5669280"/>
            <a:ext cx="201168" cy="201168"/>
          </a:xfrm>
          <a:prstGeom prst="ellipse">
            <a:avLst/>
          </a:prstGeom>
          <a:solidFill>
            <a:srgbClr val="ED6A2A"/>
          </a:solidFill>
          <a:ln/>
        </p:spPr>
      </p:sp>
      <p:sp>
        <p:nvSpPr>
          <p:cNvPr id="35" name="Text 33"/>
          <p:cNvSpPr/>
          <p:nvPr/>
        </p:nvSpPr>
        <p:spPr>
          <a:xfrm>
            <a:off x="1115568" y="5522976"/>
            <a:ext cx="10253167" cy="493776"/>
          </a:xfrm>
          <a:prstGeom prst="rect">
            <a:avLst/>
          </a:prstGeom>
          <a:noFill/>
          <a:ln/>
        </p:spPr>
        <p:txBody>
          <a:bodyPr wrap="square" lIns="0" tIns="0" rIns="0" bIns="0" rtlCol="0" anchor="ctr"/>
          <a:lstStyle/>
          <a:p>
            <a:pPr indent="0" marL="0">
              <a:lnSpc>
                <a:spcPts val="1700"/>
              </a:lnSpc>
              <a:buNone/>
            </a:pPr>
            <a:r>
              <a:rPr lang="en-US" sz="1200" dirty="0">
                <a:solidFill>
                  <a:srgbClr val="7A3F1C"/>
                </a:solidFill>
                <a:latin typeface="Calibri" pitchFamily="34" charset="0"/>
                <a:ea typeface="Calibri" pitchFamily="34" charset="-122"/>
                <a:cs typeface="Calibri" pitchFamily="34" charset="-120"/>
              </a:rPr>
              <a:t>Review 360 is a fifth door, and it is not for learners. It is how you get in-context comments from stakeholders before any of this happens.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Exporting for an LMS</a:t>
            </a:r>
            <a:endParaRPr lang="en-US" sz="3000" dirty="0"/>
          </a:p>
        </p:txBody>
      </p:sp>
      <p:sp>
        <p:nvSpPr>
          <p:cNvPr id="3" name="Text 1"/>
          <p:cNvSpPr/>
          <p:nvPr/>
        </p:nvSpPr>
        <p:spPr>
          <a:xfrm>
            <a:off x="566928" y="1005840"/>
            <a:ext cx="9067428"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Publish › LMS. Three decisions and a zip file.</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4  ·  Decide, then ship</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24</a:t>
            </a:r>
            <a:endParaRPr lang="en-US" sz="950" dirty="0"/>
          </a:p>
        </p:txBody>
      </p:sp>
      <p:sp>
        <p:nvSpPr>
          <p:cNvPr id="6" name="Shape 4"/>
          <p:cNvSpPr/>
          <p:nvPr/>
        </p:nvSpPr>
        <p:spPr>
          <a:xfrm>
            <a:off x="566928" y="1682496"/>
            <a:ext cx="3442106" cy="3529584"/>
          </a:xfrm>
          <a:prstGeom prst="roundRect">
            <a:avLst>
              <a:gd name="adj" fmla="val 2391"/>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7" name="Text 5"/>
          <p:cNvSpPr/>
          <p:nvPr/>
        </p:nvSpPr>
        <p:spPr>
          <a:xfrm>
            <a:off x="896112" y="1883664"/>
            <a:ext cx="2783738" cy="329184"/>
          </a:xfrm>
          <a:prstGeom prst="rect">
            <a:avLst/>
          </a:prstGeom>
          <a:noFill/>
          <a:ln/>
        </p:spPr>
        <p:txBody>
          <a:bodyPr wrap="square" lIns="0" tIns="0" rIns="0" bIns="0" rtlCol="0" anchor="ctr"/>
          <a:lstStyle/>
          <a:p>
            <a:pPr indent="0" marL="0">
              <a:buNone/>
            </a:pPr>
            <a:r>
              <a:rPr lang="en-US" sz="1700" b="1" dirty="0">
                <a:solidFill>
                  <a:srgbClr val="12161F"/>
                </a:solidFill>
                <a:latin typeface="Cambria" pitchFamily="34" charset="0"/>
                <a:ea typeface="Cambria" pitchFamily="34" charset="-122"/>
                <a:cs typeface="Cambria" pitchFamily="34" charset="-120"/>
              </a:rPr>
              <a:t>1 · Standard</a:t>
            </a:r>
            <a:endParaRPr lang="en-US" sz="1700" dirty="0"/>
          </a:p>
        </p:txBody>
      </p:sp>
      <p:sp>
        <p:nvSpPr>
          <p:cNvPr id="8" name="Text 6"/>
          <p:cNvSpPr/>
          <p:nvPr/>
        </p:nvSpPr>
        <p:spPr>
          <a:xfrm>
            <a:off x="896112" y="2304288"/>
            <a:ext cx="2783738" cy="1828800"/>
          </a:xfrm>
          <a:prstGeom prst="rect">
            <a:avLst/>
          </a:prstGeom>
          <a:noFill/>
          <a:ln/>
        </p:spPr>
        <p:txBody>
          <a:bodyPr wrap="square" lIns="0" tIns="0" rIns="0" bIns="0" rtlCol="0" anchor="t"/>
          <a:lstStyle/>
          <a:p>
            <a:pPr marL="342900" indent="-342900">
              <a:lnSpc>
                <a:spcPts val="1900"/>
              </a:lnSpc>
              <a:spcAft>
                <a:spcPts val="400"/>
              </a:spcAft>
              <a:buSzPct val="100000"/>
              <a:buChar char="•"/>
            </a:pPr>
            <a:r>
              <a:rPr lang="en-US" sz="1250" dirty="0">
                <a:solidFill>
                  <a:srgbClr val="12161F"/>
                </a:solidFill>
                <a:latin typeface="Calibri" pitchFamily="34" charset="0"/>
                <a:ea typeface="Calibri" pitchFamily="34" charset="-122"/>
                <a:cs typeface="Calibri" pitchFamily="34" charset="-120"/>
              </a:rPr>
              <a:t>xAPI (Tin Can API)</a:t>
            </a:r>
            <a:endParaRPr lang="en-US" sz="1250" dirty="0"/>
          </a:p>
          <a:p>
            <a:pPr marL="342900" indent="-342900">
              <a:lnSpc>
                <a:spcPts val="1900"/>
              </a:lnSpc>
              <a:spcAft>
                <a:spcPts val="400"/>
              </a:spcAft>
              <a:buSzPct val="100000"/>
              <a:buChar char="•"/>
            </a:pPr>
            <a:r>
              <a:rPr lang="en-US" sz="1250" dirty="0">
                <a:solidFill>
                  <a:srgbClr val="12161F"/>
                </a:solidFill>
                <a:latin typeface="Calibri" pitchFamily="34" charset="0"/>
                <a:ea typeface="Calibri" pitchFamily="34" charset="-122"/>
                <a:cs typeface="Calibri" pitchFamily="34" charset="-120"/>
              </a:rPr>
              <a:t>SCORM 2004</a:t>
            </a:r>
            <a:endParaRPr lang="en-US" sz="1250" dirty="0"/>
          </a:p>
          <a:p>
            <a:pPr marL="342900" indent="-342900">
              <a:lnSpc>
                <a:spcPts val="1900"/>
              </a:lnSpc>
              <a:spcAft>
                <a:spcPts val="400"/>
              </a:spcAft>
              <a:buSzPct val="100000"/>
              <a:buChar char="•"/>
            </a:pPr>
            <a:r>
              <a:rPr lang="en-US" sz="1250" dirty="0">
                <a:solidFill>
                  <a:srgbClr val="12161F"/>
                </a:solidFill>
                <a:latin typeface="Calibri" pitchFamily="34" charset="0"/>
                <a:ea typeface="Calibri" pitchFamily="34" charset="-122"/>
                <a:cs typeface="Calibri" pitchFamily="34" charset="-120"/>
              </a:rPr>
              <a:t>SCORM 1.2</a:t>
            </a:r>
            <a:endParaRPr lang="en-US" sz="1250" dirty="0"/>
          </a:p>
          <a:p>
            <a:pPr marL="342900" indent="-342900">
              <a:lnSpc>
                <a:spcPts val="1900"/>
              </a:lnSpc>
              <a:spcAft>
                <a:spcPts val="400"/>
              </a:spcAft>
              <a:buSzPct val="100000"/>
              <a:buChar char="•"/>
            </a:pPr>
            <a:r>
              <a:rPr lang="en-US" sz="1250" dirty="0">
                <a:solidFill>
                  <a:srgbClr val="12161F"/>
                </a:solidFill>
                <a:latin typeface="Calibri" pitchFamily="34" charset="0"/>
                <a:ea typeface="Calibri" pitchFamily="34" charset="-122"/>
                <a:cs typeface="Calibri" pitchFamily="34" charset="-120"/>
              </a:rPr>
              <a:t>AICC</a:t>
            </a:r>
            <a:endParaRPr lang="en-US" sz="1250" dirty="0"/>
          </a:p>
          <a:p>
            <a:pPr marL="342900" indent="-342900">
              <a:lnSpc>
                <a:spcPts val="1900"/>
              </a:lnSpc>
              <a:spcAft>
                <a:spcPts val="400"/>
              </a:spcAft>
              <a:buSzPct val="100000"/>
              <a:buChar char="•"/>
            </a:pPr>
            <a:r>
              <a:rPr lang="en-US" sz="1250" dirty="0">
                <a:solidFill>
                  <a:srgbClr val="12161F"/>
                </a:solidFill>
                <a:latin typeface="Calibri" pitchFamily="34" charset="0"/>
                <a:ea typeface="Calibri" pitchFamily="34" charset="-122"/>
                <a:cs typeface="Calibri" pitchFamily="34" charset="-120"/>
              </a:rPr>
              <a:t>cmi5</a:t>
            </a:r>
            <a:endParaRPr lang="en-US" sz="1250" dirty="0"/>
          </a:p>
        </p:txBody>
      </p:sp>
      <p:sp>
        <p:nvSpPr>
          <p:cNvPr id="9" name="Text 7"/>
          <p:cNvSpPr/>
          <p:nvPr/>
        </p:nvSpPr>
        <p:spPr>
          <a:xfrm>
            <a:off x="896112" y="4206240"/>
            <a:ext cx="2783738" cy="914400"/>
          </a:xfrm>
          <a:prstGeom prst="rect">
            <a:avLst/>
          </a:prstGeom>
          <a:noFill/>
          <a:ln/>
        </p:spPr>
        <p:txBody>
          <a:bodyPr wrap="square" lIns="0" tIns="0" rIns="0" bIns="0" rtlCol="0" anchor="t"/>
          <a:lstStyle/>
          <a:p>
            <a:pPr indent="0" marL="0">
              <a:lnSpc>
                <a:spcPts val="1600"/>
              </a:lnSpc>
              <a:buNone/>
            </a:pPr>
            <a:r>
              <a:rPr lang="en-US" sz="1150" i="1" dirty="0">
                <a:solidFill>
                  <a:srgbClr val="5A6675"/>
                </a:solidFill>
                <a:latin typeface="Calibri" pitchFamily="34" charset="0"/>
                <a:ea typeface="Calibri" pitchFamily="34" charset="-122"/>
                <a:cs typeface="Calibri" pitchFamily="34" charset="-120"/>
              </a:rPr>
              <a:t>SCORM 1.2 when you are unsure. It is the one that works everywhere, and it is what most LMS teams will ask for.</a:t>
            </a:r>
            <a:endParaRPr lang="en-US" sz="1150" dirty="0"/>
          </a:p>
        </p:txBody>
      </p:sp>
      <p:sp>
        <p:nvSpPr>
          <p:cNvPr id="10" name="Shape 8"/>
          <p:cNvSpPr/>
          <p:nvPr/>
        </p:nvSpPr>
        <p:spPr>
          <a:xfrm>
            <a:off x="4374794" y="1682496"/>
            <a:ext cx="3442106" cy="3529584"/>
          </a:xfrm>
          <a:prstGeom prst="roundRect">
            <a:avLst>
              <a:gd name="adj" fmla="val 2391"/>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1" name="Text 9"/>
          <p:cNvSpPr/>
          <p:nvPr/>
        </p:nvSpPr>
        <p:spPr>
          <a:xfrm>
            <a:off x="4703978" y="1883664"/>
            <a:ext cx="2783738" cy="329184"/>
          </a:xfrm>
          <a:prstGeom prst="rect">
            <a:avLst/>
          </a:prstGeom>
          <a:noFill/>
          <a:ln/>
        </p:spPr>
        <p:txBody>
          <a:bodyPr wrap="square" lIns="0" tIns="0" rIns="0" bIns="0" rtlCol="0" anchor="ctr"/>
          <a:lstStyle/>
          <a:p>
            <a:pPr indent="0" marL="0">
              <a:buNone/>
            </a:pPr>
            <a:r>
              <a:rPr lang="en-US" sz="1700" b="1" dirty="0">
                <a:solidFill>
                  <a:srgbClr val="12161F"/>
                </a:solidFill>
                <a:latin typeface="Cambria" pitchFamily="34" charset="0"/>
                <a:ea typeface="Cambria" pitchFamily="34" charset="-122"/>
                <a:cs typeface="Cambria" pitchFamily="34" charset="-120"/>
              </a:rPr>
              <a:t>2 · Tracking</a:t>
            </a:r>
            <a:endParaRPr lang="en-US" sz="1700" dirty="0"/>
          </a:p>
        </p:txBody>
      </p:sp>
      <p:sp>
        <p:nvSpPr>
          <p:cNvPr id="12" name="Text 10"/>
          <p:cNvSpPr/>
          <p:nvPr/>
        </p:nvSpPr>
        <p:spPr>
          <a:xfrm>
            <a:off x="4703978" y="2304288"/>
            <a:ext cx="2783738" cy="1828800"/>
          </a:xfrm>
          <a:prstGeom prst="rect">
            <a:avLst/>
          </a:prstGeom>
          <a:noFill/>
          <a:ln/>
        </p:spPr>
        <p:txBody>
          <a:bodyPr wrap="square" lIns="0" tIns="0" rIns="0" bIns="0" rtlCol="0" anchor="t"/>
          <a:lstStyle/>
          <a:p>
            <a:pPr marL="342900" indent="-342900">
              <a:lnSpc>
                <a:spcPts val="1900"/>
              </a:lnSpc>
              <a:spcAft>
                <a:spcPts val="400"/>
              </a:spcAft>
              <a:buSzPct val="100000"/>
              <a:buChar char="•"/>
            </a:pPr>
            <a:r>
              <a:rPr lang="en-US" sz="1250" dirty="0">
                <a:solidFill>
                  <a:srgbClr val="12161F"/>
                </a:solidFill>
                <a:latin typeface="Calibri" pitchFamily="34" charset="0"/>
                <a:ea typeface="Calibri" pitchFamily="34" charset="-122"/>
                <a:cs typeface="Calibri" pitchFamily="34" charset="-120"/>
              </a:rPr>
              <a:t>Completion percentage</a:t>
            </a:r>
            <a:endParaRPr lang="en-US" sz="1250" dirty="0"/>
          </a:p>
          <a:p>
            <a:pPr marL="342900" indent="-342900">
              <a:lnSpc>
                <a:spcPts val="1900"/>
              </a:lnSpc>
              <a:spcAft>
                <a:spcPts val="400"/>
              </a:spcAft>
              <a:buSzPct val="100000"/>
              <a:buChar char="•"/>
            </a:pPr>
            <a:r>
              <a:rPr lang="en-US" sz="1250" dirty="0">
                <a:solidFill>
                  <a:srgbClr val="12161F"/>
                </a:solidFill>
                <a:latin typeface="Calibri" pitchFamily="34" charset="0"/>
                <a:ea typeface="Calibri" pitchFamily="34" charset="-122"/>
                <a:cs typeface="Calibri" pitchFamily="34" charset="-120"/>
              </a:rPr>
              <a:t>Storyline block</a:t>
            </a:r>
            <a:endParaRPr lang="en-US" sz="1250" dirty="0"/>
          </a:p>
          <a:p>
            <a:pPr marL="342900" indent="-342900">
              <a:lnSpc>
                <a:spcPts val="1900"/>
              </a:lnSpc>
              <a:spcAft>
                <a:spcPts val="400"/>
              </a:spcAft>
              <a:buSzPct val="100000"/>
              <a:buChar char="•"/>
            </a:pPr>
            <a:r>
              <a:rPr lang="en-US" sz="1250" dirty="0">
                <a:solidFill>
                  <a:srgbClr val="12161F"/>
                </a:solidFill>
                <a:latin typeface="Calibri" pitchFamily="34" charset="0"/>
                <a:ea typeface="Calibri" pitchFamily="34" charset="-122"/>
                <a:cs typeface="Calibri" pitchFamily="34" charset="-120"/>
              </a:rPr>
              <a:t>Quiz result (courses only)</a:t>
            </a:r>
            <a:endParaRPr lang="en-US" sz="1250" dirty="0"/>
          </a:p>
        </p:txBody>
      </p:sp>
      <p:sp>
        <p:nvSpPr>
          <p:cNvPr id="13" name="Text 11"/>
          <p:cNvSpPr/>
          <p:nvPr/>
        </p:nvSpPr>
        <p:spPr>
          <a:xfrm>
            <a:off x="4703978" y="4206240"/>
            <a:ext cx="2783738" cy="914400"/>
          </a:xfrm>
          <a:prstGeom prst="rect">
            <a:avLst/>
          </a:prstGeom>
          <a:noFill/>
          <a:ln/>
        </p:spPr>
        <p:txBody>
          <a:bodyPr wrap="square" lIns="0" tIns="0" rIns="0" bIns="0" rtlCol="0" anchor="t"/>
          <a:lstStyle/>
          <a:p>
            <a:pPr indent="0" marL="0">
              <a:lnSpc>
                <a:spcPts val="1600"/>
              </a:lnSpc>
              <a:buNone/>
            </a:pPr>
            <a:r>
              <a:rPr lang="en-US" sz="1150" i="1" dirty="0">
                <a:solidFill>
                  <a:srgbClr val="5A6675"/>
                </a:solidFill>
                <a:latin typeface="Calibri" pitchFamily="34" charset="0"/>
                <a:ea typeface="Calibri" pitchFamily="34" charset="-122"/>
                <a:cs typeface="Calibri" pitchFamily="34" charset="-120"/>
              </a:rPr>
              <a:t>Quiz result is the one people want and the one that quietly requires an actual quiz lesson in the course.</a:t>
            </a:r>
            <a:endParaRPr lang="en-US" sz="1150" dirty="0"/>
          </a:p>
        </p:txBody>
      </p:sp>
      <p:sp>
        <p:nvSpPr>
          <p:cNvPr id="14" name="Shape 12"/>
          <p:cNvSpPr/>
          <p:nvPr/>
        </p:nvSpPr>
        <p:spPr>
          <a:xfrm>
            <a:off x="8182661" y="1682496"/>
            <a:ext cx="3442106" cy="3529584"/>
          </a:xfrm>
          <a:prstGeom prst="roundRect">
            <a:avLst>
              <a:gd name="adj" fmla="val 2391"/>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5" name="Text 13"/>
          <p:cNvSpPr/>
          <p:nvPr/>
        </p:nvSpPr>
        <p:spPr>
          <a:xfrm>
            <a:off x="8511845" y="1883664"/>
            <a:ext cx="2783738" cy="329184"/>
          </a:xfrm>
          <a:prstGeom prst="rect">
            <a:avLst/>
          </a:prstGeom>
          <a:noFill/>
          <a:ln/>
        </p:spPr>
        <p:txBody>
          <a:bodyPr wrap="square" lIns="0" tIns="0" rIns="0" bIns="0" rtlCol="0" anchor="ctr"/>
          <a:lstStyle/>
          <a:p>
            <a:pPr indent="0" marL="0">
              <a:buNone/>
            </a:pPr>
            <a:r>
              <a:rPr lang="en-US" sz="1700" b="1" dirty="0">
                <a:solidFill>
                  <a:srgbClr val="12161F"/>
                </a:solidFill>
                <a:latin typeface="Cambria" pitchFamily="34" charset="0"/>
                <a:ea typeface="Cambria" pitchFamily="34" charset="-122"/>
                <a:cs typeface="Cambria" pitchFamily="34" charset="-120"/>
              </a:rPr>
              <a:t>3 · Settings</a:t>
            </a:r>
            <a:endParaRPr lang="en-US" sz="1700" dirty="0"/>
          </a:p>
        </p:txBody>
      </p:sp>
      <p:sp>
        <p:nvSpPr>
          <p:cNvPr id="16" name="Text 14"/>
          <p:cNvSpPr/>
          <p:nvPr/>
        </p:nvSpPr>
        <p:spPr>
          <a:xfrm>
            <a:off x="8511845" y="2304288"/>
            <a:ext cx="2783738" cy="1828800"/>
          </a:xfrm>
          <a:prstGeom prst="rect">
            <a:avLst/>
          </a:prstGeom>
          <a:noFill/>
          <a:ln/>
        </p:spPr>
        <p:txBody>
          <a:bodyPr wrap="square" lIns="0" tIns="0" rIns="0" bIns="0" rtlCol="0" anchor="t"/>
          <a:lstStyle/>
          <a:p>
            <a:pPr marL="342900" indent="-342900">
              <a:lnSpc>
                <a:spcPts val="1900"/>
              </a:lnSpc>
              <a:spcAft>
                <a:spcPts val="400"/>
              </a:spcAft>
              <a:buSzPct val="100000"/>
              <a:buChar char="•"/>
            </a:pPr>
            <a:r>
              <a:rPr lang="en-US" sz="1250" dirty="0">
                <a:solidFill>
                  <a:srgbClr val="12161F"/>
                </a:solidFill>
                <a:latin typeface="Calibri" pitchFamily="34" charset="0"/>
                <a:ea typeface="Calibri" pitchFamily="34" charset="-122"/>
                <a:cs typeface="Calibri" pitchFamily="34" charset="-120"/>
              </a:rPr>
              <a:t>Exit Course Link</a:t>
            </a:r>
            <a:endParaRPr lang="en-US" sz="1250" dirty="0"/>
          </a:p>
          <a:p>
            <a:pPr marL="342900" indent="-342900">
              <a:lnSpc>
                <a:spcPts val="1900"/>
              </a:lnSpc>
              <a:spcAft>
                <a:spcPts val="400"/>
              </a:spcAft>
              <a:buSzPct val="100000"/>
              <a:buChar char="•"/>
            </a:pPr>
            <a:r>
              <a:rPr lang="en-US" sz="1250" dirty="0">
                <a:solidFill>
                  <a:srgbClr val="12161F"/>
                </a:solidFill>
                <a:latin typeface="Calibri" pitchFamily="34" charset="0"/>
                <a:ea typeface="Calibri" pitchFamily="34" charset="-122"/>
                <a:cs typeface="Calibri" pitchFamily="34" charset="-120"/>
              </a:rPr>
              <a:t>Hide Cover Page</a:t>
            </a:r>
            <a:endParaRPr lang="en-US" sz="1250" dirty="0"/>
          </a:p>
          <a:p>
            <a:pPr marL="342900" indent="-342900">
              <a:lnSpc>
                <a:spcPts val="1900"/>
              </a:lnSpc>
              <a:spcAft>
                <a:spcPts val="400"/>
              </a:spcAft>
              <a:buSzPct val="100000"/>
              <a:buChar char="•"/>
            </a:pPr>
            <a:r>
              <a:rPr lang="en-US" sz="1250" dirty="0">
                <a:solidFill>
                  <a:srgbClr val="12161F"/>
                </a:solidFill>
                <a:latin typeface="Calibri" pitchFamily="34" charset="0"/>
                <a:ea typeface="Calibri" pitchFamily="34" charset="-122"/>
                <a:cs typeface="Calibri" pitchFamily="34" charset="-120"/>
              </a:rPr>
              <a:t>Allow Usage Data Collection</a:t>
            </a:r>
            <a:endParaRPr lang="en-US" sz="1250" dirty="0"/>
          </a:p>
          <a:p>
            <a:pPr marL="342900" indent="-342900">
              <a:lnSpc>
                <a:spcPts val="1900"/>
              </a:lnSpc>
              <a:spcAft>
                <a:spcPts val="400"/>
              </a:spcAft>
              <a:buSzPct val="100000"/>
              <a:buChar char="•"/>
            </a:pPr>
            <a:r>
              <a:rPr lang="en-US" sz="1250" dirty="0">
                <a:solidFill>
                  <a:srgbClr val="12161F"/>
                </a:solidFill>
                <a:latin typeface="Calibri" pitchFamily="34" charset="0"/>
                <a:ea typeface="Calibri" pitchFamily="34" charset="-122"/>
                <a:cs typeface="Calibri" pitchFamily="34" charset="-120"/>
              </a:rPr>
              <a:t>Reset Learner Progress</a:t>
            </a:r>
            <a:endParaRPr lang="en-US" sz="1250" dirty="0"/>
          </a:p>
          <a:p>
            <a:pPr marL="342900" indent="-342900">
              <a:lnSpc>
                <a:spcPts val="1900"/>
              </a:lnSpc>
              <a:spcAft>
                <a:spcPts val="400"/>
              </a:spcAft>
              <a:buSzPct val="100000"/>
              <a:buChar char="•"/>
            </a:pPr>
            <a:r>
              <a:rPr lang="en-US" sz="1250" dirty="0">
                <a:solidFill>
                  <a:srgbClr val="12161F"/>
                </a:solidFill>
                <a:latin typeface="Calibri" pitchFamily="34" charset="0"/>
                <a:ea typeface="Calibri" pitchFamily="34" charset="-122"/>
                <a:cs typeface="Calibri" pitchFamily="34" charset="-120"/>
              </a:rPr>
              <a:t>Hide LMS Interface</a:t>
            </a:r>
            <a:endParaRPr lang="en-US" sz="1250" dirty="0"/>
          </a:p>
          <a:p>
            <a:pPr marL="342900" indent="-342900">
              <a:lnSpc>
                <a:spcPts val="1900"/>
              </a:lnSpc>
              <a:spcAft>
                <a:spcPts val="400"/>
              </a:spcAft>
              <a:buSzPct val="100000"/>
              <a:buChar char="•"/>
            </a:pPr>
            <a:r>
              <a:rPr lang="en-US" sz="1250" dirty="0">
                <a:solidFill>
                  <a:srgbClr val="12161F"/>
                </a:solidFill>
                <a:latin typeface="Calibri" pitchFamily="34" charset="0"/>
                <a:ea typeface="Calibri" pitchFamily="34" charset="-122"/>
                <a:cs typeface="Calibri" pitchFamily="34" charset="-120"/>
              </a:rPr>
              <a:t>Only Load in LMS</a:t>
            </a:r>
            <a:endParaRPr lang="en-US" sz="1250" dirty="0"/>
          </a:p>
        </p:txBody>
      </p:sp>
      <p:sp>
        <p:nvSpPr>
          <p:cNvPr id="17" name="Text 15"/>
          <p:cNvSpPr/>
          <p:nvPr/>
        </p:nvSpPr>
        <p:spPr>
          <a:xfrm>
            <a:off x="8511845" y="4206240"/>
            <a:ext cx="2783738" cy="914400"/>
          </a:xfrm>
          <a:prstGeom prst="rect">
            <a:avLst/>
          </a:prstGeom>
          <a:noFill/>
          <a:ln/>
        </p:spPr>
        <p:txBody>
          <a:bodyPr wrap="square" lIns="0" tIns="0" rIns="0" bIns="0" rtlCol="0" anchor="t"/>
          <a:lstStyle/>
          <a:p>
            <a:pPr indent="0" marL="0">
              <a:lnSpc>
                <a:spcPts val="1600"/>
              </a:lnSpc>
              <a:buNone/>
            </a:pPr>
            <a:r>
              <a:rPr lang="en-US" sz="1150" i="1" dirty="0">
                <a:solidFill>
                  <a:srgbClr val="5A6675"/>
                </a:solidFill>
                <a:latin typeface="Calibri" pitchFamily="34" charset="0"/>
                <a:ea typeface="Calibri" pitchFamily="34" charset="-122"/>
                <a:cs typeface="Calibri" pitchFamily="34" charset="-120"/>
              </a:rPr>
              <a:t>The last three sit under “More settings”. Leave them alone unless your LMS administrator asks.</a:t>
            </a:r>
            <a:endParaRPr lang="en-US" sz="1150" dirty="0"/>
          </a:p>
        </p:txBody>
      </p:sp>
      <p:sp>
        <p:nvSpPr>
          <p:cNvPr id="18" name="Shape 16"/>
          <p:cNvSpPr/>
          <p:nvPr/>
        </p:nvSpPr>
        <p:spPr>
          <a:xfrm>
            <a:off x="566928" y="5358384"/>
            <a:ext cx="11057839" cy="658368"/>
          </a:xfrm>
          <a:prstGeom prst="roundRect">
            <a:avLst>
              <a:gd name="adj" fmla="val 12500"/>
            </a:avLst>
          </a:prstGeom>
          <a:solidFill>
            <a:srgbClr val="FFF4EE"/>
          </a:solidFill>
          <a:ln w="9525">
            <a:solidFill>
              <a:srgbClr val="F6C7AC"/>
            </a:solidFill>
            <a:prstDash val="solid"/>
          </a:ln>
        </p:spPr>
      </p:sp>
      <p:sp>
        <p:nvSpPr>
          <p:cNvPr id="19" name="Shape 17"/>
          <p:cNvSpPr/>
          <p:nvPr/>
        </p:nvSpPr>
        <p:spPr>
          <a:xfrm>
            <a:off x="786384" y="5586984"/>
            <a:ext cx="201168" cy="201168"/>
          </a:xfrm>
          <a:prstGeom prst="ellipse">
            <a:avLst/>
          </a:prstGeom>
          <a:solidFill>
            <a:srgbClr val="ED6A2A"/>
          </a:solidFill>
          <a:ln/>
        </p:spPr>
      </p:sp>
      <p:sp>
        <p:nvSpPr>
          <p:cNvPr id="20" name="Text 18"/>
          <p:cNvSpPr/>
          <p:nvPr/>
        </p:nvSpPr>
        <p:spPr>
          <a:xfrm>
            <a:off x="1115568" y="5358384"/>
            <a:ext cx="10253167" cy="658368"/>
          </a:xfrm>
          <a:prstGeom prst="rect">
            <a:avLst/>
          </a:prstGeom>
          <a:noFill/>
          <a:ln/>
        </p:spPr>
        <p:txBody>
          <a:bodyPr wrap="square" lIns="0" tIns="0" rIns="0" bIns="0" rtlCol="0" anchor="ctr"/>
          <a:lstStyle/>
          <a:p>
            <a:pPr indent="0" marL="0">
              <a:lnSpc>
                <a:spcPts val="1700"/>
              </a:lnSpc>
              <a:buNone/>
            </a:pPr>
            <a:r>
              <a:rPr lang="en-US" sz="1250" dirty="0">
                <a:solidFill>
                  <a:srgbClr val="7A3F1C"/>
                </a:solidFill>
                <a:latin typeface="Calibri" pitchFamily="34" charset="0"/>
                <a:ea typeface="Calibri" pitchFamily="34" charset="-122"/>
                <a:cs typeface="Calibri" pitchFamily="34" charset="-120"/>
              </a:rPr>
              <a:t>Only a quiz reports a score. xAPI and cmi5 launch from indexapi.html; a Web export launches from index.html. LMS and Web publishing need a standard Articulate 360 licence — Quick Share and PDF do not.</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Quick Share, in detail</a:t>
            </a:r>
            <a:endParaRPr lang="en-US" sz="3000" dirty="0"/>
          </a:p>
        </p:txBody>
      </p:sp>
      <p:sp>
        <p:nvSpPr>
          <p:cNvPr id="3" name="Text 1"/>
          <p:cNvSpPr/>
          <p:nvPr/>
        </p:nvSpPr>
        <p:spPr>
          <a:xfrm>
            <a:off x="566928" y="1005840"/>
            <a:ext cx="9067428"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One link, no LMS, no learner accounts. The fastest useful thing in the tool.</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4  ·  Decide, then ship</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25</a:t>
            </a:r>
            <a:endParaRPr lang="en-US" sz="950" dirty="0"/>
          </a:p>
        </p:txBody>
      </p:sp>
      <p:sp>
        <p:nvSpPr>
          <p:cNvPr id="6" name="Shape 4"/>
          <p:cNvSpPr/>
          <p:nvPr/>
        </p:nvSpPr>
        <p:spPr>
          <a:xfrm>
            <a:off x="566928" y="1737360"/>
            <a:ext cx="2558720" cy="3200400"/>
          </a:xfrm>
          <a:prstGeom prst="roundRect">
            <a:avLst>
              <a:gd name="adj" fmla="val 3216"/>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7" name="Text 5"/>
          <p:cNvSpPr/>
          <p:nvPr/>
        </p:nvSpPr>
        <p:spPr>
          <a:xfrm>
            <a:off x="859536" y="1975104"/>
            <a:ext cx="1973504" cy="402336"/>
          </a:xfrm>
          <a:prstGeom prst="rect">
            <a:avLst/>
          </a:prstGeom>
          <a:noFill/>
          <a:ln/>
        </p:spPr>
        <p:txBody>
          <a:bodyPr wrap="square" lIns="0" tIns="0" rIns="0" bIns="0" rtlCol="0" anchor="ctr"/>
          <a:lstStyle/>
          <a:p>
            <a:pPr indent="0" marL="0">
              <a:buNone/>
            </a:pPr>
            <a:r>
              <a:rPr lang="en-US" sz="1700" b="1" dirty="0">
                <a:solidFill>
                  <a:srgbClr val="12161F"/>
                </a:solidFill>
                <a:latin typeface="Cambria" pitchFamily="34" charset="0"/>
                <a:ea typeface="Cambria" pitchFamily="34" charset="-122"/>
                <a:cs typeface="Cambria" pitchFamily="34" charset="-120"/>
              </a:rPr>
              <a:t>Password</a:t>
            </a:r>
            <a:endParaRPr lang="en-US" sz="1700" dirty="0"/>
          </a:p>
        </p:txBody>
      </p:sp>
      <p:sp>
        <p:nvSpPr>
          <p:cNvPr id="8" name="Shape 6"/>
          <p:cNvSpPr/>
          <p:nvPr/>
        </p:nvSpPr>
        <p:spPr>
          <a:xfrm>
            <a:off x="859536" y="2450592"/>
            <a:ext cx="457200" cy="32004"/>
          </a:xfrm>
          <a:prstGeom prst="rect">
            <a:avLst/>
          </a:prstGeom>
          <a:solidFill>
            <a:srgbClr val="ED6A2A"/>
          </a:solidFill>
          <a:ln/>
        </p:spPr>
      </p:sp>
      <p:sp>
        <p:nvSpPr>
          <p:cNvPr id="9" name="Text 7"/>
          <p:cNvSpPr/>
          <p:nvPr/>
        </p:nvSpPr>
        <p:spPr>
          <a:xfrm>
            <a:off x="859536" y="2615184"/>
            <a:ext cx="1973504" cy="2103120"/>
          </a:xfrm>
          <a:prstGeom prst="rect">
            <a:avLst/>
          </a:prstGeom>
          <a:noFill/>
          <a:ln/>
        </p:spPr>
        <p:txBody>
          <a:bodyPr wrap="square" lIns="0" tIns="0" rIns="0" bIns="0" rtlCol="0" anchor="t"/>
          <a:lstStyle/>
          <a:p>
            <a:pPr indent="0" marL="0">
              <a:lnSpc>
                <a:spcPts val="1800"/>
              </a:lnSpc>
              <a:buNone/>
            </a:pPr>
            <a:r>
              <a:rPr lang="en-US" sz="1250" dirty="0">
                <a:solidFill>
                  <a:srgbClr val="5A6675"/>
                </a:solidFill>
                <a:latin typeface="Calibri" pitchFamily="34" charset="0"/>
                <a:ea typeface="Calibri" pitchFamily="34" charset="-122"/>
                <a:cs typeface="Calibri" pitchFamily="34" charset="-120"/>
              </a:rPr>
              <a:t>Optional. Turn it on and nobody reaches the training without it.</a:t>
            </a:r>
            <a:endParaRPr lang="en-US" sz="1250" dirty="0"/>
          </a:p>
        </p:txBody>
      </p:sp>
      <p:sp>
        <p:nvSpPr>
          <p:cNvPr id="10" name="Shape 8"/>
          <p:cNvSpPr/>
          <p:nvPr/>
        </p:nvSpPr>
        <p:spPr>
          <a:xfrm>
            <a:off x="3399968" y="1737360"/>
            <a:ext cx="2558720" cy="3200400"/>
          </a:xfrm>
          <a:prstGeom prst="roundRect">
            <a:avLst>
              <a:gd name="adj" fmla="val 3216"/>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1" name="Text 9"/>
          <p:cNvSpPr/>
          <p:nvPr/>
        </p:nvSpPr>
        <p:spPr>
          <a:xfrm>
            <a:off x="3692576" y="1975104"/>
            <a:ext cx="1973504" cy="402336"/>
          </a:xfrm>
          <a:prstGeom prst="rect">
            <a:avLst/>
          </a:prstGeom>
          <a:noFill/>
          <a:ln/>
        </p:spPr>
        <p:txBody>
          <a:bodyPr wrap="square" lIns="0" tIns="0" rIns="0" bIns="0" rtlCol="0" anchor="ctr"/>
          <a:lstStyle/>
          <a:p>
            <a:pPr indent="0" marL="0">
              <a:buNone/>
            </a:pPr>
            <a:r>
              <a:rPr lang="en-US" sz="1700" b="1" dirty="0">
                <a:solidFill>
                  <a:srgbClr val="12161F"/>
                </a:solidFill>
                <a:latin typeface="Cambria" pitchFamily="34" charset="0"/>
                <a:ea typeface="Cambria" pitchFamily="34" charset="-122"/>
                <a:cs typeface="Cambria" pitchFamily="34" charset="-120"/>
              </a:rPr>
              <a:t>Guestbook</a:t>
            </a:r>
            <a:endParaRPr lang="en-US" sz="1700" dirty="0"/>
          </a:p>
        </p:txBody>
      </p:sp>
      <p:sp>
        <p:nvSpPr>
          <p:cNvPr id="12" name="Shape 10"/>
          <p:cNvSpPr/>
          <p:nvPr/>
        </p:nvSpPr>
        <p:spPr>
          <a:xfrm>
            <a:off x="3692576" y="2450592"/>
            <a:ext cx="457200" cy="32004"/>
          </a:xfrm>
          <a:prstGeom prst="rect">
            <a:avLst/>
          </a:prstGeom>
          <a:solidFill>
            <a:srgbClr val="ED6A2A"/>
          </a:solidFill>
          <a:ln/>
        </p:spPr>
      </p:sp>
      <p:sp>
        <p:nvSpPr>
          <p:cNvPr id="13" name="Text 11"/>
          <p:cNvSpPr/>
          <p:nvPr/>
        </p:nvSpPr>
        <p:spPr>
          <a:xfrm>
            <a:off x="3692576" y="2615184"/>
            <a:ext cx="1973504" cy="2103120"/>
          </a:xfrm>
          <a:prstGeom prst="rect">
            <a:avLst/>
          </a:prstGeom>
          <a:noFill/>
          <a:ln/>
        </p:spPr>
        <p:txBody>
          <a:bodyPr wrap="square" lIns="0" tIns="0" rIns="0" bIns="0" rtlCol="0" anchor="t"/>
          <a:lstStyle/>
          <a:p>
            <a:pPr indent="0" marL="0">
              <a:lnSpc>
                <a:spcPts val="1800"/>
              </a:lnSpc>
              <a:buNone/>
            </a:pPr>
            <a:r>
              <a:rPr lang="en-US" sz="1250" dirty="0">
                <a:solidFill>
                  <a:srgbClr val="5A6675"/>
                </a:solidFill>
                <a:latin typeface="Calibri" pitchFamily="34" charset="0"/>
                <a:ea typeface="Calibri" pitchFamily="34" charset="-122"/>
                <a:cs typeface="Calibri" pitchFamily="34" charset="-120"/>
              </a:rPr>
              <a:t>On by default. It asks every learner for a name and an email before they start — turn it off for a casual share.</a:t>
            </a:r>
            <a:endParaRPr lang="en-US" sz="1250" dirty="0"/>
          </a:p>
        </p:txBody>
      </p:sp>
      <p:sp>
        <p:nvSpPr>
          <p:cNvPr id="14" name="Shape 12"/>
          <p:cNvSpPr/>
          <p:nvPr/>
        </p:nvSpPr>
        <p:spPr>
          <a:xfrm>
            <a:off x="6233008" y="1737360"/>
            <a:ext cx="2558720" cy="3200400"/>
          </a:xfrm>
          <a:prstGeom prst="roundRect">
            <a:avLst>
              <a:gd name="adj" fmla="val 3216"/>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5" name="Text 13"/>
          <p:cNvSpPr/>
          <p:nvPr/>
        </p:nvSpPr>
        <p:spPr>
          <a:xfrm>
            <a:off x="6525616" y="1975104"/>
            <a:ext cx="1973504" cy="402336"/>
          </a:xfrm>
          <a:prstGeom prst="rect">
            <a:avLst/>
          </a:prstGeom>
          <a:noFill/>
          <a:ln/>
        </p:spPr>
        <p:txBody>
          <a:bodyPr wrap="square" lIns="0" tIns="0" rIns="0" bIns="0" rtlCol="0" anchor="ctr"/>
          <a:lstStyle/>
          <a:p>
            <a:pPr indent="0" marL="0">
              <a:buNone/>
            </a:pPr>
            <a:r>
              <a:rPr lang="en-US" sz="1700" b="1" dirty="0">
                <a:solidFill>
                  <a:srgbClr val="12161F"/>
                </a:solidFill>
                <a:latin typeface="Cambria" pitchFamily="34" charset="0"/>
                <a:ea typeface="Cambria" pitchFamily="34" charset="-122"/>
                <a:cs typeface="Cambria" pitchFamily="34" charset="-120"/>
              </a:rPr>
              <a:t>Live updates</a:t>
            </a:r>
            <a:endParaRPr lang="en-US" sz="1700" dirty="0"/>
          </a:p>
        </p:txBody>
      </p:sp>
      <p:sp>
        <p:nvSpPr>
          <p:cNvPr id="16" name="Shape 14"/>
          <p:cNvSpPr/>
          <p:nvPr/>
        </p:nvSpPr>
        <p:spPr>
          <a:xfrm>
            <a:off x="6525616" y="2450592"/>
            <a:ext cx="457200" cy="32004"/>
          </a:xfrm>
          <a:prstGeom prst="rect">
            <a:avLst/>
          </a:prstGeom>
          <a:solidFill>
            <a:srgbClr val="ED6A2A"/>
          </a:solidFill>
          <a:ln/>
        </p:spPr>
      </p:sp>
      <p:sp>
        <p:nvSpPr>
          <p:cNvPr id="17" name="Text 15"/>
          <p:cNvSpPr/>
          <p:nvPr/>
        </p:nvSpPr>
        <p:spPr>
          <a:xfrm>
            <a:off x="6525616" y="2615184"/>
            <a:ext cx="1973504" cy="2103120"/>
          </a:xfrm>
          <a:prstGeom prst="rect">
            <a:avLst/>
          </a:prstGeom>
          <a:noFill/>
          <a:ln/>
        </p:spPr>
        <p:txBody>
          <a:bodyPr wrap="square" lIns="0" tIns="0" rIns="0" bIns="0" rtlCol="0" anchor="t"/>
          <a:lstStyle/>
          <a:p>
            <a:pPr indent="0" marL="0">
              <a:lnSpc>
                <a:spcPts val="1800"/>
              </a:lnSpc>
              <a:buNone/>
            </a:pPr>
            <a:r>
              <a:rPr lang="en-US" sz="1250" dirty="0">
                <a:solidFill>
                  <a:srgbClr val="5A6675"/>
                </a:solidFill>
                <a:latin typeface="Calibri" pitchFamily="34" charset="0"/>
                <a:ea typeface="Calibri" pitchFamily="34" charset="-122"/>
                <a:cs typeface="Calibri" pitchFamily="34" charset="-120"/>
              </a:rPr>
              <a:t>Edit the course in Rise and the link shows the new version. No re-publishing, no new link.</a:t>
            </a:r>
            <a:endParaRPr lang="en-US" sz="1250" dirty="0"/>
          </a:p>
        </p:txBody>
      </p:sp>
      <p:sp>
        <p:nvSpPr>
          <p:cNvPr id="18" name="Shape 16"/>
          <p:cNvSpPr/>
          <p:nvPr/>
        </p:nvSpPr>
        <p:spPr>
          <a:xfrm>
            <a:off x="9066047" y="1737360"/>
            <a:ext cx="2558720" cy="3200400"/>
          </a:xfrm>
          <a:prstGeom prst="roundRect">
            <a:avLst>
              <a:gd name="adj" fmla="val 3216"/>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9" name="Text 17"/>
          <p:cNvSpPr/>
          <p:nvPr/>
        </p:nvSpPr>
        <p:spPr>
          <a:xfrm>
            <a:off x="9358655" y="1975104"/>
            <a:ext cx="1973504" cy="402336"/>
          </a:xfrm>
          <a:prstGeom prst="rect">
            <a:avLst/>
          </a:prstGeom>
          <a:noFill/>
          <a:ln/>
        </p:spPr>
        <p:txBody>
          <a:bodyPr wrap="square" lIns="0" tIns="0" rIns="0" bIns="0" rtlCol="0" anchor="ctr"/>
          <a:lstStyle/>
          <a:p>
            <a:pPr indent="0" marL="0">
              <a:buNone/>
            </a:pPr>
            <a:r>
              <a:rPr lang="en-US" sz="1700" b="1" dirty="0">
                <a:solidFill>
                  <a:srgbClr val="12161F"/>
                </a:solidFill>
                <a:latin typeface="Cambria" pitchFamily="34" charset="0"/>
                <a:ea typeface="Cambria" pitchFamily="34" charset="-122"/>
                <a:cs typeface="Cambria" pitchFamily="34" charset="-120"/>
              </a:rPr>
              <a:t>Engagement</a:t>
            </a:r>
            <a:endParaRPr lang="en-US" sz="1700" dirty="0"/>
          </a:p>
        </p:txBody>
      </p:sp>
      <p:sp>
        <p:nvSpPr>
          <p:cNvPr id="20" name="Shape 18"/>
          <p:cNvSpPr/>
          <p:nvPr/>
        </p:nvSpPr>
        <p:spPr>
          <a:xfrm>
            <a:off x="9358655" y="2450592"/>
            <a:ext cx="457200" cy="32004"/>
          </a:xfrm>
          <a:prstGeom prst="rect">
            <a:avLst/>
          </a:prstGeom>
          <a:solidFill>
            <a:srgbClr val="ED6A2A"/>
          </a:solidFill>
          <a:ln/>
        </p:spPr>
      </p:sp>
      <p:sp>
        <p:nvSpPr>
          <p:cNvPr id="21" name="Text 19"/>
          <p:cNvSpPr/>
          <p:nvPr/>
        </p:nvSpPr>
        <p:spPr>
          <a:xfrm>
            <a:off x="9358655" y="2615184"/>
            <a:ext cx="1973504" cy="2103120"/>
          </a:xfrm>
          <a:prstGeom prst="rect">
            <a:avLst/>
          </a:prstGeom>
          <a:noFill/>
          <a:ln/>
        </p:spPr>
        <p:txBody>
          <a:bodyPr wrap="square" lIns="0" tIns="0" rIns="0" bIns="0" rtlCol="0" anchor="t"/>
          <a:lstStyle/>
          <a:p>
            <a:pPr indent="0" marL="0">
              <a:lnSpc>
                <a:spcPts val="1800"/>
              </a:lnSpc>
              <a:buNone/>
            </a:pPr>
            <a:r>
              <a:rPr lang="en-US" sz="1250" dirty="0">
                <a:solidFill>
                  <a:srgbClr val="5A6675"/>
                </a:solidFill>
                <a:latin typeface="Calibri" pitchFamily="34" charset="0"/>
                <a:ea typeface="Calibri" pitchFamily="34" charset="-122"/>
                <a:cs typeface="Calibri" pitchFamily="34" charset="-120"/>
              </a:rPr>
              <a:t>How many individual learners, how many views, exportable as CSV. The view count includes repeat visits by the same person.</a:t>
            </a:r>
            <a:endParaRPr lang="en-US" sz="1250" dirty="0"/>
          </a:p>
        </p:txBody>
      </p:sp>
      <p:sp>
        <p:nvSpPr>
          <p:cNvPr id="22" name="Shape 20"/>
          <p:cNvSpPr/>
          <p:nvPr/>
        </p:nvSpPr>
        <p:spPr>
          <a:xfrm>
            <a:off x="566928" y="5102352"/>
            <a:ext cx="11057839" cy="731520"/>
          </a:xfrm>
          <a:prstGeom prst="roundRect">
            <a:avLst>
              <a:gd name="adj" fmla="val 11250"/>
            </a:avLst>
          </a:prstGeom>
          <a:solidFill>
            <a:srgbClr val="12161F"/>
          </a:solidFill>
          <a:ln w="9525">
            <a:solidFill>
              <a:srgbClr val="12161F"/>
            </a:solidFill>
            <a:prstDash val="solid"/>
          </a:ln>
          <a:effectLst>
            <a:outerShdw sx="100000" sy="100000" kx="0" ky="0" algn="bl" rotWithShape="0" blurRad="177800" dist="38100" dir="5400000">
              <a:srgbClr val="9AA6B4">
                <a:alpha val="32000"/>
              </a:srgbClr>
            </a:outerShdw>
          </a:effectLst>
        </p:spPr>
      </p:sp>
      <p:sp>
        <p:nvSpPr>
          <p:cNvPr id="23" name="Text 21"/>
          <p:cNvSpPr/>
          <p:nvPr/>
        </p:nvSpPr>
        <p:spPr>
          <a:xfrm>
            <a:off x="932688" y="5102352"/>
            <a:ext cx="10326319" cy="731520"/>
          </a:xfrm>
          <a:prstGeom prst="rect">
            <a:avLst/>
          </a:prstGeom>
          <a:noFill/>
          <a:ln/>
        </p:spPr>
        <p:txBody>
          <a:bodyPr wrap="square" lIns="0" tIns="0" rIns="0" bIns="0" rtlCol="0" anchor="ctr"/>
          <a:lstStyle/>
          <a:p>
            <a:pPr indent="0" marL="0">
              <a:lnSpc>
                <a:spcPts val="1800"/>
              </a:lnSpc>
              <a:buNone/>
            </a:pPr>
            <a:r>
              <a:rPr lang="en-US" sz="1300" b="1" dirty="0">
                <a:solidFill>
                  <a:srgbClr val="ED6A2A"/>
                </a:solidFill>
                <a:latin typeface="Calibri" pitchFamily="34" charset="0"/>
                <a:ea typeface="Calibri" pitchFamily="34" charset="-122"/>
                <a:cs typeface="Calibri" pitchFamily="34" charset="-120"/>
              </a:rPr>
              <a:t>What it is not:  </a:t>
            </a:r>
            <a:pPr indent="0" marL="0">
              <a:lnSpc>
                <a:spcPts val="1800"/>
              </a:lnSpc>
              <a:buNone/>
            </a:pPr>
            <a:r>
              <a:rPr lang="en-US" sz="1300" dirty="0">
                <a:solidFill>
                  <a:srgbClr val="FFFFFF"/>
                </a:solidFill>
                <a:latin typeface="Calibri" pitchFamily="34" charset="0"/>
                <a:ea typeface="Calibri" pitchFamily="34" charset="-122"/>
                <a:cs typeface="Calibri" pitchFamily="34" charset="-120"/>
              </a:rPr>
              <a:t>a tracking system. You get views and guestbook entries, never per-learner quiz scores. The link stays alive until you delete the training or the subscription lapses.</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2161F"/>
        </a:solidFill>
      </p:bgPr>
    </p:bg>
    <p:spTree>
      <p:nvGrpSpPr>
        <p:cNvPr id="1" name=""/>
        <p:cNvGrpSpPr/>
        <p:nvPr/>
      </p:nvGrpSpPr>
      <p:grpSpPr>
        <a:xfrm>
          <a:off x="0" y="0"/>
          <a:ext cx="0" cy="0"/>
          <a:chOff x="0" y="0"/>
          <a:chExt cx="0" cy="0"/>
        </a:xfrm>
      </p:grpSpPr>
      <p:sp>
        <p:nvSpPr>
          <p:cNvPr id="2" name="Text 0"/>
          <p:cNvSpPr/>
          <p:nvPr/>
        </p:nvSpPr>
        <p:spPr>
          <a:xfrm>
            <a:off x="566928" y="2148840"/>
            <a:ext cx="6634704" cy="274320"/>
          </a:xfrm>
          <a:prstGeom prst="rect">
            <a:avLst/>
          </a:prstGeom>
          <a:noFill/>
          <a:ln/>
        </p:spPr>
        <p:txBody>
          <a:bodyPr wrap="square" lIns="0" tIns="0" rIns="0" bIns="0" rtlCol="0" anchor="ctr"/>
          <a:lstStyle/>
          <a:p>
            <a:pPr indent="0" marL="0">
              <a:buNone/>
            </a:pPr>
            <a:r>
              <a:rPr lang="en-US" sz="1200" b="1" spc="220" kern="0" dirty="0">
                <a:solidFill>
                  <a:srgbClr val="ED6A2A"/>
                </a:solidFill>
                <a:latin typeface="Calibri" pitchFamily="34" charset="0"/>
                <a:ea typeface="Calibri" pitchFamily="34" charset="-122"/>
                <a:cs typeface="Calibri" pitchFamily="34" charset="-120"/>
              </a:rPr>
              <a:t>SECTION FIVE</a:t>
            </a:r>
            <a:endParaRPr lang="en-US" sz="1200" dirty="0"/>
          </a:p>
        </p:txBody>
      </p:sp>
      <p:sp>
        <p:nvSpPr>
          <p:cNvPr id="3" name="Text 1"/>
          <p:cNvSpPr/>
          <p:nvPr/>
        </p:nvSpPr>
        <p:spPr>
          <a:xfrm>
            <a:off x="566928" y="2487168"/>
            <a:ext cx="6855860" cy="10515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Your turn</a:t>
            </a:r>
            <a:endParaRPr lang="en-US" sz="4000" dirty="0"/>
          </a:p>
        </p:txBody>
      </p:sp>
      <p:sp>
        <p:nvSpPr>
          <p:cNvPr id="4" name="Text 2"/>
          <p:cNvSpPr/>
          <p:nvPr/>
        </p:nvSpPr>
        <p:spPr>
          <a:xfrm>
            <a:off x="566928" y="3712464"/>
            <a:ext cx="5971233" cy="822960"/>
          </a:xfrm>
          <a:prstGeom prst="rect">
            <a:avLst/>
          </a:prstGeom>
          <a:noFill/>
          <a:ln/>
        </p:spPr>
        <p:txBody>
          <a:bodyPr wrap="square" lIns="0" tIns="0" rIns="0" bIns="0" rtlCol="0" anchor="t"/>
          <a:lstStyle/>
          <a:p>
            <a:pPr indent="0" marL="0">
              <a:lnSpc>
                <a:spcPts val="2200"/>
              </a:lnSpc>
              <a:buNone/>
            </a:pPr>
            <a:r>
              <a:rPr lang="en-US" sz="1450" dirty="0">
                <a:solidFill>
                  <a:srgbClr val="A9B3C0"/>
                </a:solidFill>
                <a:latin typeface="Calibri" pitchFamily="34" charset="0"/>
                <a:ea typeface="Calibri" pitchFamily="34" charset="-122"/>
                <a:cs typeface="Calibri" pitchFamily="34" charset="-120"/>
              </a:rPr>
              <a:t>Same shape, your subject, published by Monday morning. Fifteen minutes on this — the detail is all in the brief.</a:t>
            </a:r>
            <a:endParaRPr lang="en-US" sz="1450" dirty="0"/>
          </a:p>
        </p:txBody>
      </p:sp>
      <p:sp>
        <p:nvSpPr>
          <p:cNvPr id="5" name="Shape 3"/>
          <p:cNvSpPr/>
          <p:nvPr/>
        </p:nvSpPr>
        <p:spPr>
          <a:xfrm>
            <a:off x="9338767" y="2331720"/>
            <a:ext cx="1920240" cy="475488"/>
          </a:xfrm>
          <a:prstGeom prst="roundRect">
            <a:avLst>
              <a:gd name="adj" fmla="val 15385"/>
            </a:avLst>
          </a:prstGeom>
          <a:solidFill>
            <a:srgbClr val="1C2230"/>
          </a:solidFill>
          <a:ln w="12700">
            <a:solidFill>
              <a:srgbClr val="2A3242"/>
            </a:solidFill>
            <a:prstDash val="solid"/>
          </a:ln>
        </p:spPr>
      </p:sp>
      <p:sp>
        <p:nvSpPr>
          <p:cNvPr id="6" name="Shape 4"/>
          <p:cNvSpPr/>
          <p:nvPr/>
        </p:nvSpPr>
        <p:spPr>
          <a:xfrm>
            <a:off x="9466783" y="2990088"/>
            <a:ext cx="1920240" cy="475488"/>
          </a:xfrm>
          <a:prstGeom prst="roundRect">
            <a:avLst>
              <a:gd name="adj" fmla="val 15385"/>
            </a:avLst>
          </a:prstGeom>
          <a:solidFill>
            <a:srgbClr val="1C2230"/>
          </a:solidFill>
          <a:ln w="12700">
            <a:solidFill>
              <a:srgbClr val="2A3242"/>
            </a:solidFill>
            <a:prstDash val="solid"/>
          </a:ln>
        </p:spPr>
      </p:sp>
      <p:sp>
        <p:nvSpPr>
          <p:cNvPr id="7" name="Shape 5"/>
          <p:cNvSpPr/>
          <p:nvPr/>
        </p:nvSpPr>
        <p:spPr>
          <a:xfrm>
            <a:off x="9594799" y="3648456"/>
            <a:ext cx="1920240" cy="475488"/>
          </a:xfrm>
          <a:prstGeom prst="roundRect">
            <a:avLst>
              <a:gd name="adj" fmla="val 15385"/>
            </a:avLst>
          </a:prstGeom>
          <a:solidFill>
            <a:srgbClr val="ED6A2A"/>
          </a:solidFill>
          <a:ln w="12700">
            <a:solidFill>
              <a:srgbClr val="ED6A2A"/>
            </a:solidFill>
            <a:prstDash val="solid"/>
          </a:ln>
        </p:spPr>
      </p:sp>
      <p:sp>
        <p:nvSpPr>
          <p:cNvPr id="8" name="Text 6"/>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A9B3C0"/>
                </a:solidFill>
                <a:latin typeface="Calibri" pitchFamily="34" charset="0"/>
                <a:ea typeface="Calibri" pitchFamily="34" charset="-122"/>
                <a:cs typeface="Calibri" pitchFamily="34" charset="-120"/>
              </a:rPr>
              <a:t>Rise 360  ·  Day 4  ·  Decide, then ship</a:t>
            </a:r>
            <a:endParaRPr lang="en-US" sz="950" dirty="0"/>
          </a:p>
        </p:txBody>
      </p:sp>
      <p:sp>
        <p:nvSpPr>
          <p:cNvPr id="9" name="Text 7"/>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A9B3C0"/>
                </a:solidFill>
                <a:latin typeface="Calibri" pitchFamily="34" charset="0"/>
                <a:ea typeface="Calibri" pitchFamily="34" charset="-122"/>
                <a:cs typeface="Calibri" pitchFamily="34" charset="-120"/>
              </a:rPr>
              <a:t>26</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The capstone</a:t>
            </a:r>
            <a:endParaRPr lang="en-US" sz="3000" dirty="0"/>
          </a:p>
        </p:txBody>
      </p:sp>
      <p:sp>
        <p:nvSpPr>
          <p:cNvPr id="3" name="Text 1"/>
          <p:cNvSpPr/>
          <p:nvPr/>
        </p:nvSpPr>
        <p:spPr>
          <a:xfrm>
            <a:off x="566928" y="1005840"/>
            <a:ext cx="9067428"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Two lessons, one quiz, nine to twelve blocks — the same shape you just watched, on a topic from your own work.</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4  ·  Decide, then ship</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27</a:t>
            </a:r>
            <a:endParaRPr lang="en-US" sz="950" dirty="0"/>
          </a:p>
        </p:txBody>
      </p:sp>
      <p:sp>
        <p:nvSpPr>
          <p:cNvPr id="6" name="Shape 4"/>
          <p:cNvSpPr/>
          <p:nvPr/>
        </p:nvSpPr>
        <p:spPr>
          <a:xfrm>
            <a:off x="566928" y="1645920"/>
            <a:ext cx="3503066" cy="3200400"/>
          </a:xfrm>
          <a:prstGeom prst="roundRect">
            <a:avLst>
              <a:gd name="adj" fmla="val 2571"/>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7" name="Shape 5"/>
          <p:cNvSpPr/>
          <p:nvPr/>
        </p:nvSpPr>
        <p:spPr>
          <a:xfrm>
            <a:off x="859536" y="1883664"/>
            <a:ext cx="1371600" cy="274320"/>
          </a:xfrm>
          <a:prstGeom prst="roundRect">
            <a:avLst>
              <a:gd name="adj" fmla="val 50000"/>
            </a:avLst>
          </a:prstGeom>
          <a:solidFill>
            <a:srgbClr val="12161F"/>
          </a:solidFill>
          <a:ln/>
        </p:spPr>
      </p:sp>
      <p:sp>
        <p:nvSpPr>
          <p:cNvPr id="8" name="Text 6"/>
          <p:cNvSpPr/>
          <p:nvPr/>
        </p:nvSpPr>
        <p:spPr>
          <a:xfrm>
            <a:off x="859536" y="1883664"/>
            <a:ext cx="1371600" cy="274320"/>
          </a:xfrm>
          <a:prstGeom prst="rect">
            <a:avLst/>
          </a:prstGeom>
          <a:noFill/>
          <a:ln/>
        </p:spPr>
        <p:txBody>
          <a:bodyPr wrap="square" lIns="0" tIns="0" rIns="0" bIns="0" rtlCol="0" anchor="ctr"/>
          <a:lstStyle/>
          <a:p>
            <a:pPr algn="ctr" indent="0" marL="0">
              <a:buNone/>
            </a:pPr>
            <a:r>
              <a:rPr lang="en-US" sz="1050" b="1" spc="60" kern="0" dirty="0">
                <a:solidFill>
                  <a:srgbClr val="FFFFFF"/>
                </a:solidFill>
                <a:latin typeface="Calibri" pitchFamily="34" charset="0"/>
                <a:ea typeface="Calibri" pitchFamily="34" charset="-122"/>
                <a:cs typeface="Calibri" pitchFamily="34" charset="-120"/>
              </a:rPr>
              <a:t>Structure</a:t>
            </a:r>
            <a:endParaRPr lang="en-US" sz="1050" dirty="0"/>
          </a:p>
        </p:txBody>
      </p:sp>
      <p:sp>
        <p:nvSpPr>
          <p:cNvPr id="9" name="Text 7"/>
          <p:cNvSpPr/>
          <p:nvPr/>
        </p:nvSpPr>
        <p:spPr>
          <a:xfrm>
            <a:off x="859536" y="2377440"/>
            <a:ext cx="2917850" cy="2286000"/>
          </a:xfrm>
          <a:prstGeom prst="rect">
            <a:avLst/>
          </a:prstGeom>
          <a:noFill/>
          <a:ln/>
        </p:spPr>
        <p:txBody>
          <a:bodyPr wrap="square" lIns="0" tIns="0" rIns="0" bIns="0" rtlCol="0" anchor="t"/>
          <a:lstStyle/>
          <a:p>
            <a:pPr marL="342900" indent="-342900">
              <a:lnSpc>
                <a:spcPts val="1900"/>
              </a:lnSpc>
              <a:spcAft>
                <a:spcPts val="800"/>
              </a:spcAft>
              <a:buSzPct val="100000"/>
              <a:buChar char="•"/>
            </a:pPr>
            <a:r>
              <a:rPr lang="en-US" sz="1250" dirty="0">
                <a:solidFill>
                  <a:srgbClr val="12161F"/>
                </a:solidFill>
                <a:latin typeface="Calibri" pitchFamily="34" charset="0"/>
                <a:ea typeface="Calibri" pitchFamily="34" charset="-122"/>
                <a:cs typeface="Calibri" pitchFamily="34" charset="-120"/>
              </a:rPr>
              <a:t>A Course, not Microlearning</a:t>
            </a:r>
            <a:endParaRPr lang="en-US" sz="1250" dirty="0"/>
          </a:p>
          <a:p>
            <a:pPr marL="342900" indent="-342900">
              <a:lnSpc>
                <a:spcPts val="1900"/>
              </a:lnSpc>
              <a:spcAft>
                <a:spcPts val="800"/>
              </a:spcAft>
              <a:buSzPct val="100000"/>
              <a:buChar char="•"/>
            </a:pPr>
            <a:r>
              <a:rPr lang="en-US" sz="1250" dirty="0">
                <a:solidFill>
                  <a:srgbClr val="12161F"/>
                </a:solidFill>
                <a:latin typeface="Calibri" pitchFamily="34" charset="0"/>
                <a:ea typeface="Calibri" pitchFamily="34" charset="-122"/>
                <a:cs typeface="Calibri" pitchFamily="34" charset="-120"/>
              </a:rPr>
              <a:t>A title that reads as a promise</a:t>
            </a:r>
            <a:endParaRPr lang="en-US" sz="1250" dirty="0"/>
          </a:p>
          <a:p>
            <a:pPr marL="342900" indent="-342900">
              <a:lnSpc>
                <a:spcPts val="1900"/>
              </a:lnSpc>
              <a:spcAft>
                <a:spcPts val="800"/>
              </a:spcAft>
              <a:buSzPct val="100000"/>
              <a:buChar char="•"/>
            </a:pPr>
            <a:r>
              <a:rPr lang="en-US" sz="1250" dirty="0">
                <a:solidFill>
                  <a:srgbClr val="12161F"/>
                </a:solidFill>
                <a:latin typeface="Calibri" pitchFamily="34" charset="0"/>
                <a:ea typeface="Calibri" pitchFamily="34" charset="-122"/>
                <a:cs typeface="Calibri" pitchFamily="34" charset="-120"/>
              </a:rPr>
              <a:t>Two lessons plus a quiz</a:t>
            </a:r>
            <a:endParaRPr lang="en-US" sz="1250" dirty="0"/>
          </a:p>
          <a:p>
            <a:pPr marL="342900" indent="-342900">
              <a:lnSpc>
                <a:spcPts val="1900"/>
              </a:lnSpc>
              <a:spcAft>
                <a:spcPts val="800"/>
              </a:spcAft>
              <a:buSzPct val="100000"/>
              <a:buChar char="•"/>
            </a:pPr>
            <a:r>
              <a:rPr lang="en-US" sz="1250" dirty="0">
                <a:solidFill>
                  <a:srgbClr val="12161F"/>
                </a:solidFill>
                <a:latin typeface="Calibri" pitchFamily="34" charset="0"/>
                <a:ea typeface="Calibri" pitchFamily="34" charset="-122"/>
                <a:cs typeface="Calibri" pitchFamily="34" charset="-120"/>
              </a:rPr>
              <a:t>9–12 blocks in total</a:t>
            </a:r>
            <a:endParaRPr lang="en-US" sz="1250" dirty="0"/>
          </a:p>
        </p:txBody>
      </p:sp>
      <p:sp>
        <p:nvSpPr>
          <p:cNvPr id="10" name="Shape 8"/>
          <p:cNvSpPr/>
          <p:nvPr/>
        </p:nvSpPr>
        <p:spPr>
          <a:xfrm>
            <a:off x="4344314" y="1645920"/>
            <a:ext cx="3503066" cy="3200400"/>
          </a:xfrm>
          <a:prstGeom prst="roundRect">
            <a:avLst>
              <a:gd name="adj" fmla="val 2571"/>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1" name="Shape 9"/>
          <p:cNvSpPr/>
          <p:nvPr/>
        </p:nvSpPr>
        <p:spPr>
          <a:xfrm>
            <a:off x="4636922" y="1883664"/>
            <a:ext cx="1371600" cy="274320"/>
          </a:xfrm>
          <a:prstGeom prst="roundRect">
            <a:avLst>
              <a:gd name="adj" fmla="val 50000"/>
            </a:avLst>
          </a:prstGeom>
          <a:solidFill>
            <a:srgbClr val="12161F"/>
          </a:solidFill>
          <a:ln/>
        </p:spPr>
      </p:sp>
      <p:sp>
        <p:nvSpPr>
          <p:cNvPr id="12" name="Text 10"/>
          <p:cNvSpPr/>
          <p:nvPr/>
        </p:nvSpPr>
        <p:spPr>
          <a:xfrm>
            <a:off x="4636922" y="1883664"/>
            <a:ext cx="1371600" cy="274320"/>
          </a:xfrm>
          <a:prstGeom prst="rect">
            <a:avLst/>
          </a:prstGeom>
          <a:noFill/>
          <a:ln/>
        </p:spPr>
        <p:txBody>
          <a:bodyPr wrap="square" lIns="0" tIns="0" rIns="0" bIns="0" rtlCol="0" anchor="ctr"/>
          <a:lstStyle/>
          <a:p>
            <a:pPr algn="ctr" indent="0" marL="0">
              <a:buNone/>
            </a:pPr>
            <a:r>
              <a:rPr lang="en-US" sz="1050" b="1" spc="60" kern="0" dirty="0">
                <a:solidFill>
                  <a:srgbClr val="FFFFFF"/>
                </a:solidFill>
                <a:latin typeface="Calibri" pitchFamily="34" charset="0"/>
                <a:ea typeface="Calibri" pitchFamily="34" charset="-122"/>
                <a:cs typeface="Calibri" pitchFamily="34" charset="-120"/>
              </a:rPr>
              <a:t>Blocks</a:t>
            </a:r>
            <a:endParaRPr lang="en-US" sz="1050" dirty="0"/>
          </a:p>
        </p:txBody>
      </p:sp>
      <p:sp>
        <p:nvSpPr>
          <p:cNvPr id="13" name="Text 11"/>
          <p:cNvSpPr/>
          <p:nvPr/>
        </p:nvSpPr>
        <p:spPr>
          <a:xfrm>
            <a:off x="4636922" y="2377440"/>
            <a:ext cx="2917850" cy="2286000"/>
          </a:xfrm>
          <a:prstGeom prst="rect">
            <a:avLst/>
          </a:prstGeom>
          <a:noFill/>
          <a:ln/>
        </p:spPr>
        <p:txBody>
          <a:bodyPr wrap="square" lIns="0" tIns="0" rIns="0" bIns="0" rtlCol="0" anchor="t"/>
          <a:lstStyle/>
          <a:p>
            <a:pPr marL="342900" indent="-342900">
              <a:lnSpc>
                <a:spcPts val="1900"/>
              </a:lnSpc>
              <a:spcAft>
                <a:spcPts val="800"/>
              </a:spcAft>
              <a:buSzPct val="100000"/>
              <a:buChar char="•"/>
            </a:pPr>
            <a:r>
              <a:rPr lang="en-US" sz="1250" dirty="0">
                <a:solidFill>
                  <a:srgbClr val="12161F"/>
                </a:solidFill>
                <a:latin typeface="Calibri" pitchFamily="34" charset="0"/>
                <a:ea typeface="Calibri" pitchFamily="34" charset="-122"/>
                <a:cs typeface="Calibri" pitchFamily="34" charset="-120"/>
              </a:rPr>
              <a:t>Four static families from Day 2</a:t>
            </a:r>
            <a:endParaRPr lang="en-US" sz="1250" dirty="0"/>
          </a:p>
          <a:p>
            <a:pPr marL="342900" indent="-342900">
              <a:lnSpc>
                <a:spcPts val="1900"/>
              </a:lnSpc>
              <a:spcAft>
                <a:spcPts val="800"/>
              </a:spcAft>
              <a:buSzPct val="100000"/>
              <a:buChar char="•"/>
            </a:pPr>
            <a:r>
              <a:rPr lang="en-US" sz="1250" dirty="0">
                <a:solidFill>
                  <a:srgbClr val="12161F"/>
                </a:solidFill>
                <a:latin typeface="Calibri" pitchFamily="34" charset="0"/>
                <a:ea typeface="Calibri" pitchFamily="34" charset="-122"/>
                <a:cs typeface="Calibri" pitchFamily="34" charset="-120"/>
              </a:rPr>
              <a:t>One Day 3 interactive block</a:t>
            </a:r>
            <a:endParaRPr lang="en-US" sz="1250" dirty="0"/>
          </a:p>
          <a:p>
            <a:pPr marL="342900" indent="-342900">
              <a:lnSpc>
                <a:spcPts val="1900"/>
              </a:lnSpc>
              <a:spcAft>
                <a:spcPts val="800"/>
              </a:spcAft>
              <a:buSzPct val="100000"/>
              <a:buChar char="•"/>
            </a:pPr>
            <a:r>
              <a:rPr lang="en-US" sz="1250" dirty="0">
                <a:solidFill>
                  <a:srgbClr val="12161F"/>
                </a:solidFill>
                <a:latin typeface="Calibri" pitchFamily="34" charset="0"/>
                <a:ea typeface="Calibri" pitchFamily="34" charset="-122"/>
                <a:cs typeface="Calibri" pitchFamily="34" charset="-120"/>
              </a:rPr>
              <a:t>One Scenario — 3+ scenes, a wrong branch, a Try again</a:t>
            </a:r>
            <a:endParaRPr lang="en-US" sz="1250" dirty="0"/>
          </a:p>
          <a:p>
            <a:pPr marL="342900" indent="-342900">
              <a:lnSpc>
                <a:spcPts val="1900"/>
              </a:lnSpc>
              <a:spcAft>
                <a:spcPts val="800"/>
              </a:spcAft>
              <a:buSzPct val="100000"/>
              <a:buChar char="•"/>
            </a:pPr>
            <a:r>
              <a:rPr lang="en-US" sz="1250" dirty="0">
                <a:solidFill>
                  <a:srgbClr val="12161F"/>
                </a:solidFill>
                <a:latin typeface="Calibri" pitchFamily="34" charset="0"/>
                <a:ea typeface="Calibri" pitchFamily="34" charset="-122"/>
                <a:cs typeface="Calibri" pitchFamily="34" charset="-120"/>
              </a:rPr>
              <a:t>One Button or Button stack, labelled properly</a:t>
            </a:r>
            <a:endParaRPr lang="en-US" sz="1250" dirty="0"/>
          </a:p>
        </p:txBody>
      </p:sp>
      <p:sp>
        <p:nvSpPr>
          <p:cNvPr id="14" name="Shape 12"/>
          <p:cNvSpPr/>
          <p:nvPr/>
        </p:nvSpPr>
        <p:spPr>
          <a:xfrm>
            <a:off x="8121701" y="1645920"/>
            <a:ext cx="3503066" cy="3200400"/>
          </a:xfrm>
          <a:prstGeom prst="roundRect">
            <a:avLst>
              <a:gd name="adj" fmla="val 2571"/>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5" name="Shape 13"/>
          <p:cNvSpPr/>
          <p:nvPr/>
        </p:nvSpPr>
        <p:spPr>
          <a:xfrm>
            <a:off x="8414309" y="1883664"/>
            <a:ext cx="1371600" cy="274320"/>
          </a:xfrm>
          <a:prstGeom prst="roundRect">
            <a:avLst>
              <a:gd name="adj" fmla="val 50000"/>
            </a:avLst>
          </a:prstGeom>
          <a:solidFill>
            <a:srgbClr val="12161F"/>
          </a:solidFill>
          <a:ln/>
        </p:spPr>
      </p:sp>
      <p:sp>
        <p:nvSpPr>
          <p:cNvPr id="16" name="Text 14"/>
          <p:cNvSpPr/>
          <p:nvPr/>
        </p:nvSpPr>
        <p:spPr>
          <a:xfrm>
            <a:off x="8414309" y="1883664"/>
            <a:ext cx="1371600" cy="274320"/>
          </a:xfrm>
          <a:prstGeom prst="rect">
            <a:avLst/>
          </a:prstGeom>
          <a:noFill/>
          <a:ln/>
        </p:spPr>
        <p:txBody>
          <a:bodyPr wrap="square" lIns="0" tIns="0" rIns="0" bIns="0" rtlCol="0" anchor="ctr"/>
          <a:lstStyle/>
          <a:p>
            <a:pPr algn="ctr" indent="0" marL="0">
              <a:buNone/>
            </a:pPr>
            <a:r>
              <a:rPr lang="en-US" sz="1050" b="1" spc="60" kern="0" dirty="0">
                <a:solidFill>
                  <a:srgbClr val="FFFFFF"/>
                </a:solidFill>
                <a:latin typeface="Calibri" pitchFamily="34" charset="0"/>
                <a:ea typeface="Calibri" pitchFamily="34" charset="-122"/>
                <a:cs typeface="Calibri" pitchFamily="34" charset="-120"/>
              </a:rPr>
              <a:t>Finish</a:t>
            </a:r>
            <a:endParaRPr lang="en-US" sz="1050" dirty="0"/>
          </a:p>
        </p:txBody>
      </p:sp>
      <p:sp>
        <p:nvSpPr>
          <p:cNvPr id="17" name="Text 15"/>
          <p:cNvSpPr/>
          <p:nvPr/>
        </p:nvSpPr>
        <p:spPr>
          <a:xfrm>
            <a:off x="8414309" y="2377440"/>
            <a:ext cx="2917850" cy="2286000"/>
          </a:xfrm>
          <a:prstGeom prst="rect">
            <a:avLst/>
          </a:prstGeom>
          <a:noFill/>
          <a:ln/>
        </p:spPr>
        <p:txBody>
          <a:bodyPr wrap="square" lIns="0" tIns="0" rIns="0" bIns="0" rtlCol="0" anchor="t"/>
          <a:lstStyle/>
          <a:p>
            <a:pPr marL="342900" indent="-342900">
              <a:lnSpc>
                <a:spcPts val="1900"/>
              </a:lnSpc>
              <a:spcAft>
                <a:spcPts val="800"/>
              </a:spcAft>
              <a:buSzPct val="100000"/>
              <a:buChar char="•"/>
            </a:pPr>
            <a:r>
              <a:rPr lang="en-US" sz="1250" dirty="0">
                <a:solidFill>
                  <a:srgbClr val="12161F"/>
                </a:solidFill>
                <a:latin typeface="Calibri" pitchFamily="34" charset="0"/>
                <a:ea typeface="Calibri" pitchFamily="34" charset="-122"/>
                <a:cs typeface="Calibri" pitchFamily="34" charset="-120"/>
              </a:rPr>
              <a:t>Four questions, three question types</a:t>
            </a:r>
            <a:endParaRPr lang="en-US" sz="1250" dirty="0"/>
          </a:p>
          <a:p>
            <a:pPr marL="342900" indent="-342900">
              <a:lnSpc>
                <a:spcPts val="1900"/>
              </a:lnSpc>
              <a:spcAft>
                <a:spcPts val="800"/>
              </a:spcAft>
              <a:buSzPct val="100000"/>
              <a:buChar char="•"/>
            </a:pPr>
            <a:r>
              <a:rPr lang="en-US" sz="1250" dirty="0">
                <a:solidFill>
                  <a:srgbClr val="12161F"/>
                </a:solidFill>
                <a:latin typeface="Calibri" pitchFamily="34" charset="0"/>
                <a:ea typeface="Calibri" pitchFamily="34" charset="-122"/>
                <a:cs typeface="Calibri" pitchFamily="34" charset="-120"/>
              </a:rPr>
              <a:t>Feedback on every question</a:t>
            </a:r>
            <a:endParaRPr lang="en-US" sz="1250" dirty="0"/>
          </a:p>
          <a:p>
            <a:pPr marL="342900" indent="-342900">
              <a:lnSpc>
                <a:spcPts val="1900"/>
              </a:lnSpc>
              <a:spcAft>
                <a:spcPts val="800"/>
              </a:spcAft>
              <a:buSzPct val="100000"/>
              <a:buChar char="•"/>
            </a:pPr>
            <a:r>
              <a:rPr lang="en-US" sz="1250" dirty="0">
                <a:solidFill>
                  <a:srgbClr val="12161F"/>
                </a:solidFill>
                <a:latin typeface="Calibri" pitchFamily="34" charset="0"/>
                <a:ea typeface="Calibri" pitchFamily="34" charset="-122"/>
                <a:cs typeface="Calibri" pitchFamily="34" charset="-120"/>
              </a:rPr>
              <a:t>Previewed on mobile portrait, and fixed</a:t>
            </a:r>
            <a:endParaRPr lang="en-US" sz="1250" dirty="0"/>
          </a:p>
          <a:p>
            <a:pPr marL="342900" indent="-342900">
              <a:lnSpc>
                <a:spcPts val="1900"/>
              </a:lnSpc>
              <a:spcAft>
                <a:spcPts val="800"/>
              </a:spcAft>
              <a:buSzPct val="100000"/>
              <a:buChar char="•"/>
            </a:pPr>
            <a:r>
              <a:rPr lang="en-US" sz="1250" dirty="0">
                <a:solidFill>
                  <a:srgbClr val="12161F"/>
                </a:solidFill>
                <a:latin typeface="Calibri" pitchFamily="34" charset="0"/>
                <a:ea typeface="Calibri" pitchFamily="34" charset="-122"/>
                <a:cs typeface="Calibri" pitchFamily="34" charset="-120"/>
              </a:rPr>
              <a:t>A Quick Share link and a SCORM 1.2 export</a:t>
            </a:r>
            <a:endParaRPr lang="en-US" sz="1250" dirty="0"/>
          </a:p>
        </p:txBody>
      </p:sp>
      <p:sp>
        <p:nvSpPr>
          <p:cNvPr id="18" name="Shape 16"/>
          <p:cNvSpPr/>
          <p:nvPr/>
        </p:nvSpPr>
        <p:spPr>
          <a:xfrm>
            <a:off x="566928" y="4992624"/>
            <a:ext cx="3503066" cy="841248"/>
          </a:xfrm>
          <a:prstGeom prst="roundRect">
            <a:avLst>
              <a:gd name="adj" fmla="val 9783"/>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9" name="Text 17"/>
          <p:cNvSpPr/>
          <p:nvPr/>
        </p:nvSpPr>
        <p:spPr>
          <a:xfrm>
            <a:off x="859536" y="5102352"/>
            <a:ext cx="2917850" cy="274320"/>
          </a:xfrm>
          <a:prstGeom prst="rect">
            <a:avLst/>
          </a:prstGeom>
          <a:noFill/>
          <a:ln/>
        </p:spPr>
        <p:txBody>
          <a:bodyPr wrap="square" lIns="0" tIns="0" rIns="0" bIns="0" rtlCol="0" anchor="ctr"/>
          <a:lstStyle/>
          <a:p>
            <a:pPr indent="0" marL="0">
              <a:buNone/>
            </a:pPr>
            <a:r>
              <a:rPr lang="en-US" sz="1100" b="1" spc="160" kern="0" dirty="0">
                <a:solidFill>
                  <a:srgbClr val="5A6675"/>
                </a:solidFill>
                <a:latin typeface="Calibri" pitchFamily="34" charset="0"/>
                <a:ea typeface="Calibri" pitchFamily="34" charset="-122"/>
                <a:cs typeface="Calibri" pitchFamily="34" charset="-120"/>
              </a:rPr>
              <a:t>Friday</a:t>
            </a:r>
            <a:endParaRPr lang="en-US" sz="1100" dirty="0"/>
          </a:p>
        </p:txBody>
      </p:sp>
      <p:sp>
        <p:nvSpPr>
          <p:cNvPr id="20" name="Text 18"/>
          <p:cNvSpPr/>
          <p:nvPr/>
        </p:nvSpPr>
        <p:spPr>
          <a:xfrm>
            <a:off x="859536" y="5376672"/>
            <a:ext cx="2917850" cy="384048"/>
          </a:xfrm>
          <a:prstGeom prst="rect">
            <a:avLst/>
          </a:prstGeom>
          <a:noFill/>
          <a:ln/>
        </p:spPr>
        <p:txBody>
          <a:bodyPr wrap="square" lIns="0" tIns="0" rIns="0" bIns="0" rtlCol="0" anchor="t"/>
          <a:lstStyle/>
          <a:p>
            <a:pPr indent="0" marL="0">
              <a:lnSpc>
                <a:spcPts val="1600"/>
              </a:lnSpc>
              <a:buNone/>
            </a:pPr>
            <a:r>
              <a:rPr lang="en-US" sz="1200" dirty="0">
                <a:solidFill>
                  <a:srgbClr val="12161F"/>
                </a:solidFill>
                <a:latin typeface="Calibri" pitchFamily="34" charset="0"/>
                <a:ea typeface="Calibri" pitchFamily="34" charset="-122"/>
                <a:cs typeface="Calibri" pitchFamily="34" charset="-120"/>
              </a:rPr>
              <a:t>Clinic — bring your outline, not your course</a:t>
            </a:r>
            <a:endParaRPr lang="en-US" sz="1200" dirty="0"/>
          </a:p>
        </p:txBody>
      </p:sp>
      <p:sp>
        <p:nvSpPr>
          <p:cNvPr id="21" name="Shape 19"/>
          <p:cNvSpPr/>
          <p:nvPr/>
        </p:nvSpPr>
        <p:spPr>
          <a:xfrm>
            <a:off x="4344314" y="4992624"/>
            <a:ext cx="3503066" cy="841248"/>
          </a:xfrm>
          <a:prstGeom prst="roundRect">
            <a:avLst>
              <a:gd name="adj" fmla="val 9783"/>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22" name="Text 20"/>
          <p:cNvSpPr/>
          <p:nvPr/>
        </p:nvSpPr>
        <p:spPr>
          <a:xfrm>
            <a:off x="4636922" y="5102352"/>
            <a:ext cx="2917850" cy="274320"/>
          </a:xfrm>
          <a:prstGeom prst="rect">
            <a:avLst/>
          </a:prstGeom>
          <a:noFill/>
          <a:ln/>
        </p:spPr>
        <p:txBody>
          <a:bodyPr wrap="square" lIns="0" tIns="0" rIns="0" bIns="0" rtlCol="0" anchor="ctr"/>
          <a:lstStyle/>
          <a:p>
            <a:pPr indent="0" marL="0">
              <a:buNone/>
            </a:pPr>
            <a:r>
              <a:rPr lang="en-US" sz="1100" b="1" spc="160" kern="0" dirty="0">
                <a:solidFill>
                  <a:srgbClr val="5A6675"/>
                </a:solidFill>
                <a:latin typeface="Calibri" pitchFamily="34" charset="0"/>
                <a:ea typeface="Calibri" pitchFamily="34" charset="-122"/>
                <a:cs typeface="Calibri" pitchFamily="34" charset="-120"/>
              </a:rPr>
              <a:t>Weekend</a:t>
            </a:r>
            <a:endParaRPr lang="en-US" sz="1100" dirty="0"/>
          </a:p>
        </p:txBody>
      </p:sp>
      <p:sp>
        <p:nvSpPr>
          <p:cNvPr id="23" name="Text 21"/>
          <p:cNvSpPr/>
          <p:nvPr/>
        </p:nvSpPr>
        <p:spPr>
          <a:xfrm>
            <a:off x="4636922" y="5376672"/>
            <a:ext cx="2917850" cy="384048"/>
          </a:xfrm>
          <a:prstGeom prst="rect">
            <a:avLst/>
          </a:prstGeom>
          <a:noFill/>
          <a:ln/>
        </p:spPr>
        <p:txBody>
          <a:bodyPr wrap="square" lIns="0" tIns="0" rIns="0" bIns="0" rtlCol="0" anchor="t"/>
          <a:lstStyle/>
          <a:p>
            <a:pPr indent="0" marL="0">
              <a:lnSpc>
                <a:spcPts val="1600"/>
              </a:lnSpc>
              <a:buNone/>
            </a:pPr>
            <a:r>
              <a:rPr lang="en-US" sz="1200" dirty="0">
                <a:solidFill>
                  <a:srgbClr val="12161F"/>
                </a:solidFill>
                <a:latin typeface="Calibri" pitchFamily="34" charset="0"/>
                <a:ea typeface="Calibri" pitchFamily="34" charset="-122"/>
                <a:cs typeface="Calibri" pitchFamily="34" charset="-120"/>
              </a:rPr>
              <a:t>About three hours. Past four means your topic is too big</a:t>
            </a:r>
            <a:endParaRPr lang="en-US" sz="1200" dirty="0"/>
          </a:p>
        </p:txBody>
      </p:sp>
      <p:sp>
        <p:nvSpPr>
          <p:cNvPr id="24" name="Shape 22"/>
          <p:cNvSpPr/>
          <p:nvPr/>
        </p:nvSpPr>
        <p:spPr>
          <a:xfrm>
            <a:off x="8121701" y="4992624"/>
            <a:ext cx="3503066" cy="841248"/>
          </a:xfrm>
          <a:prstGeom prst="roundRect">
            <a:avLst>
              <a:gd name="adj" fmla="val 9783"/>
            </a:avLst>
          </a:prstGeom>
          <a:solidFill>
            <a:srgbClr val="12161F"/>
          </a:solidFill>
          <a:ln w="9525">
            <a:solidFill>
              <a:srgbClr val="12161F"/>
            </a:solidFill>
            <a:prstDash val="solid"/>
          </a:ln>
          <a:effectLst>
            <a:outerShdw sx="100000" sy="100000" kx="0" ky="0" algn="bl" rotWithShape="0" blurRad="177800" dist="38100" dir="5400000">
              <a:srgbClr val="9AA6B4">
                <a:alpha val="32000"/>
              </a:srgbClr>
            </a:outerShdw>
          </a:effectLst>
        </p:spPr>
      </p:sp>
      <p:sp>
        <p:nvSpPr>
          <p:cNvPr id="25" name="Text 23"/>
          <p:cNvSpPr/>
          <p:nvPr/>
        </p:nvSpPr>
        <p:spPr>
          <a:xfrm>
            <a:off x="8414309" y="5102352"/>
            <a:ext cx="2917850" cy="274320"/>
          </a:xfrm>
          <a:prstGeom prst="rect">
            <a:avLst/>
          </a:prstGeom>
          <a:noFill/>
          <a:ln/>
        </p:spPr>
        <p:txBody>
          <a:bodyPr wrap="square" lIns="0" tIns="0" rIns="0" bIns="0" rtlCol="0" anchor="ctr"/>
          <a:lstStyle/>
          <a:p>
            <a:pPr indent="0" marL="0">
              <a:buNone/>
            </a:pPr>
            <a:r>
              <a:rPr lang="en-US" sz="1100" b="1" spc="160" kern="0" dirty="0">
                <a:solidFill>
                  <a:srgbClr val="ED6A2A"/>
                </a:solidFill>
                <a:latin typeface="Calibri" pitchFamily="34" charset="0"/>
                <a:ea typeface="Calibri" pitchFamily="34" charset="-122"/>
                <a:cs typeface="Calibri" pitchFamily="34" charset="-120"/>
              </a:rPr>
              <a:t>Monday 9:00</a:t>
            </a:r>
            <a:endParaRPr lang="en-US" sz="1100" dirty="0"/>
          </a:p>
        </p:txBody>
      </p:sp>
      <p:sp>
        <p:nvSpPr>
          <p:cNvPr id="26" name="Text 24"/>
          <p:cNvSpPr/>
          <p:nvPr/>
        </p:nvSpPr>
        <p:spPr>
          <a:xfrm>
            <a:off x="8414309" y="5376672"/>
            <a:ext cx="2917850" cy="384048"/>
          </a:xfrm>
          <a:prstGeom prst="rect">
            <a:avLst/>
          </a:prstGeom>
          <a:noFill/>
          <a:ln/>
        </p:spPr>
        <p:txBody>
          <a:bodyPr wrap="square" lIns="0" tIns="0" rIns="0" bIns="0" rtlCol="0" anchor="t"/>
          <a:lstStyle/>
          <a:p>
            <a:pPr indent="0" marL="0">
              <a:lnSpc>
                <a:spcPts val="1600"/>
              </a:lnSpc>
              <a:buNone/>
            </a:pPr>
            <a:r>
              <a:rPr lang="en-US" sz="1200" dirty="0">
                <a:solidFill>
                  <a:srgbClr val="FFFFFF"/>
                </a:solidFill>
                <a:latin typeface="Calibri" pitchFamily="34" charset="0"/>
                <a:ea typeface="Calibri" pitchFamily="34" charset="-122"/>
                <a:cs typeface="Calibri" pitchFamily="34" charset="-120"/>
              </a:rPr>
              <a:t>Link, SCORM zip and three lines, in the channel</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“Ready” means this</a:t>
            </a:r>
            <a:endParaRPr lang="en-US" sz="3000" dirty="0"/>
          </a:p>
        </p:txBody>
      </p:sp>
      <p:sp>
        <p:nvSpPr>
          <p:cNvPr id="3" name="Text 1"/>
          <p:cNvSpPr/>
          <p:nvPr/>
        </p:nvSpPr>
        <p:spPr>
          <a:xfrm>
            <a:off x="566928" y="1005840"/>
            <a:ext cx="9067428" cy="457200"/>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Nothing here is about polish. All of it is about whether the course works for a learner who is not you.</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4  ·  Decide, then ship</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28</a:t>
            </a:r>
            <a:endParaRPr lang="en-US" sz="950" dirty="0"/>
          </a:p>
        </p:txBody>
      </p:sp>
      <p:sp>
        <p:nvSpPr>
          <p:cNvPr id="6" name="Shape 4"/>
          <p:cNvSpPr/>
          <p:nvPr/>
        </p:nvSpPr>
        <p:spPr>
          <a:xfrm>
            <a:off x="566928" y="1627632"/>
            <a:ext cx="11057839" cy="402336"/>
          </a:xfrm>
          <a:prstGeom prst="roundRect">
            <a:avLst>
              <a:gd name="adj" fmla="val 13636"/>
            </a:avLst>
          </a:prstGeom>
          <a:solidFill>
            <a:srgbClr val="12161F"/>
          </a:solidFill>
          <a:ln/>
        </p:spPr>
      </p:sp>
      <p:sp>
        <p:nvSpPr>
          <p:cNvPr id="7" name="Text 5"/>
          <p:cNvSpPr/>
          <p:nvPr/>
        </p:nvSpPr>
        <p:spPr>
          <a:xfrm>
            <a:off x="841248" y="1627632"/>
            <a:ext cx="2084832" cy="402336"/>
          </a:xfrm>
          <a:prstGeom prst="rect">
            <a:avLst/>
          </a:prstGeom>
          <a:noFill/>
          <a:ln/>
        </p:spPr>
        <p:txBody>
          <a:bodyPr wrap="square" lIns="0" tIns="0" rIns="0" bIns="0" rtlCol="0" anchor="ctr"/>
          <a:lstStyle/>
          <a:p>
            <a:pPr indent="0" marL="0">
              <a:buNone/>
            </a:pPr>
            <a:endParaRPr lang="en-US" sz="1150" dirty="0"/>
          </a:p>
        </p:txBody>
      </p:sp>
      <p:sp>
        <p:nvSpPr>
          <p:cNvPr id="8" name="Text 6"/>
          <p:cNvSpPr/>
          <p:nvPr/>
        </p:nvSpPr>
        <p:spPr>
          <a:xfrm>
            <a:off x="3310128" y="1627632"/>
            <a:ext cx="3730752" cy="402336"/>
          </a:xfrm>
          <a:prstGeom prst="rect">
            <a:avLst/>
          </a:prstGeom>
          <a:noFill/>
          <a:ln/>
        </p:spPr>
        <p:txBody>
          <a:bodyPr wrap="square" lIns="0" tIns="0" rIns="0" bIns="0" rtlCol="0" anchor="ctr"/>
          <a:lstStyle/>
          <a:p>
            <a:pPr indent="0" marL="0">
              <a:buNone/>
            </a:pPr>
            <a:r>
              <a:rPr lang="en-US" sz="1150" b="1" spc="80" kern="0" dirty="0">
                <a:solidFill>
                  <a:srgbClr val="FFFFFF"/>
                </a:solidFill>
                <a:latin typeface="Calibri" pitchFamily="34" charset="0"/>
                <a:ea typeface="Calibri" pitchFamily="34" charset="-122"/>
                <a:cs typeface="Calibri" pitchFamily="34" charset="-120"/>
              </a:rPr>
              <a:t>Ready</a:t>
            </a:r>
            <a:endParaRPr lang="en-US" sz="1150" dirty="0"/>
          </a:p>
        </p:txBody>
      </p:sp>
      <p:sp>
        <p:nvSpPr>
          <p:cNvPr id="9" name="Text 7"/>
          <p:cNvSpPr/>
          <p:nvPr/>
        </p:nvSpPr>
        <p:spPr>
          <a:xfrm>
            <a:off x="7424928" y="1627632"/>
            <a:ext cx="4090111" cy="402336"/>
          </a:xfrm>
          <a:prstGeom prst="rect">
            <a:avLst/>
          </a:prstGeom>
          <a:noFill/>
          <a:ln/>
        </p:spPr>
        <p:txBody>
          <a:bodyPr wrap="square" lIns="0" tIns="0" rIns="0" bIns="0" rtlCol="0" anchor="ctr"/>
          <a:lstStyle/>
          <a:p>
            <a:pPr indent="0" marL="0">
              <a:buNone/>
            </a:pPr>
            <a:r>
              <a:rPr lang="en-US" sz="1150" b="1" spc="80" kern="0" dirty="0">
                <a:solidFill>
                  <a:srgbClr val="FFFFFF"/>
                </a:solidFill>
                <a:latin typeface="Calibri" pitchFamily="34" charset="0"/>
                <a:ea typeface="Calibri" pitchFamily="34" charset="-122"/>
                <a:cs typeface="Calibri" pitchFamily="34" charset="-120"/>
              </a:rPr>
              <a:t>Not ready yet</a:t>
            </a:r>
            <a:endParaRPr lang="en-US" sz="1150" dirty="0"/>
          </a:p>
        </p:txBody>
      </p:sp>
      <p:sp>
        <p:nvSpPr>
          <p:cNvPr id="10" name="Shape 8"/>
          <p:cNvSpPr/>
          <p:nvPr/>
        </p:nvSpPr>
        <p:spPr>
          <a:xfrm>
            <a:off x="566928" y="2029968"/>
            <a:ext cx="11057839" cy="429768"/>
          </a:xfrm>
          <a:prstGeom prst="rect">
            <a:avLst/>
          </a:prstGeom>
          <a:solidFill>
            <a:srgbClr val="FFFFFF"/>
          </a:solidFill>
          <a:ln w="6350">
            <a:solidFill>
              <a:srgbClr val="E2E6EB"/>
            </a:solidFill>
            <a:prstDash val="solid"/>
          </a:ln>
        </p:spPr>
      </p:sp>
      <p:sp>
        <p:nvSpPr>
          <p:cNvPr id="11" name="Text 9"/>
          <p:cNvSpPr/>
          <p:nvPr/>
        </p:nvSpPr>
        <p:spPr>
          <a:xfrm>
            <a:off x="841248" y="2029968"/>
            <a:ext cx="2084832" cy="429768"/>
          </a:xfrm>
          <a:prstGeom prst="rect">
            <a:avLst/>
          </a:prstGeom>
          <a:noFill/>
          <a:ln/>
        </p:spPr>
        <p:txBody>
          <a:bodyPr wrap="square" lIns="0" tIns="0" rIns="0" bIns="0" rtlCol="0" anchor="ctr"/>
          <a:lstStyle/>
          <a:p>
            <a:pPr indent="0" marL="0">
              <a:lnSpc>
                <a:spcPts val="1500"/>
              </a:lnSpc>
              <a:buNone/>
            </a:pPr>
            <a:r>
              <a:rPr lang="en-US" sz="1200" b="1" dirty="0">
                <a:solidFill>
                  <a:srgbClr val="12161F"/>
                </a:solidFill>
                <a:latin typeface="Calibri" pitchFamily="34" charset="0"/>
                <a:ea typeface="Calibri" pitchFamily="34" charset="-122"/>
                <a:cs typeface="Calibri" pitchFamily="34" charset="-120"/>
              </a:rPr>
              <a:t>Title</a:t>
            </a:r>
            <a:endParaRPr lang="en-US" sz="1200" dirty="0"/>
          </a:p>
        </p:txBody>
      </p:sp>
      <p:sp>
        <p:nvSpPr>
          <p:cNvPr id="12" name="Text 10"/>
          <p:cNvSpPr/>
          <p:nvPr/>
        </p:nvSpPr>
        <p:spPr>
          <a:xfrm>
            <a:off x="3310128" y="2029968"/>
            <a:ext cx="3730752" cy="429768"/>
          </a:xfrm>
          <a:prstGeom prst="rect">
            <a:avLst/>
          </a:prstGeom>
          <a:noFill/>
          <a:ln/>
        </p:spPr>
        <p:txBody>
          <a:bodyPr wrap="square" lIns="0" tIns="0" rIns="0" bIns="0" rtlCol="0" anchor="ctr"/>
          <a:lstStyle/>
          <a:p>
            <a:pPr indent="0" marL="0">
              <a:lnSpc>
                <a:spcPts val="1500"/>
              </a:lnSpc>
              <a:buNone/>
            </a:pPr>
            <a:r>
              <a:rPr lang="en-US" sz="1200" dirty="0">
                <a:solidFill>
                  <a:srgbClr val="2E7D5B"/>
                </a:solidFill>
                <a:latin typeface="Calibri" pitchFamily="34" charset="0"/>
                <a:ea typeface="Calibri" pitchFamily="34" charset="-122"/>
                <a:cs typeface="Calibri" pitchFamily="34" charset="-120"/>
              </a:rPr>
              <a:t>Says what the learner will be able to do</a:t>
            </a:r>
            <a:endParaRPr lang="en-US" sz="1200" dirty="0"/>
          </a:p>
        </p:txBody>
      </p:sp>
      <p:sp>
        <p:nvSpPr>
          <p:cNvPr id="13" name="Text 11"/>
          <p:cNvSpPr/>
          <p:nvPr/>
        </p:nvSpPr>
        <p:spPr>
          <a:xfrm>
            <a:off x="7424928" y="2029968"/>
            <a:ext cx="4090111" cy="429768"/>
          </a:xfrm>
          <a:prstGeom prst="rect">
            <a:avLst/>
          </a:prstGeom>
          <a:noFill/>
          <a:ln/>
        </p:spPr>
        <p:txBody>
          <a:bodyPr wrap="square" lIns="0" tIns="0" rIns="0" bIns="0" rtlCol="0" anchor="ctr"/>
          <a:lstStyle/>
          <a:p>
            <a:pPr indent="0" marL="0">
              <a:lnSpc>
                <a:spcPts val="1500"/>
              </a:lnSpc>
              <a:buNone/>
            </a:pPr>
            <a:r>
              <a:rPr lang="en-US" sz="1200" dirty="0">
                <a:solidFill>
                  <a:srgbClr val="B4441F"/>
                </a:solidFill>
                <a:latin typeface="Calibri" pitchFamily="34" charset="0"/>
                <a:ea typeface="Calibri" pitchFamily="34" charset="-122"/>
                <a:cs typeface="Calibri" pitchFamily="34" charset="-120"/>
              </a:rPr>
              <a:t>Names a module, a system or a department</a:t>
            </a:r>
            <a:endParaRPr lang="en-US" sz="1200" dirty="0"/>
          </a:p>
        </p:txBody>
      </p:sp>
      <p:sp>
        <p:nvSpPr>
          <p:cNvPr id="14" name="Shape 12"/>
          <p:cNvSpPr/>
          <p:nvPr/>
        </p:nvSpPr>
        <p:spPr>
          <a:xfrm>
            <a:off x="566928" y="2459736"/>
            <a:ext cx="11057839" cy="429768"/>
          </a:xfrm>
          <a:prstGeom prst="rect">
            <a:avLst/>
          </a:prstGeom>
          <a:solidFill>
            <a:srgbClr val="EDF1F5"/>
          </a:solidFill>
          <a:ln w="6350">
            <a:solidFill>
              <a:srgbClr val="E2E6EB"/>
            </a:solidFill>
            <a:prstDash val="solid"/>
          </a:ln>
        </p:spPr>
      </p:sp>
      <p:sp>
        <p:nvSpPr>
          <p:cNvPr id="15" name="Text 13"/>
          <p:cNvSpPr/>
          <p:nvPr/>
        </p:nvSpPr>
        <p:spPr>
          <a:xfrm>
            <a:off x="841248" y="2459736"/>
            <a:ext cx="2084832" cy="429768"/>
          </a:xfrm>
          <a:prstGeom prst="rect">
            <a:avLst/>
          </a:prstGeom>
          <a:noFill/>
          <a:ln/>
        </p:spPr>
        <p:txBody>
          <a:bodyPr wrap="square" lIns="0" tIns="0" rIns="0" bIns="0" rtlCol="0" anchor="ctr"/>
          <a:lstStyle/>
          <a:p>
            <a:pPr indent="0" marL="0">
              <a:lnSpc>
                <a:spcPts val="1500"/>
              </a:lnSpc>
              <a:buNone/>
            </a:pPr>
            <a:r>
              <a:rPr lang="en-US" sz="1200" b="1" dirty="0">
                <a:solidFill>
                  <a:srgbClr val="12161F"/>
                </a:solidFill>
                <a:latin typeface="Calibri" pitchFamily="34" charset="0"/>
                <a:ea typeface="Calibri" pitchFamily="34" charset="-122"/>
                <a:cs typeface="Calibri" pitchFamily="34" charset="-120"/>
              </a:rPr>
              <a:t>Lesson 1</a:t>
            </a:r>
            <a:endParaRPr lang="en-US" sz="1200" dirty="0"/>
          </a:p>
        </p:txBody>
      </p:sp>
      <p:sp>
        <p:nvSpPr>
          <p:cNvPr id="16" name="Text 14"/>
          <p:cNvSpPr/>
          <p:nvPr/>
        </p:nvSpPr>
        <p:spPr>
          <a:xfrm>
            <a:off x="3310128" y="2459736"/>
            <a:ext cx="3730752" cy="429768"/>
          </a:xfrm>
          <a:prstGeom prst="rect">
            <a:avLst/>
          </a:prstGeom>
          <a:noFill/>
          <a:ln/>
        </p:spPr>
        <p:txBody>
          <a:bodyPr wrap="square" lIns="0" tIns="0" rIns="0" bIns="0" rtlCol="0" anchor="ctr"/>
          <a:lstStyle/>
          <a:p>
            <a:pPr indent="0" marL="0">
              <a:lnSpc>
                <a:spcPts val="1500"/>
              </a:lnSpc>
              <a:buNone/>
            </a:pPr>
            <a:r>
              <a:rPr lang="en-US" sz="1200" dirty="0">
                <a:solidFill>
                  <a:srgbClr val="2E7D5B"/>
                </a:solidFill>
                <a:latin typeface="Calibri" pitchFamily="34" charset="0"/>
                <a:ea typeface="Calibri" pitchFamily="34" charset="-122"/>
                <a:cs typeface="Calibri" pitchFamily="34" charset="-120"/>
              </a:rPr>
              <a:t>Under half text, and something to look at</a:t>
            </a:r>
            <a:endParaRPr lang="en-US" sz="1200" dirty="0"/>
          </a:p>
        </p:txBody>
      </p:sp>
      <p:sp>
        <p:nvSpPr>
          <p:cNvPr id="17" name="Text 15"/>
          <p:cNvSpPr/>
          <p:nvPr/>
        </p:nvSpPr>
        <p:spPr>
          <a:xfrm>
            <a:off x="7424928" y="2459736"/>
            <a:ext cx="4090111" cy="429768"/>
          </a:xfrm>
          <a:prstGeom prst="rect">
            <a:avLst/>
          </a:prstGeom>
          <a:noFill/>
          <a:ln/>
        </p:spPr>
        <p:txBody>
          <a:bodyPr wrap="square" lIns="0" tIns="0" rIns="0" bIns="0" rtlCol="0" anchor="ctr"/>
          <a:lstStyle/>
          <a:p>
            <a:pPr indent="0" marL="0">
              <a:lnSpc>
                <a:spcPts val="1500"/>
              </a:lnSpc>
              <a:buNone/>
            </a:pPr>
            <a:r>
              <a:rPr lang="en-US" sz="1200" dirty="0">
                <a:solidFill>
                  <a:srgbClr val="B4441F"/>
                </a:solidFill>
                <a:latin typeface="Calibri" pitchFamily="34" charset="0"/>
                <a:ea typeface="Calibri" pitchFamily="34" charset="-122"/>
                <a:cs typeface="Calibri" pitchFamily="34" charset="-120"/>
              </a:rPr>
              <a:t>A wall of paragraphs</a:t>
            </a:r>
            <a:endParaRPr lang="en-US" sz="1200" dirty="0"/>
          </a:p>
        </p:txBody>
      </p:sp>
      <p:sp>
        <p:nvSpPr>
          <p:cNvPr id="18" name="Shape 16"/>
          <p:cNvSpPr/>
          <p:nvPr/>
        </p:nvSpPr>
        <p:spPr>
          <a:xfrm>
            <a:off x="566928" y="2889504"/>
            <a:ext cx="11057839" cy="429768"/>
          </a:xfrm>
          <a:prstGeom prst="rect">
            <a:avLst/>
          </a:prstGeom>
          <a:solidFill>
            <a:srgbClr val="FFFFFF"/>
          </a:solidFill>
          <a:ln w="6350">
            <a:solidFill>
              <a:srgbClr val="E2E6EB"/>
            </a:solidFill>
            <a:prstDash val="solid"/>
          </a:ln>
        </p:spPr>
      </p:sp>
      <p:sp>
        <p:nvSpPr>
          <p:cNvPr id="19" name="Text 17"/>
          <p:cNvSpPr/>
          <p:nvPr/>
        </p:nvSpPr>
        <p:spPr>
          <a:xfrm>
            <a:off x="841248" y="2889504"/>
            <a:ext cx="2084832" cy="429768"/>
          </a:xfrm>
          <a:prstGeom prst="rect">
            <a:avLst/>
          </a:prstGeom>
          <a:noFill/>
          <a:ln/>
        </p:spPr>
        <p:txBody>
          <a:bodyPr wrap="square" lIns="0" tIns="0" rIns="0" bIns="0" rtlCol="0" anchor="ctr"/>
          <a:lstStyle/>
          <a:p>
            <a:pPr indent="0" marL="0">
              <a:lnSpc>
                <a:spcPts val="1500"/>
              </a:lnSpc>
              <a:buNone/>
            </a:pPr>
            <a:r>
              <a:rPr lang="en-US" sz="1200" b="1" dirty="0">
                <a:solidFill>
                  <a:srgbClr val="12161F"/>
                </a:solidFill>
                <a:latin typeface="Calibri" pitchFamily="34" charset="0"/>
                <a:ea typeface="Calibri" pitchFamily="34" charset="-122"/>
                <a:cs typeface="Calibri" pitchFamily="34" charset="-120"/>
              </a:rPr>
              <a:t>Scenario</a:t>
            </a:r>
            <a:endParaRPr lang="en-US" sz="1200" dirty="0"/>
          </a:p>
        </p:txBody>
      </p:sp>
      <p:sp>
        <p:nvSpPr>
          <p:cNvPr id="20" name="Text 18"/>
          <p:cNvSpPr/>
          <p:nvPr/>
        </p:nvSpPr>
        <p:spPr>
          <a:xfrm>
            <a:off x="3310128" y="2889504"/>
            <a:ext cx="3730752" cy="429768"/>
          </a:xfrm>
          <a:prstGeom prst="rect">
            <a:avLst/>
          </a:prstGeom>
          <a:noFill/>
          <a:ln/>
        </p:spPr>
        <p:txBody>
          <a:bodyPr wrap="square" lIns="0" tIns="0" rIns="0" bIns="0" rtlCol="0" anchor="ctr"/>
          <a:lstStyle/>
          <a:p>
            <a:pPr indent="0" marL="0">
              <a:lnSpc>
                <a:spcPts val="1500"/>
              </a:lnSpc>
              <a:buNone/>
            </a:pPr>
            <a:r>
              <a:rPr lang="en-US" sz="1200" dirty="0">
                <a:solidFill>
                  <a:srgbClr val="2E7D5B"/>
                </a:solidFill>
                <a:latin typeface="Calibri" pitchFamily="34" charset="0"/>
                <a:ea typeface="Calibri" pitchFamily="34" charset="-122"/>
                <a:cs typeface="Calibri" pitchFamily="34" charset="-120"/>
              </a:rPr>
              <a:t>Every option is one a real person might pick</a:t>
            </a:r>
            <a:endParaRPr lang="en-US" sz="1200" dirty="0"/>
          </a:p>
        </p:txBody>
      </p:sp>
      <p:sp>
        <p:nvSpPr>
          <p:cNvPr id="21" name="Text 19"/>
          <p:cNvSpPr/>
          <p:nvPr/>
        </p:nvSpPr>
        <p:spPr>
          <a:xfrm>
            <a:off x="7424928" y="2889504"/>
            <a:ext cx="4090111" cy="429768"/>
          </a:xfrm>
          <a:prstGeom prst="rect">
            <a:avLst/>
          </a:prstGeom>
          <a:noFill/>
          <a:ln/>
        </p:spPr>
        <p:txBody>
          <a:bodyPr wrap="square" lIns="0" tIns="0" rIns="0" bIns="0" rtlCol="0" anchor="ctr"/>
          <a:lstStyle/>
          <a:p>
            <a:pPr indent="0" marL="0">
              <a:lnSpc>
                <a:spcPts val="1500"/>
              </a:lnSpc>
              <a:buNone/>
            </a:pPr>
            <a:r>
              <a:rPr lang="en-US" sz="1200" dirty="0">
                <a:solidFill>
                  <a:srgbClr val="B4441F"/>
                </a:solidFill>
                <a:latin typeface="Calibri" pitchFamily="34" charset="0"/>
                <a:ea typeface="Calibri" pitchFamily="34" charset="-122"/>
                <a:cs typeface="Calibri" pitchFamily="34" charset="-120"/>
              </a:rPr>
              <a:t>One right answer and two silly ones</a:t>
            </a:r>
            <a:endParaRPr lang="en-US" sz="1200" dirty="0"/>
          </a:p>
        </p:txBody>
      </p:sp>
      <p:sp>
        <p:nvSpPr>
          <p:cNvPr id="22" name="Shape 20"/>
          <p:cNvSpPr/>
          <p:nvPr/>
        </p:nvSpPr>
        <p:spPr>
          <a:xfrm>
            <a:off x="566928" y="3319272"/>
            <a:ext cx="11057839" cy="429768"/>
          </a:xfrm>
          <a:prstGeom prst="rect">
            <a:avLst/>
          </a:prstGeom>
          <a:solidFill>
            <a:srgbClr val="EDF1F5"/>
          </a:solidFill>
          <a:ln w="6350">
            <a:solidFill>
              <a:srgbClr val="E2E6EB"/>
            </a:solidFill>
            <a:prstDash val="solid"/>
          </a:ln>
        </p:spPr>
      </p:sp>
      <p:sp>
        <p:nvSpPr>
          <p:cNvPr id="23" name="Text 21"/>
          <p:cNvSpPr/>
          <p:nvPr/>
        </p:nvSpPr>
        <p:spPr>
          <a:xfrm>
            <a:off x="841248" y="3319272"/>
            <a:ext cx="2084832" cy="429768"/>
          </a:xfrm>
          <a:prstGeom prst="rect">
            <a:avLst/>
          </a:prstGeom>
          <a:noFill/>
          <a:ln/>
        </p:spPr>
        <p:txBody>
          <a:bodyPr wrap="square" lIns="0" tIns="0" rIns="0" bIns="0" rtlCol="0" anchor="ctr"/>
          <a:lstStyle/>
          <a:p>
            <a:pPr indent="0" marL="0">
              <a:lnSpc>
                <a:spcPts val="1500"/>
              </a:lnSpc>
              <a:buNone/>
            </a:pPr>
            <a:r>
              <a:rPr lang="en-US" sz="1200" b="1" dirty="0">
                <a:solidFill>
                  <a:srgbClr val="12161F"/>
                </a:solidFill>
                <a:latin typeface="Calibri" pitchFamily="34" charset="0"/>
                <a:ea typeface="Calibri" pitchFamily="34" charset="-122"/>
                <a:cs typeface="Calibri" pitchFamily="34" charset="-120"/>
              </a:rPr>
              <a:t>Feedback</a:t>
            </a:r>
            <a:endParaRPr lang="en-US" sz="1200" dirty="0"/>
          </a:p>
        </p:txBody>
      </p:sp>
      <p:sp>
        <p:nvSpPr>
          <p:cNvPr id="24" name="Text 22"/>
          <p:cNvSpPr/>
          <p:nvPr/>
        </p:nvSpPr>
        <p:spPr>
          <a:xfrm>
            <a:off x="3310128" y="3319272"/>
            <a:ext cx="3730752" cy="429768"/>
          </a:xfrm>
          <a:prstGeom prst="rect">
            <a:avLst/>
          </a:prstGeom>
          <a:noFill/>
          <a:ln/>
        </p:spPr>
        <p:txBody>
          <a:bodyPr wrap="square" lIns="0" tIns="0" rIns="0" bIns="0" rtlCol="0" anchor="ctr"/>
          <a:lstStyle/>
          <a:p>
            <a:pPr indent="0" marL="0">
              <a:lnSpc>
                <a:spcPts val="1500"/>
              </a:lnSpc>
              <a:buNone/>
            </a:pPr>
            <a:r>
              <a:rPr lang="en-US" sz="1200" dirty="0">
                <a:solidFill>
                  <a:srgbClr val="2E7D5B"/>
                </a:solidFill>
                <a:latin typeface="Calibri" pitchFamily="34" charset="0"/>
                <a:ea typeface="Calibri" pitchFamily="34" charset="-122"/>
                <a:cs typeface="Calibri" pitchFamily="34" charset="-120"/>
              </a:rPr>
              <a:t>Explains the consequence, in the character’s voice</a:t>
            </a:r>
            <a:endParaRPr lang="en-US" sz="1200" dirty="0"/>
          </a:p>
        </p:txBody>
      </p:sp>
      <p:sp>
        <p:nvSpPr>
          <p:cNvPr id="25" name="Text 23"/>
          <p:cNvSpPr/>
          <p:nvPr/>
        </p:nvSpPr>
        <p:spPr>
          <a:xfrm>
            <a:off x="7424928" y="3319272"/>
            <a:ext cx="4090111" cy="429768"/>
          </a:xfrm>
          <a:prstGeom prst="rect">
            <a:avLst/>
          </a:prstGeom>
          <a:noFill/>
          <a:ln/>
        </p:spPr>
        <p:txBody>
          <a:bodyPr wrap="square" lIns="0" tIns="0" rIns="0" bIns="0" rtlCol="0" anchor="ctr"/>
          <a:lstStyle/>
          <a:p>
            <a:pPr indent="0" marL="0">
              <a:lnSpc>
                <a:spcPts val="1500"/>
              </a:lnSpc>
              <a:buNone/>
            </a:pPr>
            <a:r>
              <a:rPr lang="en-US" sz="1200" dirty="0">
                <a:solidFill>
                  <a:srgbClr val="B4441F"/>
                </a:solidFill>
                <a:latin typeface="Calibri" pitchFamily="34" charset="0"/>
                <a:ea typeface="Calibri" pitchFamily="34" charset="-122"/>
                <a:cs typeface="Calibri" pitchFamily="34" charset="-120"/>
              </a:rPr>
              <a:t>Tells the learner they were wrong</a:t>
            </a:r>
            <a:endParaRPr lang="en-US" sz="1200" dirty="0"/>
          </a:p>
        </p:txBody>
      </p:sp>
      <p:sp>
        <p:nvSpPr>
          <p:cNvPr id="26" name="Shape 24"/>
          <p:cNvSpPr/>
          <p:nvPr/>
        </p:nvSpPr>
        <p:spPr>
          <a:xfrm>
            <a:off x="566928" y="3749040"/>
            <a:ext cx="11057839" cy="429768"/>
          </a:xfrm>
          <a:prstGeom prst="rect">
            <a:avLst/>
          </a:prstGeom>
          <a:solidFill>
            <a:srgbClr val="FFFFFF"/>
          </a:solidFill>
          <a:ln w="6350">
            <a:solidFill>
              <a:srgbClr val="E2E6EB"/>
            </a:solidFill>
            <a:prstDash val="solid"/>
          </a:ln>
        </p:spPr>
      </p:sp>
      <p:sp>
        <p:nvSpPr>
          <p:cNvPr id="27" name="Text 25"/>
          <p:cNvSpPr/>
          <p:nvPr/>
        </p:nvSpPr>
        <p:spPr>
          <a:xfrm>
            <a:off x="841248" y="3749040"/>
            <a:ext cx="2084832" cy="429768"/>
          </a:xfrm>
          <a:prstGeom prst="rect">
            <a:avLst/>
          </a:prstGeom>
          <a:noFill/>
          <a:ln/>
        </p:spPr>
        <p:txBody>
          <a:bodyPr wrap="square" lIns="0" tIns="0" rIns="0" bIns="0" rtlCol="0" anchor="ctr"/>
          <a:lstStyle/>
          <a:p>
            <a:pPr indent="0" marL="0">
              <a:lnSpc>
                <a:spcPts val="1500"/>
              </a:lnSpc>
              <a:buNone/>
            </a:pPr>
            <a:r>
              <a:rPr lang="en-US" sz="1200" b="1" dirty="0">
                <a:solidFill>
                  <a:srgbClr val="12161F"/>
                </a:solidFill>
                <a:latin typeface="Calibri" pitchFamily="34" charset="0"/>
                <a:ea typeface="Calibri" pitchFamily="34" charset="-122"/>
                <a:cs typeface="Calibri" pitchFamily="34" charset="-120"/>
              </a:rPr>
              <a:t>Try again</a:t>
            </a:r>
            <a:endParaRPr lang="en-US" sz="1200" dirty="0"/>
          </a:p>
        </p:txBody>
      </p:sp>
      <p:sp>
        <p:nvSpPr>
          <p:cNvPr id="28" name="Text 26"/>
          <p:cNvSpPr/>
          <p:nvPr/>
        </p:nvSpPr>
        <p:spPr>
          <a:xfrm>
            <a:off x="3310128" y="3749040"/>
            <a:ext cx="3730752" cy="429768"/>
          </a:xfrm>
          <a:prstGeom prst="rect">
            <a:avLst/>
          </a:prstGeom>
          <a:noFill/>
          <a:ln/>
        </p:spPr>
        <p:txBody>
          <a:bodyPr wrap="square" lIns="0" tIns="0" rIns="0" bIns="0" rtlCol="0" anchor="ctr"/>
          <a:lstStyle/>
          <a:p>
            <a:pPr indent="0" marL="0">
              <a:lnSpc>
                <a:spcPts val="1500"/>
              </a:lnSpc>
              <a:buNone/>
            </a:pPr>
            <a:r>
              <a:rPr lang="en-US" sz="1200" dirty="0">
                <a:solidFill>
                  <a:srgbClr val="2E7D5B"/>
                </a:solidFill>
                <a:latin typeface="Calibri" pitchFamily="34" charset="0"/>
                <a:ea typeface="Calibri" pitchFamily="34" charset="-122"/>
                <a:cs typeface="Calibri" pitchFamily="34" charset="-120"/>
              </a:rPr>
              <a:t>Returns them to the decision</a:t>
            </a:r>
            <a:endParaRPr lang="en-US" sz="1200" dirty="0"/>
          </a:p>
        </p:txBody>
      </p:sp>
      <p:sp>
        <p:nvSpPr>
          <p:cNvPr id="29" name="Text 27"/>
          <p:cNvSpPr/>
          <p:nvPr/>
        </p:nvSpPr>
        <p:spPr>
          <a:xfrm>
            <a:off x="7424928" y="3749040"/>
            <a:ext cx="4090111" cy="429768"/>
          </a:xfrm>
          <a:prstGeom prst="rect">
            <a:avLst/>
          </a:prstGeom>
          <a:noFill/>
          <a:ln/>
        </p:spPr>
        <p:txBody>
          <a:bodyPr wrap="square" lIns="0" tIns="0" rIns="0" bIns="0" rtlCol="0" anchor="ctr"/>
          <a:lstStyle/>
          <a:p>
            <a:pPr indent="0" marL="0">
              <a:lnSpc>
                <a:spcPts val="1500"/>
              </a:lnSpc>
              <a:buNone/>
            </a:pPr>
            <a:r>
              <a:rPr lang="en-US" sz="1200" dirty="0">
                <a:solidFill>
                  <a:srgbClr val="B4441F"/>
                </a:solidFill>
                <a:latin typeface="Calibri" pitchFamily="34" charset="0"/>
                <a:ea typeface="Calibri" pitchFamily="34" charset="-122"/>
                <a:cs typeface="Calibri" pitchFamily="34" charset="-120"/>
              </a:rPr>
              <a:t>Missing, or dumps them at the end</a:t>
            </a:r>
            <a:endParaRPr lang="en-US" sz="1200" dirty="0"/>
          </a:p>
        </p:txBody>
      </p:sp>
      <p:sp>
        <p:nvSpPr>
          <p:cNvPr id="30" name="Shape 28"/>
          <p:cNvSpPr/>
          <p:nvPr/>
        </p:nvSpPr>
        <p:spPr>
          <a:xfrm>
            <a:off x="566928" y="4178808"/>
            <a:ext cx="11057839" cy="429768"/>
          </a:xfrm>
          <a:prstGeom prst="rect">
            <a:avLst/>
          </a:prstGeom>
          <a:solidFill>
            <a:srgbClr val="EDF1F5"/>
          </a:solidFill>
          <a:ln w="6350">
            <a:solidFill>
              <a:srgbClr val="E2E6EB"/>
            </a:solidFill>
            <a:prstDash val="solid"/>
          </a:ln>
        </p:spPr>
      </p:sp>
      <p:sp>
        <p:nvSpPr>
          <p:cNvPr id="31" name="Text 29"/>
          <p:cNvSpPr/>
          <p:nvPr/>
        </p:nvSpPr>
        <p:spPr>
          <a:xfrm>
            <a:off x="841248" y="4178808"/>
            <a:ext cx="2084832" cy="429768"/>
          </a:xfrm>
          <a:prstGeom prst="rect">
            <a:avLst/>
          </a:prstGeom>
          <a:noFill/>
          <a:ln/>
        </p:spPr>
        <p:txBody>
          <a:bodyPr wrap="square" lIns="0" tIns="0" rIns="0" bIns="0" rtlCol="0" anchor="ctr"/>
          <a:lstStyle/>
          <a:p>
            <a:pPr indent="0" marL="0">
              <a:lnSpc>
                <a:spcPts val="1500"/>
              </a:lnSpc>
              <a:buNone/>
            </a:pPr>
            <a:r>
              <a:rPr lang="en-US" sz="1200" b="1" dirty="0">
                <a:solidFill>
                  <a:srgbClr val="12161F"/>
                </a:solidFill>
                <a:latin typeface="Calibri" pitchFamily="34" charset="0"/>
                <a:ea typeface="Calibri" pitchFamily="34" charset="-122"/>
                <a:cs typeface="Calibri" pitchFamily="34" charset="-120"/>
              </a:rPr>
              <a:t>Buttons</a:t>
            </a:r>
            <a:endParaRPr lang="en-US" sz="1200" dirty="0"/>
          </a:p>
        </p:txBody>
      </p:sp>
      <p:sp>
        <p:nvSpPr>
          <p:cNvPr id="32" name="Text 30"/>
          <p:cNvSpPr/>
          <p:nvPr/>
        </p:nvSpPr>
        <p:spPr>
          <a:xfrm>
            <a:off x="3310128" y="4178808"/>
            <a:ext cx="3730752" cy="429768"/>
          </a:xfrm>
          <a:prstGeom prst="rect">
            <a:avLst/>
          </a:prstGeom>
          <a:noFill/>
          <a:ln/>
        </p:spPr>
        <p:txBody>
          <a:bodyPr wrap="square" lIns="0" tIns="0" rIns="0" bIns="0" rtlCol="0" anchor="ctr"/>
          <a:lstStyle/>
          <a:p>
            <a:pPr indent="0" marL="0">
              <a:lnSpc>
                <a:spcPts val="1500"/>
              </a:lnSpc>
              <a:buNone/>
            </a:pPr>
            <a:r>
              <a:rPr lang="en-US" sz="1200" dirty="0">
                <a:solidFill>
                  <a:srgbClr val="2E7D5B"/>
                </a:solidFill>
                <a:latin typeface="Calibri" pitchFamily="34" charset="0"/>
                <a:ea typeface="Calibri" pitchFamily="34" charset="-122"/>
                <a:cs typeface="Calibri" pitchFamily="34" charset="-120"/>
              </a:rPr>
              <a:t>The label says what happens</a:t>
            </a:r>
            <a:endParaRPr lang="en-US" sz="1200" dirty="0"/>
          </a:p>
        </p:txBody>
      </p:sp>
      <p:sp>
        <p:nvSpPr>
          <p:cNvPr id="33" name="Text 31"/>
          <p:cNvSpPr/>
          <p:nvPr/>
        </p:nvSpPr>
        <p:spPr>
          <a:xfrm>
            <a:off x="7424928" y="4178808"/>
            <a:ext cx="4090111" cy="429768"/>
          </a:xfrm>
          <a:prstGeom prst="rect">
            <a:avLst/>
          </a:prstGeom>
          <a:noFill/>
          <a:ln/>
        </p:spPr>
        <p:txBody>
          <a:bodyPr wrap="square" lIns="0" tIns="0" rIns="0" bIns="0" rtlCol="0" anchor="ctr"/>
          <a:lstStyle/>
          <a:p>
            <a:pPr indent="0" marL="0">
              <a:lnSpc>
                <a:spcPts val="1500"/>
              </a:lnSpc>
              <a:buNone/>
            </a:pPr>
            <a:r>
              <a:rPr lang="en-US" sz="1200" dirty="0">
                <a:solidFill>
                  <a:srgbClr val="B4441F"/>
                </a:solidFill>
                <a:latin typeface="Calibri" pitchFamily="34" charset="0"/>
                <a:ea typeface="Calibri" pitchFamily="34" charset="-122"/>
                <a:cs typeface="Calibri" pitchFamily="34" charset="-120"/>
              </a:rPr>
              <a:t>“Click here”, “Learn more”, “Read on”</a:t>
            </a:r>
            <a:endParaRPr lang="en-US" sz="1200" dirty="0"/>
          </a:p>
        </p:txBody>
      </p:sp>
      <p:sp>
        <p:nvSpPr>
          <p:cNvPr id="34" name="Shape 32"/>
          <p:cNvSpPr/>
          <p:nvPr/>
        </p:nvSpPr>
        <p:spPr>
          <a:xfrm>
            <a:off x="566928" y="4608576"/>
            <a:ext cx="11057839" cy="429768"/>
          </a:xfrm>
          <a:prstGeom prst="rect">
            <a:avLst/>
          </a:prstGeom>
          <a:solidFill>
            <a:srgbClr val="FFFFFF"/>
          </a:solidFill>
          <a:ln w="6350">
            <a:solidFill>
              <a:srgbClr val="E2E6EB"/>
            </a:solidFill>
            <a:prstDash val="solid"/>
          </a:ln>
        </p:spPr>
      </p:sp>
      <p:sp>
        <p:nvSpPr>
          <p:cNvPr id="35" name="Text 33"/>
          <p:cNvSpPr/>
          <p:nvPr/>
        </p:nvSpPr>
        <p:spPr>
          <a:xfrm>
            <a:off x="841248" y="4608576"/>
            <a:ext cx="2084832" cy="429768"/>
          </a:xfrm>
          <a:prstGeom prst="rect">
            <a:avLst/>
          </a:prstGeom>
          <a:noFill/>
          <a:ln/>
        </p:spPr>
        <p:txBody>
          <a:bodyPr wrap="square" lIns="0" tIns="0" rIns="0" bIns="0" rtlCol="0" anchor="ctr"/>
          <a:lstStyle/>
          <a:p>
            <a:pPr indent="0" marL="0">
              <a:lnSpc>
                <a:spcPts val="1500"/>
              </a:lnSpc>
              <a:buNone/>
            </a:pPr>
            <a:r>
              <a:rPr lang="en-US" sz="1200" b="1" dirty="0">
                <a:solidFill>
                  <a:srgbClr val="12161F"/>
                </a:solidFill>
                <a:latin typeface="Calibri" pitchFamily="34" charset="0"/>
                <a:ea typeface="Calibri" pitchFamily="34" charset="-122"/>
                <a:cs typeface="Calibri" pitchFamily="34" charset="-120"/>
              </a:rPr>
              <a:t>Quiz</a:t>
            </a:r>
            <a:endParaRPr lang="en-US" sz="1200" dirty="0"/>
          </a:p>
        </p:txBody>
      </p:sp>
      <p:sp>
        <p:nvSpPr>
          <p:cNvPr id="36" name="Text 34"/>
          <p:cNvSpPr/>
          <p:nvPr/>
        </p:nvSpPr>
        <p:spPr>
          <a:xfrm>
            <a:off x="3310128" y="4608576"/>
            <a:ext cx="3730752" cy="429768"/>
          </a:xfrm>
          <a:prstGeom prst="rect">
            <a:avLst/>
          </a:prstGeom>
          <a:noFill/>
          <a:ln/>
        </p:spPr>
        <p:txBody>
          <a:bodyPr wrap="square" lIns="0" tIns="0" rIns="0" bIns="0" rtlCol="0" anchor="ctr"/>
          <a:lstStyle/>
          <a:p>
            <a:pPr indent="0" marL="0">
              <a:lnSpc>
                <a:spcPts val="1500"/>
              </a:lnSpc>
              <a:buNone/>
            </a:pPr>
            <a:r>
              <a:rPr lang="en-US" sz="1200" dirty="0">
                <a:solidFill>
                  <a:srgbClr val="2E7D5B"/>
                </a:solidFill>
                <a:latin typeface="Calibri" pitchFamily="34" charset="0"/>
                <a:ea typeface="Calibri" pitchFamily="34" charset="-122"/>
                <a:cs typeface="Calibri" pitchFamily="34" charset="-120"/>
              </a:rPr>
              <a:t>Feedback on every question, a reachable pass mark</a:t>
            </a:r>
            <a:endParaRPr lang="en-US" sz="1200" dirty="0"/>
          </a:p>
        </p:txBody>
      </p:sp>
      <p:sp>
        <p:nvSpPr>
          <p:cNvPr id="37" name="Text 35"/>
          <p:cNvSpPr/>
          <p:nvPr/>
        </p:nvSpPr>
        <p:spPr>
          <a:xfrm>
            <a:off x="7424928" y="4608576"/>
            <a:ext cx="4090111" cy="429768"/>
          </a:xfrm>
          <a:prstGeom prst="rect">
            <a:avLst/>
          </a:prstGeom>
          <a:noFill/>
          <a:ln/>
        </p:spPr>
        <p:txBody>
          <a:bodyPr wrap="square" lIns="0" tIns="0" rIns="0" bIns="0" rtlCol="0" anchor="ctr"/>
          <a:lstStyle/>
          <a:p>
            <a:pPr indent="0" marL="0">
              <a:lnSpc>
                <a:spcPts val="1500"/>
              </a:lnSpc>
              <a:buNone/>
            </a:pPr>
            <a:r>
              <a:rPr lang="en-US" sz="1200" dirty="0">
                <a:solidFill>
                  <a:srgbClr val="B4441F"/>
                </a:solidFill>
                <a:latin typeface="Calibri" pitchFamily="34" charset="0"/>
                <a:ea typeface="Calibri" pitchFamily="34" charset="-122"/>
                <a:cs typeface="Calibri" pitchFamily="34" charset="-120"/>
              </a:rPr>
              <a:t>Bare right and wrong, 80% on four questions</a:t>
            </a:r>
            <a:endParaRPr lang="en-US" sz="1200" dirty="0"/>
          </a:p>
        </p:txBody>
      </p:sp>
      <p:sp>
        <p:nvSpPr>
          <p:cNvPr id="38" name="Shape 36"/>
          <p:cNvSpPr/>
          <p:nvPr/>
        </p:nvSpPr>
        <p:spPr>
          <a:xfrm>
            <a:off x="566928" y="5038344"/>
            <a:ext cx="11057839" cy="429768"/>
          </a:xfrm>
          <a:prstGeom prst="rect">
            <a:avLst/>
          </a:prstGeom>
          <a:solidFill>
            <a:srgbClr val="EDF1F5"/>
          </a:solidFill>
          <a:ln w="6350">
            <a:solidFill>
              <a:srgbClr val="E2E6EB"/>
            </a:solidFill>
            <a:prstDash val="solid"/>
          </a:ln>
        </p:spPr>
      </p:sp>
      <p:sp>
        <p:nvSpPr>
          <p:cNvPr id="39" name="Text 37"/>
          <p:cNvSpPr/>
          <p:nvPr/>
        </p:nvSpPr>
        <p:spPr>
          <a:xfrm>
            <a:off x="841248" y="5038344"/>
            <a:ext cx="2084832" cy="429768"/>
          </a:xfrm>
          <a:prstGeom prst="rect">
            <a:avLst/>
          </a:prstGeom>
          <a:noFill/>
          <a:ln/>
        </p:spPr>
        <p:txBody>
          <a:bodyPr wrap="square" lIns="0" tIns="0" rIns="0" bIns="0" rtlCol="0" anchor="ctr"/>
          <a:lstStyle/>
          <a:p>
            <a:pPr indent="0" marL="0">
              <a:lnSpc>
                <a:spcPts val="1500"/>
              </a:lnSpc>
              <a:buNone/>
            </a:pPr>
            <a:r>
              <a:rPr lang="en-US" sz="1200" b="1" dirty="0">
                <a:solidFill>
                  <a:srgbClr val="12161F"/>
                </a:solidFill>
                <a:latin typeface="Calibri" pitchFamily="34" charset="0"/>
                <a:ea typeface="Calibri" pitchFamily="34" charset="-122"/>
                <a:cs typeface="Calibri" pitchFamily="34" charset="-120"/>
              </a:rPr>
              <a:t>The link</a:t>
            </a:r>
            <a:endParaRPr lang="en-US" sz="1200" dirty="0"/>
          </a:p>
        </p:txBody>
      </p:sp>
      <p:sp>
        <p:nvSpPr>
          <p:cNvPr id="40" name="Text 38"/>
          <p:cNvSpPr/>
          <p:nvPr/>
        </p:nvSpPr>
        <p:spPr>
          <a:xfrm>
            <a:off x="3310128" y="5038344"/>
            <a:ext cx="3730752" cy="429768"/>
          </a:xfrm>
          <a:prstGeom prst="rect">
            <a:avLst/>
          </a:prstGeom>
          <a:noFill/>
          <a:ln/>
        </p:spPr>
        <p:txBody>
          <a:bodyPr wrap="square" lIns="0" tIns="0" rIns="0" bIns="0" rtlCol="0" anchor="ctr"/>
          <a:lstStyle/>
          <a:p>
            <a:pPr indent="0" marL="0">
              <a:lnSpc>
                <a:spcPts val="1500"/>
              </a:lnSpc>
              <a:buNone/>
            </a:pPr>
            <a:r>
              <a:rPr lang="en-US" sz="1200" dirty="0">
                <a:solidFill>
                  <a:srgbClr val="2E7D5B"/>
                </a:solidFill>
                <a:latin typeface="Calibri" pitchFamily="34" charset="0"/>
                <a:ea typeface="Calibri" pitchFamily="34" charset="-122"/>
                <a:cs typeface="Calibri" pitchFamily="34" charset="-120"/>
              </a:rPr>
              <a:t>Opens for somebody else, first time</a:t>
            </a:r>
            <a:endParaRPr lang="en-US" sz="1200" dirty="0"/>
          </a:p>
        </p:txBody>
      </p:sp>
      <p:sp>
        <p:nvSpPr>
          <p:cNvPr id="41" name="Text 39"/>
          <p:cNvSpPr/>
          <p:nvPr/>
        </p:nvSpPr>
        <p:spPr>
          <a:xfrm>
            <a:off x="7424928" y="5038344"/>
            <a:ext cx="4090111" cy="429768"/>
          </a:xfrm>
          <a:prstGeom prst="rect">
            <a:avLst/>
          </a:prstGeom>
          <a:noFill/>
          <a:ln/>
        </p:spPr>
        <p:txBody>
          <a:bodyPr wrap="square" lIns="0" tIns="0" rIns="0" bIns="0" rtlCol="0" anchor="ctr"/>
          <a:lstStyle/>
          <a:p>
            <a:pPr indent="0" marL="0">
              <a:lnSpc>
                <a:spcPts val="1500"/>
              </a:lnSpc>
              <a:buNone/>
            </a:pPr>
            <a:r>
              <a:rPr lang="en-US" sz="1200" dirty="0">
                <a:solidFill>
                  <a:srgbClr val="B4441F"/>
                </a:solidFill>
                <a:latin typeface="Calibri" pitchFamily="34" charset="0"/>
                <a:ea typeface="Calibri" pitchFamily="34" charset="-122"/>
                <a:cs typeface="Calibri" pitchFamily="34" charset="-120"/>
              </a:rPr>
              <a:t>Never tested outside your own browser</a:t>
            </a:r>
            <a:endParaRPr lang="en-US" sz="1200" dirty="0"/>
          </a:p>
        </p:txBody>
      </p:sp>
      <p:sp>
        <p:nvSpPr>
          <p:cNvPr id="42" name="Shape 40"/>
          <p:cNvSpPr/>
          <p:nvPr/>
        </p:nvSpPr>
        <p:spPr>
          <a:xfrm>
            <a:off x="566928" y="5596128"/>
            <a:ext cx="11057839" cy="512064"/>
          </a:xfrm>
          <a:prstGeom prst="roundRect">
            <a:avLst>
              <a:gd name="adj" fmla="val 16071"/>
            </a:avLst>
          </a:prstGeom>
          <a:solidFill>
            <a:srgbClr val="FFF4EE"/>
          </a:solidFill>
          <a:ln w="9525">
            <a:solidFill>
              <a:srgbClr val="F6C7AC"/>
            </a:solidFill>
            <a:prstDash val="solid"/>
          </a:ln>
        </p:spPr>
      </p:sp>
      <p:sp>
        <p:nvSpPr>
          <p:cNvPr id="43" name="Shape 41"/>
          <p:cNvSpPr/>
          <p:nvPr/>
        </p:nvSpPr>
        <p:spPr>
          <a:xfrm>
            <a:off x="786384" y="5751576"/>
            <a:ext cx="201168" cy="201168"/>
          </a:xfrm>
          <a:prstGeom prst="ellipse">
            <a:avLst/>
          </a:prstGeom>
          <a:solidFill>
            <a:srgbClr val="ED6A2A"/>
          </a:solidFill>
          <a:ln/>
        </p:spPr>
      </p:sp>
      <p:sp>
        <p:nvSpPr>
          <p:cNvPr id="44" name="Text 42"/>
          <p:cNvSpPr/>
          <p:nvPr/>
        </p:nvSpPr>
        <p:spPr>
          <a:xfrm>
            <a:off x="1115568" y="5596128"/>
            <a:ext cx="10253167" cy="512064"/>
          </a:xfrm>
          <a:prstGeom prst="rect">
            <a:avLst/>
          </a:prstGeom>
          <a:noFill/>
          <a:ln/>
        </p:spPr>
        <p:txBody>
          <a:bodyPr wrap="square" lIns="0" tIns="0" rIns="0" bIns="0" rtlCol="0" anchor="ctr"/>
          <a:lstStyle/>
          <a:p>
            <a:pPr indent="0" marL="0">
              <a:lnSpc>
                <a:spcPts val="1700"/>
              </a:lnSpc>
              <a:buNone/>
            </a:pPr>
            <a:r>
              <a:rPr lang="en-US" sz="1200" dirty="0">
                <a:solidFill>
                  <a:srgbClr val="7A3F1C"/>
                </a:solidFill>
                <a:latin typeface="Calibri" pitchFamily="34" charset="0"/>
                <a:ea typeface="Calibri" pitchFamily="34" charset="-122"/>
                <a:cs typeface="Calibri" pitchFamily="34" charset="-120"/>
              </a:rPr>
              <a:t>Submit three lines with it: who it is for, what you would fix with another hour, and what fought you hardest in Rise. Monday’s session is built around those.</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2161F"/>
        </a:solidFill>
      </p:bgPr>
    </p:bg>
    <p:spTree>
      <p:nvGrpSpPr>
        <p:cNvPr id="1" name=""/>
        <p:cNvGrpSpPr/>
        <p:nvPr/>
      </p:nvGrpSpPr>
      <p:grpSpPr>
        <a:xfrm>
          <a:off x="0" y="0"/>
          <a:ext cx="0" cy="0"/>
          <a:chOff x="0" y="0"/>
          <a:chExt cx="0" cy="0"/>
        </a:xfrm>
      </p:grpSpPr>
      <p:sp>
        <p:nvSpPr>
          <p:cNvPr id="2" name="Text 0"/>
          <p:cNvSpPr/>
          <p:nvPr/>
        </p:nvSpPr>
        <p:spPr>
          <a:xfrm>
            <a:off x="566928" y="1737360"/>
            <a:ext cx="5486400" cy="292608"/>
          </a:xfrm>
          <a:prstGeom prst="rect">
            <a:avLst/>
          </a:prstGeom>
          <a:noFill/>
          <a:ln/>
        </p:spPr>
        <p:txBody>
          <a:bodyPr wrap="square" lIns="0" tIns="0" rIns="0" bIns="0" rtlCol="0" anchor="ctr"/>
          <a:lstStyle/>
          <a:p>
            <a:pPr indent="0" marL="0">
              <a:buNone/>
            </a:pPr>
            <a:r>
              <a:rPr lang="en-US" sz="1200" b="1" spc="240" kern="0" dirty="0">
                <a:solidFill>
                  <a:srgbClr val="ED6A2A"/>
                </a:solidFill>
                <a:latin typeface="Calibri" pitchFamily="34" charset="0"/>
                <a:ea typeface="Calibri" pitchFamily="34" charset="-122"/>
                <a:cs typeface="Calibri" pitchFamily="34" charset="-120"/>
              </a:rPr>
              <a:t>BEFORE YOU GO</a:t>
            </a:r>
            <a:endParaRPr lang="en-US" sz="1200" dirty="0"/>
          </a:p>
        </p:txBody>
      </p:sp>
      <p:sp>
        <p:nvSpPr>
          <p:cNvPr id="3" name="Text 1"/>
          <p:cNvSpPr/>
          <p:nvPr/>
        </p:nvSpPr>
        <p:spPr>
          <a:xfrm>
            <a:off x="566928" y="2139696"/>
            <a:ext cx="6766560" cy="2194560"/>
          </a:xfrm>
          <a:prstGeom prst="rect">
            <a:avLst/>
          </a:prstGeom>
          <a:noFill/>
          <a:ln/>
        </p:spPr>
        <p:txBody>
          <a:bodyPr wrap="square" lIns="0" tIns="0" rIns="0" bIns="0" rtlCol="0" anchor="t"/>
          <a:lstStyle/>
          <a:p>
            <a:pPr indent="0" marL="0">
              <a:lnSpc>
                <a:spcPts val="4800"/>
              </a:lnSpc>
              <a:buNone/>
            </a:pPr>
            <a:r>
              <a:rPr lang="en-US" sz="3800" b="1" dirty="0">
                <a:solidFill>
                  <a:srgbClr val="FFFFFF"/>
                </a:solidFill>
                <a:latin typeface="Cambria" pitchFamily="34" charset="0"/>
                <a:ea typeface="Cambria" pitchFamily="34" charset="-122"/>
                <a:cs typeface="Cambria" pitchFamily="34" charset="-120"/>
              </a:rPr>
              <a:t>Write the scenario</a:t>
            </a:r>
            <a:endParaRPr lang="en-US" sz="3800" dirty="0"/>
          </a:p>
          <a:p>
            <a:pPr indent="0" marL="0">
              <a:lnSpc>
                <a:spcPts val="4800"/>
              </a:lnSpc>
              <a:buNone/>
            </a:pPr>
            <a:r>
              <a:rPr lang="en-US" sz="3800" b="1" dirty="0">
                <a:solidFill>
                  <a:srgbClr val="FFFFFF"/>
                </a:solidFill>
                <a:latin typeface="Cambria" pitchFamily="34" charset="0"/>
                <a:ea typeface="Cambria" pitchFamily="34" charset="-122"/>
                <a:cs typeface="Cambria" pitchFamily="34" charset="-120"/>
              </a:rPr>
              <a:t>before you open</a:t>
            </a:r>
            <a:endParaRPr lang="en-US" sz="3800" dirty="0"/>
          </a:p>
          <a:p>
            <a:pPr indent="0" marL="0">
              <a:lnSpc>
                <a:spcPts val="4800"/>
              </a:lnSpc>
              <a:buNone/>
            </a:pPr>
            <a:r>
              <a:rPr lang="en-US" sz="3800" b="1" dirty="0">
                <a:solidFill>
                  <a:srgbClr val="FFFFFF"/>
                </a:solidFill>
                <a:latin typeface="Cambria" pitchFamily="34" charset="0"/>
                <a:ea typeface="Cambria" pitchFamily="34" charset="-122"/>
                <a:cs typeface="Cambria" pitchFamily="34" charset="-120"/>
              </a:rPr>
              <a:t>the editor.</a:t>
            </a:r>
            <a:endParaRPr lang="en-US" sz="3800" dirty="0"/>
          </a:p>
        </p:txBody>
      </p:sp>
      <p:sp>
        <p:nvSpPr>
          <p:cNvPr id="4" name="Text 2"/>
          <p:cNvSpPr/>
          <p:nvPr/>
        </p:nvSpPr>
        <p:spPr>
          <a:xfrm>
            <a:off x="566928" y="4443984"/>
            <a:ext cx="6217920" cy="731520"/>
          </a:xfrm>
          <a:prstGeom prst="rect">
            <a:avLst/>
          </a:prstGeom>
          <a:noFill/>
          <a:ln/>
        </p:spPr>
        <p:txBody>
          <a:bodyPr wrap="square" lIns="0" tIns="0" rIns="0" bIns="0" rtlCol="0" anchor="t"/>
          <a:lstStyle/>
          <a:p>
            <a:pPr indent="0" marL="0">
              <a:lnSpc>
                <a:spcPts val="2200"/>
              </a:lnSpc>
              <a:buNone/>
            </a:pPr>
            <a:r>
              <a:rPr lang="en-US" sz="1450" dirty="0">
                <a:solidFill>
                  <a:srgbClr val="A9B3C0"/>
                </a:solidFill>
                <a:latin typeface="Calibri" pitchFamily="34" charset="0"/>
                <a:ea typeface="Calibri" pitchFamily="34" charset="-122"/>
                <a:cs typeface="Calibri" pitchFamily="34" charset="-120"/>
              </a:rPr>
              <a:t>If you take one thing from today, take that. It is ten minutes on paper against an afternoon in a maze.</a:t>
            </a:r>
            <a:endParaRPr lang="en-US" sz="1450" dirty="0"/>
          </a:p>
        </p:txBody>
      </p:sp>
      <p:sp>
        <p:nvSpPr>
          <p:cNvPr id="5" name="Shape 3"/>
          <p:cNvSpPr/>
          <p:nvPr/>
        </p:nvSpPr>
        <p:spPr>
          <a:xfrm>
            <a:off x="7772400" y="1737360"/>
            <a:ext cx="3852367" cy="3566160"/>
          </a:xfrm>
          <a:prstGeom prst="roundRect">
            <a:avLst>
              <a:gd name="adj" fmla="val 2308"/>
            </a:avLst>
          </a:prstGeom>
          <a:solidFill>
            <a:srgbClr val="1C2230"/>
          </a:solidFill>
          <a:ln w="9525">
            <a:solidFill>
              <a:srgbClr val="2A3242"/>
            </a:solidFill>
            <a:prstDash val="solid"/>
          </a:ln>
          <a:effectLst>
            <a:outerShdw sx="100000" sy="100000" kx="0" ky="0" algn="bl" rotWithShape="0" blurRad="177800" dist="38100" dir="5400000">
              <a:srgbClr val="9AA6B4">
                <a:alpha val="32000"/>
              </a:srgbClr>
            </a:outerShdw>
          </a:effectLst>
        </p:spPr>
      </p:sp>
      <p:sp>
        <p:nvSpPr>
          <p:cNvPr id="6" name="Text 4"/>
          <p:cNvSpPr/>
          <p:nvPr/>
        </p:nvSpPr>
        <p:spPr>
          <a:xfrm>
            <a:off x="8138160" y="1975104"/>
            <a:ext cx="3120847" cy="274320"/>
          </a:xfrm>
          <a:prstGeom prst="rect">
            <a:avLst/>
          </a:prstGeom>
          <a:noFill/>
          <a:ln/>
        </p:spPr>
        <p:txBody>
          <a:bodyPr wrap="square" lIns="0" tIns="0" rIns="0" bIns="0" rtlCol="0" anchor="ctr"/>
          <a:lstStyle/>
          <a:p>
            <a:pPr indent="0" marL="0">
              <a:buNone/>
            </a:pPr>
            <a:r>
              <a:rPr lang="en-US" sz="1100" b="1" spc="180" kern="0" dirty="0">
                <a:solidFill>
                  <a:srgbClr val="ED6A2A"/>
                </a:solidFill>
                <a:latin typeface="Calibri" pitchFamily="34" charset="0"/>
                <a:ea typeface="Calibri" pitchFamily="34" charset="-122"/>
                <a:cs typeface="Calibri" pitchFamily="34" charset="-120"/>
              </a:rPr>
              <a:t>TOMORROW — DAY 5</a:t>
            </a:r>
            <a:endParaRPr lang="en-US" sz="1100" dirty="0"/>
          </a:p>
        </p:txBody>
      </p:sp>
      <p:sp>
        <p:nvSpPr>
          <p:cNvPr id="7" name="Text 5"/>
          <p:cNvSpPr/>
          <p:nvPr/>
        </p:nvSpPr>
        <p:spPr>
          <a:xfrm>
            <a:off x="8138160" y="2395728"/>
            <a:ext cx="3120847" cy="2743200"/>
          </a:xfrm>
          <a:prstGeom prst="rect">
            <a:avLst/>
          </a:prstGeom>
          <a:noFill/>
          <a:ln/>
        </p:spPr>
        <p:txBody>
          <a:bodyPr wrap="square" lIns="0" tIns="0" rIns="0" bIns="0" rtlCol="0" anchor="t"/>
          <a:lstStyle/>
          <a:p>
            <a:pPr marL="342900" indent="-342900">
              <a:lnSpc>
                <a:spcPts val="2000"/>
              </a:lnSpc>
              <a:spcAft>
                <a:spcPts val="900"/>
              </a:spcAft>
              <a:buSzPct val="100000"/>
              <a:buChar char="•"/>
            </a:pPr>
            <a:r>
              <a:rPr lang="en-US" sz="1300" dirty="0">
                <a:solidFill>
                  <a:srgbClr val="FFFFFF"/>
                </a:solidFill>
                <a:latin typeface="Calibri" pitchFamily="34" charset="0"/>
                <a:ea typeface="Calibri" pitchFamily="34" charset="-122"/>
                <a:cs typeface="Calibri" pitchFamily="34" charset="-120"/>
              </a:rPr>
              <a:t>Theme — colours, fonts, your logo</a:t>
            </a:r>
            <a:endParaRPr lang="en-US" sz="1300" dirty="0"/>
          </a:p>
          <a:p>
            <a:pPr marL="342900" indent="-342900">
              <a:lnSpc>
                <a:spcPts val="2000"/>
              </a:lnSpc>
              <a:spcAft>
                <a:spcPts val="900"/>
              </a:spcAft>
              <a:buSzPct val="100000"/>
              <a:buChar char="•"/>
            </a:pPr>
            <a:r>
              <a:rPr lang="en-US" sz="1300" dirty="0">
                <a:solidFill>
                  <a:srgbClr val="FFFFFF"/>
                </a:solidFill>
                <a:latin typeface="Calibri" pitchFamily="34" charset="0"/>
                <a:ea typeface="Calibri" pitchFamily="34" charset="-122"/>
                <a:cs typeface="Calibri" pitchFamily="34" charset="-120"/>
              </a:rPr>
              <a:t>Navigation — free against restricted, and when each is right</a:t>
            </a:r>
            <a:endParaRPr lang="en-US" sz="1300" dirty="0"/>
          </a:p>
          <a:p>
            <a:pPr marL="342900" indent="-342900">
              <a:lnSpc>
                <a:spcPts val="2000"/>
              </a:lnSpc>
              <a:spcAft>
                <a:spcPts val="900"/>
              </a:spcAft>
              <a:buSzPct val="100000"/>
              <a:buChar char="•"/>
            </a:pPr>
            <a:r>
              <a:rPr lang="en-US" sz="1300" dirty="0">
                <a:solidFill>
                  <a:srgbClr val="FFFFFF"/>
                </a:solidFill>
                <a:latin typeface="Calibri" pitchFamily="34" charset="0"/>
                <a:ea typeface="Calibri" pitchFamily="34" charset="-122"/>
                <a:cs typeface="Calibri" pitchFamily="34" charset="-120"/>
              </a:rPr>
              <a:t>Accessibility, properly</a:t>
            </a:r>
            <a:endParaRPr lang="en-US" sz="1300" dirty="0"/>
          </a:p>
          <a:p>
            <a:pPr marL="342900" indent="-342900">
              <a:lnSpc>
                <a:spcPts val="2000"/>
              </a:lnSpc>
              <a:spcAft>
                <a:spcPts val="900"/>
              </a:spcAft>
              <a:buSzPct val="100000"/>
              <a:buChar char="•"/>
            </a:pPr>
            <a:r>
              <a:rPr lang="en-US" sz="1300" dirty="0">
                <a:solidFill>
                  <a:srgbClr val="FFFFFF"/>
                </a:solidFill>
                <a:latin typeface="Calibri" pitchFamily="34" charset="0"/>
                <a:ea typeface="Calibri" pitchFamily="34" charset="-122"/>
                <a:cs typeface="Calibri" pitchFamily="34" charset="-120"/>
              </a:rPr>
              <a:t>Review 360 — comments from stakeholders in context</a:t>
            </a:r>
            <a:endParaRPr lang="en-US" sz="1300" dirty="0"/>
          </a:p>
          <a:p>
            <a:pPr marL="342900" indent="-342900">
              <a:lnSpc>
                <a:spcPts val="2000"/>
              </a:lnSpc>
              <a:spcAft>
                <a:spcPts val="900"/>
              </a:spcAft>
              <a:buSzPct val="100000"/>
              <a:buChar char="•"/>
            </a:pPr>
            <a:r>
              <a:rPr lang="en-US" sz="1300" dirty="0">
                <a:solidFill>
                  <a:srgbClr val="FFFFFF"/>
                </a:solidFill>
                <a:latin typeface="Calibri" pitchFamily="34" charset="0"/>
                <a:ea typeface="Calibri" pitchFamily="34" charset="-122"/>
                <a:cs typeface="Calibri" pitchFamily="34" charset="-120"/>
              </a:rPr>
              <a:t>A clinic for your capstone. Bring the outline.</a:t>
            </a:r>
            <a:endParaRPr lang="en-US" sz="1300" dirty="0"/>
          </a:p>
        </p:txBody>
      </p:sp>
      <p:sp>
        <p:nvSpPr>
          <p:cNvPr id="8" name="Text 6"/>
          <p:cNvSpPr/>
          <p:nvPr/>
        </p:nvSpPr>
        <p:spPr>
          <a:xfrm>
            <a:off x="566928" y="5577840"/>
            <a:ext cx="11057839" cy="329184"/>
          </a:xfrm>
          <a:prstGeom prst="rect">
            <a:avLst/>
          </a:prstGeom>
          <a:noFill/>
          <a:ln/>
        </p:spPr>
        <p:txBody>
          <a:bodyPr wrap="square" lIns="0" tIns="0" rIns="0" bIns="0" rtlCol="0" anchor="ctr"/>
          <a:lstStyle/>
          <a:p>
            <a:pPr indent="0" marL="0">
              <a:buNone/>
            </a:pPr>
            <a:r>
              <a:rPr lang="en-US" sz="1250" i="1" dirty="0">
                <a:solidFill>
                  <a:srgbClr val="A9B3C0"/>
                </a:solidFill>
                <a:latin typeface="Calibri" pitchFamily="34" charset="0"/>
                <a:ea typeface="Calibri" pitchFamily="34" charset="-122"/>
                <a:cs typeface="Calibri" pitchFamily="34" charset="-120"/>
              </a:rPr>
              <a:t>Brief: capstone-brief.md   ·   Due Monday, 9:00 a.m.</a:t>
            </a:r>
            <a:endParaRPr lang="en-US" sz="1250" dirty="0"/>
          </a:p>
        </p:txBody>
      </p:sp>
      <p:sp>
        <p:nvSpPr>
          <p:cNvPr id="9" name="Text 7"/>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A9B3C0"/>
                </a:solidFill>
                <a:latin typeface="Calibri" pitchFamily="34" charset="0"/>
                <a:ea typeface="Calibri" pitchFamily="34" charset="-122"/>
                <a:cs typeface="Calibri" pitchFamily="34" charset="-120"/>
              </a:rPr>
              <a:t>Rise 360  ·  Day 4  ·  Decide, then ship</a:t>
            </a:r>
            <a:endParaRPr lang="en-US" sz="950" dirty="0"/>
          </a:p>
        </p:txBody>
      </p:sp>
      <p:sp>
        <p:nvSpPr>
          <p:cNvPr id="10" name="Text 8"/>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A9B3C0"/>
                </a:solidFill>
                <a:latin typeface="Calibri" pitchFamily="34" charset="0"/>
                <a:ea typeface="Calibri" pitchFamily="34" charset="-122"/>
                <a:cs typeface="Calibri" pitchFamily="34" charset="-120"/>
              </a:rPr>
              <a:t>29</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Rise 360 Day 4 — Decide, then ship</dc:title>
  <dc:subject>PptxGenJS Presentation</dc:subject>
  <dc:creator>Rise 360 curriculum</dc:creator>
  <cp:lastModifiedBy>Rise 360 curriculum</cp:lastModifiedBy>
  <cp:revision>1</cp:revision>
  <dcterms:created xsi:type="dcterms:W3CDTF">2026-08-06T02:33:32Z</dcterms:created>
  <dcterms:modified xsi:type="dcterms:W3CDTF">2026-08-06T02:33:32Z</dcterms:modified>
</cp:coreProperties>
</file>