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was everything a learner reads. Today is everything a learner operates.
Open with the honest framing: interactions are not automatically better. A course made entirely of accordions is as tiring as a course made entirely of paragraphs. What changes today is that you get a second gear — and the skill is knowing when to change up.
Twelve blocks, grouped into six jobs. Nobody memorises twelve; they remember the six jobs.
The bonus at the end is the part people will remember: a Tinder-style swipe deck, which Rise cannot build natively, brought in through the Embed block. Do not skip it — it is also where the honest limits of the tool get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them to open yesterday’s lesson before you go any further — today only works on real content.
The line that matters is the third one on the right: saying why an interaction earns its place, or dropping it. That is the difference between a designer and someone who clicks every button in the block library.
Head off the assessment question now. Somebody will ask about knowledge checks within ten minutes. Point at the orange strip: interaction today, scoring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jobs: reveal, explore, sequence, recall, decide, act. Plus the Storyline block, which is a door to another tool rather than a job of its own.
Pace: six slides, roughly three minutes each. Demo the block live as you talk about it — these are all faster to show than to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walk the twelve — the next six slides do that.
The line to land: every interactive block costs the learner a click. A click is a small tax. You charge it when what is behind the click is worth more than the tax — and not otherwise.
If anyone asks why Quote carousel and Gallery carousel are not here: they are filed as static content blocks and we covered them yesterday, even though they do take a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look interchangeable and are not. The test is comparison.
Accordion is for independent items — FAQs, a reference list, troubleshooting symptoms. You open one, read it, close it. Nobody compares FAQ 3 with FAQ 9.
Tabs are for parallel items you want to hold against each other. Three plans, three regions, three customer types — same shape of content each time. The content switches in place, which is what makes comparison possible.
Rise converts one to the other, so the cost of getting it wrong is a dropdown click. Show that.
The orange rule is the one to labour. Every cohort has someone who puts the safety warning in an accordion because the page looked long. A click is a filter, and a warning must not be filtered.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persuasive block in Rise for anything physical, and the one that most often gets used for the wrong thing.
It earns its place when position carries meaning. Naming the parts of a reader, walking a screen, pointing at a floor plan. If you could rewrite it as a bulleted list with no loss, it should be a list.
Demo the mobile crop. Markers that sit comfortably apart on a laptop can collide on a phone, and nobody notices until a learner complains. Preview it on mobile portrait in front of them.
The image sizes are a real setting worth knowing: medium at 1100px is the default, with small at 760px and full width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put one thing on screen at a time. The difference is whether the learner will do it or just know it.
Process is a procedure. It paces someone through steps they will repeat later — which is exactly why it beats a numbered list for anything with detail per step.
Timeline is chronology. Company history, a rollout plan, what changed and when. Nobody performs a timeline.
Be honest about the orange note. A six-item numbered list is faster to build, faster to scan and easier to reread than a Process block, and for simple steps it is the better choice. The block earns its place when each step needs a paragraph and a picture — that is when showing all six at once becomes a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Flashcards are the cheapest retrieval practice in the tool, and the most commonly wasted.
The waste looks like this: the front says "Refund window" and the back says "30 days". The learner flips it, reads it, learns nothing, because they were never asked anything. Make the front a question they could actually attempt: "How long does a customer have to request a refund?"
Grid versus stack is about set size and whether scope is useful information. A grid shows six at once and says "this is all of it". A stack gives you one at a time and is better past about eight.
Quick exercise if time allows: take any flashcard from a draft and rewrite the front as a question. The difference is immediate.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add one interaction to a lesson, make it one of these two. Everything else on the list reorganises content; these two make the learner practise the actual skill.
Sorting is for discrimination — the moment where someone has to say "this one, not that one". Do and Don’t piles, compliant versus non-compliant, phishing versus legitimate. The dragging is not the point; the judgement is.
Scenario is role-play with consequences. It uses Content Library characters, dialogue, responses and feedback. Warn them properly: this is the block that takes real writing time. The branching has to be plausible, every branch needs feedback that teaches rather than scolds, and a badly written scenario is worse than no scenario because it feels like a trick.
Note the difference from a quiz: neither of these is scored, and neither reports to an LMS. They are practice. Scoring is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least glamorous pair and the most immediately useful.
The whole lesson here is labelling. "Click here", "Learn more" and "Read on" are the three worst button labels in e-learning and they are everywhere. A label should describe the destination or the action, so the learner can decide whether to spend the click.
Button stacks are how you branch a course without restricting navigation — offer three routes, let people take theirs. Pair it with the Previous and Next toggles under Theme when you build a branched path, or learners will simply scroll past your carefully designed fork.
Mention that a button can open a file or an external link, which makes it the natural partner to the Attachment block from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unless your group already uses Storyline. Most beginners will not touch it for months.
The reason it is on the slide is boundary-setting: it is the answer to "can Rise do X?" when X is genuinely beyond block-based authoring. Knowing the door exists stops people trying to fake a simulation with fourteen accordions.
Be straight about the cost. It is a second product with its own learning curve, and the embedded interaction is fixed-size inside an otherwise responsive lesson — on a phone, that is visible.
This slide also sets up the bonus. Storyline is one way out of Rise’s limits. The Embed block is the other, and it is the one you can use this afternoon without buying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two slides. This is the judgement half of the day, and it is what separates today from a feature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It is the artefact people keep from today, exactly as the checklist was yesterday.
Do not read it aloud. Instead run it backwards: give the room three of your own lesson topics and ask which row applies. Arguments are good here — "is this comparison or is it reference?" is the exact question you want them asking on their own later.
The left column is deliberately written as learner behaviour, not as content type. That is the habit: start from what the learner has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four failure modes. Name the failure mode as you go — people remember the symptom, not the rule.
Rule 1 is the one from yesterday, restated: an interaction with no lead line gets scrolled past. Rise’s own guidance asks for a line that connects the interaction to the content around it.
Rule 4 is the one they will skip. Make them do it during the lab, not after.
The bottom line is the whole day compressed into one sentence. If you are short of time and have to cut a slide, cut something else and keep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day people talk about afterwards. It is also the part where the tool’s limits get taught honestly, which builds more trust than pretending Rise does everything.
Three slides: what Rise can and cannot run, what we built, and how it works. Keep it demo-led.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first: "If I paste JavaScript into a Code snippet block, does it run?" Let them answer. Most rooms say yes. It does not. The Code snippet block displays code as text — it is a picture of code.
The Embed block is the one that runs things, because it loads a page you host and that page executes normally. This is not a hack; it is what the block is for.
Two warnings to give with it. The embedded page depends on your hosting staying up, and corporate networks sometimes block third-party frames — so never put anything essential behind an embed alone. And it will not be tracked by your LMS; only quizzes report scores.
Hosting does not have to be a project. Any static host works. If your organisation already has an intranet or a documentation site, that is usually the path of least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on a phone if you can get it on the screen — the gesture is the point and it does not land from a screenshot.
The content of the deck is deliberately self-referential: each card is a scenario and the learner swipes right for "an interactive block earns its place here" or left for "a static block does the job". So the bonus doubles as revision of the whole day.
Then ask the harder question: is this better than a Sorting Activity? Honest answer — usually not, for a desktop audience. It is better when your learners are on phones, because swiping is native there and dragging into a bucket is fiddly. Say that. It stops the room concluding that custom is always better.
The file ships with this deck. They can change the six cards to their own content without touching the JavaScript — the cards are an array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JavaScript. Teach the shape of the thing, so a non-coder can brief a developer and a semi-coder can edit the cards.
Idea 2 is the one that surprises people. The physicality comes from a single division — the card leans by how far it has been thrown. Take that line out and it becomes a sliding box.
Idea 3 is why the code is short. There is no drag state machine, no velocity tracking, no gesture library. One number decides everything.
The orange line is the one to insist on. A swipe-only interaction locks out anyone who cannot drag. In this build the buttons run through exactly the same commit path, so there is no second behaviour to maintain and no way for the two to drift apart.
The next six slides are the complete file. Tell them not to copy it off the screen — the file ships with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as it ships, not a paraphrase — the deck is generated from it, so the two cannot drift apart.
Nothing here is unusual. It is one HTML file with a style block and a script block, which is exactly what the Embed block needs: one address that serves one self-contained page.
Do not read the code aloud. Put it on screen, point at the two or three lines that matter,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as it ships, not a paraphrase — the deck is generated from it, so the two cannot drift apart.
The styling is ordinary CSS. The two rules worth pointing at are touch-action:none, which stops the browser scrolling the page while you drag a card, and the prefers-reduced-motion query at the end.
Do not read the code aloud. Put it on screen, point at the two or three lines that matter,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as it ships, not a paraphrase — the deck is generated from it, so the two cannot drift apart.
This is the only part most people will ever edit. Six objects, each with the scenario text, the answer, and the feedback line. Swap those for your own subject and you have a new activity.
Do not read the code aloud. Put it on screen, point at the two or three lines that matter,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as it ships, not a paraphrase — the deck is generated from it, so the two cannot drift apart.
render() draws at most three cards so the stack has visible depth, and attaches the drag handlers only to the top one. Everything below it is decoration until its turn comes.
Do not read the code aloud. Put it on screen, point at the two or three lines that matter,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as it ships, not a paraphrase — the deck is generated from it, so the two cannot drift apart.
commit() is where the answer is scored, the card is thrown off screen, and the feedback is announced to screen readers through the live region. Note that it does not care whether the swipe came from a finger or the keyboard.
Do not read the code aloud. Put it on screen, point at the two or three lines that matter,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file as it ships, not a paraphrase — the deck is generated from it, so the two cannot drift apart.
The last piece: the buttons and the arrow keys, then the result screen. show() flips between the deck and the result rather than rebuilding either.
Do not read the code aloud. Put it on screen, point at the two or three lines that matter,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minutes is enough. Walk the room.
The sentence test in the top-right is the assessment for the whole day, and it is verbal on purpose. "This is an accordion because the learner has to read some and skip the rest." Anyone who cannot finish the sentence has added decoration, and taking it out is the right answer — say so, warmly, before they start, so removing something does not feel like failing.
Insist on the mobile preview. It is the rule they skip and the one that catches real defects.
The early-finisher task is genuinely doable by a non-coder: the cards are a plain array of text at the top of the file, and it opens straight from disk in any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contract from slide 2, then two housekeeping items.
One: tomorrow is assessment, theming and navigation — the four question types, knowledge checks versus scored quizzes, brand colours and fonts, and free versus restricted navigation. Their lesson now has something worth assessing, which is why it is in this order.
Two: send them the swipe deck file. The people who will actually use it are the ones who open it that evening, and they will not if they have to ask.
If the room struggled today, it was almost certainly with Scenario. That is normal — it is a writing problem, not a Rise problem. Offer to look at branching drafts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1481328"/>
            <a:ext cx="3657600" cy="292608"/>
          </a:xfrm>
          <a:prstGeom prst="rect">
            <a:avLst/>
          </a:prstGeom>
          <a:noFill/>
          <a:ln/>
        </p:spPr>
        <p:txBody>
          <a:bodyPr wrap="square" lIns="0" tIns="0" rIns="0" bIns="0" rtlCol="0" anchor="ctr"/>
          <a:lstStyle/>
          <a:p>
            <a:pPr indent="0" marL="0">
              <a:buNone/>
            </a:pPr>
            <a:r>
              <a:rPr lang="en-US" sz="1250" b="1" spc="260" kern="0" dirty="0">
                <a:solidFill>
                  <a:srgbClr val="ED6A2A"/>
                </a:solidFill>
                <a:latin typeface="Calibri" pitchFamily="34" charset="0"/>
                <a:ea typeface="Calibri" pitchFamily="34" charset="-122"/>
                <a:cs typeface="Calibri" pitchFamily="34" charset="-120"/>
              </a:rPr>
              <a:t>DAY 3 OF 5</a:t>
            </a:r>
            <a:endParaRPr lang="en-US" sz="1250" dirty="0"/>
          </a:p>
        </p:txBody>
      </p:sp>
      <p:sp>
        <p:nvSpPr>
          <p:cNvPr id="3" name="Text 1"/>
          <p:cNvSpPr/>
          <p:nvPr/>
        </p:nvSpPr>
        <p:spPr>
          <a:xfrm>
            <a:off x="566928" y="1865376"/>
            <a:ext cx="6949440" cy="1828800"/>
          </a:xfrm>
          <a:prstGeom prst="rect">
            <a:avLst/>
          </a:prstGeom>
          <a:noFill/>
          <a:ln/>
        </p:spPr>
        <p:txBody>
          <a:bodyPr wrap="square" lIns="0" tIns="0" rIns="0" bIns="0" rtlCol="0" anchor="t"/>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Blocks that</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answer back</a:t>
            </a:r>
            <a:endParaRPr lang="en-US" sz="5000" dirty="0"/>
          </a:p>
        </p:txBody>
      </p:sp>
      <p:sp>
        <p:nvSpPr>
          <p:cNvPr id="4" name="Text 2"/>
          <p:cNvSpPr/>
          <p:nvPr/>
        </p:nvSpPr>
        <p:spPr>
          <a:xfrm>
            <a:off x="566928" y="3822192"/>
            <a:ext cx="6309360" cy="822960"/>
          </a:xfrm>
          <a:prstGeom prst="rect">
            <a:avLst/>
          </a:prstGeom>
          <a:noFill/>
          <a:ln/>
        </p:spPr>
        <p:txBody>
          <a:bodyPr wrap="square" lIns="0" tIns="0" rIns="0" bIns="0" rtlCol="0" anchor="t"/>
          <a:lstStyle/>
          <a:p>
            <a:pPr indent="0" marL="0">
              <a:lnSpc>
                <a:spcPts val="2400"/>
              </a:lnSpc>
              <a:buNone/>
            </a:pPr>
            <a:r>
              <a:rPr lang="en-US" sz="1550" dirty="0">
                <a:solidFill>
                  <a:srgbClr val="A9B3C0"/>
                </a:solidFill>
                <a:latin typeface="Calibri" pitchFamily="34" charset="0"/>
                <a:ea typeface="Calibri" pitchFamily="34" charset="-122"/>
                <a:cs typeface="Calibri" pitchFamily="34" charset="-120"/>
              </a:rPr>
              <a:t>The twelve interactive blocks, when each one earns its place — and a bonus interaction Rise cannot build on its own.</a:t>
            </a:r>
            <a:endParaRPr lang="en-US" sz="1550" dirty="0"/>
          </a:p>
        </p:txBody>
      </p:sp>
      <p:sp>
        <p:nvSpPr>
          <p:cNvPr id="5" name="Shape 3"/>
          <p:cNvSpPr/>
          <p:nvPr/>
        </p:nvSpPr>
        <p:spPr>
          <a:xfrm>
            <a:off x="7818120" y="1828800"/>
            <a:ext cx="3474720" cy="603504"/>
          </a:xfrm>
          <a:prstGeom prst="roundRect">
            <a:avLst>
              <a:gd name="adj" fmla="val 12121"/>
            </a:avLst>
          </a:prstGeom>
          <a:solidFill>
            <a:srgbClr val="1C2230"/>
          </a:solidFill>
          <a:ln w="12700">
            <a:solidFill>
              <a:srgbClr val="2A3242"/>
            </a:solidFill>
            <a:prstDash val="solid"/>
          </a:ln>
        </p:spPr>
      </p:sp>
      <p:sp>
        <p:nvSpPr>
          <p:cNvPr id="6" name="Text 4"/>
          <p:cNvSpPr/>
          <p:nvPr/>
        </p:nvSpPr>
        <p:spPr>
          <a:xfrm>
            <a:off x="7818120" y="1828800"/>
            <a:ext cx="3474720" cy="603504"/>
          </a:xfrm>
          <a:prstGeom prst="rect">
            <a:avLst/>
          </a:prstGeom>
          <a:noFill/>
          <a:ln/>
        </p:spPr>
        <p:txBody>
          <a:bodyPr wrap="square" lIns="0" tIns="0" rIns="0" bIns="0" rtlCol="0" anchor="ctr"/>
          <a:lstStyle/>
          <a:p>
            <a:pPr algn="ctr" indent="0" marL="0">
              <a:buNone/>
            </a:pPr>
            <a:r>
              <a:rPr lang="en-US" sz="1250" b="1" dirty="0">
                <a:solidFill>
                  <a:srgbClr val="A9B3C0"/>
                </a:solidFill>
                <a:latin typeface="Calibri" pitchFamily="34" charset="0"/>
                <a:ea typeface="Calibri" pitchFamily="34" charset="-122"/>
                <a:cs typeface="Calibri" pitchFamily="34" charset="-120"/>
              </a:rPr>
              <a:t>Read</a:t>
            </a:r>
            <a:endParaRPr lang="en-US" sz="1250" dirty="0"/>
          </a:p>
        </p:txBody>
      </p:sp>
      <p:sp>
        <p:nvSpPr>
          <p:cNvPr id="7" name="Shape 5"/>
          <p:cNvSpPr/>
          <p:nvPr/>
        </p:nvSpPr>
        <p:spPr>
          <a:xfrm>
            <a:off x="7818120" y="2615184"/>
            <a:ext cx="3474720" cy="603504"/>
          </a:xfrm>
          <a:prstGeom prst="roundRect">
            <a:avLst>
              <a:gd name="adj" fmla="val 12121"/>
            </a:avLst>
          </a:prstGeom>
          <a:solidFill>
            <a:srgbClr val="1C2230"/>
          </a:solidFill>
          <a:ln w="12700">
            <a:solidFill>
              <a:srgbClr val="2A3242"/>
            </a:solidFill>
            <a:prstDash val="solid"/>
          </a:ln>
        </p:spPr>
      </p:sp>
      <p:sp>
        <p:nvSpPr>
          <p:cNvPr id="8" name="Text 6"/>
          <p:cNvSpPr/>
          <p:nvPr/>
        </p:nvSpPr>
        <p:spPr>
          <a:xfrm>
            <a:off x="7818120" y="2615184"/>
            <a:ext cx="3474720" cy="603504"/>
          </a:xfrm>
          <a:prstGeom prst="rect">
            <a:avLst/>
          </a:prstGeom>
          <a:noFill/>
          <a:ln/>
        </p:spPr>
        <p:txBody>
          <a:bodyPr wrap="square" lIns="0" tIns="0" rIns="0" bIns="0" rtlCol="0" anchor="ctr"/>
          <a:lstStyle/>
          <a:p>
            <a:pPr algn="ctr" indent="0" marL="0">
              <a:buNone/>
            </a:pPr>
            <a:r>
              <a:rPr lang="en-US" sz="1250" b="1" dirty="0">
                <a:solidFill>
                  <a:srgbClr val="A9B3C0"/>
                </a:solidFill>
                <a:latin typeface="Calibri" pitchFamily="34" charset="0"/>
                <a:ea typeface="Calibri" pitchFamily="34" charset="-122"/>
                <a:cs typeface="Calibri" pitchFamily="34" charset="-120"/>
              </a:rPr>
              <a:t>Read</a:t>
            </a:r>
            <a:endParaRPr lang="en-US" sz="1250" dirty="0"/>
          </a:p>
        </p:txBody>
      </p:sp>
      <p:sp>
        <p:nvSpPr>
          <p:cNvPr id="9" name="Shape 7"/>
          <p:cNvSpPr/>
          <p:nvPr/>
        </p:nvSpPr>
        <p:spPr>
          <a:xfrm>
            <a:off x="8019288" y="3401568"/>
            <a:ext cx="3474720" cy="603504"/>
          </a:xfrm>
          <a:prstGeom prst="roundRect">
            <a:avLst>
              <a:gd name="adj" fmla="val 12121"/>
            </a:avLst>
          </a:prstGeom>
          <a:solidFill>
            <a:srgbClr val="ED6A2A"/>
          </a:solidFill>
          <a:ln w="12700">
            <a:solidFill>
              <a:srgbClr val="ED6A2A"/>
            </a:solidFill>
            <a:prstDash val="solid"/>
          </a:ln>
        </p:spPr>
      </p:sp>
      <p:sp>
        <p:nvSpPr>
          <p:cNvPr id="10" name="Text 8"/>
          <p:cNvSpPr/>
          <p:nvPr/>
        </p:nvSpPr>
        <p:spPr>
          <a:xfrm>
            <a:off x="8019288" y="3401568"/>
            <a:ext cx="347472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a:t>
            </a:r>
            <a:endParaRPr lang="en-US" sz="1250" dirty="0"/>
          </a:p>
        </p:txBody>
      </p:sp>
      <p:sp>
        <p:nvSpPr>
          <p:cNvPr id="11" name="Shape 9"/>
          <p:cNvSpPr/>
          <p:nvPr/>
        </p:nvSpPr>
        <p:spPr>
          <a:xfrm>
            <a:off x="7818120" y="4187952"/>
            <a:ext cx="3474720" cy="603504"/>
          </a:xfrm>
          <a:prstGeom prst="roundRect">
            <a:avLst>
              <a:gd name="adj" fmla="val 12121"/>
            </a:avLst>
          </a:prstGeom>
          <a:solidFill>
            <a:srgbClr val="1C2230"/>
          </a:solidFill>
          <a:ln w="12700">
            <a:solidFill>
              <a:srgbClr val="2A3242"/>
            </a:solidFill>
            <a:prstDash val="solid"/>
          </a:ln>
        </p:spPr>
      </p:sp>
      <p:sp>
        <p:nvSpPr>
          <p:cNvPr id="12" name="Text 10"/>
          <p:cNvSpPr/>
          <p:nvPr/>
        </p:nvSpPr>
        <p:spPr>
          <a:xfrm>
            <a:off x="7818120" y="4187952"/>
            <a:ext cx="3474720" cy="603504"/>
          </a:xfrm>
          <a:prstGeom prst="rect">
            <a:avLst/>
          </a:prstGeom>
          <a:noFill/>
          <a:ln/>
        </p:spPr>
        <p:txBody>
          <a:bodyPr wrap="square" lIns="0" tIns="0" rIns="0" bIns="0" rtlCol="0" anchor="ctr"/>
          <a:lstStyle/>
          <a:p>
            <a:pPr algn="ctr" indent="0" marL="0">
              <a:buNone/>
            </a:pPr>
            <a:r>
              <a:rPr lang="en-US" sz="1250" b="1" dirty="0">
                <a:solidFill>
                  <a:srgbClr val="A9B3C0"/>
                </a:solidFill>
                <a:latin typeface="Calibri" pitchFamily="34" charset="0"/>
                <a:ea typeface="Calibri" pitchFamily="34" charset="-122"/>
                <a:cs typeface="Calibri" pitchFamily="34" charset="-120"/>
              </a:rPr>
              <a:t>Read</a:t>
            </a:r>
            <a:endParaRPr lang="en-US" sz="1250" dirty="0"/>
          </a:p>
        </p:txBody>
      </p:sp>
      <p:sp>
        <p:nvSpPr>
          <p:cNvPr id="13" name="Text 11"/>
          <p:cNvSpPr/>
          <p:nvPr/>
        </p:nvSpPr>
        <p:spPr>
          <a:xfrm>
            <a:off x="7818120" y="5074920"/>
            <a:ext cx="3474720" cy="274320"/>
          </a:xfrm>
          <a:prstGeom prst="rect">
            <a:avLst/>
          </a:prstGeom>
          <a:noFill/>
          <a:ln/>
        </p:spPr>
        <p:txBody>
          <a:bodyPr wrap="square" lIns="0" tIns="0" rIns="0" bIns="0" rtlCol="0" anchor="ctr"/>
          <a:lstStyle/>
          <a:p>
            <a:pPr algn="ctr" indent="0" marL="0">
              <a:buNone/>
            </a:pPr>
            <a:r>
              <a:rPr lang="en-US" sz="1100" i="1" dirty="0">
                <a:solidFill>
                  <a:srgbClr val="A9B3C0"/>
                </a:solidFill>
                <a:latin typeface="Calibri" pitchFamily="34" charset="0"/>
                <a:ea typeface="Calibri" pitchFamily="34" charset="-122"/>
                <a:cs typeface="Calibri" pitchFamily="34" charset="-120"/>
              </a:rPr>
              <a:t>one lean-forward moment per screenful</a:t>
            </a:r>
            <a:endParaRPr lang="en-US" sz="1100" dirty="0"/>
          </a:p>
        </p:txBody>
      </p:sp>
      <p:sp>
        <p:nvSpPr>
          <p:cNvPr id="14" name="Text 1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3  ·  Blocks that answer back</a:t>
            </a:r>
            <a:endParaRPr lang="en-US" sz="950" dirty="0"/>
          </a:p>
        </p:txBody>
      </p:sp>
      <p:sp>
        <p:nvSpPr>
          <p:cNvPr id="15" name="Text 1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From reading to doing</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You can already build a readable lesson. Today it starts asking things of the learner.</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691640"/>
            <a:ext cx="5117440" cy="3566160"/>
          </a:xfrm>
          <a:prstGeom prst="roundRect">
            <a:avLst>
              <a:gd name="adj" fmla="val 230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938528"/>
            <a:ext cx="438592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YESTERDAY YOU BUILT</a:t>
            </a:r>
            <a:endParaRPr lang="en-US" sz="1100" dirty="0"/>
          </a:p>
        </p:txBody>
      </p:sp>
      <p:sp>
        <p:nvSpPr>
          <p:cNvPr id="8" name="Text 6"/>
          <p:cNvSpPr/>
          <p:nvPr/>
        </p:nvSpPr>
        <p:spPr>
          <a:xfrm>
            <a:off x="932688" y="2286000"/>
            <a:ext cx="4385920" cy="146304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A lesson made of static blocks</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Consistent padding and backgrounds</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No more than half of it text</a:t>
            </a:r>
            <a:endParaRPr lang="en-US" sz="1400" dirty="0"/>
          </a:p>
        </p:txBody>
      </p:sp>
      <p:sp>
        <p:nvSpPr>
          <p:cNvPr id="9" name="Text 7"/>
          <p:cNvSpPr/>
          <p:nvPr/>
        </p:nvSpPr>
        <p:spPr>
          <a:xfrm>
            <a:off x="932688" y="4480560"/>
            <a:ext cx="4385920" cy="548640"/>
          </a:xfrm>
          <a:prstGeom prst="rect">
            <a:avLst/>
          </a:prstGeom>
          <a:noFill/>
          <a:ln/>
        </p:spPr>
        <p:txBody>
          <a:bodyPr wrap="square" lIns="0" tIns="0" rIns="0" bIns="0" rtlCol="0" anchor="t"/>
          <a:lstStyle/>
          <a:p>
            <a:pPr indent="0" marL="0">
              <a:buNone/>
            </a:pPr>
            <a:r>
              <a:rPr lang="en-US" sz="1300" i="1" dirty="0">
                <a:solidFill>
                  <a:srgbClr val="5A6675"/>
                </a:solidFill>
                <a:latin typeface="Calibri" pitchFamily="34" charset="0"/>
                <a:ea typeface="Calibri" pitchFamily="34" charset="-122"/>
                <a:cs typeface="Calibri" pitchFamily="34" charset="-120"/>
              </a:rPr>
              <a:t>Open it now. Today you will change part of it.</a:t>
            </a:r>
            <a:endParaRPr lang="en-US" sz="1300" dirty="0"/>
          </a:p>
        </p:txBody>
      </p:sp>
      <p:sp>
        <p:nvSpPr>
          <p:cNvPr id="10" name="Shape 8"/>
          <p:cNvSpPr/>
          <p:nvPr/>
        </p:nvSpPr>
        <p:spPr>
          <a:xfrm>
            <a:off x="6507328" y="1691640"/>
            <a:ext cx="5117440" cy="3566160"/>
          </a:xfrm>
          <a:prstGeom prst="roundRect">
            <a:avLst>
              <a:gd name="adj" fmla="val 2308"/>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6873088" y="1938528"/>
            <a:ext cx="438592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BY TONIGHT YOU WILL</a:t>
            </a:r>
            <a:endParaRPr lang="en-US" sz="1100" dirty="0"/>
          </a:p>
        </p:txBody>
      </p:sp>
      <p:sp>
        <p:nvSpPr>
          <p:cNvPr id="12" name="Text 10"/>
          <p:cNvSpPr/>
          <p:nvPr/>
        </p:nvSpPr>
        <p:spPr>
          <a:xfrm>
            <a:off x="6873088" y="2286000"/>
            <a:ext cx="4385920" cy="274320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Name the twelve interactive blocks by the job they do</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Turn a text-heavy block into an interaction</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Say why an interaction earns its place — or drop it</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Know what Rise cannot build, and what to do about it</a:t>
            </a:r>
            <a:endParaRPr lang="en-US" sz="1400" dirty="0"/>
          </a:p>
        </p:txBody>
      </p:sp>
      <p:sp>
        <p:nvSpPr>
          <p:cNvPr id="13" name="Shape 11"/>
          <p:cNvSpPr/>
          <p:nvPr/>
        </p:nvSpPr>
        <p:spPr>
          <a:xfrm>
            <a:off x="566928" y="5449824"/>
            <a:ext cx="11057839" cy="548640"/>
          </a:xfrm>
          <a:prstGeom prst="roundRect">
            <a:avLst>
              <a:gd name="adj" fmla="val 15000"/>
            </a:avLst>
          </a:prstGeom>
          <a:solidFill>
            <a:srgbClr val="FFF4EE"/>
          </a:solidFill>
          <a:ln w="9525">
            <a:solidFill>
              <a:srgbClr val="F6C7AC"/>
            </a:solidFill>
            <a:prstDash val="solid"/>
          </a:ln>
        </p:spPr>
      </p:sp>
      <p:sp>
        <p:nvSpPr>
          <p:cNvPr id="14" name="Text 12"/>
          <p:cNvSpPr/>
          <p:nvPr/>
        </p:nvSpPr>
        <p:spPr>
          <a:xfrm>
            <a:off x="914400" y="5449824"/>
            <a:ext cx="10362895" cy="548640"/>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Assessment blocks — the four question types and question banks — are tomorrow. Today is interaction, not scoring.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ONE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Twelve blocks,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six jobs</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Learn the job, not the block list. The job tells you which two or three to choose between.</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3  ·  Blocks that answer back</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twelve interactive blocks</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Grouped by the job they do. Every one of them costs the learner a click, so every one needs a reason.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4</a:t>
            </a:r>
            <a:endParaRPr lang="en-US" sz="950" dirty="0"/>
          </a:p>
        </p:txBody>
      </p:sp>
      <p:sp>
        <p:nvSpPr>
          <p:cNvPr id="6" name="Shape 4"/>
          <p:cNvSpPr/>
          <p:nvPr/>
        </p:nvSpPr>
        <p:spPr>
          <a:xfrm>
            <a:off x="566928" y="2060871"/>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accordion.png">    </p:cNvPr>
          <p:cNvPicPr>
            <a:picLocks noChangeAspect="1"/>
          </p:cNvPicPr>
          <p:nvPr/>
        </p:nvPicPr>
        <p:blipFill>
          <a:blip r:embed="rId1"/>
          <a:stretch>
            <a:fillRect/>
          </a:stretch>
        </p:blipFill>
        <p:spPr>
          <a:xfrm>
            <a:off x="676656" y="2170599"/>
            <a:ext cx="1440637" cy="999626"/>
          </a:xfrm>
          <a:prstGeom prst="rect">
            <a:avLst/>
          </a:prstGeom>
        </p:spPr>
      </p:pic>
      <p:sp>
        <p:nvSpPr>
          <p:cNvPr id="8" name="Text 5"/>
          <p:cNvSpPr/>
          <p:nvPr/>
        </p:nvSpPr>
        <p:spPr>
          <a:xfrm>
            <a:off x="610819" y="3197657"/>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Accordion</a:t>
            </a:r>
            <a:endParaRPr lang="en-US" sz="1100" dirty="0"/>
          </a:p>
        </p:txBody>
      </p:sp>
      <p:sp>
        <p:nvSpPr>
          <p:cNvPr id="9" name="Shape 6"/>
          <p:cNvSpPr/>
          <p:nvPr/>
        </p:nvSpPr>
        <p:spPr>
          <a:xfrm>
            <a:off x="2446477" y="2060871"/>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0" name="Image 1" descr="/home/user/parallelism/rise360-curriculum/day2/assets/block-screenshots/tabs.png">    </p:cNvPr>
          <p:cNvPicPr>
            <a:picLocks noChangeAspect="1"/>
          </p:cNvPicPr>
          <p:nvPr/>
        </p:nvPicPr>
        <p:blipFill>
          <a:blip r:embed="rId2"/>
          <a:stretch>
            <a:fillRect/>
          </a:stretch>
        </p:blipFill>
        <p:spPr>
          <a:xfrm>
            <a:off x="2556205" y="2170599"/>
            <a:ext cx="1440637" cy="999626"/>
          </a:xfrm>
          <a:prstGeom prst="rect">
            <a:avLst/>
          </a:prstGeom>
        </p:spPr>
      </p:pic>
      <p:sp>
        <p:nvSpPr>
          <p:cNvPr id="11" name="Text 7"/>
          <p:cNvSpPr/>
          <p:nvPr/>
        </p:nvSpPr>
        <p:spPr>
          <a:xfrm>
            <a:off x="2490368" y="3197657"/>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Tabs</a:t>
            </a:r>
            <a:endParaRPr lang="en-US" sz="1100" dirty="0"/>
          </a:p>
        </p:txBody>
      </p:sp>
      <p:sp>
        <p:nvSpPr>
          <p:cNvPr id="12" name="Shape 8"/>
          <p:cNvSpPr/>
          <p:nvPr/>
        </p:nvSpPr>
        <p:spPr>
          <a:xfrm>
            <a:off x="4326026" y="2060871"/>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2" descr="/home/user/parallelism/rise360-curriculum/day2/assets/block-screenshots/labeled_graphic.jpg">    </p:cNvPr>
          <p:cNvPicPr>
            <a:picLocks noChangeAspect="1"/>
          </p:cNvPicPr>
          <p:nvPr/>
        </p:nvPicPr>
        <p:blipFill>
          <a:blip r:embed="rId3"/>
          <a:stretch>
            <a:fillRect/>
          </a:stretch>
        </p:blipFill>
        <p:spPr>
          <a:xfrm>
            <a:off x="4435754" y="2170599"/>
            <a:ext cx="1440637" cy="999626"/>
          </a:xfrm>
          <a:prstGeom prst="rect">
            <a:avLst/>
          </a:prstGeom>
        </p:spPr>
      </p:pic>
      <p:sp>
        <p:nvSpPr>
          <p:cNvPr id="14" name="Text 9"/>
          <p:cNvSpPr/>
          <p:nvPr/>
        </p:nvSpPr>
        <p:spPr>
          <a:xfrm>
            <a:off x="4369918" y="3197657"/>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Labeled Graphic</a:t>
            </a:r>
            <a:endParaRPr lang="en-US" sz="1100" dirty="0"/>
          </a:p>
        </p:txBody>
      </p:sp>
      <p:sp>
        <p:nvSpPr>
          <p:cNvPr id="15" name="Shape 10"/>
          <p:cNvSpPr/>
          <p:nvPr/>
        </p:nvSpPr>
        <p:spPr>
          <a:xfrm>
            <a:off x="6205576" y="2060871"/>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6" name="Image 3" descr="/home/user/parallelism/rise360-curriculum/day2/assets/block-screenshots/process.png">    </p:cNvPr>
          <p:cNvPicPr>
            <a:picLocks noChangeAspect="1"/>
          </p:cNvPicPr>
          <p:nvPr/>
        </p:nvPicPr>
        <p:blipFill>
          <a:blip r:embed="rId4"/>
          <a:stretch>
            <a:fillRect/>
          </a:stretch>
        </p:blipFill>
        <p:spPr>
          <a:xfrm>
            <a:off x="6315304" y="2170599"/>
            <a:ext cx="1440637" cy="999626"/>
          </a:xfrm>
          <a:prstGeom prst="rect">
            <a:avLst/>
          </a:prstGeom>
        </p:spPr>
      </p:pic>
      <p:sp>
        <p:nvSpPr>
          <p:cNvPr id="17" name="Text 11"/>
          <p:cNvSpPr/>
          <p:nvPr/>
        </p:nvSpPr>
        <p:spPr>
          <a:xfrm>
            <a:off x="6249467" y="3197657"/>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Process</a:t>
            </a:r>
            <a:endParaRPr lang="en-US" sz="1100" dirty="0"/>
          </a:p>
        </p:txBody>
      </p:sp>
      <p:sp>
        <p:nvSpPr>
          <p:cNvPr id="18" name="Shape 12"/>
          <p:cNvSpPr/>
          <p:nvPr/>
        </p:nvSpPr>
        <p:spPr>
          <a:xfrm>
            <a:off x="8085125" y="2060871"/>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9" name="Image 4" descr="/home/user/parallelism/rise360-curriculum/day2/assets/block-screenshots/timeline.jpg">    </p:cNvPr>
          <p:cNvPicPr>
            <a:picLocks noChangeAspect="1"/>
          </p:cNvPicPr>
          <p:nvPr/>
        </p:nvPicPr>
        <p:blipFill>
          <a:blip r:embed="rId5"/>
          <a:stretch>
            <a:fillRect/>
          </a:stretch>
        </p:blipFill>
        <p:spPr>
          <a:xfrm>
            <a:off x="8194853" y="2170599"/>
            <a:ext cx="1440637" cy="999626"/>
          </a:xfrm>
          <a:prstGeom prst="rect">
            <a:avLst/>
          </a:prstGeom>
        </p:spPr>
      </p:pic>
      <p:sp>
        <p:nvSpPr>
          <p:cNvPr id="20" name="Text 13"/>
          <p:cNvSpPr/>
          <p:nvPr/>
        </p:nvSpPr>
        <p:spPr>
          <a:xfrm>
            <a:off x="8129016" y="3197657"/>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Timeline</a:t>
            </a:r>
            <a:endParaRPr lang="en-US" sz="1100" dirty="0"/>
          </a:p>
        </p:txBody>
      </p:sp>
      <p:sp>
        <p:nvSpPr>
          <p:cNvPr id="21" name="Shape 14"/>
          <p:cNvSpPr/>
          <p:nvPr/>
        </p:nvSpPr>
        <p:spPr>
          <a:xfrm>
            <a:off x="9964674" y="2060871"/>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2" name="Image 5" descr="/home/user/parallelism/rise360-curriculum/day2/assets/block-screenshots/sorting_activity.jpg">    </p:cNvPr>
          <p:cNvPicPr>
            <a:picLocks noChangeAspect="1"/>
          </p:cNvPicPr>
          <p:nvPr/>
        </p:nvPicPr>
        <p:blipFill>
          <a:blip r:embed="rId6"/>
          <a:stretch>
            <a:fillRect/>
          </a:stretch>
        </p:blipFill>
        <p:spPr>
          <a:xfrm>
            <a:off x="10074402" y="2170599"/>
            <a:ext cx="1440637" cy="999626"/>
          </a:xfrm>
          <a:prstGeom prst="rect">
            <a:avLst/>
          </a:prstGeom>
        </p:spPr>
      </p:pic>
      <p:sp>
        <p:nvSpPr>
          <p:cNvPr id="23" name="Text 15"/>
          <p:cNvSpPr/>
          <p:nvPr/>
        </p:nvSpPr>
        <p:spPr>
          <a:xfrm>
            <a:off x="10008565" y="3197657"/>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Sorting Activity</a:t>
            </a:r>
            <a:endParaRPr lang="en-US" sz="1100" dirty="0"/>
          </a:p>
        </p:txBody>
      </p:sp>
      <p:sp>
        <p:nvSpPr>
          <p:cNvPr id="24" name="Shape 16"/>
          <p:cNvSpPr/>
          <p:nvPr/>
        </p:nvSpPr>
        <p:spPr>
          <a:xfrm>
            <a:off x="566928" y="3790188"/>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5" name="Image 6" descr="/home/user/parallelism/rise360-curriculum/day2/assets/block-screenshots/scenario.png">    </p:cNvPr>
          <p:cNvPicPr>
            <a:picLocks noChangeAspect="1"/>
          </p:cNvPicPr>
          <p:nvPr/>
        </p:nvPicPr>
        <p:blipFill>
          <a:blip r:embed="rId7"/>
          <a:stretch>
            <a:fillRect/>
          </a:stretch>
        </p:blipFill>
        <p:spPr>
          <a:xfrm>
            <a:off x="676656" y="3899916"/>
            <a:ext cx="1440637" cy="999626"/>
          </a:xfrm>
          <a:prstGeom prst="rect">
            <a:avLst/>
          </a:prstGeom>
        </p:spPr>
      </p:pic>
      <p:sp>
        <p:nvSpPr>
          <p:cNvPr id="26" name="Text 17"/>
          <p:cNvSpPr/>
          <p:nvPr/>
        </p:nvSpPr>
        <p:spPr>
          <a:xfrm>
            <a:off x="610819" y="4926974"/>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Scenario</a:t>
            </a:r>
            <a:endParaRPr lang="en-US" sz="1100" dirty="0"/>
          </a:p>
        </p:txBody>
      </p:sp>
      <p:sp>
        <p:nvSpPr>
          <p:cNvPr id="27" name="Shape 18"/>
          <p:cNvSpPr/>
          <p:nvPr/>
        </p:nvSpPr>
        <p:spPr>
          <a:xfrm>
            <a:off x="2446477" y="3790188"/>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8" name="Image 7" descr="/home/user/parallelism/rise360-curriculum/day2/assets/block-screenshots/flashcard_grid.png">    </p:cNvPr>
          <p:cNvPicPr>
            <a:picLocks noChangeAspect="1"/>
          </p:cNvPicPr>
          <p:nvPr/>
        </p:nvPicPr>
        <p:blipFill>
          <a:blip r:embed="rId8"/>
          <a:stretch>
            <a:fillRect/>
          </a:stretch>
        </p:blipFill>
        <p:spPr>
          <a:xfrm>
            <a:off x="2556205" y="3899916"/>
            <a:ext cx="1440637" cy="999626"/>
          </a:xfrm>
          <a:prstGeom prst="rect">
            <a:avLst/>
          </a:prstGeom>
        </p:spPr>
      </p:pic>
      <p:sp>
        <p:nvSpPr>
          <p:cNvPr id="29" name="Text 19"/>
          <p:cNvSpPr/>
          <p:nvPr/>
        </p:nvSpPr>
        <p:spPr>
          <a:xfrm>
            <a:off x="2490368" y="4926974"/>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Flashcard grid</a:t>
            </a:r>
            <a:endParaRPr lang="en-US" sz="1100" dirty="0"/>
          </a:p>
        </p:txBody>
      </p:sp>
      <p:sp>
        <p:nvSpPr>
          <p:cNvPr id="30" name="Shape 20"/>
          <p:cNvSpPr/>
          <p:nvPr/>
        </p:nvSpPr>
        <p:spPr>
          <a:xfrm>
            <a:off x="4326026" y="3790188"/>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31" name="Image 8" descr="/home/user/parallelism/rise360-curriculum/day2/assets/block-screenshots/flashcard_stack.png">    </p:cNvPr>
          <p:cNvPicPr>
            <a:picLocks noChangeAspect="1"/>
          </p:cNvPicPr>
          <p:nvPr/>
        </p:nvPicPr>
        <p:blipFill>
          <a:blip r:embed="rId9"/>
          <a:stretch>
            <a:fillRect/>
          </a:stretch>
        </p:blipFill>
        <p:spPr>
          <a:xfrm>
            <a:off x="4435754" y="3899916"/>
            <a:ext cx="1440637" cy="999626"/>
          </a:xfrm>
          <a:prstGeom prst="rect">
            <a:avLst/>
          </a:prstGeom>
        </p:spPr>
      </p:pic>
      <p:sp>
        <p:nvSpPr>
          <p:cNvPr id="32" name="Text 21"/>
          <p:cNvSpPr/>
          <p:nvPr/>
        </p:nvSpPr>
        <p:spPr>
          <a:xfrm>
            <a:off x="4369918" y="4926974"/>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Flashcard stack</a:t>
            </a:r>
            <a:endParaRPr lang="en-US" sz="1100" dirty="0"/>
          </a:p>
        </p:txBody>
      </p:sp>
      <p:sp>
        <p:nvSpPr>
          <p:cNvPr id="33" name="Shape 22"/>
          <p:cNvSpPr/>
          <p:nvPr/>
        </p:nvSpPr>
        <p:spPr>
          <a:xfrm>
            <a:off x="6205576" y="3790188"/>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34" name="Image 9" descr="/home/user/parallelism/rise360-curriculum/day2/assets/block-screenshots/button.png">    </p:cNvPr>
          <p:cNvPicPr>
            <a:picLocks noChangeAspect="1"/>
          </p:cNvPicPr>
          <p:nvPr/>
        </p:nvPicPr>
        <p:blipFill>
          <a:blip r:embed="rId10"/>
          <a:stretch>
            <a:fillRect/>
          </a:stretch>
        </p:blipFill>
        <p:spPr>
          <a:xfrm>
            <a:off x="6315304" y="3899916"/>
            <a:ext cx="1440637" cy="999626"/>
          </a:xfrm>
          <a:prstGeom prst="rect">
            <a:avLst/>
          </a:prstGeom>
        </p:spPr>
      </p:pic>
      <p:sp>
        <p:nvSpPr>
          <p:cNvPr id="35" name="Text 23"/>
          <p:cNvSpPr/>
          <p:nvPr/>
        </p:nvSpPr>
        <p:spPr>
          <a:xfrm>
            <a:off x="6249467" y="4926974"/>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Button</a:t>
            </a:r>
            <a:endParaRPr lang="en-US" sz="1100" dirty="0"/>
          </a:p>
        </p:txBody>
      </p:sp>
      <p:sp>
        <p:nvSpPr>
          <p:cNvPr id="36" name="Shape 24"/>
          <p:cNvSpPr/>
          <p:nvPr/>
        </p:nvSpPr>
        <p:spPr>
          <a:xfrm>
            <a:off x="8085125" y="3790188"/>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37" name="Image 10" descr="/home/user/parallelism/rise360-curriculum/day2/assets/block-screenshots/button_stack.png">    </p:cNvPr>
          <p:cNvPicPr>
            <a:picLocks noChangeAspect="1"/>
          </p:cNvPicPr>
          <p:nvPr/>
        </p:nvPicPr>
        <p:blipFill>
          <a:blip r:embed="rId11"/>
          <a:stretch>
            <a:fillRect/>
          </a:stretch>
        </p:blipFill>
        <p:spPr>
          <a:xfrm>
            <a:off x="8194853" y="3899916"/>
            <a:ext cx="1440637" cy="999626"/>
          </a:xfrm>
          <a:prstGeom prst="rect">
            <a:avLst/>
          </a:prstGeom>
        </p:spPr>
      </p:pic>
      <p:sp>
        <p:nvSpPr>
          <p:cNvPr id="38" name="Text 25"/>
          <p:cNvSpPr/>
          <p:nvPr/>
        </p:nvSpPr>
        <p:spPr>
          <a:xfrm>
            <a:off x="8129016" y="4926974"/>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Button stack</a:t>
            </a:r>
            <a:endParaRPr lang="en-US" sz="1100" dirty="0"/>
          </a:p>
        </p:txBody>
      </p:sp>
      <p:sp>
        <p:nvSpPr>
          <p:cNvPr id="39" name="Shape 26"/>
          <p:cNvSpPr/>
          <p:nvPr/>
        </p:nvSpPr>
        <p:spPr>
          <a:xfrm>
            <a:off x="9964674" y="3790188"/>
            <a:ext cx="1660093" cy="1509861"/>
          </a:xfrm>
          <a:prstGeom prst="roundRect">
            <a:avLst>
              <a:gd name="adj" fmla="val 54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40" name="Image 11" descr="/home/user/parallelism/rise360-curriculum/day2/assets/block-screenshots/storyline.png">    </p:cNvPr>
          <p:cNvPicPr>
            <a:picLocks noChangeAspect="1"/>
          </p:cNvPicPr>
          <p:nvPr/>
        </p:nvPicPr>
        <p:blipFill>
          <a:blip r:embed="rId12"/>
          <a:stretch>
            <a:fillRect/>
          </a:stretch>
        </p:blipFill>
        <p:spPr>
          <a:xfrm>
            <a:off x="10074402" y="3899916"/>
            <a:ext cx="1440637" cy="999626"/>
          </a:xfrm>
          <a:prstGeom prst="rect">
            <a:avLst/>
          </a:prstGeom>
        </p:spPr>
      </p:pic>
      <p:sp>
        <p:nvSpPr>
          <p:cNvPr id="41" name="Text 27"/>
          <p:cNvSpPr/>
          <p:nvPr/>
        </p:nvSpPr>
        <p:spPr>
          <a:xfrm>
            <a:off x="10008565" y="4926974"/>
            <a:ext cx="1572311" cy="310896"/>
          </a:xfrm>
          <a:prstGeom prst="rect">
            <a:avLst/>
          </a:prstGeom>
          <a:noFill/>
          <a:ln/>
        </p:spPr>
        <p:txBody>
          <a:bodyPr wrap="square" lIns="0" tIns="0" rIns="0" bIns="0" rtlCol="0" anchor="ctr"/>
          <a:lstStyle/>
          <a:p>
            <a:pPr algn="ctr" indent="0" marL="0">
              <a:buNone/>
            </a:pPr>
            <a:r>
              <a:rPr lang="en-US" sz="1100" b="1" dirty="0">
                <a:solidFill>
                  <a:srgbClr val="12161F"/>
                </a:solidFill>
                <a:latin typeface="Calibri" pitchFamily="34" charset="0"/>
                <a:ea typeface="Calibri" pitchFamily="34" charset="-122"/>
                <a:cs typeface="Calibri" pitchFamily="34" charset="-120"/>
              </a:rPr>
              <a:t>Storyline</a:t>
            </a:r>
            <a:endParaRPr lang="en-US" sz="1100" dirty="0"/>
          </a:p>
        </p:txBody>
      </p:sp>
      <p:sp>
        <p:nvSpPr>
          <p:cNvPr id="42" name="Text 28"/>
          <p:cNvSpPr/>
          <p:nvPr/>
        </p:nvSpPr>
        <p:spPr>
          <a:xfrm>
            <a:off x="566928" y="5760720"/>
            <a:ext cx="11057839" cy="274320"/>
          </a:xfrm>
          <a:prstGeom prst="rect">
            <a:avLst/>
          </a:prstGeom>
          <a:noFill/>
          <a:ln/>
        </p:spPr>
        <p:txBody>
          <a:bodyPr wrap="square" lIns="0" tIns="0" rIns="0" bIns="0" rtlCol="0" anchor="ctr"/>
          <a:lstStyle/>
          <a:p>
            <a:pPr algn="ctr" indent="0" marL="0">
              <a:buNone/>
            </a:pPr>
            <a:r>
              <a:rPr lang="en-US" sz="1200" i="1" dirty="0">
                <a:solidFill>
                  <a:srgbClr val="5A6675"/>
                </a:solidFill>
                <a:latin typeface="Calibri" pitchFamily="34" charset="0"/>
                <a:ea typeface="Calibri" pitchFamily="34" charset="-122"/>
                <a:cs typeface="Calibri" pitchFamily="34" charset="-120"/>
              </a:rPr>
              <a:t>12 interactive blocks  ·  question types and question banks are Day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Job 1 — Reveal</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Hide secondary text so the page stays short, and let the learner pull only what they need.</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6692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accordion.png">    </p:cNvPr>
          <p:cNvPicPr>
            <a:picLocks noChangeAspect="1"/>
          </p:cNvPicPr>
          <p:nvPr/>
        </p:nvPicPr>
        <p:blipFill>
          <a:blip r:embed="rId1"/>
          <a:stretch>
            <a:fillRect/>
          </a:stretch>
        </p:blipFill>
        <p:spPr>
          <a:xfrm>
            <a:off x="1799768" y="1810512"/>
            <a:ext cx="2834640" cy="1966893"/>
          </a:xfrm>
          <a:prstGeom prst="rect">
            <a:avLst/>
          </a:prstGeom>
        </p:spPr>
      </p:pic>
      <p:sp>
        <p:nvSpPr>
          <p:cNvPr id="8" name="Text 5"/>
          <p:cNvSpPr/>
          <p:nvPr/>
        </p:nvSpPr>
        <p:spPr>
          <a:xfrm>
            <a:off x="87782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Accordion</a:t>
            </a:r>
            <a:endParaRPr lang="en-US" sz="1800" dirty="0"/>
          </a:p>
        </p:txBody>
      </p:sp>
      <p:sp>
        <p:nvSpPr>
          <p:cNvPr id="9" name="Text 6"/>
          <p:cNvSpPr/>
          <p:nvPr/>
        </p:nvSpPr>
        <p:spPr>
          <a:xfrm>
            <a:off x="87782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items are independent and a learner will read some but not all of them.</a:t>
            </a:r>
            <a:endParaRPr lang="en-US" sz="1250" dirty="0"/>
          </a:p>
        </p:txBody>
      </p:sp>
      <p:sp>
        <p:nvSpPr>
          <p:cNvPr id="10" name="Text 7"/>
          <p:cNvSpPr/>
          <p:nvPr/>
        </p:nvSpPr>
        <p:spPr>
          <a:xfrm>
            <a:off x="87782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Twelve refund-policy FAQs. Nobody reads twelve; everyone reads the two that apply to them.</a:t>
            </a:r>
            <a:endParaRPr lang="en-US" sz="1250" dirty="0"/>
          </a:p>
        </p:txBody>
      </p:sp>
      <p:sp>
        <p:nvSpPr>
          <p:cNvPr id="11" name="Shape 8"/>
          <p:cNvSpPr/>
          <p:nvPr/>
        </p:nvSpPr>
        <p:spPr>
          <a:xfrm>
            <a:off x="632444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tabs.png">    </p:cNvPr>
          <p:cNvPicPr>
            <a:picLocks noChangeAspect="1"/>
          </p:cNvPicPr>
          <p:nvPr/>
        </p:nvPicPr>
        <p:blipFill>
          <a:blip r:embed="rId2"/>
          <a:stretch>
            <a:fillRect/>
          </a:stretch>
        </p:blipFill>
        <p:spPr>
          <a:xfrm>
            <a:off x="7557287" y="1810512"/>
            <a:ext cx="2834640" cy="1966893"/>
          </a:xfrm>
          <a:prstGeom prst="rect">
            <a:avLst/>
          </a:prstGeom>
        </p:spPr>
      </p:pic>
      <p:sp>
        <p:nvSpPr>
          <p:cNvPr id="13" name="Text 9"/>
          <p:cNvSpPr/>
          <p:nvPr/>
        </p:nvSpPr>
        <p:spPr>
          <a:xfrm>
            <a:off x="663534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Tabs</a:t>
            </a:r>
            <a:endParaRPr lang="en-US" sz="1800" dirty="0"/>
          </a:p>
        </p:txBody>
      </p:sp>
      <p:sp>
        <p:nvSpPr>
          <p:cNvPr id="14" name="Text 10"/>
          <p:cNvSpPr/>
          <p:nvPr/>
        </p:nvSpPr>
        <p:spPr>
          <a:xfrm>
            <a:off x="663534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items are the same shape and the learner is comparing them.</a:t>
            </a:r>
            <a:endParaRPr lang="en-US" sz="1250" dirty="0"/>
          </a:p>
        </p:txBody>
      </p:sp>
      <p:sp>
        <p:nvSpPr>
          <p:cNvPr id="15" name="Text 11"/>
          <p:cNvSpPr/>
          <p:nvPr/>
        </p:nvSpPr>
        <p:spPr>
          <a:xfrm>
            <a:off x="663534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Three pricing plans, each with the same four rows — switch in place, compare like for like.</a:t>
            </a:r>
            <a:endParaRPr lang="en-US" sz="1250" dirty="0"/>
          </a:p>
        </p:txBody>
      </p:sp>
      <p:sp>
        <p:nvSpPr>
          <p:cNvPr id="16" name="Shape 12"/>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7" name="Shape 13"/>
          <p:cNvSpPr/>
          <p:nvPr/>
        </p:nvSpPr>
        <p:spPr>
          <a:xfrm>
            <a:off x="768096" y="5907024"/>
            <a:ext cx="201168" cy="201168"/>
          </a:xfrm>
          <a:prstGeom prst="ellipse">
            <a:avLst/>
          </a:prstGeom>
          <a:solidFill>
            <a:srgbClr val="ED6A2A"/>
          </a:solidFill>
          <a:ln/>
        </p:spPr>
      </p:sp>
      <p:sp>
        <p:nvSpPr>
          <p:cNvPr id="18" name="Text 14"/>
          <p:cNvSpPr/>
          <p:nvPr/>
        </p:nvSpPr>
        <p:spPr>
          <a:xfrm>
            <a:off x="1078992" y="5760720"/>
            <a:ext cx="10289743" cy="512064"/>
          </a:xfrm>
          <a:prstGeom prst="rect">
            <a:avLst/>
          </a:prstGeom>
          <a:noFill/>
          <a:ln/>
        </p:spPr>
        <p:txBody>
          <a:bodyPr wrap="square" lIns="0" tIns="0" rIns="0" bIns="0" rtlCol="0" anchor="ctr"/>
          <a:lstStyle/>
          <a:p>
            <a:pPr indent="0" marL="0">
              <a:buNone/>
            </a:pPr>
            <a:r>
              <a:rPr lang="en-US" sz="1200" dirty="0">
                <a:solidFill>
                  <a:srgbClr val="7A3F1C"/>
                </a:solidFill>
                <a:latin typeface="Calibri" pitchFamily="34" charset="0"/>
                <a:ea typeface="Calibri" pitchFamily="34" charset="-122"/>
                <a:cs typeface="Calibri" pitchFamily="34" charset="-120"/>
              </a:rPr>
              <a:t>Never hide anything a learner must not miss. Warnings, safety steps and deadlines belong in a Statement or Note block, in the open.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Job 2 — Explore</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One image, several things worth naming. Markers beat a list underneath the picture.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566928" y="1691640"/>
            <a:ext cx="4389120" cy="3551231"/>
          </a:xfrm>
          <a:prstGeom prst="roundRect">
            <a:avLst>
              <a:gd name="adj" fmla="val 231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labeled_graphic.jpg">    </p:cNvPr>
          <p:cNvPicPr>
            <a:picLocks noChangeAspect="1"/>
          </p:cNvPicPr>
          <p:nvPr/>
        </p:nvPicPr>
        <p:blipFill>
          <a:blip r:embed="rId1"/>
          <a:stretch>
            <a:fillRect/>
          </a:stretch>
        </p:blipFill>
        <p:spPr>
          <a:xfrm>
            <a:off x="795528" y="1920240"/>
            <a:ext cx="3931920" cy="2728271"/>
          </a:xfrm>
          <a:prstGeom prst="rect">
            <a:avLst/>
          </a:prstGeom>
        </p:spPr>
      </p:pic>
      <p:sp>
        <p:nvSpPr>
          <p:cNvPr id="8" name="Text 5"/>
          <p:cNvSpPr/>
          <p:nvPr/>
        </p:nvSpPr>
        <p:spPr>
          <a:xfrm>
            <a:off x="795528" y="4739951"/>
            <a:ext cx="3931920" cy="365760"/>
          </a:xfrm>
          <a:prstGeom prst="rect">
            <a:avLst/>
          </a:prstGeom>
          <a:noFill/>
          <a:ln/>
        </p:spPr>
        <p:txBody>
          <a:bodyPr wrap="square" lIns="0" tIns="0" rIns="0" bIns="0" rtlCol="0" anchor="ctr"/>
          <a:lstStyle/>
          <a:p>
            <a:pPr algn="ctr" indent="0" marL="0">
              <a:buNone/>
            </a:pPr>
            <a:r>
              <a:rPr lang="en-US" sz="1900" b="1" dirty="0">
                <a:solidFill>
                  <a:srgbClr val="12161F"/>
                </a:solidFill>
                <a:latin typeface="Cambria" pitchFamily="34" charset="0"/>
                <a:ea typeface="Cambria" pitchFamily="34" charset="-122"/>
                <a:cs typeface="Cambria" pitchFamily="34" charset="-120"/>
              </a:rPr>
              <a:t>Labeled Graphic</a:t>
            </a:r>
            <a:endParaRPr lang="en-US" sz="1900" dirty="0"/>
          </a:p>
        </p:txBody>
      </p:sp>
      <p:sp>
        <p:nvSpPr>
          <p:cNvPr id="9" name="Text 6"/>
          <p:cNvSpPr/>
          <p:nvPr/>
        </p:nvSpPr>
        <p:spPr>
          <a:xfrm>
            <a:off x="5413248" y="1719072"/>
            <a:ext cx="6211519" cy="256032"/>
          </a:xfrm>
          <a:prstGeom prst="rect">
            <a:avLst/>
          </a:prstGeom>
          <a:noFill/>
          <a:ln/>
        </p:spPr>
        <p:txBody>
          <a:bodyPr wrap="square" lIns="0" tIns="0" rIns="0" bIns="0" rtlCol="0" anchor="ctr"/>
          <a:lstStyle/>
          <a:p>
            <a:pPr indent="0" marL="0">
              <a:buNone/>
            </a:pPr>
            <a:r>
              <a:rPr lang="en-US" sz="1150" b="1" spc="80" kern="0" dirty="0">
                <a:solidFill>
                  <a:srgbClr val="ED6A2A"/>
                </a:solidFill>
                <a:latin typeface="Calibri" pitchFamily="34" charset="0"/>
                <a:ea typeface="Calibri" pitchFamily="34" charset="-122"/>
                <a:cs typeface="Calibri" pitchFamily="34" charset="-120"/>
              </a:rPr>
              <a:t>Use it when</a:t>
            </a:r>
            <a:endParaRPr lang="en-US" sz="1150" dirty="0"/>
          </a:p>
        </p:txBody>
      </p:sp>
      <p:sp>
        <p:nvSpPr>
          <p:cNvPr id="10" name="Text 7"/>
          <p:cNvSpPr/>
          <p:nvPr/>
        </p:nvSpPr>
        <p:spPr>
          <a:xfrm>
            <a:off x="5413248" y="1965960"/>
            <a:ext cx="6211519" cy="694944"/>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the parts only make sense in place — on the hardware, on the screen, on the map.</a:t>
            </a:r>
            <a:endParaRPr lang="en-US" sz="1300" dirty="0"/>
          </a:p>
        </p:txBody>
      </p:sp>
      <p:sp>
        <p:nvSpPr>
          <p:cNvPr id="11" name="Text 8"/>
          <p:cNvSpPr/>
          <p:nvPr/>
        </p:nvSpPr>
        <p:spPr>
          <a:xfrm>
            <a:off x="5413248" y="2706624"/>
            <a:ext cx="6211519" cy="256032"/>
          </a:xfrm>
          <a:prstGeom prst="rect">
            <a:avLst/>
          </a:prstGeom>
          <a:noFill/>
          <a:ln/>
        </p:spPr>
        <p:txBody>
          <a:bodyPr wrap="square" lIns="0" tIns="0" rIns="0" bIns="0" rtlCol="0" anchor="ctr"/>
          <a:lstStyle/>
          <a:p>
            <a:pPr indent="0" marL="0">
              <a:buNone/>
            </a:pPr>
            <a:r>
              <a:rPr lang="en-US" sz="1150" b="1" spc="80" kern="0" dirty="0">
                <a:solidFill>
                  <a:srgbClr val="ED6A2A"/>
                </a:solidFill>
                <a:latin typeface="Calibri" pitchFamily="34" charset="0"/>
                <a:ea typeface="Calibri" pitchFamily="34" charset="-122"/>
                <a:cs typeface="Calibri" pitchFamily="34" charset="-120"/>
              </a:rPr>
              <a:t>Example</a:t>
            </a:r>
            <a:endParaRPr lang="en-US" sz="1150" dirty="0"/>
          </a:p>
        </p:txBody>
      </p:sp>
      <p:sp>
        <p:nvSpPr>
          <p:cNvPr id="12" name="Text 9"/>
          <p:cNvSpPr/>
          <p:nvPr/>
        </p:nvSpPr>
        <p:spPr>
          <a:xfrm>
            <a:off x="5413248" y="2953512"/>
            <a:ext cx="6211519" cy="694944"/>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The card reader with five markers: display, chip slot, contactless zone, power button, USB-C port.</a:t>
            </a:r>
            <a:endParaRPr lang="en-US" sz="1300" dirty="0"/>
          </a:p>
        </p:txBody>
      </p:sp>
      <p:sp>
        <p:nvSpPr>
          <p:cNvPr id="13" name="Text 10"/>
          <p:cNvSpPr/>
          <p:nvPr/>
        </p:nvSpPr>
        <p:spPr>
          <a:xfrm>
            <a:off x="5413248" y="3694176"/>
            <a:ext cx="6211519" cy="256032"/>
          </a:xfrm>
          <a:prstGeom prst="rect">
            <a:avLst/>
          </a:prstGeom>
          <a:noFill/>
          <a:ln/>
        </p:spPr>
        <p:txBody>
          <a:bodyPr wrap="square" lIns="0" tIns="0" rIns="0" bIns="0" rtlCol="0" anchor="ctr"/>
          <a:lstStyle/>
          <a:p>
            <a:pPr indent="0" marL="0">
              <a:buNone/>
            </a:pPr>
            <a:r>
              <a:rPr lang="en-US" sz="1150" b="1" spc="80" kern="0" dirty="0">
                <a:solidFill>
                  <a:srgbClr val="ED6A2A"/>
                </a:solidFill>
                <a:latin typeface="Calibri" pitchFamily="34" charset="0"/>
                <a:ea typeface="Calibri" pitchFamily="34" charset="-122"/>
                <a:cs typeface="Calibri" pitchFamily="34" charset="-120"/>
              </a:rPr>
              <a:t>Watch for</a:t>
            </a:r>
            <a:endParaRPr lang="en-US" sz="1150" dirty="0"/>
          </a:p>
        </p:txBody>
      </p:sp>
      <p:sp>
        <p:nvSpPr>
          <p:cNvPr id="14" name="Text 11"/>
          <p:cNvSpPr/>
          <p:nvPr/>
        </p:nvSpPr>
        <p:spPr>
          <a:xfrm>
            <a:off x="5413248" y="3941064"/>
            <a:ext cx="6211519" cy="694944"/>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markers crowding on a phone. Rise reflows the image, so keep them apart and test on mobile.</a:t>
            </a:r>
            <a:endParaRPr lang="en-US" sz="1300" dirty="0"/>
          </a:p>
        </p:txBody>
      </p:sp>
      <p:sp>
        <p:nvSpPr>
          <p:cNvPr id="15" name="Text 12"/>
          <p:cNvSpPr/>
          <p:nvPr/>
        </p:nvSpPr>
        <p:spPr>
          <a:xfrm>
            <a:off x="5413248" y="4681728"/>
            <a:ext cx="6211519" cy="256032"/>
          </a:xfrm>
          <a:prstGeom prst="rect">
            <a:avLst/>
          </a:prstGeom>
          <a:noFill/>
          <a:ln/>
        </p:spPr>
        <p:txBody>
          <a:bodyPr wrap="square" lIns="0" tIns="0" rIns="0" bIns="0" rtlCol="0" anchor="ctr"/>
          <a:lstStyle/>
          <a:p>
            <a:pPr indent="0" marL="0">
              <a:buNone/>
            </a:pPr>
            <a:r>
              <a:rPr lang="en-US" sz="1150" b="1" spc="80" kern="0" dirty="0">
                <a:solidFill>
                  <a:srgbClr val="ED6A2A"/>
                </a:solidFill>
                <a:latin typeface="Calibri" pitchFamily="34" charset="0"/>
                <a:ea typeface="Calibri" pitchFamily="34" charset="-122"/>
                <a:cs typeface="Calibri" pitchFamily="34" charset="-120"/>
              </a:rPr>
              <a:t>Sizing</a:t>
            </a:r>
            <a:endParaRPr lang="en-US" sz="1150" dirty="0"/>
          </a:p>
        </p:txBody>
      </p:sp>
      <p:sp>
        <p:nvSpPr>
          <p:cNvPr id="16" name="Text 13"/>
          <p:cNvSpPr/>
          <p:nvPr/>
        </p:nvSpPr>
        <p:spPr>
          <a:xfrm>
            <a:off x="5413248" y="4928616"/>
            <a:ext cx="6211519" cy="694944"/>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medium by default (1100px); small (760px) and full width are the alternatives.</a:t>
            </a:r>
            <a:endParaRPr lang="en-US" sz="1300" dirty="0"/>
          </a:p>
        </p:txBody>
      </p:sp>
      <p:sp>
        <p:nvSpPr>
          <p:cNvPr id="17" name="Shape 14"/>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8" name="Shape 15"/>
          <p:cNvSpPr/>
          <p:nvPr/>
        </p:nvSpPr>
        <p:spPr>
          <a:xfrm>
            <a:off x="768096" y="5907024"/>
            <a:ext cx="201168" cy="201168"/>
          </a:xfrm>
          <a:prstGeom prst="ellipse">
            <a:avLst/>
          </a:prstGeom>
          <a:solidFill>
            <a:srgbClr val="ED6A2A"/>
          </a:solidFill>
          <a:ln/>
        </p:spPr>
      </p:sp>
      <p:sp>
        <p:nvSpPr>
          <p:cNvPr id="19" name="Text 16"/>
          <p:cNvSpPr/>
          <p:nvPr/>
        </p:nvSpPr>
        <p:spPr>
          <a:xfrm>
            <a:off x="1078992" y="5760720"/>
            <a:ext cx="10289743" cy="512064"/>
          </a:xfrm>
          <a:prstGeom prst="rect">
            <a:avLst/>
          </a:prstGeom>
          <a:noFill/>
          <a:ln/>
        </p:spPr>
        <p:txBody>
          <a:bodyPr wrap="square" lIns="0" tIns="0" rIns="0" bIns="0" rtlCol="0" anchor="ctr"/>
          <a:lstStyle/>
          <a:p>
            <a:pPr indent="0" marL="0">
              <a:buNone/>
            </a:pPr>
            <a:r>
              <a:rPr lang="en-US" sz="1200" dirty="0">
                <a:solidFill>
                  <a:srgbClr val="7A3F1C"/>
                </a:solidFill>
                <a:latin typeface="Calibri" pitchFamily="34" charset="0"/>
                <a:ea typeface="Calibri" pitchFamily="34" charset="-122"/>
                <a:cs typeface="Calibri" pitchFamily="34" charset="-120"/>
              </a:rPr>
              <a:t>A labeled graphic with two markers is a caption wearing a costume. Below about four, just caption the image.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Job 3 — Sequence</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Order matters and you want the learner to feel the steps, one at a time.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56692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process.png">    </p:cNvPr>
          <p:cNvPicPr>
            <a:picLocks noChangeAspect="1"/>
          </p:cNvPicPr>
          <p:nvPr/>
        </p:nvPicPr>
        <p:blipFill>
          <a:blip r:embed="rId1"/>
          <a:stretch>
            <a:fillRect/>
          </a:stretch>
        </p:blipFill>
        <p:spPr>
          <a:xfrm>
            <a:off x="1799768" y="1810512"/>
            <a:ext cx="2834640" cy="1966893"/>
          </a:xfrm>
          <a:prstGeom prst="rect">
            <a:avLst/>
          </a:prstGeom>
        </p:spPr>
      </p:pic>
      <p:sp>
        <p:nvSpPr>
          <p:cNvPr id="8" name="Text 5"/>
          <p:cNvSpPr/>
          <p:nvPr/>
        </p:nvSpPr>
        <p:spPr>
          <a:xfrm>
            <a:off x="87782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Process</a:t>
            </a:r>
            <a:endParaRPr lang="en-US" sz="1800" dirty="0"/>
          </a:p>
        </p:txBody>
      </p:sp>
      <p:sp>
        <p:nvSpPr>
          <p:cNvPr id="9" name="Text 6"/>
          <p:cNvSpPr/>
          <p:nvPr/>
        </p:nvSpPr>
        <p:spPr>
          <a:xfrm>
            <a:off x="87782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 steps are a procedure someone will carry out.</a:t>
            </a:r>
            <a:endParaRPr lang="en-US" sz="1250" dirty="0"/>
          </a:p>
        </p:txBody>
      </p:sp>
      <p:sp>
        <p:nvSpPr>
          <p:cNvPr id="10" name="Text 7"/>
          <p:cNvSpPr/>
          <p:nvPr/>
        </p:nvSpPr>
        <p:spPr>
          <a:xfrm>
            <a:off x="87782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Pairing a card reader: six steps, one screen each, so nobody skims past step four.</a:t>
            </a:r>
            <a:endParaRPr lang="en-US" sz="1250" dirty="0"/>
          </a:p>
        </p:txBody>
      </p:sp>
      <p:sp>
        <p:nvSpPr>
          <p:cNvPr id="11" name="Shape 8"/>
          <p:cNvSpPr/>
          <p:nvPr/>
        </p:nvSpPr>
        <p:spPr>
          <a:xfrm>
            <a:off x="632444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timeline.jpg">    </p:cNvPr>
          <p:cNvPicPr>
            <a:picLocks noChangeAspect="1"/>
          </p:cNvPicPr>
          <p:nvPr/>
        </p:nvPicPr>
        <p:blipFill>
          <a:blip r:embed="rId2"/>
          <a:stretch>
            <a:fillRect/>
          </a:stretch>
        </p:blipFill>
        <p:spPr>
          <a:xfrm>
            <a:off x="7557287" y="1810512"/>
            <a:ext cx="2834640" cy="1966893"/>
          </a:xfrm>
          <a:prstGeom prst="rect">
            <a:avLst/>
          </a:prstGeom>
        </p:spPr>
      </p:pic>
      <p:sp>
        <p:nvSpPr>
          <p:cNvPr id="13" name="Text 9"/>
          <p:cNvSpPr/>
          <p:nvPr/>
        </p:nvSpPr>
        <p:spPr>
          <a:xfrm>
            <a:off x="663534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Timeline</a:t>
            </a:r>
            <a:endParaRPr lang="en-US" sz="1800" dirty="0"/>
          </a:p>
        </p:txBody>
      </p:sp>
      <p:sp>
        <p:nvSpPr>
          <p:cNvPr id="14" name="Text 10"/>
          <p:cNvSpPr/>
          <p:nvPr/>
        </p:nvSpPr>
        <p:spPr>
          <a:xfrm>
            <a:off x="663534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 sequence is history or a roadmap, not something to perform.</a:t>
            </a:r>
            <a:endParaRPr lang="en-US" sz="1250" dirty="0"/>
          </a:p>
        </p:txBody>
      </p:sp>
      <p:sp>
        <p:nvSpPr>
          <p:cNvPr id="15" name="Text 11"/>
          <p:cNvSpPr/>
          <p:nvPr/>
        </p:nvSpPr>
        <p:spPr>
          <a:xfrm>
            <a:off x="663534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How the product line changed: first reader in 2012, acquisition, rebrand, current model.</a:t>
            </a:r>
            <a:endParaRPr lang="en-US" sz="1250" dirty="0"/>
          </a:p>
        </p:txBody>
      </p:sp>
      <p:sp>
        <p:nvSpPr>
          <p:cNvPr id="16" name="Shape 12"/>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7" name="Shape 13"/>
          <p:cNvSpPr/>
          <p:nvPr/>
        </p:nvSpPr>
        <p:spPr>
          <a:xfrm>
            <a:off x="768096" y="5907024"/>
            <a:ext cx="201168" cy="201168"/>
          </a:xfrm>
          <a:prstGeom prst="ellipse">
            <a:avLst/>
          </a:prstGeom>
          <a:solidFill>
            <a:srgbClr val="ED6A2A"/>
          </a:solidFill>
          <a:ln/>
        </p:spPr>
      </p:sp>
      <p:sp>
        <p:nvSpPr>
          <p:cNvPr id="18" name="Text 14"/>
          <p:cNvSpPr/>
          <p:nvPr/>
        </p:nvSpPr>
        <p:spPr>
          <a:xfrm>
            <a:off x="1078992" y="5760720"/>
            <a:ext cx="10289743" cy="512064"/>
          </a:xfrm>
          <a:prstGeom prst="rect">
            <a:avLst/>
          </a:prstGeom>
          <a:noFill/>
          <a:ln/>
        </p:spPr>
        <p:txBody>
          <a:bodyPr wrap="square" lIns="0" tIns="0" rIns="0" bIns="0" rtlCol="0" anchor="ctr"/>
          <a:lstStyle/>
          <a:p>
            <a:pPr indent="0" marL="0">
              <a:buNone/>
            </a:pPr>
            <a:r>
              <a:rPr lang="en-US" sz="1200" dirty="0">
                <a:solidFill>
                  <a:srgbClr val="7A3F1C"/>
                </a:solidFill>
                <a:latin typeface="Calibri" pitchFamily="34" charset="0"/>
                <a:ea typeface="Calibri" pitchFamily="34" charset="-122"/>
                <a:cs typeface="Calibri" pitchFamily="34" charset="-120"/>
              </a:rPr>
              <a:t>A numbered list is often the better answer. Reach for these when the steps carry enough detail that showing them all at once overwhelms.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Job 4 — Recall</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Term on one side, meaning on the other. The learner tries before they are told.</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56692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flashcard_grid.png">    </p:cNvPr>
          <p:cNvPicPr>
            <a:picLocks noChangeAspect="1"/>
          </p:cNvPicPr>
          <p:nvPr/>
        </p:nvPicPr>
        <p:blipFill>
          <a:blip r:embed="rId1"/>
          <a:stretch>
            <a:fillRect/>
          </a:stretch>
        </p:blipFill>
        <p:spPr>
          <a:xfrm>
            <a:off x="1799768" y="1810512"/>
            <a:ext cx="2834640" cy="1966893"/>
          </a:xfrm>
          <a:prstGeom prst="rect">
            <a:avLst/>
          </a:prstGeom>
        </p:spPr>
      </p:pic>
      <p:sp>
        <p:nvSpPr>
          <p:cNvPr id="8" name="Text 5"/>
          <p:cNvSpPr/>
          <p:nvPr/>
        </p:nvSpPr>
        <p:spPr>
          <a:xfrm>
            <a:off x="87782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Flashcard grid</a:t>
            </a:r>
            <a:endParaRPr lang="en-US" sz="1800" dirty="0"/>
          </a:p>
        </p:txBody>
      </p:sp>
      <p:sp>
        <p:nvSpPr>
          <p:cNvPr id="9" name="Text 6"/>
          <p:cNvSpPr/>
          <p:nvPr/>
        </p:nvSpPr>
        <p:spPr>
          <a:xfrm>
            <a:off x="87782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 set is small and the learner should see how much there is.</a:t>
            </a:r>
            <a:endParaRPr lang="en-US" sz="1250" dirty="0"/>
          </a:p>
        </p:txBody>
      </p:sp>
      <p:sp>
        <p:nvSpPr>
          <p:cNvPr id="10" name="Text 7"/>
          <p:cNvSpPr/>
          <p:nvPr/>
        </p:nvSpPr>
        <p:spPr>
          <a:xfrm>
            <a:off x="87782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Six product names to learn, laid out at once so the scope is obvious.</a:t>
            </a:r>
            <a:endParaRPr lang="en-US" sz="1250" dirty="0"/>
          </a:p>
        </p:txBody>
      </p:sp>
      <p:sp>
        <p:nvSpPr>
          <p:cNvPr id="11" name="Shape 8"/>
          <p:cNvSpPr/>
          <p:nvPr/>
        </p:nvSpPr>
        <p:spPr>
          <a:xfrm>
            <a:off x="632444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flashcard_stack.png">    </p:cNvPr>
          <p:cNvPicPr>
            <a:picLocks noChangeAspect="1"/>
          </p:cNvPicPr>
          <p:nvPr/>
        </p:nvPicPr>
        <p:blipFill>
          <a:blip r:embed="rId2"/>
          <a:stretch>
            <a:fillRect/>
          </a:stretch>
        </p:blipFill>
        <p:spPr>
          <a:xfrm>
            <a:off x="7557287" y="1810512"/>
            <a:ext cx="2834640" cy="1966893"/>
          </a:xfrm>
          <a:prstGeom prst="rect">
            <a:avLst/>
          </a:prstGeom>
        </p:spPr>
      </p:pic>
      <p:sp>
        <p:nvSpPr>
          <p:cNvPr id="13" name="Text 9"/>
          <p:cNvSpPr/>
          <p:nvPr/>
        </p:nvSpPr>
        <p:spPr>
          <a:xfrm>
            <a:off x="663534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Flashcard stack</a:t>
            </a:r>
            <a:endParaRPr lang="en-US" sz="1800" dirty="0"/>
          </a:p>
        </p:txBody>
      </p:sp>
      <p:sp>
        <p:nvSpPr>
          <p:cNvPr id="14" name="Text 10"/>
          <p:cNvSpPr/>
          <p:nvPr/>
        </p:nvSpPr>
        <p:spPr>
          <a:xfrm>
            <a:off x="663534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 set is longer and you want one card at a time, in order.</a:t>
            </a:r>
            <a:endParaRPr lang="en-US" sz="1250" dirty="0"/>
          </a:p>
        </p:txBody>
      </p:sp>
      <p:sp>
        <p:nvSpPr>
          <p:cNvPr id="15" name="Text 11"/>
          <p:cNvSpPr/>
          <p:nvPr/>
        </p:nvSpPr>
        <p:spPr>
          <a:xfrm>
            <a:off x="663534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Ten support FAQs worked through as a run, like revision cards.</a:t>
            </a:r>
            <a:endParaRPr lang="en-US" sz="1250" dirty="0"/>
          </a:p>
        </p:txBody>
      </p:sp>
      <p:sp>
        <p:nvSpPr>
          <p:cNvPr id="16" name="Shape 12"/>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7" name="Shape 13"/>
          <p:cNvSpPr/>
          <p:nvPr/>
        </p:nvSpPr>
        <p:spPr>
          <a:xfrm>
            <a:off x="768096" y="5907024"/>
            <a:ext cx="201168" cy="201168"/>
          </a:xfrm>
          <a:prstGeom prst="ellipse">
            <a:avLst/>
          </a:prstGeom>
          <a:solidFill>
            <a:srgbClr val="ED6A2A"/>
          </a:solidFill>
          <a:ln/>
        </p:spPr>
      </p:sp>
      <p:sp>
        <p:nvSpPr>
          <p:cNvPr id="18" name="Text 14"/>
          <p:cNvSpPr/>
          <p:nvPr/>
        </p:nvSpPr>
        <p:spPr>
          <a:xfrm>
            <a:off x="1078992" y="5760720"/>
            <a:ext cx="10289743" cy="512064"/>
          </a:xfrm>
          <a:prstGeom prst="rect">
            <a:avLst/>
          </a:prstGeom>
          <a:noFill/>
          <a:ln/>
        </p:spPr>
        <p:txBody>
          <a:bodyPr wrap="square" lIns="0" tIns="0" rIns="0" bIns="0" rtlCol="0" anchor="ctr"/>
          <a:lstStyle/>
          <a:p>
            <a:pPr indent="0" marL="0">
              <a:buNone/>
            </a:pPr>
            <a:r>
              <a:rPr lang="en-US" sz="1200" dirty="0">
                <a:solidFill>
                  <a:srgbClr val="7A3F1C"/>
                </a:solidFill>
                <a:latin typeface="Calibri" pitchFamily="34" charset="0"/>
                <a:ea typeface="Calibri" pitchFamily="34" charset="-122"/>
                <a:cs typeface="Calibri" pitchFamily="34" charset="-120"/>
              </a:rPr>
              <a:t>The front must be answerable. A card whose front is a statement teaches nothing — the learner flips it without thinking.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Job 5 — Decide</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learner commits to an answer and finds out what it costs. This is where interaction earns most.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9</a:t>
            </a:r>
            <a:endParaRPr lang="en-US" sz="950" dirty="0"/>
          </a:p>
        </p:txBody>
      </p:sp>
      <p:sp>
        <p:nvSpPr>
          <p:cNvPr id="6" name="Shape 4"/>
          <p:cNvSpPr/>
          <p:nvPr/>
        </p:nvSpPr>
        <p:spPr>
          <a:xfrm>
            <a:off x="56692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sorting_activity.jpg">    </p:cNvPr>
          <p:cNvPicPr>
            <a:picLocks noChangeAspect="1"/>
          </p:cNvPicPr>
          <p:nvPr/>
        </p:nvPicPr>
        <p:blipFill>
          <a:blip r:embed="rId1"/>
          <a:stretch>
            <a:fillRect/>
          </a:stretch>
        </p:blipFill>
        <p:spPr>
          <a:xfrm>
            <a:off x="1799768" y="1810512"/>
            <a:ext cx="2834640" cy="1966893"/>
          </a:xfrm>
          <a:prstGeom prst="rect">
            <a:avLst/>
          </a:prstGeom>
        </p:spPr>
      </p:pic>
      <p:sp>
        <p:nvSpPr>
          <p:cNvPr id="8" name="Text 5"/>
          <p:cNvSpPr/>
          <p:nvPr/>
        </p:nvSpPr>
        <p:spPr>
          <a:xfrm>
            <a:off x="87782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Sorting Activity</a:t>
            </a:r>
            <a:endParaRPr lang="en-US" sz="1800" dirty="0"/>
          </a:p>
        </p:txBody>
      </p:sp>
      <p:sp>
        <p:nvSpPr>
          <p:cNvPr id="9" name="Text 6"/>
          <p:cNvSpPr/>
          <p:nvPr/>
        </p:nvSpPr>
        <p:spPr>
          <a:xfrm>
            <a:off x="87782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 skill is telling categories apart.</a:t>
            </a:r>
            <a:endParaRPr lang="en-US" sz="1250" dirty="0"/>
          </a:p>
        </p:txBody>
      </p:sp>
      <p:sp>
        <p:nvSpPr>
          <p:cNvPr id="10" name="Text 7"/>
          <p:cNvSpPr/>
          <p:nvPr/>
        </p:nvSpPr>
        <p:spPr>
          <a:xfrm>
            <a:off x="87782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Twelve emails dragged into Phishing or Safe — the judgement is the learning.</a:t>
            </a:r>
            <a:endParaRPr lang="en-US" sz="1250" dirty="0"/>
          </a:p>
        </p:txBody>
      </p:sp>
      <p:sp>
        <p:nvSpPr>
          <p:cNvPr id="11" name="Shape 8"/>
          <p:cNvSpPr/>
          <p:nvPr/>
        </p:nvSpPr>
        <p:spPr>
          <a:xfrm>
            <a:off x="632444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scenario.png">    </p:cNvPr>
          <p:cNvPicPr>
            <a:picLocks noChangeAspect="1"/>
          </p:cNvPicPr>
          <p:nvPr/>
        </p:nvPicPr>
        <p:blipFill>
          <a:blip r:embed="rId2"/>
          <a:stretch>
            <a:fillRect/>
          </a:stretch>
        </p:blipFill>
        <p:spPr>
          <a:xfrm>
            <a:off x="7557287" y="1810512"/>
            <a:ext cx="2834640" cy="1966893"/>
          </a:xfrm>
          <a:prstGeom prst="rect">
            <a:avLst/>
          </a:prstGeom>
        </p:spPr>
      </p:pic>
      <p:sp>
        <p:nvSpPr>
          <p:cNvPr id="13" name="Text 9"/>
          <p:cNvSpPr/>
          <p:nvPr/>
        </p:nvSpPr>
        <p:spPr>
          <a:xfrm>
            <a:off x="663534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Scenario</a:t>
            </a:r>
            <a:endParaRPr lang="en-US" sz="1800" dirty="0"/>
          </a:p>
        </p:txBody>
      </p:sp>
      <p:sp>
        <p:nvSpPr>
          <p:cNvPr id="14" name="Text 10"/>
          <p:cNvSpPr/>
          <p:nvPr/>
        </p:nvSpPr>
        <p:spPr>
          <a:xfrm>
            <a:off x="663534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 skill is choosing a response, and the response has consequences.</a:t>
            </a:r>
            <a:endParaRPr lang="en-US" sz="1250" dirty="0"/>
          </a:p>
        </p:txBody>
      </p:sp>
      <p:sp>
        <p:nvSpPr>
          <p:cNvPr id="15" name="Text 11"/>
          <p:cNvSpPr/>
          <p:nvPr/>
        </p:nvSpPr>
        <p:spPr>
          <a:xfrm>
            <a:off x="663534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An angry refund call: three replies, each leading somewhere different.</a:t>
            </a:r>
            <a:endParaRPr lang="en-US" sz="1250" dirty="0"/>
          </a:p>
        </p:txBody>
      </p:sp>
      <p:sp>
        <p:nvSpPr>
          <p:cNvPr id="16" name="Shape 12"/>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7" name="Shape 13"/>
          <p:cNvSpPr/>
          <p:nvPr/>
        </p:nvSpPr>
        <p:spPr>
          <a:xfrm>
            <a:off x="768096" y="5907024"/>
            <a:ext cx="201168" cy="201168"/>
          </a:xfrm>
          <a:prstGeom prst="ellipse">
            <a:avLst/>
          </a:prstGeom>
          <a:solidFill>
            <a:srgbClr val="ED6A2A"/>
          </a:solidFill>
          <a:ln/>
        </p:spPr>
      </p:sp>
      <p:sp>
        <p:nvSpPr>
          <p:cNvPr id="18" name="Text 14"/>
          <p:cNvSpPr/>
          <p:nvPr/>
        </p:nvSpPr>
        <p:spPr>
          <a:xfrm>
            <a:off x="1078992" y="5760720"/>
            <a:ext cx="10289743" cy="512064"/>
          </a:xfrm>
          <a:prstGeom prst="rect">
            <a:avLst/>
          </a:prstGeom>
          <a:noFill/>
          <a:ln/>
        </p:spPr>
        <p:txBody>
          <a:bodyPr wrap="square" lIns="0" tIns="0" rIns="0" bIns="0" rtlCol="0" anchor="ctr"/>
          <a:lstStyle/>
          <a:p>
            <a:pPr indent="0" marL="0">
              <a:buNone/>
            </a:pPr>
            <a:r>
              <a:rPr lang="en-US" sz="1200" dirty="0">
                <a:solidFill>
                  <a:srgbClr val="7A3F1C"/>
                </a:solidFill>
                <a:latin typeface="Calibri" pitchFamily="34" charset="0"/>
                <a:ea typeface="Calibri" pitchFamily="34" charset="-122"/>
                <a:cs typeface="Calibri" pitchFamily="34" charset="-120"/>
              </a:rPr>
              <a:t>Scenario is the most expensive block in the tool to write well. Budget for the branching, not for the styling.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Job 6 — Act</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Send the learner somewhere, or give them a choice of routes through the lesson.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10</a:t>
            </a:r>
            <a:endParaRPr lang="en-US" sz="950" dirty="0"/>
          </a:p>
        </p:txBody>
      </p:sp>
      <p:sp>
        <p:nvSpPr>
          <p:cNvPr id="6" name="Shape 4"/>
          <p:cNvSpPr/>
          <p:nvPr/>
        </p:nvSpPr>
        <p:spPr>
          <a:xfrm>
            <a:off x="56692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button.png">    </p:cNvPr>
          <p:cNvPicPr>
            <a:picLocks noChangeAspect="1"/>
          </p:cNvPicPr>
          <p:nvPr/>
        </p:nvPicPr>
        <p:blipFill>
          <a:blip r:embed="rId1"/>
          <a:stretch>
            <a:fillRect/>
          </a:stretch>
        </p:blipFill>
        <p:spPr>
          <a:xfrm>
            <a:off x="1799768" y="1810512"/>
            <a:ext cx="2834640" cy="1966893"/>
          </a:xfrm>
          <a:prstGeom prst="rect">
            <a:avLst/>
          </a:prstGeom>
        </p:spPr>
      </p:pic>
      <p:sp>
        <p:nvSpPr>
          <p:cNvPr id="8" name="Text 5"/>
          <p:cNvSpPr/>
          <p:nvPr/>
        </p:nvSpPr>
        <p:spPr>
          <a:xfrm>
            <a:off x="87782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Button</a:t>
            </a:r>
            <a:endParaRPr lang="en-US" sz="1800" dirty="0"/>
          </a:p>
        </p:txBody>
      </p:sp>
      <p:sp>
        <p:nvSpPr>
          <p:cNvPr id="9" name="Text 6"/>
          <p:cNvSpPr/>
          <p:nvPr/>
        </p:nvSpPr>
        <p:spPr>
          <a:xfrm>
            <a:off x="87782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there is one clear next action.</a:t>
            </a:r>
            <a:endParaRPr lang="en-US" sz="1250" dirty="0"/>
          </a:p>
        </p:txBody>
      </p:sp>
      <p:sp>
        <p:nvSpPr>
          <p:cNvPr id="10" name="Text 7"/>
          <p:cNvSpPr/>
          <p:nvPr/>
        </p:nvSpPr>
        <p:spPr>
          <a:xfrm>
            <a:off x="87782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Download the job aid, or open the policy in the knowledge base.</a:t>
            </a:r>
            <a:endParaRPr lang="en-US" sz="1250" dirty="0"/>
          </a:p>
        </p:txBody>
      </p:sp>
      <p:sp>
        <p:nvSpPr>
          <p:cNvPr id="11" name="Shape 8"/>
          <p:cNvSpPr/>
          <p:nvPr/>
        </p:nvSpPr>
        <p:spPr>
          <a:xfrm>
            <a:off x="632444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button_stack.png">    </p:cNvPr>
          <p:cNvPicPr>
            <a:picLocks noChangeAspect="1"/>
          </p:cNvPicPr>
          <p:nvPr/>
        </p:nvPicPr>
        <p:blipFill>
          <a:blip r:embed="rId2"/>
          <a:stretch>
            <a:fillRect/>
          </a:stretch>
        </p:blipFill>
        <p:spPr>
          <a:xfrm>
            <a:off x="7557287" y="1810512"/>
            <a:ext cx="2834640" cy="1966893"/>
          </a:xfrm>
          <a:prstGeom prst="rect">
            <a:avLst/>
          </a:prstGeom>
        </p:spPr>
      </p:pic>
      <p:sp>
        <p:nvSpPr>
          <p:cNvPr id="13" name="Text 9"/>
          <p:cNvSpPr/>
          <p:nvPr/>
        </p:nvSpPr>
        <p:spPr>
          <a:xfrm>
            <a:off x="663534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Button stack</a:t>
            </a:r>
            <a:endParaRPr lang="en-US" sz="1800" dirty="0"/>
          </a:p>
        </p:txBody>
      </p:sp>
      <p:sp>
        <p:nvSpPr>
          <p:cNvPr id="14" name="Text 10"/>
          <p:cNvSpPr/>
          <p:nvPr/>
        </p:nvSpPr>
        <p:spPr>
          <a:xfrm>
            <a:off x="663534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there are two to four routes and the learner picks their own.</a:t>
            </a:r>
            <a:endParaRPr lang="en-US" sz="1250" dirty="0"/>
          </a:p>
        </p:txBody>
      </p:sp>
      <p:sp>
        <p:nvSpPr>
          <p:cNvPr id="15" name="Text 11"/>
          <p:cNvSpPr/>
          <p:nvPr/>
        </p:nvSpPr>
        <p:spPr>
          <a:xfrm>
            <a:off x="663534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Choose your region, or your role, and jump to the lesson that fits.</a:t>
            </a:r>
            <a:endParaRPr lang="en-US" sz="1250" dirty="0"/>
          </a:p>
        </p:txBody>
      </p:sp>
      <p:sp>
        <p:nvSpPr>
          <p:cNvPr id="16" name="Shape 12"/>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7" name="Shape 13"/>
          <p:cNvSpPr/>
          <p:nvPr/>
        </p:nvSpPr>
        <p:spPr>
          <a:xfrm>
            <a:off x="768096" y="5907024"/>
            <a:ext cx="201168" cy="201168"/>
          </a:xfrm>
          <a:prstGeom prst="ellipse">
            <a:avLst/>
          </a:prstGeom>
          <a:solidFill>
            <a:srgbClr val="ED6A2A"/>
          </a:solidFill>
          <a:ln/>
        </p:spPr>
      </p:sp>
      <p:sp>
        <p:nvSpPr>
          <p:cNvPr id="18" name="Text 14"/>
          <p:cNvSpPr/>
          <p:nvPr/>
        </p:nvSpPr>
        <p:spPr>
          <a:xfrm>
            <a:off x="1078992" y="5760720"/>
            <a:ext cx="10289743" cy="512064"/>
          </a:xfrm>
          <a:prstGeom prst="rect">
            <a:avLst/>
          </a:prstGeom>
          <a:noFill/>
          <a:ln/>
        </p:spPr>
        <p:txBody>
          <a:bodyPr wrap="square" lIns="0" tIns="0" rIns="0" bIns="0" rtlCol="0" anchor="ctr"/>
          <a:lstStyle/>
          <a:p>
            <a:pPr indent="0" marL="0">
              <a:buNone/>
            </a:pPr>
            <a:r>
              <a:rPr lang="en-US" sz="1200" dirty="0">
                <a:solidFill>
                  <a:srgbClr val="7A3F1C"/>
                </a:solidFill>
                <a:latin typeface="Calibri" pitchFamily="34" charset="0"/>
                <a:ea typeface="Calibri" pitchFamily="34" charset="-122"/>
                <a:cs typeface="Calibri" pitchFamily="34" charset="-120"/>
              </a:rPr>
              <a:t>Label a button with what happens when it is pressed. “Learn more” tells the learner nothing; “Open the refund policy” tells them everything.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advanced one — Storyline block</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A door out of Rise. It embeds a published Storyline 360 interaction inside a Rise lesson.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566928" y="1737360"/>
            <a:ext cx="3840480" cy="3124822"/>
          </a:xfrm>
          <a:prstGeom prst="roundRect">
            <a:avLst>
              <a:gd name="adj" fmla="val 263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storyline.png">    </p:cNvPr>
          <p:cNvPicPr>
            <a:picLocks noChangeAspect="1"/>
          </p:cNvPicPr>
          <p:nvPr/>
        </p:nvPicPr>
        <p:blipFill>
          <a:blip r:embed="rId1"/>
          <a:stretch>
            <a:fillRect/>
          </a:stretch>
        </p:blipFill>
        <p:spPr>
          <a:xfrm>
            <a:off x="795528" y="1938528"/>
            <a:ext cx="3383280" cy="2347582"/>
          </a:xfrm>
          <a:prstGeom prst="rect">
            <a:avLst/>
          </a:prstGeom>
        </p:spPr>
      </p:pic>
      <p:sp>
        <p:nvSpPr>
          <p:cNvPr id="8" name="Text 5"/>
          <p:cNvSpPr/>
          <p:nvPr/>
        </p:nvSpPr>
        <p:spPr>
          <a:xfrm>
            <a:off x="795528" y="4359262"/>
            <a:ext cx="3383280" cy="347472"/>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Storyline</a:t>
            </a:r>
            <a:endParaRPr lang="en-US" sz="1800" dirty="0"/>
          </a:p>
        </p:txBody>
      </p:sp>
      <p:sp>
        <p:nvSpPr>
          <p:cNvPr id="9" name="Shape 6"/>
          <p:cNvSpPr/>
          <p:nvPr/>
        </p:nvSpPr>
        <p:spPr>
          <a:xfrm>
            <a:off x="4864608" y="1737360"/>
            <a:ext cx="6760159" cy="1572768"/>
          </a:xfrm>
          <a:prstGeom prst="roundRect">
            <a:avLst>
              <a:gd name="adj" fmla="val 5233"/>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0" name="Text 7"/>
          <p:cNvSpPr/>
          <p:nvPr/>
        </p:nvSpPr>
        <p:spPr>
          <a:xfrm>
            <a:off x="5193792" y="1901952"/>
            <a:ext cx="6101791"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Reach for it when Rise genuinely cannot</a:t>
            </a:r>
            <a:endParaRPr lang="en-US" sz="1700" dirty="0"/>
          </a:p>
        </p:txBody>
      </p:sp>
      <p:sp>
        <p:nvSpPr>
          <p:cNvPr id="11" name="Text 8"/>
          <p:cNvSpPr/>
          <p:nvPr/>
        </p:nvSpPr>
        <p:spPr>
          <a:xfrm>
            <a:off x="5193792" y="2286000"/>
            <a:ext cx="6101791" cy="877824"/>
          </a:xfrm>
          <a:prstGeom prst="rect">
            <a:avLst/>
          </a:prstGeom>
          <a:noFill/>
          <a:ln/>
        </p:spPr>
        <p:txBody>
          <a:bodyPr wrap="square" lIns="0" tIns="0" rIns="0" bIns="0" rtlCol="0" anchor="t"/>
          <a:lstStyle/>
          <a:p>
            <a:pPr indent="0" marL="0">
              <a:lnSpc>
                <a:spcPts val="1900"/>
              </a:lnSpc>
              <a:buNone/>
            </a:pPr>
            <a:r>
              <a:rPr lang="en-US" sz="1300" dirty="0">
                <a:solidFill>
                  <a:srgbClr val="A9B3C0"/>
                </a:solidFill>
                <a:latin typeface="Calibri" pitchFamily="34" charset="0"/>
                <a:ea typeface="Calibri" pitchFamily="34" charset="-122"/>
                <a:cs typeface="Calibri" pitchFamily="34" charset="-120"/>
              </a:rPr>
              <a:t>Free-form drag and drop, a simulated interface, custom logic, anything with its own rules. Build it in Storyline 360, publish it, drop it in here.</a:t>
            </a:r>
            <a:endParaRPr lang="en-US" sz="1300" dirty="0"/>
          </a:p>
        </p:txBody>
      </p:sp>
      <p:sp>
        <p:nvSpPr>
          <p:cNvPr id="12" name="Shape 9"/>
          <p:cNvSpPr/>
          <p:nvPr/>
        </p:nvSpPr>
        <p:spPr>
          <a:xfrm>
            <a:off x="4864608" y="3456432"/>
            <a:ext cx="6760159" cy="1572768"/>
          </a:xfrm>
          <a:prstGeom prst="roundRect">
            <a:avLst>
              <a:gd name="adj" fmla="val 523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Text 10"/>
          <p:cNvSpPr/>
          <p:nvPr/>
        </p:nvSpPr>
        <p:spPr>
          <a:xfrm>
            <a:off x="5193792" y="3621024"/>
            <a:ext cx="6101791" cy="329184"/>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The costs, stated plainly</a:t>
            </a:r>
            <a:endParaRPr lang="en-US" sz="1700" dirty="0"/>
          </a:p>
        </p:txBody>
      </p:sp>
      <p:sp>
        <p:nvSpPr>
          <p:cNvPr id="14" name="Text 11"/>
          <p:cNvSpPr/>
          <p:nvPr/>
        </p:nvSpPr>
        <p:spPr>
          <a:xfrm>
            <a:off x="5193792" y="4005072"/>
            <a:ext cx="6101791" cy="877824"/>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A second tool, a second skill set, and a fixed-size interaction sitting inside a responsive page. It is the one place a Rise lesson stops reflowing.</a:t>
            </a:r>
            <a:endParaRPr lang="en-US" sz="1300" dirty="0"/>
          </a:p>
        </p:txBody>
      </p:sp>
      <p:sp>
        <p:nvSpPr>
          <p:cNvPr id="15" name="Shape 12"/>
          <p:cNvSpPr/>
          <p:nvPr/>
        </p:nvSpPr>
        <p:spPr>
          <a:xfrm>
            <a:off x="566928" y="5230368"/>
            <a:ext cx="11057839" cy="896112"/>
          </a:xfrm>
          <a:prstGeom prst="roundRect">
            <a:avLst>
              <a:gd name="adj" fmla="val 918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6" name="Text 13"/>
          <p:cNvSpPr/>
          <p:nvPr/>
        </p:nvSpPr>
        <p:spPr>
          <a:xfrm>
            <a:off x="914400" y="5230368"/>
            <a:ext cx="10362895" cy="896112"/>
          </a:xfrm>
          <a:prstGeom prst="rect">
            <a:avLst/>
          </a:prstGeom>
          <a:noFill/>
          <a:ln/>
        </p:spPr>
        <p:txBody>
          <a:bodyPr wrap="square" lIns="0" tIns="0" rIns="0" bIns="0" rtlCol="0" anchor="ctr"/>
          <a:lstStyle/>
          <a:p>
            <a:pPr indent="0" marL="0">
              <a:lnSpc>
                <a:spcPts val="1800"/>
              </a:lnSpc>
              <a:buNone/>
            </a:pPr>
            <a:r>
              <a:rPr lang="en-US" sz="1300" b="1" dirty="0">
                <a:solidFill>
                  <a:srgbClr val="12161F"/>
                </a:solidFill>
                <a:latin typeface="Calibri" pitchFamily="34" charset="0"/>
                <a:ea typeface="Calibri" pitchFamily="34" charset="-122"/>
                <a:cs typeface="Calibri" pitchFamily="34" charset="-120"/>
              </a:rPr>
              <a:t>Tracking, for later.  </a:t>
            </a:r>
            <a:pPr indent="0" marL="0">
              <a:lnSpc>
                <a:spcPts val="1800"/>
              </a:lnSpc>
              <a:buNone/>
            </a:pPr>
            <a:r>
              <a:rPr lang="en-US" sz="1300" dirty="0">
                <a:solidFill>
                  <a:srgbClr val="5A6675"/>
                </a:solidFill>
                <a:latin typeface="Calibri" pitchFamily="34" charset="0"/>
                <a:ea typeface="Calibri" pitchFamily="34" charset="-122"/>
                <a:cs typeface="Calibri" pitchFamily="34" charset="-120"/>
              </a:rPr>
              <a:t>When you publish to an LMS you can choose to track “Storyline block viewed” as the completion trigger. Worth knowing today; we set it on Day 5.</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TWO</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Choosing well</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Which interaction for which job — and the four rules that stop a lesson turning into a fairground.</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3  ·  Blocks that answer back</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Which interaction for which job</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Start from what the learner has to do. The block falls out of that.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566928" y="1700784"/>
            <a:ext cx="11057839" cy="402336"/>
          </a:xfrm>
          <a:prstGeom prst="roundRect">
            <a:avLst>
              <a:gd name="adj" fmla="val 13636"/>
            </a:avLst>
          </a:prstGeom>
          <a:solidFill>
            <a:srgbClr val="12161F"/>
          </a:solidFill>
          <a:ln/>
        </p:spPr>
      </p:sp>
      <p:sp>
        <p:nvSpPr>
          <p:cNvPr id="7" name="Text 5"/>
          <p:cNvSpPr/>
          <p:nvPr/>
        </p:nvSpPr>
        <p:spPr>
          <a:xfrm>
            <a:off x="841248" y="1700784"/>
            <a:ext cx="3474720"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The learner has to…</a:t>
            </a:r>
            <a:endParaRPr lang="en-US" sz="1150" dirty="0"/>
          </a:p>
        </p:txBody>
      </p:sp>
      <p:sp>
        <p:nvSpPr>
          <p:cNvPr id="8" name="Text 6"/>
          <p:cNvSpPr/>
          <p:nvPr/>
        </p:nvSpPr>
        <p:spPr>
          <a:xfrm>
            <a:off x="4315968" y="1700784"/>
            <a:ext cx="2651760"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Reach for</a:t>
            </a:r>
            <a:endParaRPr lang="en-US" sz="1150" dirty="0"/>
          </a:p>
        </p:txBody>
      </p:sp>
      <p:sp>
        <p:nvSpPr>
          <p:cNvPr id="9" name="Text 7"/>
          <p:cNvSpPr/>
          <p:nvPr/>
        </p:nvSpPr>
        <p:spPr>
          <a:xfrm>
            <a:off x="6967728" y="1700784"/>
            <a:ext cx="4382719"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Because</a:t>
            </a:r>
            <a:endParaRPr lang="en-US" sz="1150" dirty="0"/>
          </a:p>
        </p:txBody>
      </p:sp>
      <p:sp>
        <p:nvSpPr>
          <p:cNvPr id="10" name="Shape 8"/>
          <p:cNvSpPr/>
          <p:nvPr/>
        </p:nvSpPr>
        <p:spPr>
          <a:xfrm>
            <a:off x="566928" y="2103120"/>
            <a:ext cx="11057839" cy="429768"/>
          </a:xfrm>
          <a:prstGeom prst="rect">
            <a:avLst/>
          </a:prstGeom>
          <a:solidFill>
            <a:srgbClr val="FFFFFF"/>
          </a:solidFill>
          <a:ln w="6350">
            <a:solidFill>
              <a:srgbClr val="E2E6EB"/>
            </a:solidFill>
            <a:prstDash val="solid"/>
          </a:ln>
        </p:spPr>
      </p:sp>
      <p:sp>
        <p:nvSpPr>
          <p:cNvPr id="11" name="Text 9"/>
          <p:cNvSpPr/>
          <p:nvPr/>
        </p:nvSpPr>
        <p:spPr>
          <a:xfrm>
            <a:off x="841248" y="2103120"/>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Read some, skip the rest</a:t>
            </a:r>
            <a:endParaRPr lang="en-US" sz="1250" dirty="0"/>
          </a:p>
        </p:txBody>
      </p:sp>
      <p:sp>
        <p:nvSpPr>
          <p:cNvPr id="12" name="Text 10"/>
          <p:cNvSpPr/>
          <p:nvPr/>
        </p:nvSpPr>
        <p:spPr>
          <a:xfrm>
            <a:off x="4315968" y="2103120"/>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Accordion</a:t>
            </a:r>
            <a:endParaRPr lang="en-US" sz="1250" dirty="0"/>
          </a:p>
        </p:txBody>
      </p:sp>
      <p:sp>
        <p:nvSpPr>
          <p:cNvPr id="13" name="Text 11"/>
          <p:cNvSpPr/>
          <p:nvPr/>
        </p:nvSpPr>
        <p:spPr>
          <a:xfrm>
            <a:off x="6967728" y="2103120"/>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Independent items, read on demand</a:t>
            </a:r>
            <a:endParaRPr lang="en-US" sz="1250" dirty="0"/>
          </a:p>
        </p:txBody>
      </p:sp>
      <p:sp>
        <p:nvSpPr>
          <p:cNvPr id="14" name="Shape 12"/>
          <p:cNvSpPr/>
          <p:nvPr/>
        </p:nvSpPr>
        <p:spPr>
          <a:xfrm>
            <a:off x="566928" y="2532888"/>
            <a:ext cx="11057839" cy="429768"/>
          </a:xfrm>
          <a:prstGeom prst="rect">
            <a:avLst/>
          </a:prstGeom>
          <a:solidFill>
            <a:srgbClr val="EDF1F5"/>
          </a:solidFill>
          <a:ln w="6350">
            <a:solidFill>
              <a:srgbClr val="E2E6EB"/>
            </a:solidFill>
            <a:prstDash val="solid"/>
          </a:ln>
        </p:spPr>
      </p:sp>
      <p:sp>
        <p:nvSpPr>
          <p:cNvPr id="15" name="Text 13"/>
          <p:cNvSpPr/>
          <p:nvPr/>
        </p:nvSpPr>
        <p:spPr>
          <a:xfrm>
            <a:off x="841248" y="2532888"/>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Compare like with like</a:t>
            </a:r>
            <a:endParaRPr lang="en-US" sz="1250" dirty="0"/>
          </a:p>
        </p:txBody>
      </p:sp>
      <p:sp>
        <p:nvSpPr>
          <p:cNvPr id="16" name="Text 14"/>
          <p:cNvSpPr/>
          <p:nvPr/>
        </p:nvSpPr>
        <p:spPr>
          <a:xfrm>
            <a:off x="4315968" y="2532888"/>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Tabs</a:t>
            </a:r>
            <a:endParaRPr lang="en-US" sz="1250" dirty="0"/>
          </a:p>
        </p:txBody>
      </p:sp>
      <p:sp>
        <p:nvSpPr>
          <p:cNvPr id="17" name="Text 15"/>
          <p:cNvSpPr/>
          <p:nvPr/>
        </p:nvSpPr>
        <p:spPr>
          <a:xfrm>
            <a:off x="6967728" y="2532888"/>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Same shape of content, switched in place</a:t>
            </a:r>
            <a:endParaRPr lang="en-US" sz="1250" dirty="0"/>
          </a:p>
        </p:txBody>
      </p:sp>
      <p:sp>
        <p:nvSpPr>
          <p:cNvPr id="18" name="Shape 16"/>
          <p:cNvSpPr/>
          <p:nvPr/>
        </p:nvSpPr>
        <p:spPr>
          <a:xfrm>
            <a:off x="566928" y="2962656"/>
            <a:ext cx="11057839" cy="429768"/>
          </a:xfrm>
          <a:prstGeom prst="rect">
            <a:avLst/>
          </a:prstGeom>
          <a:solidFill>
            <a:srgbClr val="FFFFFF"/>
          </a:solidFill>
          <a:ln w="6350">
            <a:solidFill>
              <a:srgbClr val="E2E6EB"/>
            </a:solidFill>
            <a:prstDash val="solid"/>
          </a:ln>
        </p:spPr>
      </p:sp>
      <p:sp>
        <p:nvSpPr>
          <p:cNvPr id="19" name="Text 17"/>
          <p:cNvSpPr/>
          <p:nvPr/>
        </p:nvSpPr>
        <p:spPr>
          <a:xfrm>
            <a:off x="841248" y="2962656"/>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Find it on the picture</a:t>
            </a:r>
            <a:endParaRPr lang="en-US" sz="1250" dirty="0"/>
          </a:p>
        </p:txBody>
      </p:sp>
      <p:sp>
        <p:nvSpPr>
          <p:cNvPr id="20" name="Text 18"/>
          <p:cNvSpPr/>
          <p:nvPr/>
        </p:nvSpPr>
        <p:spPr>
          <a:xfrm>
            <a:off x="4315968" y="2962656"/>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Labeled Graphic</a:t>
            </a:r>
            <a:endParaRPr lang="en-US" sz="1250" dirty="0"/>
          </a:p>
        </p:txBody>
      </p:sp>
      <p:sp>
        <p:nvSpPr>
          <p:cNvPr id="21" name="Text 19"/>
          <p:cNvSpPr/>
          <p:nvPr/>
        </p:nvSpPr>
        <p:spPr>
          <a:xfrm>
            <a:off x="6967728" y="2962656"/>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Position carries the meaning</a:t>
            </a:r>
            <a:endParaRPr lang="en-US" sz="1250" dirty="0"/>
          </a:p>
        </p:txBody>
      </p:sp>
      <p:sp>
        <p:nvSpPr>
          <p:cNvPr id="22" name="Shape 20"/>
          <p:cNvSpPr/>
          <p:nvPr/>
        </p:nvSpPr>
        <p:spPr>
          <a:xfrm>
            <a:off x="566928" y="3392424"/>
            <a:ext cx="11057839" cy="429768"/>
          </a:xfrm>
          <a:prstGeom prst="rect">
            <a:avLst/>
          </a:prstGeom>
          <a:solidFill>
            <a:srgbClr val="EDF1F5"/>
          </a:solidFill>
          <a:ln w="6350">
            <a:solidFill>
              <a:srgbClr val="E2E6EB"/>
            </a:solidFill>
            <a:prstDash val="solid"/>
          </a:ln>
        </p:spPr>
      </p:sp>
      <p:sp>
        <p:nvSpPr>
          <p:cNvPr id="23" name="Text 21"/>
          <p:cNvSpPr/>
          <p:nvPr/>
        </p:nvSpPr>
        <p:spPr>
          <a:xfrm>
            <a:off x="841248" y="3392424"/>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Follow the steps</a:t>
            </a:r>
            <a:endParaRPr lang="en-US" sz="1250" dirty="0"/>
          </a:p>
        </p:txBody>
      </p:sp>
      <p:sp>
        <p:nvSpPr>
          <p:cNvPr id="24" name="Text 22"/>
          <p:cNvSpPr/>
          <p:nvPr/>
        </p:nvSpPr>
        <p:spPr>
          <a:xfrm>
            <a:off x="4315968" y="3392424"/>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Process</a:t>
            </a:r>
            <a:endParaRPr lang="en-US" sz="1250" dirty="0"/>
          </a:p>
        </p:txBody>
      </p:sp>
      <p:sp>
        <p:nvSpPr>
          <p:cNvPr id="25" name="Text 23"/>
          <p:cNvSpPr/>
          <p:nvPr/>
        </p:nvSpPr>
        <p:spPr>
          <a:xfrm>
            <a:off x="6967728" y="3392424"/>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A procedure they will perform</a:t>
            </a:r>
            <a:endParaRPr lang="en-US" sz="1250" dirty="0"/>
          </a:p>
        </p:txBody>
      </p:sp>
      <p:sp>
        <p:nvSpPr>
          <p:cNvPr id="26" name="Shape 24"/>
          <p:cNvSpPr/>
          <p:nvPr/>
        </p:nvSpPr>
        <p:spPr>
          <a:xfrm>
            <a:off x="566928" y="3822192"/>
            <a:ext cx="11057839" cy="429768"/>
          </a:xfrm>
          <a:prstGeom prst="rect">
            <a:avLst/>
          </a:prstGeom>
          <a:solidFill>
            <a:srgbClr val="FFFFFF"/>
          </a:solidFill>
          <a:ln w="6350">
            <a:solidFill>
              <a:srgbClr val="E2E6EB"/>
            </a:solidFill>
            <a:prstDash val="solid"/>
          </a:ln>
        </p:spPr>
      </p:sp>
      <p:sp>
        <p:nvSpPr>
          <p:cNvPr id="27" name="Text 25"/>
          <p:cNvSpPr/>
          <p:nvPr/>
        </p:nvSpPr>
        <p:spPr>
          <a:xfrm>
            <a:off x="841248" y="3822192"/>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See what changed when</a:t>
            </a:r>
            <a:endParaRPr lang="en-US" sz="1250" dirty="0"/>
          </a:p>
        </p:txBody>
      </p:sp>
      <p:sp>
        <p:nvSpPr>
          <p:cNvPr id="28" name="Text 26"/>
          <p:cNvSpPr/>
          <p:nvPr/>
        </p:nvSpPr>
        <p:spPr>
          <a:xfrm>
            <a:off x="4315968" y="3822192"/>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Timeline</a:t>
            </a:r>
            <a:endParaRPr lang="en-US" sz="1250" dirty="0"/>
          </a:p>
        </p:txBody>
      </p:sp>
      <p:sp>
        <p:nvSpPr>
          <p:cNvPr id="29" name="Text 27"/>
          <p:cNvSpPr/>
          <p:nvPr/>
        </p:nvSpPr>
        <p:spPr>
          <a:xfrm>
            <a:off x="6967728" y="3822192"/>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Chronology, not a task</a:t>
            </a:r>
            <a:endParaRPr lang="en-US" sz="1250" dirty="0"/>
          </a:p>
        </p:txBody>
      </p:sp>
      <p:sp>
        <p:nvSpPr>
          <p:cNvPr id="30" name="Shape 28"/>
          <p:cNvSpPr/>
          <p:nvPr/>
        </p:nvSpPr>
        <p:spPr>
          <a:xfrm>
            <a:off x="566928" y="4251960"/>
            <a:ext cx="11057839" cy="429768"/>
          </a:xfrm>
          <a:prstGeom prst="rect">
            <a:avLst/>
          </a:prstGeom>
          <a:solidFill>
            <a:srgbClr val="EDF1F5"/>
          </a:solidFill>
          <a:ln w="6350">
            <a:solidFill>
              <a:srgbClr val="E2E6EB"/>
            </a:solidFill>
            <a:prstDash val="solid"/>
          </a:ln>
        </p:spPr>
      </p:sp>
      <p:sp>
        <p:nvSpPr>
          <p:cNvPr id="31" name="Text 29"/>
          <p:cNvSpPr/>
          <p:nvPr/>
        </p:nvSpPr>
        <p:spPr>
          <a:xfrm>
            <a:off x="841248" y="4251960"/>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Try to remember it</a:t>
            </a:r>
            <a:endParaRPr lang="en-US" sz="1250" dirty="0"/>
          </a:p>
        </p:txBody>
      </p:sp>
      <p:sp>
        <p:nvSpPr>
          <p:cNvPr id="32" name="Text 30"/>
          <p:cNvSpPr/>
          <p:nvPr/>
        </p:nvSpPr>
        <p:spPr>
          <a:xfrm>
            <a:off x="4315968" y="4251960"/>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Flashcards</a:t>
            </a:r>
            <a:endParaRPr lang="en-US" sz="1250" dirty="0"/>
          </a:p>
        </p:txBody>
      </p:sp>
      <p:sp>
        <p:nvSpPr>
          <p:cNvPr id="33" name="Text 31"/>
          <p:cNvSpPr/>
          <p:nvPr/>
        </p:nvSpPr>
        <p:spPr>
          <a:xfrm>
            <a:off x="6967728" y="4251960"/>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Retrieval practice — front must ask something</a:t>
            </a:r>
            <a:endParaRPr lang="en-US" sz="1250" dirty="0"/>
          </a:p>
        </p:txBody>
      </p:sp>
      <p:sp>
        <p:nvSpPr>
          <p:cNvPr id="34" name="Shape 32"/>
          <p:cNvSpPr/>
          <p:nvPr/>
        </p:nvSpPr>
        <p:spPr>
          <a:xfrm>
            <a:off x="566928" y="4681728"/>
            <a:ext cx="11057839" cy="429768"/>
          </a:xfrm>
          <a:prstGeom prst="rect">
            <a:avLst/>
          </a:prstGeom>
          <a:solidFill>
            <a:srgbClr val="FFFFFF"/>
          </a:solidFill>
          <a:ln w="6350">
            <a:solidFill>
              <a:srgbClr val="E2E6EB"/>
            </a:solidFill>
            <a:prstDash val="solid"/>
          </a:ln>
        </p:spPr>
      </p:sp>
      <p:sp>
        <p:nvSpPr>
          <p:cNvPr id="35" name="Text 33"/>
          <p:cNvSpPr/>
          <p:nvPr/>
        </p:nvSpPr>
        <p:spPr>
          <a:xfrm>
            <a:off x="841248" y="4681728"/>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Tell these apart</a:t>
            </a:r>
            <a:endParaRPr lang="en-US" sz="1250" dirty="0"/>
          </a:p>
        </p:txBody>
      </p:sp>
      <p:sp>
        <p:nvSpPr>
          <p:cNvPr id="36" name="Text 34"/>
          <p:cNvSpPr/>
          <p:nvPr/>
        </p:nvSpPr>
        <p:spPr>
          <a:xfrm>
            <a:off x="4315968" y="4681728"/>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Sorting Activity</a:t>
            </a:r>
            <a:endParaRPr lang="en-US" sz="1250" dirty="0"/>
          </a:p>
        </p:txBody>
      </p:sp>
      <p:sp>
        <p:nvSpPr>
          <p:cNvPr id="37" name="Text 35"/>
          <p:cNvSpPr/>
          <p:nvPr/>
        </p:nvSpPr>
        <p:spPr>
          <a:xfrm>
            <a:off x="6967728" y="4681728"/>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The judgement is the learning</a:t>
            </a:r>
            <a:endParaRPr lang="en-US" sz="1250" dirty="0"/>
          </a:p>
        </p:txBody>
      </p:sp>
      <p:sp>
        <p:nvSpPr>
          <p:cNvPr id="38" name="Shape 36"/>
          <p:cNvSpPr/>
          <p:nvPr/>
        </p:nvSpPr>
        <p:spPr>
          <a:xfrm>
            <a:off x="566928" y="5111496"/>
            <a:ext cx="11057839" cy="429768"/>
          </a:xfrm>
          <a:prstGeom prst="rect">
            <a:avLst/>
          </a:prstGeom>
          <a:solidFill>
            <a:srgbClr val="EDF1F5"/>
          </a:solidFill>
          <a:ln w="6350">
            <a:solidFill>
              <a:srgbClr val="E2E6EB"/>
            </a:solidFill>
            <a:prstDash val="solid"/>
          </a:ln>
        </p:spPr>
      </p:sp>
      <p:sp>
        <p:nvSpPr>
          <p:cNvPr id="39" name="Text 37"/>
          <p:cNvSpPr/>
          <p:nvPr/>
        </p:nvSpPr>
        <p:spPr>
          <a:xfrm>
            <a:off x="841248" y="5111496"/>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Choose, and live with it</a:t>
            </a:r>
            <a:endParaRPr lang="en-US" sz="1250" dirty="0"/>
          </a:p>
        </p:txBody>
      </p:sp>
      <p:sp>
        <p:nvSpPr>
          <p:cNvPr id="40" name="Text 38"/>
          <p:cNvSpPr/>
          <p:nvPr/>
        </p:nvSpPr>
        <p:spPr>
          <a:xfrm>
            <a:off x="4315968" y="5111496"/>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Scenario</a:t>
            </a:r>
            <a:endParaRPr lang="en-US" sz="1250" dirty="0"/>
          </a:p>
        </p:txBody>
      </p:sp>
      <p:sp>
        <p:nvSpPr>
          <p:cNvPr id="41" name="Text 39"/>
          <p:cNvSpPr/>
          <p:nvPr/>
        </p:nvSpPr>
        <p:spPr>
          <a:xfrm>
            <a:off x="6967728" y="5111496"/>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Decisions with consequences</a:t>
            </a:r>
            <a:endParaRPr lang="en-US" sz="1250" dirty="0"/>
          </a:p>
        </p:txBody>
      </p:sp>
      <p:sp>
        <p:nvSpPr>
          <p:cNvPr id="42" name="Shape 40"/>
          <p:cNvSpPr/>
          <p:nvPr/>
        </p:nvSpPr>
        <p:spPr>
          <a:xfrm>
            <a:off x="566928" y="5541264"/>
            <a:ext cx="11057839" cy="429768"/>
          </a:xfrm>
          <a:prstGeom prst="rect">
            <a:avLst/>
          </a:prstGeom>
          <a:solidFill>
            <a:srgbClr val="FFFFFF"/>
          </a:solidFill>
          <a:ln w="6350">
            <a:solidFill>
              <a:srgbClr val="E2E6EB"/>
            </a:solidFill>
            <a:prstDash val="solid"/>
          </a:ln>
        </p:spPr>
      </p:sp>
      <p:sp>
        <p:nvSpPr>
          <p:cNvPr id="43" name="Text 41"/>
          <p:cNvSpPr/>
          <p:nvPr/>
        </p:nvSpPr>
        <p:spPr>
          <a:xfrm>
            <a:off x="841248" y="5541264"/>
            <a:ext cx="3474720" cy="429768"/>
          </a:xfrm>
          <a:prstGeom prst="rect">
            <a:avLst/>
          </a:prstGeom>
          <a:noFill/>
          <a:ln/>
        </p:spPr>
        <p:txBody>
          <a:bodyPr wrap="square" lIns="0" tIns="0" rIns="0" bIns="0" rtlCol="0" anchor="ctr"/>
          <a:lstStyle/>
          <a:p>
            <a:pPr indent="0" marL="0">
              <a:buNone/>
            </a:pPr>
            <a:r>
              <a:rPr lang="en-US" sz="1250" dirty="0">
                <a:solidFill>
                  <a:srgbClr val="12161F"/>
                </a:solidFill>
                <a:latin typeface="Calibri" pitchFamily="34" charset="0"/>
                <a:ea typeface="Calibri" pitchFamily="34" charset="-122"/>
                <a:cs typeface="Calibri" pitchFamily="34" charset="-120"/>
              </a:rPr>
              <a:t>Go somewhere next</a:t>
            </a:r>
            <a:endParaRPr lang="en-US" sz="1250" dirty="0"/>
          </a:p>
        </p:txBody>
      </p:sp>
      <p:sp>
        <p:nvSpPr>
          <p:cNvPr id="44" name="Text 42"/>
          <p:cNvSpPr/>
          <p:nvPr/>
        </p:nvSpPr>
        <p:spPr>
          <a:xfrm>
            <a:off x="4315968" y="5541264"/>
            <a:ext cx="2651760" cy="429768"/>
          </a:xfrm>
          <a:prstGeom prst="rect">
            <a:avLst/>
          </a:prstGeom>
          <a:noFill/>
          <a:ln/>
        </p:spPr>
        <p:txBody>
          <a:bodyPr wrap="square" lIns="0" tIns="0" rIns="0" bIns="0" rtlCol="0" anchor="ctr"/>
          <a:lstStyle/>
          <a:p>
            <a:pPr indent="0" marL="0">
              <a:buNone/>
            </a:pPr>
            <a:r>
              <a:rPr lang="en-US" sz="1250" b="1" dirty="0">
                <a:solidFill>
                  <a:srgbClr val="ED6A2A"/>
                </a:solidFill>
                <a:latin typeface="Calibri" pitchFamily="34" charset="0"/>
                <a:ea typeface="Calibri" pitchFamily="34" charset="-122"/>
                <a:cs typeface="Calibri" pitchFamily="34" charset="-120"/>
              </a:rPr>
              <a:t>Button / stack</a:t>
            </a:r>
            <a:endParaRPr lang="en-US" sz="1250" dirty="0"/>
          </a:p>
        </p:txBody>
      </p:sp>
      <p:sp>
        <p:nvSpPr>
          <p:cNvPr id="45" name="Text 43"/>
          <p:cNvSpPr/>
          <p:nvPr/>
        </p:nvSpPr>
        <p:spPr>
          <a:xfrm>
            <a:off x="6967728" y="5541264"/>
            <a:ext cx="4382719" cy="429768"/>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Label it with what happens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Four rules for interactions</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Each one prevents a specific way that interactive lessons go wrong.</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14</a:t>
            </a:r>
            <a:endParaRPr lang="en-US" sz="950" dirty="0"/>
          </a:p>
        </p:txBody>
      </p:sp>
      <p:sp>
        <p:nvSpPr>
          <p:cNvPr id="6" name="Shape 4"/>
          <p:cNvSpPr/>
          <p:nvPr/>
        </p:nvSpPr>
        <p:spPr>
          <a:xfrm>
            <a:off x="566928" y="1737360"/>
            <a:ext cx="2558720" cy="3401568"/>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22960" y="1975104"/>
            <a:ext cx="402336" cy="402336"/>
          </a:xfrm>
          <a:prstGeom prst="roundRect">
            <a:avLst>
              <a:gd name="adj" fmla="val 22727"/>
            </a:avLst>
          </a:prstGeom>
          <a:solidFill>
            <a:srgbClr val="ED6A2A"/>
          </a:solidFill>
          <a:ln/>
        </p:spPr>
      </p:sp>
      <p:sp>
        <p:nvSpPr>
          <p:cNvPr id="8" name="Text 6"/>
          <p:cNvSpPr/>
          <p:nvPr/>
        </p:nvSpPr>
        <p:spPr>
          <a:xfrm>
            <a:off x="82296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822960" y="2505456"/>
            <a:ext cx="2046656" cy="676656"/>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Lead in</a:t>
            </a:r>
            <a:endParaRPr lang="en-US" sz="1800" dirty="0"/>
          </a:p>
        </p:txBody>
      </p:sp>
      <p:sp>
        <p:nvSpPr>
          <p:cNvPr id="10" name="Text 8"/>
          <p:cNvSpPr/>
          <p:nvPr/>
        </p:nvSpPr>
        <p:spPr>
          <a:xfrm>
            <a:off x="822960" y="3218688"/>
            <a:ext cx="2046656" cy="1225296"/>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Every interaction needs a line above it saying what it is and what to do with it.</a:t>
            </a:r>
            <a:endParaRPr lang="en-US" sz="1250" dirty="0"/>
          </a:p>
        </p:txBody>
      </p:sp>
      <p:sp>
        <p:nvSpPr>
          <p:cNvPr id="11" name="Text 9"/>
          <p:cNvSpPr/>
          <p:nvPr/>
        </p:nvSpPr>
        <p:spPr>
          <a:xfrm>
            <a:off x="822960" y="4517136"/>
            <a:ext cx="2046656" cy="512064"/>
          </a:xfrm>
          <a:prstGeom prst="rect">
            <a:avLst/>
          </a:prstGeom>
          <a:noFill/>
          <a:ln/>
        </p:spPr>
        <p:txBody>
          <a:bodyPr wrap="square" lIns="0" tIns="0" rIns="0" bIns="0" rtlCol="0" anchor="t"/>
          <a:lstStyle/>
          <a:p>
            <a:pPr indent="0" marL="0">
              <a:lnSpc>
                <a:spcPts val="1500"/>
              </a:lnSpc>
              <a:buNone/>
            </a:pPr>
            <a:r>
              <a:rPr lang="en-US" sz="1150" b="1" dirty="0">
                <a:solidFill>
                  <a:srgbClr val="2E7D5B"/>
                </a:solidFill>
                <a:latin typeface="Calibri" pitchFamily="34" charset="0"/>
                <a:ea typeface="Calibri" pitchFamily="34" charset="-122"/>
                <a:cs typeface="Calibri" pitchFamily="34" charset="-120"/>
              </a:rPr>
              <a:t>Prevents: a bare accordion nobody opens</a:t>
            </a:r>
            <a:endParaRPr lang="en-US" sz="1150" dirty="0"/>
          </a:p>
        </p:txBody>
      </p:sp>
      <p:sp>
        <p:nvSpPr>
          <p:cNvPr id="12" name="Shape 10"/>
          <p:cNvSpPr/>
          <p:nvPr/>
        </p:nvSpPr>
        <p:spPr>
          <a:xfrm>
            <a:off x="3399968" y="1737360"/>
            <a:ext cx="2558720" cy="3401568"/>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Shape 11"/>
          <p:cNvSpPr/>
          <p:nvPr/>
        </p:nvSpPr>
        <p:spPr>
          <a:xfrm>
            <a:off x="3656000" y="1975104"/>
            <a:ext cx="402336" cy="402336"/>
          </a:xfrm>
          <a:prstGeom prst="roundRect">
            <a:avLst>
              <a:gd name="adj" fmla="val 22727"/>
            </a:avLst>
          </a:prstGeom>
          <a:solidFill>
            <a:srgbClr val="ED6A2A"/>
          </a:solidFill>
          <a:ln/>
        </p:spPr>
      </p:sp>
      <p:sp>
        <p:nvSpPr>
          <p:cNvPr id="14" name="Text 12"/>
          <p:cNvSpPr/>
          <p:nvPr/>
        </p:nvSpPr>
        <p:spPr>
          <a:xfrm>
            <a:off x="365600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3656000" y="2505456"/>
            <a:ext cx="2046656" cy="676656"/>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One per screenful</a:t>
            </a:r>
            <a:endParaRPr lang="en-US" sz="1800" dirty="0"/>
          </a:p>
        </p:txBody>
      </p:sp>
      <p:sp>
        <p:nvSpPr>
          <p:cNvPr id="16" name="Text 14"/>
          <p:cNvSpPr/>
          <p:nvPr/>
        </p:nvSpPr>
        <p:spPr>
          <a:xfrm>
            <a:off x="3656000" y="3218688"/>
            <a:ext cx="2046656" cy="1225296"/>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Space them out. Two interactions back to back read as a quiz nobody agreed to take.</a:t>
            </a:r>
            <a:endParaRPr lang="en-US" sz="1250" dirty="0"/>
          </a:p>
        </p:txBody>
      </p:sp>
      <p:sp>
        <p:nvSpPr>
          <p:cNvPr id="17" name="Text 15"/>
          <p:cNvSpPr/>
          <p:nvPr/>
        </p:nvSpPr>
        <p:spPr>
          <a:xfrm>
            <a:off x="3656000" y="4517136"/>
            <a:ext cx="2046656" cy="512064"/>
          </a:xfrm>
          <a:prstGeom prst="rect">
            <a:avLst/>
          </a:prstGeom>
          <a:noFill/>
          <a:ln/>
        </p:spPr>
        <p:txBody>
          <a:bodyPr wrap="square" lIns="0" tIns="0" rIns="0" bIns="0" rtlCol="0" anchor="t"/>
          <a:lstStyle/>
          <a:p>
            <a:pPr indent="0" marL="0">
              <a:lnSpc>
                <a:spcPts val="1500"/>
              </a:lnSpc>
              <a:buNone/>
            </a:pPr>
            <a:r>
              <a:rPr lang="en-US" sz="1150" b="1" dirty="0">
                <a:solidFill>
                  <a:srgbClr val="2E7D5B"/>
                </a:solidFill>
                <a:latin typeface="Calibri" pitchFamily="34" charset="0"/>
                <a:ea typeface="Calibri" pitchFamily="34" charset="-122"/>
                <a:cs typeface="Calibri" pitchFamily="34" charset="-120"/>
              </a:rPr>
              <a:t>Prevents: interaction fatigue</a:t>
            </a:r>
            <a:endParaRPr lang="en-US" sz="1150" dirty="0"/>
          </a:p>
        </p:txBody>
      </p:sp>
      <p:sp>
        <p:nvSpPr>
          <p:cNvPr id="18" name="Shape 16"/>
          <p:cNvSpPr/>
          <p:nvPr/>
        </p:nvSpPr>
        <p:spPr>
          <a:xfrm>
            <a:off x="6233008" y="1737360"/>
            <a:ext cx="2558720" cy="3401568"/>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Shape 17"/>
          <p:cNvSpPr/>
          <p:nvPr/>
        </p:nvSpPr>
        <p:spPr>
          <a:xfrm>
            <a:off x="6489040" y="1975104"/>
            <a:ext cx="402336" cy="402336"/>
          </a:xfrm>
          <a:prstGeom prst="roundRect">
            <a:avLst>
              <a:gd name="adj" fmla="val 22727"/>
            </a:avLst>
          </a:prstGeom>
          <a:solidFill>
            <a:srgbClr val="ED6A2A"/>
          </a:solidFill>
          <a:ln/>
        </p:spPr>
      </p:sp>
      <p:sp>
        <p:nvSpPr>
          <p:cNvPr id="20" name="Text 18"/>
          <p:cNvSpPr/>
          <p:nvPr/>
        </p:nvSpPr>
        <p:spPr>
          <a:xfrm>
            <a:off x="648904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p:nvPr/>
        </p:nvSpPr>
        <p:spPr>
          <a:xfrm>
            <a:off x="6489040" y="2505456"/>
            <a:ext cx="2046656" cy="676656"/>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Never hide the critical</a:t>
            </a:r>
            <a:endParaRPr lang="en-US" sz="1800" dirty="0"/>
          </a:p>
        </p:txBody>
      </p:sp>
      <p:sp>
        <p:nvSpPr>
          <p:cNvPr id="22" name="Text 20"/>
          <p:cNvSpPr/>
          <p:nvPr/>
        </p:nvSpPr>
        <p:spPr>
          <a:xfrm>
            <a:off x="6489040" y="3218688"/>
            <a:ext cx="2046656" cy="1225296"/>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Warnings, deadlines, safety steps stay in the open, in a Statement or Note.</a:t>
            </a:r>
            <a:endParaRPr lang="en-US" sz="1250" dirty="0"/>
          </a:p>
        </p:txBody>
      </p:sp>
      <p:sp>
        <p:nvSpPr>
          <p:cNvPr id="23" name="Text 21"/>
          <p:cNvSpPr/>
          <p:nvPr/>
        </p:nvSpPr>
        <p:spPr>
          <a:xfrm>
            <a:off x="6489040" y="4517136"/>
            <a:ext cx="2046656" cy="512064"/>
          </a:xfrm>
          <a:prstGeom prst="rect">
            <a:avLst/>
          </a:prstGeom>
          <a:noFill/>
          <a:ln/>
        </p:spPr>
        <p:txBody>
          <a:bodyPr wrap="square" lIns="0" tIns="0" rIns="0" bIns="0" rtlCol="0" anchor="t"/>
          <a:lstStyle/>
          <a:p>
            <a:pPr indent="0" marL="0">
              <a:lnSpc>
                <a:spcPts val="1500"/>
              </a:lnSpc>
              <a:buNone/>
            </a:pPr>
            <a:r>
              <a:rPr lang="en-US" sz="1150" b="1" dirty="0">
                <a:solidFill>
                  <a:srgbClr val="2E7D5B"/>
                </a:solidFill>
                <a:latin typeface="Calibri" pitchFamily="34" charset="0"/>
                <a:ea typeface="Calibri" pitchFamily="34" charset="-122"/>
                <a:cs typeface="Calibri" pitchFamily="34" charset="-120"/>
              </a:rPr>
              <a:t>Prevents: the click that gets skipped</a:t>
            </a:r>
            <a:endParaRPr lang="en-US" sz="1150" dirty="0"/>
          </a:p>
        </p:txBody>
      </p:sp>
      <p:sp>
        <p:nvSpPr>
          <p:cNvPr id="24" name="Shape 22"/>
          <p:cNvSpPr/>
          <p:nvPr/>
        </p:nvSpPr>
        <p:spPr>
          <a:xfrm>
            <a:off x="9066047" y="1737360"/>
            <a:ext cx="2558720" cy="3401568"/>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5" name="Shape 23"/>
          <p:cNvSpPr/>
          <p:nvPr/>
        </p:nvSpPr>
        <p:spPr>
          <a:xfrm>
            <a:off x="9322079" y="1975104"/>
            <a:ext cx="402336" cy="402336"/>
          </a:xfrm>
          <a:prstGeom prst="roundRect">
            <a:avLst>
              <a:gd name="adj" fmla="val 22727"/>
            </a:avLst>
          </a:prstGeom>
          <a:solidFill>
            <a:srgbClr val="ED6A2A"/>
          </a:solidFill>
          <a:ln/>
        </p:spPr>
      </p:sp>
      <p:sp>
        <p:nvSpPr>
          <p:cNvPr id="26" name="Text 24"/>
          <p:cNvSpPr/>
          <p:nvPr/>
        </p:nvSpPr>
        <p:spPr>
          <a:xfrm>
            <a:off x="9322079"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p:nvPr/>
        </p:nvSpPr>
        <p:spPr>
          <a:xfrm>
            <a:off x="9322079" y="2505456"/>
            <a:ext cx="2046656" cy="676656"/>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Check it on a phone</a:t>
            </a:r>
            <a:endParaRPr lang="en-US" sz="1800" dirty="0"/>
          </a:p>
        </p:txBody>
      </p:sp>
      <p:sp>
        <p:nvSpPr>
          <p:cNvPr id="28" name="Text 26"/>
          <p:cNvSpPr/>
          <p:nvPr/>
        </p:nvSpPr>
        <p:spPr>
          <a:xfrm>
            <a:off x="9322079" y="3218688"/>
            <a:ext cx="2046656" cy="1225296"/>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Markers crowd, drag targets shrink, tab labels wrap. Preview mobile portrait before you call it done.</a:t>
            </a:r>
            <a:endParaRPr lang="en-US" sz="1250" dirty="0"/>
          </a:p>
        </p:txBody>
      </p:sp>
      <p:sp>
        <p:nvSpPr>
          <p:cNvPr id="29" name="Text 27"/>
          <p:cNvSpPr/>
          <p:nvPr/>
        </p:nvSpPr>
        <p:spPr>
          <a:xfrm>
            <a:off x="9322079" y="4517136"/>
            <a:ext cx="2046656" cy="512064"/>
          </a:xfrm>
          <a:prstGeom prst="rect">
            <a:avLst/>
          </a:prstGeom>
          <a:noFill/>
          <a:ln/>
        </p:spPr>
        <p:txBody>
          <a:bodyPr wrap="square" lIns="0" tIns="0" rIns="0" bIns="0" rtlCol="0" anchor="t"/>
          <a:lstStyle/>
          <a:p>
            <a:pPr indent="0" marL="0">
              <a:lnSpc>
                <a:spcPts val="1500"/>
              </a:lnSpc>
              <a:buNone/>
            </a:pPr>
            <a:r>
              <a:rPr lang="en-US" sz="1150" b="1" dirty="0">
                <a:solidFill>
                  <a:srgbClr val="2E7D5B"/>
                </a:solidFill>
                <a:latin typeface="Calibri" pitchFamily="34" charset="0"/>
                <a:ea typeface="Calibri" pitchFamily="34" charset="-122"/>
                <a:cs typeface="Calibri" pitchFamily="34" charset="-120"/>
              </a:rPr>
              <a:t>Prevents: the defect you ship</a:t>
            </a:r>
            <a:endParaRPr lang="en-US" sz="1150" dirty="0"/>
          </a:p>
        </p:txBody>
      </p:sp>
      <p:sp>
        <p:nvSpPr>
          <p:cNvPr id="30" name="Shape 28"/>
          <p:cNvSpPr/>
          <p:nvPr/>
        </p:nvSpPr>
        <p:spPr>
          <a:xfrm>
            <a:off x="566928" y="5230368"/>
            <a:ext cx="11057839" cy="658368"/>
          </a:xfrm>
          <a:prstGeom prst="roundRect">
            <a:avLst>
              <a:gd name="adj" fmla="val 1250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31" name="Text 29"/>
          <p:cNvSpPr/>
          <p:nvPr/>
        </p:nvSpPr>
        <p:spPr>
          <a:xfrm>
            <a:off x="914400" y="5230368"/>
            <a:ext cx="10362895" cy="658368"/>
          </a:xfrm>
          <a:prstGeom prst="rect">
            <a:avLst/>
          </a:prstGeom>
          <a:noFill/>
          <a:ln/>
        </p:spPr>
        <p:txBody>
          <a:bodyPr wrap="square" lIns="0" tIns="0" rIns="0" bIns="0" rtlCol="0" anchor="ctr"/>
          <a:lstStyle/>
          <a:p>
            <a:pPr indent="0" marL="0">
              <a:lnSpc>
                <a:spcPts val="1800"/>
              </a:lnSpc>
              <a:buNone/>
            </a:pPr>
            <a:r>
              <a:rPr lang="en-US" sz="1300" b="1" dirty="0">
                <a:solidFill>
                  <a:srgbClr val="12161F"/>
                </a:solidFill>
                <a:latin typeface="Calibri" pitchFamily="34" charset="0"/>
                <a:ea typeface="Calibri" pitchFamily="34" charset="-122"/>
                <a:cs typeface="Calibri" pitchFamily="34" charset="-120"/>
              </a:rPr>
              <a:t>The test for any interaction:  </a:t>
            </a:r>
            <a:pPr indent="0" marL="0">
              <a:lnSpc>
                <a:spcPts val="1800"/>
              </a:lnSpc>
              <a:buNone/>
            </a:pPr>
            <a:r>
              <a:rPr lang="en-US" sz="1300" dirty="0">
                <a:solidFill>
                  <a:srgbClr val="5A6675"/>
                </a:solidFill>
                <a:latin typeface="Calibri" pitchFamily="34" charset="0"/>
                <a:ea typeface="Calibri" pitchFamily="34" charset="-122"/>
                <a:cs typeface="Calibri" pitchFamily="34" charset="-120"/>
              </a:rPr>
              <a:t>if you removed it and pasted the content back in as text, would the lesson be worse? If not, remove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BONUS</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Past the block list</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What Rise cannot build on its own — and the twenty minutes it takes to get around that.</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3  ·  Blocks that answer back</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Code in Rise: what actually runs</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most common misunderstanding on this course, and it is worth ten minutes.</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16</a:t>
            </a:r>
            <a:endParaRPr lang="en-US" sz="950" dirty="0"/>
          </a:p>
        </p:txBody>
      </p:sp>
      <p:sp>
        <p:nvSpPr>
          <p:cNvPr id="6" name="Shape 4"/>
          <p:cNvSpPr/>
          <p:nvPr/>
        </p:nvSpPr>
        <p:spPr>
          <a:xfrm>
            <a:off x="566928" y="1737360"/>
            <a:ext cx="3442106" cy="2468880"/>
          </a:xfrm>
          <a:prstGeom prst="roundRect">
            <a:avLst>
              <a:gd name="adj" fmla="val 333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77824" y="1920240"/>
            <a:ext cx="2820314" cy="256032"/>
          </a:xfrm>
          <a:prstGeom prst="rect">
            <a:avLst/>
          </a:prstGeom>
          <a:noFill/>
          <a:ln/>
        </p:spPr>
        <p:txBody>
          <a:bodyPr wrap="square" lIns="0" tIns="0" rIns="0" bIns="0" rtlCol="0" anchor="ctr"/>
          <a:lstStyle/>
          <a:p>
            <a:pPr indent="0" marL="0">
              <a:buNone/>
            </a:pPr>
            <a:r>
              <a:rPr lang="en-US" sz="1050" b="1" spc="140" kern="0" dirty="0">
                <a:solidFill>
                  <a:srgbClr val="5A6675"/>
                </a:solidFill>
                <a:latin typeface="Calibri" pitchFamily="34" charset="0"/>
                <a:ea typeface="Calibri" pitchFamily="34" charset="-122"/>
                <a:cs typeface="Calibri" pitchFamily="34" charset="-120"/>
              </a:rPr>
              <a:t>Static block</a:t>
            </a:r>
            <a:endParaRPr lang="en-US" sz="1050" dirty="0"/>
          </a:p>
        </p:txBody>
      </p:sp>
      <p:sp>
        <p:nvSpPr>
          <p:cNvPr id="8" name="Text 6"/>
          <p:cNvSpPr/>
          <p:nvPr/>
        </p:nvSpPr>
        <p:spPr>
          <a:xfrm>
            <a:off x="877824" y="2212848"/>
            <a:ext cx="2820314" cy="402336"/>
          </a:xfrm>
          <a:prstGeom prst="rect">
            <a:avLst/>
          </a:prstGeom>
          <a:noFill/>
          <a:ln/>
        </p:spPr>
        <p:txBody>
          <a:bodyPr wrap="square" lIns="0" tIns="0" rIns="0" bIns="0" rtlCol="0" anchor="ctr"/>
          <a:lstStyle/>
          <a:p>
            <a:pPr indent="0" marL="0">
              <a:buNone/>
            </a:pPr>
            <a:r>
              <a:rPr lang="en-US" sz="2200" b="1" dirty="0">
                <a:solidFill>
                  <a:srgbClr val="12161F"/>
                </a:solidFill>
                <a:latin typeface="Cambria" pitchFamily="34" charset="0"/>
                <a:ea typeface="Cambria" pitchFamily="34" charset="-122"/>
                <a:cs typeface="Cambria" pitchFamily="34" charset="-120"/>
              </a:rPr>
              <a:t>Code snippet</a:t>
            </a:r>
            <a:endParaRPr lang="en-US" sz="2200" dirty="0"/>
          </a:p>
        </p:txBody>
      </p:sp>
      <p:sp>
        <p:nvSpPr>
          <p:cNvPr id="9" name="Text 7"/>
          <p:cNvSpPr/>
          <p:nvPr/>
        </p:nvSpPr>
        <p:spPr>
          <a:xfrm>
            <a:off x="877824" y="2688336"/>
            <a:ext cx="2820314" cy="128016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Displays code as monospaced text. It is a picture of code. Nothing executes — not one line.</a:t>
            </a:r>
            <a:endParaRPr lang="en-US" sz="1300" dirty="0"/>
          </a:p>
        </p:txBody>
      </p:sp>
      <p:sp>
        <p:nvSpPr>
          <p:cNvPr id="10" name="Shape 8"/>
          <p:cNvSpPr/>
          <p:nvPr/>
        </p:nvSpPr>
        <p:spPr>
          <a:xfrm>
            <a:off x="4374794" y="1737360"/>
            <a:ext cx="3442106" cy="2468880"/>
          </a:xfrm>
          <a:prstGeom prst="roundRect">
            <a:avLst>
              <a:gd name="adj" fmla="val 3333"/>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4685690" y="1920240"/>
            <a:ext cx="2820314" cy="256032"/>
          </a:xfrm>
          <a:prstGeom prst="rect">
            <a:avLst/>
          </a:prstGeom>
          <a:noFill/>
          <a:ln/>
        </p:spPr>
        <p:txBody>
          <a:bodyPr wrap="square" lIns="0" tIns="0" rIns="0" bIns="0" rtlCol="0" anchor="ctr"/>
          <a:lstStyle/>
          <a:p>
            <a:pPr indent="0" marL="0">
              <a:buNone/>
            </a:pPr>
            <a:r>
              <a:rPr lang="en-US" sz="1050" b="1" spc="140" kern="0" dirty="0">
                <a:solidFill>
                  <a:srgbClr val="ED6A2A"/>
                </a:solidFill>
                <a:latin typeface="Calibri" pitchFamily="34" charset="0"/>
                <a:ea typeface="Calibri" pitchFamily="34" charset="-122"/>
                <a:cs typeface="Calibri" pitchFamily="34" charset="-120"/>
              </a:rPr>
              <a:t>Static block</a:t>
            </a:r>
            <a:endParaRPr lang="en-US" sz="1050" dirty="0"/>
          </a:p>
        </p:txBody>
      </p:sp>
      <p:sp>
        <p:nvSpPr>
          <p:cNvPr id="12" name="Text 10"/>
          <p:cNvSpPr/>
          <p:nvPr/>
        </p:nvSpPr>
        <p:spPr>
          <a:xfrm>
            <a:off x="4685690" y="2212848"/>
            <a:ext cx="2820314"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Embed</a:t>
            </a:r>
            <a:endParaRPr lang="en-US" sz="2200" dirty="0"/>
          </a:p>
        </p:txBody>
      </p:sp>
      <p:sp>
        <p:nvSpPr>
          <p:cNvPr id="13" name="Text 11"/>
          <p:cNvSpPr/>
          <p:nvPr/>
        </p:nvSpPr>
        <p:spPr>
          <a:xfrm>
            <a:off x="4685690" y="2688336"/>
            <a:ext cx="2820314" cy="1280160"/>
          </a:xfrm>
          <a:prstGeom prst="rect">
            <a:avLst/>
          </a:prstGeom>
          <a:noFill/>
          <a:ln/>
        </p:spPr>
        <p:txBody>
          <a:bodyPr wrap="square" lIns="0" tIns="0" rIns="0" bIns="0" rtlCol="0" anchor="t"/>
          <a:lstStyle/>
          <a:p>
            <a:pPr indent="0" marL="0">
              <a:lnSpc>
                <a:spcPts val="1900"/>
              </a:lnSpc>
              <a:buNone/>
            </a:pPr>
            <a:r>
              <a:rPr lang="en-US" sz="1300" dirty="0">
                <a:solidFill>
                  <a:srgbClr val="A9B3C0"/>
                </a:solidFill>
                <a:latin typeface="Calibri" pitchFamily="34" charset="0"/>
                <a:ea typeface="Calibri" pitchFamily="34" charset="-122"/>
                <a:cs typeface="Calibri" pitchFamily="34" charset="-120"/>
              </a:rPr>
              <a:t>Pulls in a page you host at a public HTTPS address. Your HTML, CSS and JavaScript run inside it.</a:t>
            </a:r>
            <a:endParaRPr lang="en-US" sz="1300" dirty="0"/>
          </a:p>
        </p:txBody>
      </p:sp>
      <p:sp>
        <p:nvSpPr>
          <p:cNvPr id="14" name="Shape 12"/>
          <p:cNvSpPr/>
          <p:nvPr/>
        </p:nvSpPr>
        <p:spPr>
          <a:xfrm>
            <a:off x="8182661" y="1737360"/>
            <a:ext cx="3442106" cy="2468880"/>
          </a:xfrm>
          <a:prstGeom prst="roundRect">
            <a:avLst>
              <a:gd name="adj" fmla="val 333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5" name="Text 13"/>
          <p:cNvSpPr/>
          <p:nvPr/>
        </p:nvSpPr>
        <p:spPr>
          <a:xfrm>
            <a:off x="8493557" y="1920240"/>
            <a:ext cx="2820314" cy="256032"/>
          </a:xfrm>
          <a:prstGeom prst="rect">
            <a:avLst/>
          </a:prstGeom>
          <a:noFill/>
          <a:ln/>
        </p:spPr>
        <p:txBody>
          <a:bodyPr wrap="square" lIns="0" tIns="0" rIns="0" bIns="0" rtlCol="0" anchor="ctr"/>
          <a:lstStyle/>
          <a:p>
            <a:pPr indent="0" marL="0">
              <a:buNone/>
            </a:pPr>
            <a:r>
              <a:rPr lang="en-US" sz="1050" b="1" spc="140" kern="0" dirty="0">
                <a:solidFill>
                  <a:srgbClr val="5A6675"/>
                </a:solidFill>
                <a:latin typeface="Calibri" pitchFamily="34" charset="0"/>
                <a:ea typeface="Calibri" pitchFamily="34" charset="-122"/>
                <a:cs typeface="Calibri" pitchFamily="34" charset="-120"/>
              </a:rPr>
              <a:t>Interactive block</a:t>
            </a:r>
            <a:endParaRPr lang="en-US" sz="1050" dirty="0"/>
          </a:p>
        </p:txBody>
      </p:sp>
      <p:sp>
        <p:nvSpPr>
          <p:cNvPr id="16" name="Text 14"/>
          <p:cNvSpPr/>
          <p:nvPr/>
        </p:nvSpPr>
        <p:spPr>
          <a:xfrm>
            <a:off x="8493557" y="2212848"/>
            <a:ext cx="2820314" cy="402336"/>
          </a:xfrm>
          <a:prstGeom prst="rect">
            <a:avLst/>
          </a:prstGeom>
          <a:noFill/>
          <a:ln/>
        </p:spPr>
        <p:txBody>
          <a:bodyPr wrap="square" lIns="0" tIns="0" rIns="0" bIns="0" rtlCol="0" anchor="ctr"/>
          <a:lstStyle/>
          <a:p>
            <a:pPr indent="0" marL="0">
              <a:buNone/>
            </a:pPr>
            <a:r>
              <a:rPr lang="en-US" sz="2200" b="1" dirty="0">
                <a:solidFill>
                  <a:srgbClr val="12161F"/>
                </a:solidFill>
                <a:latin typeface="Cambria" pitchFamily="34" charset="0"/>
                <a:ea typeface="Cambria" pitchFamily="34" charset="-122"/>
                <a:cs typeface="Cambria" pitchFamily="34" charset="-120"/>
              </a:rPr>
              <a:t>Storyline</a:t>
            </a:r>
            <a:endParaRPr lang="en-US" sz="2200" dirty="0"/>
          </a:p>
        </p:txBody>
      </p:sp>
      <p:sp>
        <p:nvSpPr>
          <p:cNvPr id="17" name="Text 15"/>
          <p:cNvSpPr/>
          <p:nvPr/>
        </p:nvSpPr>
        <p:spPr>
          <a:xfrm>
            <a:off x="8493557" y="2688336"/>
            <a:ext cx="2820314" cy="128016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Runs a published Storyline 360 interaction. Powerful, but a second tool and a fixed size.</a:t>
            </a:r>
            <a:endParaRPr lang="en-US" sz="1300" dirty="0"/>
          </a:p>
        </p:txBody>
      </p:sp>
      <p:sp>
        <p:nvSpPr>
          <p:cNvPr id="18" name="Shape 16"/>
          <p:cNvSpPr/>
          <p:nvPr/>
        </p:nvSpPr>
        <p:spPr>
          <a:xfrm>
            <a:off x="566928" y="4443984"/>
            <a:ext cx="11057839" cy="1463040"/>
          </a:xfrm>
          <a:prstGeom prst="roundRect">
            <a:avLst>
              <a:gd name="adj" fmla="val 5625"/>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Text 17"/>
          <p:cNvSpPr/>
          <p:nvPr/>
        </p:nvSpPr>
        <p:spPr>
          <a:xfrm>
            <a:off x="932688" y="4608576"/>
            <a:ext cx="10326319" cy="329184"/>
          </a:xfrm>
          <a:prstGeom prst="rect">
            <a:avLst/>
          </a:prstGeom>
          <a:noFill/>
          <a:ln/>
        </p:spPr>
        <p:txBody>
          <a:bodyPr wrap="square" lIns="0" tIns="0" rIns="0" bIns="0" rtlCol="0" anchor="ctr"/>
          <a:lstStyle/>
          <a:p>
            <a:pPr indent="0" marL="0">
              <a:buNone/>
            </a:pPr>
            <a:r>
              <a:rPr lang="en-US" sz="1800" b="1" dirty="0">
                <a:solidFill>
                  <a:srgbClr val="12161F"/>
                </a:solidFill>
                <a:latin typeface="Cambria" pitchFamily="34" charset="0"/>
                <a:ea typeface="Cambria" pitchFamily="34" charset="-122"/>
                <a:cs typeface="Cambria" pitchFamily="34" charset="-120"/>
              </a:rPr>
              <a:t>So the recipe is three steps</a:t>
            </a:r>
            <a:endParaRPr lang="en-US" sz="1800" dirty="0"/>
          </a:p>
        </p:txBody>
      </p:sp>
      <p:sp>
        <p:nvSpPr>
          <p:cNvPr id="20" name="Shape 18"/>
          <p:cNvSpPr/>
          <p:nvPr/>
        </p:nvSpPr>
        <p:spPr>
          <a:xfrm>
            <a:off x="932688" y="5047488"/>
            <a:ext cx="292608" cy="292608"/>
          </a:xfrm>
          <a:prstGeom prst="ellipse">
            <a:avLst/>
          </a:prstGeom>
          <a:solidFill>
            <a:srgbClr val="ED6A2A"/>
          </a:solidFill>
          <a:ln/>
        </p:spPr>
      </p:sp>
      <p:sp>
        <p:nvSpPr>
          <p:cNvPr id="21" name="Text 19"/>
          <p:cNvSpPr/>
          <p:nvPr/>
        </p:nvSpPr>
        <p:spPr>
          <a:xfrm>
            <a:off x="932688" y="5047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1335024" y="4992624"/>
            <a:ext cx="2893466" cy="658368"/>
          </a:xfrm>
          <a:prstGeom prst="rect">
            <a:avLst/>
          </a:prstGeom>
          <a:noFill/>
          <a:ln/>
        </p:spPr>
        <p:txBody>
          <a:bodyPr wrap="square" lIns="0" tIns="0" rIns="0" bIns="0" rtlCol="0" anchor="ctr"/>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Build one self-contained HTML file</a:t>
            </a:r>
            <a:endParaRPr lang="en-US" sz="1300" dirty="0"/>
          </a:p>
        </p:txBody>
      </p:sp>
      <p:sp>
        <p:nvSpPr>
          <p:cNvPr id="23" name="Shape 21"/>
          <p:cNvSpPr/>
          <p:nvPr/>
        </p:nvSpPr>
        <p:spPr>
          <a:xfrm>
            <a:off x="4374794" y="5047488"/>
            <a:ext cx="292608" cy="292608"/>
          </a:xfrm>
          <a:prstGeom prst="ellipse">
            <a:avLst/>
          </a:prstGeom>
          <a:solidFill>
            <a:srgbClr val="ED6A2A"/>
          </a:solidFill>
          <a:ln/>
        </p:spPr>
      </p:sp>
      <p:sp>
        <p:nvSpPr>
          <p:cNvPr id="24" name="Text 22"/>
          <p:cNvSpPr/>
          <p:nvPr/>
        </p:nvSpPr>
        <p:spPr>
          <a:xfrm>
            <a:off x="4374794" y="5047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4777130" y="4992624"/>
            <a:ext cx="2893466" cy="658368"/>
          </a:xfrm>
          <a:prstGeom prst="rect">
            <a:avLst/>
          </a:prstGeom>
          <a:noFill/>
          <a:ln/>
        </p:spPr>
        <p:txBody>
          <a:bodyPr wrap="square" lIns="0" tIns="0" rIns="0" bIns="0" rtlCol="0" anchor="ctr"/>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Host it at a public HTTPS address</a:t>
            </a:r>
            <a:endParaRPr lang="en-US" sz="1300" dirty="0"/>
          </a:p>
        </p:txBody>
      </p:sp>
      <p:sp>
        <p:nvSpPr>
          <p:cNvPr id="26" name="Shape 24"/>
          <p:cNvSpPr/>
          <p:nvPr/>
        </p:nvSpPr>
        <p:spPr>
          <a:xfrm>
            <a:off x="7816901" y="5047488"/>
            <a:ext cx="292608" cy="292608"/>
          </a:xfrm>
          <a:prstGeom prst="ellipse">
            <a:avLst/>
          </a:prstGeom>
          <a:solidFill>
            <a:srgbClr val="ED6A2A"/>
          </a:solidFill>
          <a:ln/>
        </p:spPr>
      </p:sp>
      <p:sp>
        <p:nvSpPr>
          <p:cNvPr id="27" name="Text 25"/>
          <p:cNvSpPr/>
          <p:nvPr/>
        </p:nvSpPr>
        <p:spPr>
          <a:xfrm>
            <a:off x="7816901" y="50474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8219237" y="4992624"/>
            <a:ext cx="2893466" cy="658368"/>
          </a:xfrm>
          <a:prstGeom prst="rect">
            <a:avLst/>
          </a:prstGeom>
          <a:noFill/>
          <a:ln/>
        </p:spPr>
        <p:txBody>
          <a:bodyPr wrap="square" lIns="0" tIns="0" rIns="0" bIns="0" rtlCol="0" anchor="ctr"/>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Paste the address into an Embed block</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Bonus build: a swipe deck</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Card sorting with a phone gesture. Rise has no block for this — so we made one and embedded it.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17</a:t>
            </a:r>
            <a:endParaRPr lang="en-US" sz="950" dirty="0"/>
          </a:p>
        </p:txBody>
      </p:sp>
      <p:sp>
        <p:nvSpPr>
          <p:cNvPr id="6" name="Shape 4"/>
          <p:cNvSpPr/>
          <p:nvPr/>
        </p:nvSpPr>
        <p:spPr>
          <a:xfrm>
            <a:off x="566928" y="1664208"/>
            <a:ext cx="3429914" cy="3703320"/>
          </a:xfrm>
          <a:prstGeom prst="roundRect">
            <a:avLst>
              <a:gd name="adj" fmla="val 2399"/>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3/assets/swipe-screenshots/swipe_rest.png">    </p:cNvPr>
          <p:cNvPicPr>
            <a:picLocks noChangeAspect="1"/>
          </p:cNvPicPr>
          <p:nvPr/>
        </p:nvPicPr>
        <p:blipFill>
          <a:blip r:embed="rId1"/>
          <a:stretch>
            <a:fillRect/>
          </a:stretch>
        </p:blipFill>
        <p:spPr>
          <a:xfrm>
            <a:off x="1215771" y="1847088"/>
            <a:ext cx="2132228" cy="2331720"/>
          </a:xfrm>
          <a:prstGeom prst="rect">
            <a:avLst/>
          </a:prstGeom>
        </p:spPr>
      </p:pic>
      <p:sp>
        <p:nvSpPr>
          <p:cNvPr id="8" name="Text 5"/>
          <p:cNvSpPr/>
          <p:nvPr/>
        </p:nvSpPr>
        <p:spPr>
          <a:xfrm>
            <a:off x="841248" y="4288536"/>
            <a:ext cx="2881274" cy="310896"/>
          </a:xfrm>
          <a:prstGeom prst="rect">
            <a:avLst/>
          </a:prstGeom>
          <a:noFill/>
          <a:ln/>
        </p:spPr>
        <p:txBody>
          <a:bodyPr wrap="square" lIns="0" tIns="0" rIns="0" bIns="0" rtlCol="0" anchor="ctr"/>
          <a:lstStyle/>
          <a:p>
            <a:pPr algn="ctr" indent="0" marL="0">
              <a:buNone/>
            </a:pPr>
            <a:r>
              <a:rPr lang="en-US" sz="1700" b="1" dirty="0">
                <a:solidFill>
                  <a:srgbClr val="12161F"/>
                </a:solidFill>
                <a:latin typeface="Cambria" pitchFamily="34" charset="0"/>
                <a:ea typeface="Cambria" pitchFamily="34" charset="-122"/>
                <a:cs typeface="Cambria" pitchFamily="34" charset="-120"/>
              </a:rPr>
              <a:t>The stack</a:t>
            </a:r>
            <a:endParaRPr lang="en-US" sz="1700" dirty="0"/>
          </a:p>
        </p:txBody>
      </p:sp>
      <p:sp>
        <p:nvSpPr>
          <p:cNvPr id="9" name="Text 6"/>
          <p:cNvSpPr/>
          <p:nvPr/>
        </p:nvSpPr>
        <p:spPr>
          <a:xfrm>
            <a:off x="841248" y="4636008"/>
            <a:ext cx="2881274" cy="658368"/>
          </a:xfrm>
          <a:prstGeom prst="rect">
            <a:avLst/>
          </a:prstGeom>
          <a:noFill/>
          <a:ln/>
        </p:spPr>
        <p:txBody>
          <a:bodyPr wrap="square" lIns="0" tIns="0" rIns="0" bIns="0" rtlCol="0" anchor="t"/>
          <a:lstStyle/>
          <a:p>
            <a:pPr algn="ctr" indent="0" marL="0">
              <a:lnSpc>
                <a:spcPts val="1700"/>
              </a:lnSpc>
              <a:buNone/>
            </a:pPr>
            <a:r>
              <a:rPr lang="en-US" sz="1200" dirty="0">
                <a:solidFill>
                  <a:srgbClr val="5A6675"/>
                </a:solidFill>
                <a:latin typeface="Calibri" pitchFamily="34" charset="0"/>
                <a:ea typeface="Calibri" pitchFamily="34" charset="-122"/>
                <a:cs typeface="Calibri" pitchFamily="34" charset="-120"/>
              </a:rPr>
              <a:t>Three cards deep, so there is visibly more to come.</a:t>
            </a:r>
            <a:endParaRPr lang="en-US" sz="1200" dirty="0"/>
          </a:p>
        </p:txBody>
      </p:sp>
      <p:sp>
        <p:nvSpPr>
          <p:cNvPr id="10" name="Shape 7"/>
          <p:cNvSpPr/>
          <p:nvPr/>
        </p:nvSpPr>
        <p:spPr>
          <a:xfrm>
            <a:off x="4380890" y="1664208"/>
            <a:ext cx="3429914" cy="3703320"/>
          </a:xfrm>
          <a:prstGeom prst="roundRect">
            <a:avLst>
              <a:gd name="adj" fmla="val 2399"/>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1" name="Image 1" descr="/home/user/parallelism/rise360-curriculum/day3/assets/swipe-screenshots/swipe_drag.png">    </p:cNvPr>
          <p:cNvPicPr>
            <a:picLocks noChangeAspect="1"/>
          </p:cNvPicPr>
          <p:nvPr/>
        </p:nvPicPr>
        <p:blipFill>
          <a:blip r:embed="rId2"/>
          <a:stretch>
            <a:fillRect/>
          </a:stretch>
        </p:blipFill>
        <p:spPr>
          <a:xfrm>
            <a:off x="5029733" y="1847088"/>
            <a:ext cx="2132228" cy="2331720"/>
          </a:xfrm>
          <a:prstGeom prst="rect">
            <a:avLst/>
          </a:prstGeom>
        </p:spPr>
      </p:pic>
      <p:sp>
        <p:nvSpPr>
          <p:cNvPr id="12" name="Text 8"/>
          <p:cNvSpPr/>
          <p:nvPr/>
        </p:nvSpPr>
        <p:spPr>
          <a:xfrm>
            <a:off x="4655210" y="4288536"/>
            <a:ext cx="2881274" cy="310896"/>
          </a:xfrm>
          <a:prstGeom prst="rect">
            <a:avLst/>
          </a:prstGeom>
          <a:noFill/>
          <a:ln/>
        </p:spPr>
        <p:txBody>
          <a:bodyPr wrap="square" lIns="0" tIns="0" rIns="0" bIns="0" rtlCol="0" anchor="ctr"/>
          <a:lstStyle/>
          <a:p>
            <a:pPr algn="ctr" indent="0" marL="0">
              <a:buNone/>
            </a:pPr>
            <a:r>
              <a:rPr lang="en-US" sz="1700" b="1" dirty="0">
                <a:solidFill>
                  <a:srgbClr val="12161F"/>
                </a:solidFill>
                <a:latin typeface="Cambria" pitchFamily="34" charset="0"/>
                <a:ea typeface="Cambria" pitchFamily="34" charset="-122"/>
                <a:cs typeface="Cambria" pitchFamily="34" charset="-120"/>
              </a:rPr>
              <a:t>Mid-swipe</a:t>
            </a:r>
            <a:endParaRPr lang="en-US" sz="1700" dirty="0"/>
          </a:p>
        </p:txBody>
      </p:sp>
      <p:sp>
        <p:nvSpPr>
          <p:cNvPr id="13" name="Text 9"/>
          <p:cNvSpPr/>
          <p:nvPr/>
        </p:nvSpPr>
        <p:spPr>
          <a:xfrm>
            <a:off x="4655210" y="4636008"/>
            <a:ext cx="2881274" cy="658368"/>
          </a:xfrm>
          <a:prstGeom prst="rect">
            <a:avLst/>
          </a:prstGeom>
          <a:noFill/>
          <a:ln/>
        </p:spPr>
        <p:txBody>
          <a:bodyPr wrap="square" lIns="0" tIns="0" rIns="0" bIns="0" rtlCol="0" anchor="t"/>
          <a:lstStyle/>
          <a:p>
            <a:pPr algn="ctr" indent="0" marL="0">
              <a:lnSpc>
                <a:spcPts val="1700"/>
              </a:lnSpc>
              <a:buNone/>
            </a:pPr>
            <a:r>
              <a:rPr lang="en-US" sz="1200" dirty="0">
                <a:solidFill>
                  <a:srgbClr val="5A6675"/>
                </a:solidFill>
                <a:latin typeface="Calibri" pitchFamily="34" charset="0"/>
                <a:ea typeface="Calibri" pitchFamily="34" charset="-122"/>
                <a:cs typeface="Calibri" pitchFamily="34" charset="-120"/>
              </a:rPr>
              <a:t>The card tilts as it travels and the verdict fades in past halfway.</a:t>
            </a:r>
            <a:endParaRPr lang="en-US" sz="1200" dirty="0"/>
          </a:p>
        </p:txBody>
      </p:sp>
      <p:sp>
        <p:nvSpPr>
          <p:cNvPr id="14" name="Shape 10"/>
          <p:cNvSpPr/>
          <p:nvPr/>
        </p:nvSpPr>
        <p:spPr>
          <a:xfrm>
            <a:off x="8194853" y="1664208"/>
            <a:ext cx="3429914" cy="3703320"/>
          </a:xfrm>
          <a:prstGeom prst="roundRect">
            <a:avLst>
              <a:gd name="adj" fmla="val 2399"/>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5" name="Image 2" descr="/home/user/parallelism/rise360-curriculum/day3/assets/swipe-screenshots/swipe_done.png">    </p:cNvPr>
          <p:cNvPicPr>
            <a:picLocks noChangeAspect="1"/>
          </p:cNvPicPr>
          <p:nvPr/>
        </p:nvPicPr>
        <p:blipFill>
          <a:blip r:embed="rId3"/>
          <a:stretch>
            <a:fillRect/>
          </a:stretch>
        </p:blipFill>
        <p:spPr>
          <a:xfrm>
            <a:off x="8469173" y="1847088"/>
            <a:ext cx="2881274" cy="2097398"/>
          </a:xfrm>
          <a:prstGeom prst="rect">
            <a:avLst/>
          </a:prstGeom>
        </p:spPr>
      </p:pic>
      <p:sp>
        <p:nvSpPr>
          <p:cNvPr id="16" name="Text 11"/>
          <p:cNvSpPr/>
          <p:nvPr/>
        </p:nvSpPr>
        <p:spPr>
          <a:xfrm>
            <a:off x="8469173" y="4288536"/>
            <a:ext cx="2881274" cy="310896"/>
          </a:xfrm>
          <a:prstGeom prst="rect">
            <a:avLst/>
          </a:prstGeom>
          <a:noFill/>
          <a:ln/>
        </p:spPr>
        <p:txBody>
          <a:bodyPr wrap="square" lIns="0" tIns="0" rIns="0" bIns="0" rtlCol="0" anchor="ctr"/>
          <a:lstStyle/>
          <a:p>
            <a:pPr algn="ctr" indent="0" marL="0">
              <a:buNone/>
            </a:pPr>
            <a:r>
              <a:rPr lang="en-US" sz="1700" b="1" dirty="0">
                <a:solidFill>
                  <a:srgbClr val="12161F"/>
                </a:solidFill>
                <a:latin typeface="Cambria" pitchFamily="34" charset="0"/>
                <a:ea typeface="Cambria" pitchFamily="34" charset="-122"/>
                <a:cs typeface="Cambria" pitchFamily="34" charset="-120"/>
              </a:rPr>
              <a:t>The result</a:t>
            </a:r>
            <a:endParaRPr lang="en-US" sz="1700" dirty="0"/>
          </a:p>
        </p:txBody>
      </p:sp>
      <p:sp>
        <p:nvSpPr>
          <p:cNvPr id="17" name="Text 12"/>
          <p:cNvSpPr/>
          <p:nvPr/>
        </p:nvSpPr>
        <p:spPr>
          <a:xfrm>
            <a:off x="8469173" y="4636008"/>
            <a:ext cx="2881274" cy="658368"/>
          </a:xfrm>
          <a:prstGeom prst="rect">
            <a:avLst/>
          </a:prstGeom>
          <a:noFill/>
          <a:ln/>
        </p:spPr>
        <p:txBody>
          <a:bodyPr wrap="square" lIns="0" tIns="0" rIns="0" bIns="0" rtlCol="0" anchor="t"/>
          <a:lstStyle/>
          <a:p>
            <a:pPr algn="ctr" indent="0" marL="0">
              <a:lnSpc>
                <a:spcPts val="1700"/>
              </a:lnSpc>
              <a:buNone/>
            </a:pPr>
            <a:r>
              <a:rPr lang="en-US" sz="1200" dirty="0">
                <a:solidFill>
                  <a:srgbClr val="5A6675"/>
                </a:solidFill>
                <a:latin typeface="Calibri" pitchFamily="34" charset="0"/>
                <a:ea typeface="Calibri" pitchFamily="34" charset="-122"/>
                <a:cs typeface="Calibri" pitchFamily="34" charset="-120"/>
              </a:rPr>
              <a:t>Score, and feedback on the ones they missed.</a:t>
            </a:r>
            <a:endParaRPr lang="en-US" sz="1200" dirty="0"/>
          </a:p>
        </p:txBody>
      </p:sp>
      <p:sp>
        <p:nvSpPr>
          <p:cNvPr id="18" name="Shape 13"/>
          <p:cNvSpPr/>
          <p:nvPr/>
        </p:nvSpPr>
        <p:spPr>
          <a:xfrm>
            <a:off x="566928" y="5541264"/>
            <a:ext cx="11057839" cy="713232"/>
          </a:xfrm>
          <a:prstGeom prst="roundRect">
            <a:avLst>
              <a:gd name="adj" fmla="val 11538"/>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9" name="Text 14"/>
          <p:cNvSpPr/>
          <p:nvPr/>
        </p:nvSpPr>
        <p:spPr>
          <a:xfrm>
            <a:off x="914400" y="5541264"/>
            <a:ext cx="10362895" cy="713232"/>
          </a:xfrm>
          <a:prstGeom prst="rect">
            <a:avLst/>
          </a:prstGeom>
          <a:noFill/>
          <a:ln/>
        </p:spPr>
        <p:txBody>
          <a:bodyPr wrap="square" lIns="0" tIns="0" rIns="0" bIns="0" rtlCol="0" anchor="ctr"/>
          <a:lstStyle/>
          <a:p>
            <a:pPr indent="0" marL="0">
              <a:lnSpc>
                <a:spcPts val="1800"/>
              </a:lnSpc>
              <a:buNone/>
            </a:pPr>
            <a:r>
              <a:rPr lang="en-US" sz="1250" b="1" dirty="0">
                <a:solidFill>
                  <a:srgbClr val="ED6A2A"/>
                </a:solidFill>
                <a:latin typeface="Calibri" pitchFamily="34" charset="0"/>
                <a:ea typeface="Calibri" pitchFamily="34" charset="-122"/>
                <a:cs typeface="Calibri" pitchFamily="34" charset="-120"/>
              </a:rPr>
              <a:t>Why it works as learning, not decoration:  </a:t>
            </a:r>
            <a:pPr indent="0" marL="0">
              <a:lnSpc>
                <a:spcPts val="1800"/>
              </a:lnSpc>
              <a:buNone/>
            </a:pPr>
            <a:r>
              <a:rPr lang="en-US" sz="1250" dirty="0">
                <a:solidFill>
                  <a:srgbClr val="FFFFFF"/>
                </a:solidFill>
                <a:latin typeface="Calibri" pitchFamily="34" charset="0"/>
                <a:ea typeface="Calibri" pitchFamily="34" charset="-122"/>
                <a:cs typeface="Calibri" pitchFamily="34" charset="-120"/>
              </a:rPr>
              <a:t>every card forces a judgement before the answer appears — the same job as a Sorting Activity, in a gesture people already know.</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How the swipe works</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One hundred and sixty-five lines, all of it on the next six slides. Four ideas carry the whole thing.</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18</a:t>
            </a:r>
            <a:endParaRPr lang="en-US" sz="950" dirty="0"/>
          </a:p>
        </p:txBody>
      </p:sp>
      <p:sp>
        <p:nvSpPr>
          <p:cNvPr id="6" name="Shape 4"/>
          <p:cNvSpPr/>
          <p:nvPr/>
        </p:nvSpPr>
        <p:spPr>
          <a:xfrm>
            <a:off x="566928" y="1737360"/>
            <a:ext cx="2558720" cy="3346704"/>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22960" y="1975104"/>
            <a:ext cx="402336" cy="402336"/>
          </a:xfrm>
          <a:prstGeom prst="roundRect">
            <a:avLst>
              <a:gd name="adj" fmla="val 22727"/>
            </a:avLst>
          </a:prstGeom>
          <a:solidFill>
            <a:srgbClr val="ED6A2A"/>
          </a:solidFill>
          <a:ln/>
        </p:spPr>
      </p:sp>
      <p:sp>
        <p:nvSpPr>
          <p:cNvPr id="8" name="Text 6"/>
          <p:cNvSpPr/>
          <p:nvPr/>
        </p:nvSpPr>
        <p:spPr>
          <a:xfrm>
            <a:off x="82296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822960" y="2505456"/>
            <a:ext cx="2046656" cy="658368"/>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Pointer events</a:t>
            </a:r>
            <a:endParaRPr lang="en-US" sz="1700" dirty="0"/>
          </a:p>
        </p:txBody>
      </p:sp>
      <p:sp>
        <p:nvSpPr>
          <p:cNvPr id="10" name="Text 8"/>
          <p:cNvSpPr/>
          <p:nvPr/>
        </p:nvSpPr>
        <p:spPr>
          <a:xfrm>
            <a:off x="822960" y="3200400"/>
            <a:ext cx="2046656" cy="173736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One code path covers mouse, touch and pen. You do not write three versions, and setPointerCapture keeps the card following the finger even when it leaves the element.</a:t>
            </a:r>
            <a:endParaRPr lang="en-US" sz="1200" dirty="0"/>
          </a:p>
        </p:txBody>
      </p:sp>
      <p:sp>
        <p:nvSpPr>
          <p:cNvPr id="11" name="Shape 9"/>
          <p:cNvSpPr/>
          <p:nvPr/>
        </p:nvSpPr>
        <p:spPr>
          <a:xfrm>
            <a:off x="3399968" y="1737360"/>
            <a:ext cx="2558720" cy="3346704"/>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2" name="Shape 10"/>
          <p:cNvSpPr/>
          <p:nvPr/>
        </p:nvSpPr>
        <p:spPr>
          <a:xfrm>
            <a:off x="3656000" y="1975104"/>
            <a:ext cx="402336" cy="402336"/>
          </a:xfrm>
          <a:prstGeom prst="roundRect">
            <a:avLst>
              <a:gd name="adj" fmla="val 22727"/>
            </a:avLst>
          </a:prstGeom>
          <a:solidFill>
            <a:srgbClr val="ED6A2A"/>
          </a:solidFill>
          <a:ln/>
        </p:spPr>
      </p:sp>
      <p:sp>
        <p:nvSpPr>
          <p:cNvPr id="13" name="Text 11"/>
          <p:cNvSpPr/>
          <p:nvPr/>
        </p:nvSpPr>
        <p:spPr>
          <a:xfrm>
            <a:off x="365600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3656000" y="2505456"/>
            <a:ext cx="2046656" cy="658368"/>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Rotation from travel</a:t>
            </a:r>
            <a:endParaRPr lang="en-US" sz="1700" dirty="0"/>
          </a:p>
        </p:txBody>
      </p:sp>
      <p:sp>
        <p:nvSpPr>
          <p:cNvPr id="15" name="Text 13"/>
          <p:cNvSpPr/>
          <p:nvPr/>
        </p:nvSpPr>
        <p:spPr>
          <a:xfrm>
            <a:off x="3656000" y="3200400"/>
            <a:ext cx="2046656" cy="173736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The card leans by the distance it has moved, divided by eighteen. That single expression is most of what makes it feel like a physical card.</a:t>
            </a:r>
            <a:endParaRPr lang="en-US" sz="1200" dirty="0"/>
          </a:p>
        </p:txBody>
      </p:sp>
      <p:sp>
        <p:nvSpPr>
          <p:cNvPr id="16" name="Shape 14"/>
          <p:cNvSpPr/>
          <p:nvPr/>
        </p:nvSpPr>
        <p:spPr>
          <a:xfrm>
            <a:off x="6233008" y="1737360"/>
            <a:ext cx="2558720" cy="3346704"/>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7" name="Shape 15"/>
          <p:cNvSpPr/>
          <p:nvPr/>
        </p:nvSpPr>
        <p:spPr>
          <a:xfrm>
            <a:off x="6489040" y="1975104"/>
            <a:ext cx="402336" cy="402336"/>
          </a:xfrm>
          <a:prstGeom prst="roundRect">
            <a:avLst>
              <a:gd name="adj" fmla="val 22727"/>
            </a:avLst>
          </a:prstGeom>
          <a:solidFill>
            <a:srgbClr val="ED6A2A"/>
          </a:solidFill>
          <a:ln/>
        </p:spPr>
      </p:sp>
      <p:sp>
        <p:nvSpPr>
          <p:cNvPr id="18" name="Text 16"/>
          <p:cNvSpPr/>
          <p:nvPr/>
        </p:nvSpPr>
        <p:spPr>
          <a:xfrm>
            <a:off x="648904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6489040" y="2505456"/>
            <a:ext cx="2046656" cy="658368"/>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One threshold</a:t>
            </a:r>
            <a:endParaRPr lang="en-US" sz="1700" dirty="0"/>
          </a:p>
        </p:txBody>
      </p:sp>
      <p:sp>
        <p:nvSpPr>
          <p:cNvPr id="20" name="Text 18"/>
          <p:cNvSpPr/>
          <p:nvPr/>
        </p:nvSpPr>
        <p:spPr>
          <a:xfrm>
            <a:off x="6489040" y="3200400"/>
            <a:ext cx="2046656" cy="173736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Past 96 pixels it commits and flies off; short of it, the card snaps back. There is no other state to track.</a:t>
            </a:r>
            <a:endParaRPr lang="en-US" sz="1200" dirty="0"/>
          </a:p>
        </p:txBody>
      </p:sp>
      <p:sp>
        <p:nvSpPr>
          <p:cNvPr id="21" name="Shape 19"/>
          <p:cNvSpPr/>
          <p:nvPr/>
        </p:nvSpPr>
        <p:spPr>
          <a:xfrm>
            <a:off x="9066047" y="1737360"/>
            <a:ext cx="2558720" cy="3346704"/>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2" name="Shape 20"/>
          <p:cNvSpPr/>
          <p:nvPr/>
        </p:nvSpPr>
        <p:spPr>
          <a:xfrm>
            <a:off x="9322079" y="1975104"/>
            <a:ext cx="402336" cy="402336"/>
          </a:xfrm>
          <a:prstGeom prst="roundRect">
            <a:avLst>
              <a:gd name="adj" fmla="val 22727"/>
            </a:avLst>
          </a:prstGeom>
          <a:solidFill>
            <a:srgbClr val="ED6A2A"/>
          </a:solidFill>
          <a:ln/>
        </p:spPr>
      </p:sp>
      <p:sp>
        <p:nvSpPr>
          <p:cNvPr id="23" name="Text 21"/>
          <p:cNvSpPr/>
          <p:nvPr/>
        </p:nvSpPr>
        <p:spPr>
          <a:xfrm>
            <a:off x="9322079"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4" name="Text 22"/>
          <p:cNvSpPr/>
          <p:nvPr/>
        </p:nvSpPr>
        <p:spPr>
          <a:xfrm>
            <a:off x="9322079" y="2505456"/>
            <a:ext cx="2046656" cy="658368"/>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Buttons share the path</a:t>
            </a:r>
            <a:endParaRPr lang="en-US" sz="1700" dirty="0"/>
          </a:p>
        </p:txBody>
      </p:sp>
      <p:sp>
        <p:nvSpPr>
          <p:cNvPr id="25" name="Text 23"/>
          <p:cNvSpPr/>
          <p:nvPr/>
        </p:nvSpPr>
        <p:spPr>
          <a:xfrm>
            <a:off x="9322079" y="3200400"/>
            <a:ext cx="2046656" cy="173736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The two buttons and the arrow keys call the same commit function as a drag, so the whole thing works without a pointer at all.</a:t>
            </a:r>
            <a:endParaRPr lang="en-US" sz="1200" dirty="0"/>
          </a:p>
        </p:txBody>
      </p:sp>
      <p:sp>
        <p:nvSpPr>
          <p:cNvPr id="26" name="Shape 24"/>
          <p:cNvSpPr/>
          <p:nvPr/>
        </p:nvSpPr>
        <p:spPr>
          <a:xfrm>
            <a:off x="566928" y="5266944"/>
            <a:ext cx="11057839" cy="621792"/>
          </a:xfrm>
          <a:prstGeom prst="roundRect">
            <a:avLst>
              <a:gd name="adj" fmla="val 13235"/>
            </a:avLst>
          </a:prstGeom>
          <a:solidFill>
            <a:srgbClr val="FFF4EE"/>
          </a:solidFill>
          <a:ln w="9525">
            <a:solidFill>
              <a:srgbClr val="F6C7AC"/>
            </a:solidFill>
            <a:prstDash val="solid"/>
          </a:ln>
        </p:spPr>
      </p:sp>
      <p:sp>
        <p:nvSpPr>
          <p:cNvPr id="27" name="Text 25"/>
          <p:cNvSpPr/>
          <p:nvPr/>
        </p:nvSpPr>
        <p:spPr>
          <a:xfrm>
            <a:off x="914400" y="5266944"/>
            <a:ext cx="10362895" cy="621792"/>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Accessibility is not optional here: a drag-only interaction excludes keyboard and screen-reader users. The buttons and arrow keys are the fix, and they cost four lines.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2600" b="1" dirty="0">
                <a:solidFill>
                  <a:srgbClr val="12161F"/>
                </a:solidFill>
                <a:latin typeface="Cambria" pitchFamily="34" charset="0"/>
                <a:ea typeface="Cambria" pitchFamily="34" charset="-122"/>
                <a:cs typeface="Cambria" pitchFamily="34" charset="-120"/>
              </a:rPr>
              <a:t>swipe-deck.html  —  1 of 6</a:t>
            </a:r>
            <a:endParaRPr lang="en-US" sz="26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Document head and the styling</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19</a:t>
            </a:r>
            <a:endParaRPr lang="en-US" sz="950" dirty="0"/>
          </a:p>
        </p:txBody>
      </p:sp>
      <p:sp>
        <p:nvSpPr>
          <p:cNvPr id="6" name="Shape 4"/>
          <p:cNvSpPr/>
          <p:nvPr/>
        </p:nvSpPr>
        <p:spPr>
          <a:xfrm>
            <a:off x="566928" y="1517904"/>
            <a:ext cx="11057839" cy="4484492"/>
          </a:xfrm>
          <a:prstGeom prst="roundRect">
            <a:avLst>
              <a:gd name="adj" fmla="val 1835"/>
            </a:avLst>
          </a:prstGeom>
          <a:solidFill>
            <a:srgbClr val="0E142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41248" y="1682496"/>
            <a:ext cx="10509199" cy="4155308"/>
          </a:xfrm>
          <a:prstGeom prst="rect">
            <a:avLst/>
          </a:prstGeom>
          <a:noFill/>
          <a:ln/>
        </p:spPr>
        <p:txBody>
          <a:bodyPr wrap="square" lIns="0" tIns="0" rIns="0" bIns="0" rtlCol="0" anchor="t"/>
          <a:lstStyle/>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&lt;!doctype html&gt;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&lt;html lang="en"&gt;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&lt;head&gt;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&lt;meta charset="utf-8"&gt;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&lt;meta name="viewport" content="width=device-width, initial-scale=1"&gt;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&lt;title&gt;Swipe practice — static or interactive?&lt;/title&gt;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&lt;style&gt;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:root { --ink:#12161F; --slate:#5A6675; --line:#E2E6EB; --ember:#ED6A2A; --yes:#1F8A5B; --no:#C2410C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 { box-sizing:border-box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body { margin:0; min-height:100vh; display:flex; align-items:center; justify-content:center;</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background:#F4F6F8; color:var(--ink); padding:24px; font:16px/1.5 "Segoe UI", Roboto, Arial, sans-serif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.app { width:min(340px,86vw); text-align:center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.lead { font-size:14px; color:var(--slate); margin:0 0 4px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.q { font-size:19px; font-weight:700; margin:0 0 16px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.deck { position:relative; height:min(430px,62vh); margin-bottom:18px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.card { position:absolute; inset:0; background:#fff; border:1px solid var(--line); border-radius:18px;</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box-shadow:0 10px 30px rgba(18,22,31,.13); padding:26px 24px; display:flex; flex-direction:column;</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justify-content:center; cursor:grab; touch-action:none; user-select:none; will-change:transform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.card.animate { transition:transform .32s cubic-bezier(.2,.7,.3,1), opacity .32s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.card .scenario { font-size:19px; font-weight:600; line-height:1.45; margin:0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.card .hint { margin-top:14px; font-size:13px; color:var(--slate)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.card .n { position:absolute; top:16px; left:20px; font-size:12px; color:var(--slate)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.stamp { position:absolute; top:22px; padding:6px 12px; border:3px solid currentColor; border-radius:10px;</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font-weight:800; font-size:15px; text-transform:uppercase; opacity:0; pointer-events:none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.stamp.yes { right:20px; color:var(--yes); transform:rotate(12deg)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.stamp.no { left:20px; color:var(--no); transform:rotate(-12deg)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.controls { display:flex; gap:12px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.btn { flex:1; border:1px solid var(--line); background:#fff; color:var(--ink); border-radius:12px;</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padding:12px 10px; font-size:14px; font-weight:600; cursor:pointer }</a:t>
            </a:r>
            <a:endParaRPr lang="en-US" sz="950" dirty="0"/>
          </a:p>
        </p:txBody>
      </p:sp>
      <p:sp>
        <p:nvSpPr>
          <p:cNvPr id="8" name="Text 6"/>
          <p:cNvSpPr/>
          <p:nvPr/>
        </p:nvSpPr>
        <p:spPr>
          <a:xfrm>
            <a:off x="9430207" y="6181344"/>
            <a:ext cx="2194560" cy="219456"/>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lines 1–29 of 166</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2600" b="1" dirty="0">
                <a:solidFill>
                  <a:srgbClr val="12161F"/>
                </a:solidFill>
                <a:latin typeface="Cambria" pitchFamily="34" charset="0"/>
                <a:ea typeface="Cambria" pitchFamily="34" charset="-122"/>
                <a:cs typeface="Cambria" pitchFamily="34" charset="-120"/>
              </a:rPr>
              <a:t>swipe-deck.html  —  2 of 6</a:t>
            </a:r>
            <a:endParaRPr lang="en-US" sz="26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rest of the styling, and the markup</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20</a:t>
            </a:r>
            <a:endParaRPr lang="en-US" sz="950" dirty="0"/>
          </a:p>
        </p:txBody>
      </p:sp>
      <p:sp>
        <p:nvSpPr>
          <p:cNvPr id="6" name="Shape 4"/>
          <p:cNvSpPr/>
          <p:nvPr/>
        </p:nvSpPr>
        <p:spPr>
          <a:xfrm>
            <a:off x="566928" y="1517904"/>
            <a:ext cx="11057839" cy="4341205"/>
          </a:xfrm>
          <a:prstGeom prst="roundRect">
            <a:avLst>
              <a:gd name="adj" fmla="val 1896"/>
            </a:avLst>
          </a:prstGeom>
          <a:solidFill>
            <a:srgbClr val="0E142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41248" y="1682496"/>
            <a:ext cx="10509199" cy="4012021"/>
          </a:xfrm>
          <a:prstGeom prst="rect">
            <a:avLst/>
          </a:prstGeom>
          <a:noFill/>
          <a:ln/>
        </p:spPr>
        <p:txBody>
          <a:bodyPr wrap="square" lIns="0" tIns="0" rIns="0" bIns="0" rtlCol="0" anchor="t"/>
          <a:lstStyle/>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.btn:focus-visible { outline:3px solid var(--ember); outline-offset:2px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.btn .k { display:block; font-size:11px; font-weight:500; color:var(--slate); margin-top:2px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.meter { margin-top:14px; height:4px; background:var(--line); border-radius:2px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.meter i { display:block; height:100%; width:0; background:var(--ember); transition:width .3s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.done { display:none; background:#fff; border:1px solid var(--line); border-radius:18px; padding:28px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.done h2 { margin:0 0 6px; font-size:22px }   .done p { margin:0 0 18px; color:var(--slate)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.score { font-size:44px; font-weight:800; color:var(--ember); line-height:1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.sr { position:absolute; width:1px; height:1px; overflow:hidden; clip:rect(0 0 0 0)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@media (prefers-reduced-motion:reduce) { .card.animate, .meter i { transition:none }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&lt;/style&gt;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&lt;/head&gt;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&lt;body&gt;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&lt;div class="app"&gt;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&lt;p class="lead"&gt;Swipe practice&lt;/p&gt;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&lt;p class="q" id="prompt"&gt;Would you build this with a static block or an interactive one?&lt;/p&gt;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 class="deck" id="deck"&gt;&lt;/div&gt;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 class="controls"&gt;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&lt;button class="btn" id="btnNo" type="button"&gt;Static block&lt;span class="k"&gt;&amp;larr; left arrow&lt;/span&gt;&lt;/button&gt;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&lt;button class="btn" id="btnYes" type="button"&gt;Interactive&lt;span class="k"&gt;right arrow &amp;rarr;&lt;/span&gt;&lt;/button&gt;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 class="meter"&gt;&lt;i id="meter"&gt;&lt;/i&gt;&lt;/div&gt;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 class="done" id="done"&gt;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 class="score" id="score"&gt;0/6&lt;/div&gt;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&lt;h2&gt;Deck finished&lt;/h2&gt;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&lt;p id="verdict"&gt;&lt;/p&gt;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&lt;button class="btn" id="again" type="button"&gt;Go again&lt;/button&gt;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&lt;/div&gt;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&lt;p class="sr" role="status" aria-live="polite" id="live"&gt;&lt;/p&gt;</a:t>
            </a:r>
            <a:endParaRPr lang="en-US" sz="950" dirty="0"/>
          </a:p>
        </p:txBody>
      </p:sp>
      <p:sp>
        <p:nvSpPr>
          <p:cNvPr id="8" name="Text 6"/>
          <p:cNvSpPr/>
          <p:nvPr/>
        </p:nvSpPr>
        <p:spPr>
          <a:xfrm>
            <a:off x="9430207" y="6181344"/>
            <a:ext cx="2194560" cy="219456"/>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lines 30–57 of 166</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2600" b="1" dirty="0">
                <a:solidFill>
                  <a:srgbClr val="12161F"/>
                </a:solidFill>
                <a:latin typeface="Cambria" pitchFamily="34" charset="0"/>
                <a:ea typeface="Cambria" pitchFamily="34" charset="-122"/>
                <a:cs typeface="Cambria" pitchFamily="34" charset="-120"/>
              </a:rPr>
              <a:t>swipe-deck.html  —  3 of 6</a:t>
            </a:r>
            <a:endParaRPr lang="en-US" sz="26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six cards, and the state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21</a:t>
            </a:r>
            <a:endParaRPr lang="en-US" sz="950" dirty="0"/>
          </a:p>
        </p:txBody>
      </p:sp>
      <p:sp>
        <p:nvSpPr>
          <p:cNvPr id="6" name="Shape 4"/>
          <p:cNvSpPr/>
          <p:nvPr/>
        </p:nvSpPr>
        <p:spPr>
          <a:xfrm>
            <a:off x="566928" y="1517904"/>
            <a:ext cx="11057839" cy="4626864"/>
          </a:xfrm>
          <a:prstGeom prst="roundRect">
            <a:avLst>
              <a:gd name="adj" fmla="val 1779"/>
            </a:avLst>
          </a:prstGeom>
          <a:solidFill>
            <a:srgbClr val="0E142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41248" y="1682496"/>
            <a:ext cx="10509199" cy="4297680"/>
          </a:xfrm>
          <a:prstGeom prst="rect">
            <a:avLst/>
          </a:prstGeom>
          <a:noFill/>
          <a:ln/>
        </p:spPr>
        <p:txBody>
          <a:bodyPr wrap="square" lIns="0" tIns="0" rIns="0" bIns="0" rtlCol="0" anchor="t"/>
          <a:lstStyle/>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&lt;/div&gt;
&lt;script&gt;
// answer: true = an interactive block earns its place here; false = a static block does the job.
var CARDS = [
  { text:'Twelve policy FAQs that most learners will never read in full.', answer:true,
    why:'Accordion — hide the secondary text, let people open only what they need.' },
  { text:'One sentence you want every learner to remember.', answer:false,
    why:'Statement block. An interaction would bury the thing you are emphasising.' },
  { text:'Three pricing plans the learner needs to compare.', answer:true,
    why:'Tabs — same shape of content, switched in place, easy to compare.' },
  { text:'A photo of the reader with five parts to name.', answer:true,
    why:'Labeled Graphic — markers on the image beat a list underneath it.' },
  { text:'A two-line safety warning that must not be missed.', answer:false,
    why:'Note block. Never hide a warning behind a click.' },
  { text:'A refund call where the answer depends on what the customer says.', answer:true,
    why:'Scenario — a decision needs consequences, not an explanation.' }
];
var THRESHOLD = 96;                                    // px of travel that commits a swipe
var deckEl = document.getElementById('deck'), doneEl = document.getElementById('done');
var meterEl = document.getElementById('meter'), liveEl = document.getElementById('live');
var idx, right;
function show(on) {                                    // flip between the deck and the result
  ['deck','prompt'].forEach(function (id) { document.getElementById(id).style.display = on ? '' : 'none' });
  document.querySelector('.controls').style.display = on ? '' : 'none';
  document.querySelector('.meter').style.display = on ? '' : 'none';
  doneEl.style.display = on ? 'none' : 'block';
}
function start() { idx = 0; right = 0; show(true); render() }
</a:t>
            </a:r>
            <a:endParaRPr lang="en-US" sz="950" dirty="0"/>
          </a:p>
        </p:txBody>
      </p:sp>
      <p:sp>
        <p:nvSpPr>
          <p:cNvPr id="8" name="Text 6"/>
          <p:cNvSpPr/>
          <p:nvPr/>
        </p:nvSpPr>
        <p:spPr>
          <a:xfrm>
            <a:off x="9430207" y="6181344"/>
            <a:ext cx="2194560" cy="219456"/>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lines 58–87 of 166</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2600" b="1" dirty="0">
                <a:solidFill>
                  <a:srgbClr val="12161F"/>
                </a:solidFill>
                <a:latin typeface="Cambria" pitchFamily="34" charset="0"/>
                <a:ea typeface="Cambria" pitchFamily="34" charset="-122"/>
                <a:cs typeface="Cambria" pitchFamily="34" charset="-120"/>
              </a:rPr>
              <a:t>swipe-deck.html  —  4 of 6</a:t>
            </a:r>
            <a:endParaRPr lang="en-US" sz="26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Drawing the stack, and picking up a card</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22</a:t>
            </a:r>
            <a:endParaRPr lang="en-US" sz="950" dirty="0"/>
          </a:p>
        </p:txBody>
      </p:sp>
      <p:sp>
        <p:nvSpPr>
          <p:cNvPr id="6" name="Shape 4"/>
          <p:cNvSpPr/>
          <p:nvPr/>
        </p:nvSpPr>
        <p:spPr>
          <a:xfrm>
            <a:off x="566928" y="1517904"/>
            <a:ext cx="11057839" cy="4626864"/>
          </a:xfrm>
          <a:prstGeom prst="roundRect">
            <a:avLst>
              <a:gd name="adj" fmla="val 1779"/>
            </a:avLst>
          </a:prstGeom>
          <a:solidFill>
            <a:srgbClr val="0E142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41248" y="1682496"/>
            <a:ext cx="10509199" cy="4297680"/>
          </a:xfrm>
          <a:prstGeom prst="rect">
            <a:avLst/>
          </a:prstGeom>
          <a:noFill/>
          <a:ln/>
        </p:spPr>
        <p:txBody>
          <a:bodyPr wrap="square" lIns="0" tIns="0" rIns="0" bIns="0" rtlCol="0" anchor="t"/>
          <a:lstStyle/>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function render() {                                    // draw at most three cards, back to front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deckEl.innerHTML =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for (var i = Math.min(idx + 2, CARDS.length - 1); i &gt;= idx; i--)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var d = i - idx, el = document.createElement('article');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el.className = 'card';</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el.style.zIndex = 100 - d;</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el.style.transform = 'translateY(' + d * 10 + 'px) scale(' + (1 - d * 0.04) +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el.innerHTML = '&lt;span class="n"&gt;' + (i + 1) + ' of ' + CARDS.length + '&lt;/span&gt;'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'&lt;span class="stamp yes"&gt;Interactive&lt;/span&gt;&lt;span class="stamp no"&gt;Static&lt;/span&gt;'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'&lt;p class="scenario"&gt;' + CARDS[i].text + '&lt;/p&gt;'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 ? '' : '&lt;p class="hint"&gt;Drag the card, use the buttons, or press &amp;larr; / &amp;rarr;&lt;/p&gt;');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deckEl.appendChild(el);</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if (!d) attach(el);</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meterEl.style.width = (idx / CARDS.length * 100) +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a:t>
            </a:r>
            <a:endParaRPr lang="en-US" sz="950" dirty="0"/>
          </a:p>
          <a:p>
            <a:pPr indent="0" marL="0">
              <a:lnSpc>
                <a:spcPts val="1130"/>
              </a:lnSpc>
              <a:buNone/>
            </a:pP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function attach(el)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var startX = 0, dx = 0, dy = 0, dragging = false;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var yes = el.querySelector('.stamp.yes'), no = el.querySelector('.stamp.no');</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el.addEventListener('pointerdown', function (e) {     // one path for mouse, touch and pen</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dragging = true; startX = e.clientX;</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el.setPointerCapture(e.pointerId); el.classList.remove('animate');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el.addEventListener('pointermove', function (e)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if (!dragging) return;</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dx = e.clientX - startX;</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el.style.transform = 'translate(' + dx + 'px,' + dy + 'px) rotate(' + dx / 18 + 'deg)';</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var t = Math.min(Math.abs(dx) / THRESHOLD, 1);      // stamps fade in as the card travels</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yes.style.opacity = dx &gt; 0 ? t : 0;</a:t>
            </a:r>
            <a:endParaRPr lang="en-US" sz="950" dirty="0"/>
          </a:p>
        </p:txBody>
      </p:sp>
      <p:sp>
        <p:nvSpPr>
          <p:cNvPr id="8" name="Text 6"/>
          <p:cNvSpPr/>
          <p:nvPr/>
        </p:nvSpPr>
        <p:spPr>
          <a:xfrm>
            <a:off x="9430207" y="6181344"/>
            <a:ext cx="2194560" cy="219456"/>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lines 88–117 of 166</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2600" b="1" dirty="0">
                <a:solidFill>
                  <a:srgbClr val="12161F"/>
                </a:solidFill>
                <a:latin typeface="Cambria" pitchFamily="34" charset="0"/>
                <a:ea typeface="Cambria" pitchFamily="34" charset="-122"/>
                <a:cs typeface="Cambria" pitchFamily="34" charset="-120"/>
              </a:rPr>
              <a:t>swipe-deck.html  —  5 of 6</a:t>
            </a:r>
            <a:endParaRPr lang="en-US" sz="26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Committing the swipe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23</a:t>
            </a:r>
            <a:endParaRPr lang="en-US" sz="950" dirty="0"/>
          </a:p>
        </p:txBody>
      </p:sp>
      <p:sp>
        <p:nvSpPr>
          <p:cNvPr id="6" name="Shape 4"/>
          <p:cNvSpPr/>
          <p:nvPr/>
        </p:nvSpPr>
        <p:spPr>
          <a:xfrm>
            <a:off x="566928" y="1517904"/>
            <a:ext cx="11057839" cy="4197919"/>
          </a:xfrm>
          <a:prstGeom prst="roundRect">
            <a:avLst>
              <a:gd name="adj" fmla="val 1960"/>
            </a:avLst>
          </a:prstGeom>
          <a:solidFill>
            <a:srgbClr val="0E142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41248" y="1682496"/>
            <a:ext cx="10509199" cy="3868735"/>
          </a:xfrm>
          <a:prstGeom prst="rect">
            <a:avLst/>
          </a:prstGeom>
          <a:noFill/>
          <a:ln/>
        </p:spPr>
        <p:txBody>
          <a:bodyPr wrap="square" lIns="0" tIns="0" rIns="0" bIns="0" rtlCol="0" anchor="t"/>
          <a:lstStyle/>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no.style.opacity = dx &lt; 0 ? t : 0;</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function release()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if (!dragging) return;</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dragging = false;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el.classList.add('animate');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if (Math.abs(dx) &gt;= THRESHOLD) commit(el, dx &gt; 0);   // past the line: fly off</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else { el.style.transform = ''; yes.style.opacity = no.style.opacity = 0 }  // short: snap back</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dx = 0;</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el.addEventListener('pointerup', release);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el.addEventListener('pointercancel', release);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a:t>
            </a:r>
            <a:endParaRPr lang="en-US" sz="950" dirty="0"/>
          </a:p>
          <a:p>
            <a:pPr indent="0" marL="0">
              <a:lnSpc>
                <a:spcPts val="1130"/>
              </a:lnSpc>
              <a:buNone/>
            </a:pP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function commit(el, saidInteractive)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var card = CARDS[idx], correct = (card.answer === saidInteractive);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if (correct) right++;</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el.classList.add('animate');</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el.style.transform = 'translate(' + (saidInteractive ? 1 : -1) * (window.innerWidth || 800) +</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'px, 40px) rotate(' + (saidInteractive ? 24 : -24) + 'deg)';</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el.style.opacity = '0';</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liveEl.textContent = (correct ? 'Correct. ' : 'Not quite. ') + card.why;</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setTimeout(function () { idx++; idx &gt;= CARDS.length ? finish() : render() }, 300);</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a:t>
            </a:r>
            <a:endParaRPr lang="en-US" sz="950" dirty="0"/>
          </a:p>
          <a:p>
            <a:pPr indent="0" marL="0">
              <a:lnSpc>
                <a:spcPts val="1130"/>
              </a:lnSpc>
              <a:buNone/>
            </a:pP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function choose(saidInteractive) {                      // buttons and keys use the same path,</a:t>
            </a:r>
            <a:endParaRPr lang="en-US" sz="950" dirty="0"/>
          </a:p>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var top = deckEl.querySelector('.card');              // so it works without a pointer</a:t>
            </a:r>
            <a:endParaRPr lang="en-US" sz="950" dirty="0"/>
          </a:p>
        </p:txBody>
      </p:sp>
      <p:sp>
        <p:nvSpPr>
          <p:cNvPr id="8" name="Text 6"/>
          <p:cNvSpPr/>
          <p:nvPr/>
        </p:nvSpPr>
        <p:spPr>
          <a:xfrm>
            <a:off x="9430207" y="6181344"/>
            <a:ext cx="2194560" cy="219456"/>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lines 118–144 of 166</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2600" b="1" dirty="0">
                <a:solidFill>
                  <a:srgbClr val="12161F"/>
                </a:solidFill>
                <a:latin typeface="Cambria" pitchFamily="34" charset="0"/>
                <a:ea typeface="Cambria" pitchFamily="34" charset="-122"/>
                <a:cs typeface="Cambria" pitchFamily="34" charset="-120"/>
              </a:rPr>
              <a:t>swipe-deck.html  —  6 of 6</a:t>
            </a:r>
            <a:endParaRPr lang="en-US" sz="26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Buttons, keys and the result screen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24</a:t>
            </a:r>
            <a:endParaRPr lang="en-US" sz="950" dirty="0"/>
          </a:p>
        </p:txBody>
      </p:sp>
      <p:sp>
        <p:nvSpPr>
          <p:cNvPr id="6" name="Shape 4"/>
          <p:cNvSpPr/>
          <p:nvPr/>
        </p:nvSpPr>
        <p:spPr>
          <a:xfrm>
            <a:off x="566928" y="1517904"/>
            <a:ext cx="11057839" cy="3481487"/>
          </a:xfrm>
          <a:prstGeom prst="roundRect">
            <a:avLst>
              <a:gd name="adj" fmla="val 2364"/>
            </a:avLst>
          </a:prstGeom>
          <a:solidFill>
            <a:srgbClr val="0E142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41248" y="1682496"/>
            <a:ext cx="10509199" cy="3152303"/>
          </a:xfrm>
          <a:prstGeom prst="rect">
            <a:avLst/>
          </a:prstGeom>
          <a:noFill/>
          <a:ln/>
        </p:spPr>
        <p:txBody>
          <a:bodyPr wrap="square" lIns="0" tIns="0" rIns="0" bIns="0" rtlCol="0" anchor="t"/>
          <a:lstStyle/>
          <a:p>
            <a:pPr indent="0" marL="0">
              <a:lnSpc>
                <a:spcPts val="1130"/>
              </a:lnSpc>
              <a:buNone/>
            </a:pPr>
            <a:r>
              <a:rPr lang="en-US" sz="950" dirty="0">
                <a:solidFill>
                  <a:srgbClr val="D7E1EC"/>
                </a:solidFill>
                <a:latin typeface="Courier New" pitchFamily="34" charset="0"/>
                <a:ea typeface="Courier New" pitchFamily="34" charset="-122"/>
                <a:cs typeface="Courier New" pitchFamily="34" charset="-120"/>
              </a:rPr>
              <a:t>  if (top) commit(top, saidInteractive);
}
document.getElementById('btnYes').addEventListener('click', function () { choose(true) });
document.getElementById('btnNo').addEventListener('click', function () { choose(false) });
document.addEventListener('keydown', function (e) {
  if (e.key === 'ArrowRight') choose(true);
  if (e.key === 'ArrowLeft') choose(false);
});
function finish() {
  show(false);
  document.getElementById('score').textContent = right + '/' + CARDS.length;
  document.getElementById('verdict').textContent = right === CARDS.length
    ? 'Every one right. You are picking interactions on purpose.'
    : 'Read the feedback for the ones you missed, then go again.';
}
document.getElementById('again').addEventListener('click', start);
start();
&lt;/script&gt;
&lt;/body&gt;
&lt;/html&gt;
</a:t>
            </a:r>
            <a:endParaRPr lang="en-US" sz="950" dirty="0"/>
          </a:p>
        </p:txBody>
      </p:sp>
      <p:sp>
        <p:nvSpPr>
          <p:cNvPr id="8" name="Text 6"/>
          <p:cNvSpPr/>
          <p:nvPr/>
        </p:nvSpPr>
        <p:spPr>
          <a:xfrm>
            <a:off x="9430207" y="6181344"/>
            <a:ext cx="2194560" cy="219456"/>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lines 145–166 of 166</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Your build: earn one interaction</a:t>
            </a:r>
            <a:endParaRPr lang="en-US" sz="3000" dirty="0"/>
          </a:p>
        </p:txBody>
      </p:sp>
      <p:sp>
        <p:nvSpPr>
          <p:cNvPr id="3" name="Text 1"/>
          <p:cNvSpPr/>
          <p:nvPr/>
        </p:nvSpPr>
        <p:spPr>
          <a:xfrm>
            <a:off x="566928" y="1005840"/>
            <a:ext cx="8846271"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Back into yesterday’s lesson. One change, made for a reason you can say out loud.</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3  ·  Blocks that answer back</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25</a:t>
            </a:r>
            <a:endParaRPr lang="en-US" sz="950" dirty="0"/>
          </a:p>
        </p:txBody>
      </p:sp>
      <p:sp>
        <p:nvSpPr>
          <p:cNvPr id="6" name="Shape 4"/>
          <p:cNvSpPr/>
          <p:nvPr/>
        </p:nvSpPr>
        <p:spPr>
          <a:xfrm>
            <a:off x="566928" y="1737360"/>
            <a:ext cx="5300320" cy="3291840"/>
          </a:xfrm>
          <a:prstGeom prst="roundRect">
            <a:avLst>
              <a:gd name="adj" fmla="val 2500"/>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938528"/>
            <a:ext cx="456880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THE BRIEF</a:t>
            </a:r>
            <a:endParaRPr lang="en-US" sz="1100" dirty="0"/>
          </a:p>
        </p:txBody>
      </p:sp>
      <p:sp>
        <p:nvSpPr>
          <p:cNvPr id="8" name="Text 6"/>
          <p:cNvSpPr/>
          <p:nvPr/>
        </p:nvSpPr>
        <p:spPr>
          <a:xfrm>
            <a:off x="932688" y="2286000"/>
            <a:ext cx="4568800" cy="256032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Find your most text-heavy block</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Turn it into the interaction its job calls for</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Write the lead line above it</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Add one decide block — Sorting or Scenario</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Preview on mobile portrait before you stop</a:t>
            </a:r>
            <a:endParaRPr lang="en-US" sz="1350" dirty="0"/>
          </a:p>
        </p:txBody>
      </p:sp>
      <p:sp>
        <p:nvSpPr>
          <p:cNvPr id="9" name="Shape 7"/>
          <p:cNvSpPr/>
          <p:nvPr/>
        </p:nvSpPr>
        <p:spPr>
          <a:xfrm>
            <a:off x="6324448" y="1737360"/>
            <a:ext cx="5300320" cy="1554480"/>
          </a:xfrm>
          <a:prstGeom prst="roundRect">
            <a:avLst>
              <a:gd name="adj" fmla="val 529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6690208" y="1920240"/>
            <a:ext cx="4568800" cy="329184"/>
          </a:xfrm>
          <a:prstGeom prst="rect">
            <a:avLst/>
          </a:prstGeom>
          <a:noFill/>
          <a:ln/>
        </p:spPr>
        <p:txBody>
          <a:bodyPr wrap="square" lIns="0" tIns="0" rIns="0" bIns="0" rtlCol="0" anchor="ctr"/>
          <a:lstStyle/>
          <a:p>
            <a:pPr indent="0" marL="0">
              <a:buNone/>
            </a:pPr>
            <a:r>
              <a:rPr lang="en-US" sz="1800" b="1" dirty="0">
                <a:solidFill>
                  <a:srgbClr val="12161F"/>
                </a:solidFill>
                <a:latin typeface="Cambria" pitchFamily="34" charset="0"/>
                <a:ea typeface="Cambria" pitchFamily="34" charset="-122"/>
                <a:cs typeface="Cambria" pitchFamily="34" charset="-120"/>
              </a:rPr>
              <a:t>Say it out loud</a:t>
            </a:r>
            <a:endParaRPr lang="en-US" sz="1800" dirty="0"/>
          </a:p>
        </p:txBody>
      </p:sp>
      <p:sp>
        <p:nvSpPr>
          <p:cNvPr id="11" name="Text 9"/>
          <p:cNvSpPr/>
          <p:nvPr/>
        </p:nvSpPr>
        <p:spPr>
          <a:xfrm>
            <a:off x="6690208" y="2286000"/>
            <a:ext cx="4568800" cy="91440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For each interaction you added, finish this sentence for your neighbour: “This is a ___ because the learner has to ___.” If you cannot, take it out.</a:t>
            </a:r>
            <a:endParaRPr lang="en-US" sz="1300" dirty="0"/>
          </a:p>
        </p:txBody>
      </p:sp>
      <p:sp>
        <p:nvSpPr>
          <p:cNvPr id="12" name="Shape 10"/>
          <p:cNvSpPr/>
          <p:nvPr/>
        </p:nvSpPr>
        <p:spPr>
          <a:xfrm>
            <a:off x="6324448" y="3474720"/>
            <a:ext cx="5300320" cy="1554480"/>
          </a:xfrm>
          <a:prstGeom prst="roundRect">
            <a:avLst>
              <a:gd name="adj" fmla="val 529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Text 11"/>
          <p:cNvSpPr/>
          <p:nvPr/>
        </p:nvSpPr>
        <p:spPr>
          <a:xfrm>
            <a:off x="6690208" y="3657600"/>
            <a:ext cx="4568800" cy="329184"/>
          </a:xfrm>
          <a:prstGeom prst="rect">
            <a:avLst/>
          </a:prstGeom>
          <a:noFill/>
          <a:ln/>
        </p:spPr>
        <p:txBody>
          <a:bodyPr wrap="square" lIns="0" tIns="0" rIns="0" bIns="0" rtlCol="0" anchor="ctr"/>
          <a:lstStyle/>
          <a:p>
            <a:pPr indent="0" marL="0">
              <a:buNone/>
            </a:pPr>
            <a:r>
              <a:rPr lang="en-US" sz="1800" b="1" dirty="0">
                <a:solidFill>
                  <a:srgbClr val="12161F"/>
                </a:solidFill>
                <a:latin typeface="Cambria" pitchFamily="34" charset="0"/>
                <a:ea typeface="Cambria" pitchFamily="34" charset="-122"/>
                <a:cs typeface="Cambria" pitchFamily="34" charset="-120"/>
              </a:rPr>
              <a:t>If you finish early</a:t>
            </a:r>
            <a:endParaRPr lang="en-US" sz="1800" dirty="0"/>
          </a:p>
        </p:txBody>
      </p:sp>
      <p:sp>
        <p:nvSpPr>
          <p:cNvPr id="14" name="Text 12"/>
          <p:cNvSpPr/>
          <p:nvPr/>
        </p:nvSpPr>
        <p:spPr>
          <a:xfrm>
            <a:off x="6690208" y="4023360"/>
            <a:ext cx="4568800" cy="91440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Open the swipe deck file, replace the six cards with scenarios from your own subject, and open it in a browser. No build step, no account.</a:t>
            </a:r>
            <a:endParaRPr lang="en-US" sz="1300" dirty="0"/>
          </a:p>
        </p:txBody>
      </p:sp>
      <p:sp>
        <p:nvSpPr>
          <p:cNvPr id="15" name="Shape 13"/>
          <p:cNvSpPr/>
          <p:nvPr/>
        </p:nvSpPr>
        <p:spPr>
          <a:xfrm>
            <a:off x="566928" y="5230368"/>
            <a:ext cx="11057839" cy="658368"/>
          </a:xfrm>
          <a:prstGeom prst="roundRect">
            <a:avLst>
              <a:gd name="adj" fmla="val 12500"/>
            </a:avLst>
          </a:prstGeom>
          <a:solidFill>
            <a:srgbClr val="FFF4EE"/>
          </a:solidFill>
          <a:ln w="9525">
            <a:solidFill>
              <a:srgbClr val="F6C7AC"/>
            </a:solidFill>
            <a:prstDash val="solid"/>
          </a:ln>
        </p:spPr>
      </p:sp>
      <p:sp>
        <p:nvSpPr>
          <p:cNvPr id="16" name="Text 14"/>
          <p:cNvSpPr/>
          <p:nvPr/>
        </p:nvSpPr>
        <p:spPr>
          <a:xfrm>
            <a:off x="914400" y="5230368"/>
            <a:ext cx="10362895" cy="65836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One interaction added well beats four added quickly. If a block does not survive the sentence test, that is a result, not a failure.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5852160" cy="292608"/>
          </a:xfrm>
          <a:prstGeom prst="rect">
            <a:avLst/>
          </a:prstGeom>
          <a:noFill/>
          <a:ln/>
        </p:spPr>
        <p:txBody>
          <a:bodyPr wrap="square" lIns="0" tIns="0" rIns="0" bIns="0" rtlCol="0" anchor="ctr"/>
          <a:lstStyle/>
          <a:p>
            <a:pPr indent="0" marL="0">
              <a:buNone/>
            </a:pPr>
            <a:r>
              <a:rPr lang="en-US" sz="1250" b="1" spc="260" kern="0" dirty="0">
                <a:solidFill>
                  <a:srgbClr val="ED6A2A"/>
                </a:solidFill>
                <a:latin typeface="Calibri" pitchFamily="34" charset="0"/>
                <a:ea typeface="Calibri" pitchFamily="34" charset="-122"/>
                <a:cs typeface="Calibri" pitchFamily="34" charset="-120"/>
              </a:rPr>
              <a:t>DAY 3 COMPLETE</a:t>
            </a:r>
            <a:endParaRPr lang="en-US" sz="1250" dirty="0"/>
          </a:p>
        </p:txBody>
      </p:sp>
      <p:sp>
        <p:nvSpPr>
          <p:cNvPr id="3" name="Text 1"/>
          <p:cNvSpPr/>
          <p:nvPr/>
        </p:nvSpPr>
        <p:spPr>
          <a:xfrm>
            <a:off x="566928" y="2523744"/>
            <a:ext cx="6949440" cy="1554480"/>
          </a:xfrm>
          <a:prstGeom prst="rect">
            <a:avLst/>
          </a:prstGeom>
          <a:noFill/>
          <a:ln/>
        </p:spPr>
        <p:txBody>
          <a:bodyPr wrap="square" lIns="0" tIns="0" rIns="0" bIns="0" rtlCol="0" anchor="t"/>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Twelve blocks.</a:t>
            </a:r>
            <a:endParaRPr lang="en-US" sz="3800" dirty="0"/>
          </a:p>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One good reason each.</a:t>
            </a:r>
            <a:endParaRPr lang="en-US" sz="3800" dirty="0"/>
          </a:p>
        </p:txBody>
      </p:sp>
      <p:sp>
        <p:nvSpPr>
          <p:cNvPr id="4" name="Text 2"/>
          <p:cNvSpPr/>
          <p:nvPr/>
        </p:nvSpPr>
        <p:spPr>
          <a:xfrm>
            <a:off x="566928" y="4206240"/>
            <a:ext cx="6309360"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Interaction is not the goal. Getting the learner to do the thinking is — and now you have twelve ways to ask.</a:t>
            </a:r>
            <a:endParaRPr lang="en-US" sz="1450" dirty="0"/>
          </a:p>
        </p:txBody>
      </p:sp>
      <p:sp>
        <p:nvSpPr>
          <p:cNvPr id="5" name="Shape 3"/>
          <p:cNvSpPr/>
          <p:nvPr/>
        </p:nvSpPr>
        <p:spPr>
          <a:xfrm>
            <a:off x="8515807" y="2286000"/>
            <a:ext cx="3108960" cy="566928"/>
          </a:xfrm>
          <a:prstGeom prst="roundRect">
            <a:avLst>
              <a:gd name="adj" fmla="val 12903"/>
            </a:avLst>
          </a:prstGeom>
          <a:solidFill>
            <a:srgbClr val="1C2230"/>
          </a:solidFill>
          <a:ln w="12700">
            <a:solidFill>
              <a:srgbClr val="2A3242"/>
            </a:solidFill>
            <a:prstDash val="solid"/>
          </a:ln>
        </p:spPr>
      </p:sp>
      <p:sp>
        <p:nvSpPr>
          <p:cNvPr id="6" name="Shape 4"/>
          <p:cNvSpPr/>
          <p:nvPr/>
        </p:nvSpPr>
        <p:spPr>
          <a:xfrm>
            <a:off x="8643823" y="3054096"/>
            <a:ext cx="3108960" cy="566928"/>
          </a:xfrm>
          <a:prstGeom prst="roundRect">
            <a:avLst>
              <a:gd name="adj" fmla="val 12903"/>
            </a:avLst>
          </a:prstGeom>
          <a:solidFill>
            <a:srgbClr val="1C2230"/>
          </a:solidFill>
          <a:ln w="12700">
            <a:solidFill>
              <a:srgbClr val="2A3242"/>
            </a:solidFill>
            <a:prstDash val="solid"/>
          </a:ln>
        </p:spPr>
      </p:sp>
      <p:sp>
        <p:nvSpPr>
          <p:cNvPr id="7" name="Shape 5"/>
          <p:cNvSpPr/>
          <p:nvPr/>
        </p:nvSpPr>
        <p:spPr>
          <a:xfrm>
            <a:off x="8771839" y="3822192"/>
            <a:ext cx="3108960" cy="566928"/>
          </a:xfrm>
          <a:prstGeom prst="roundRect">
            <a:avLst>
              <a:gd name="adj" fmla="val 12903"/>
            </a:avLst>
          </a:prstGeom>
          <a:solidFill>
            <a:srgbClr val="ED6A2A"/>
          </a:solidFill>
          <a:ln w="12700">
            <a:solidFill>
              <a:srgbClr val="ED6A2A"/>
            </a:solidFill>
            <a:prstDash val="solid"/>
          </a:ln>
        </p:spPr>
      </p:sp>
      <p:sp>
        <p:nvSpPr>
          <p:cNvPr id="8" name="Text 6"/>
          <p:cNvSpPr/>
          <p:nvPr/>
        </p:nvSpPr>
        <p:spPr>
          <a:xfrm>
            <a:off x="8515807" y="4626864"/>
            <a:ext cx="3108960" cy="274320"/>
          </a:xfrm>
          <a:prstGeom prst="rect">
            <a:avLst/>
          </a:prstGeom>
          <a:noFill/>
          <a:ln/>
        </p:spPr>
        <p:txBody>
          <a:bodyPr wrap="square" lIns="0" tIns="0" rIns="0" bIns="0" rtlCol="0" anchor="ctr"/>
          <a:lstStyle/>
          <a:p>
            <a:pPr algn="ctr" indent="0" marL="0">
              <a:buNone/>
            </a:pPr>
            <a:r>
              <a:rPr lang="en-US" sz="1200" i="1" dirty="0">
                <a:solidFill>
                  <a:srgbClr val="A9B3C0"/>
                </a:solidFill>
                <a:latin typeface="Calibri" pitchFamily="34" charset="0"/>
                <a:ea typeface="Calibri" pitchFamily="34" charset="-122"/>
                <a:cs typeface="Calibri" pitchFamily="34" charset="-120"/>
              </a:rPr>
              <a:t>Day 4  ›  Assess, theme, navigate</a:t>
            </a:r>
            <a:endParaRPr lang="en-US" sz="1200" dirty="0"/>
          </a:p>
        </p:txBody>
      </p:sp>
      <p:sp>
        <p:nvSpPr>
          <p:cNvPr id="9" name="Text 7"/>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3  ·  Blocks that answer back</a:t>
            </a:r>
            <a:endParaRPr lang="en-US" sz="950" dirty="0"/>
          </a:p>
        </p:txBody>
      </p:sp>
      <p:sp>
        <p:nvSpPr>
          <p:cNvPr id="10" name="Text 8"/>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Rise 360 Day 3 — Blocks that answer back</dc:title>
  <dc:subject>PptxGenJS Presentation</dc:subject>
  <dc:creator>Rise 360 curriculum</dc:creator>
  <cp:lastModifiedBy>Rise 360 curriculum</cp:lastModifiedBy>
  <cp:revision>1</cp:revision>
  <dcterms:created xsi:type="dcterms:W3CDTF">2026-08-05T08:00:49Z</dcterms:created>
  <dcterms:modified xsi:type="dcterms:W3CDTF">2026-08-05T08:00:49Z</dcterms:modified>
</cp:coreProperties>
</file>