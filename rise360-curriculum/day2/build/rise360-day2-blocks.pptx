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2. Yesterday was the mental model and the outline: Course &gt; Sections &gt; Lessons &gt; Blocks. Today we go one level down and live inside a single lesson.
Framing to say out loud: Rise gives you roughly 42 static blocks. Nobody memorises 42 things. What you memorise is nine families and what each family is FOR. Once you know the family, you pick the member by eye from the block library.
Today is deliberately not about interactivity — accordions, tabs, labeled graphics, scenarios and the rest are Day 3. If someone asks about them, park it on the whiteboard and point at tomorrow.
Deliverable by the end of the day: one visually varied lesson that obeys the anti-clutter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on this slide, no more. The point is orientation, not detail.
Say: the five days follow the order you actually build in. You outlined yesterday. Today you fill a lesson with content blocks. Tomorrow you add the interactions. Day 4 you assess and brand it. Day 5 you ship it.
If your group is publishing to a corporate LMS, flag now that Day 5 will spend extra time on SCORM version and tracking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verbal check before you move on — ask two people to answer, do not lecture:
  1. Why does Rise not have slide dimensions?
  2. What is the difference between a Section and a Lesson?
If more than a couple of people are shaky on the hierarchy, spend five minutes re-drawing Course &gt; Sections &gt; Lessons &gt; Blocks on the whiteboard before starting. Everything today assumes it.
The right-hand column is the contract for the day. Come back to it at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section. Two ideas only: a lesson is a vertical stack, and there are three routes to add to it.
Do not start clicking yet — this is the last piece of framing before the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unteaches PowerPoint. Say it plainly: there is no canvas and there are no slide dimensions. You are writing a web page.
The trap to name early is the two-column one. Somebody always tries to place two blocks side by side to get columns. You cannot. Side-by-side comes from a block that is itself two-column: Two column text, Image &amp; text, or a grid gallery. Naming it now saves you a support question every single cohort.
Second trap: people assume a desktop layout is the layout. It is one of five previews. We check all five on Day 5, but get them previewing on mobile today, while their lessons are still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all three live, in this order, on a throwaway lesson. Ninety seconds.
The swap dropdown at the bottom is the single most useful thing on this slide and the most missed. Show it deliberately: type a quote once, then cycle it through Quote A, C and On image. People relax visibly when they see that choosing the wrong variant costs nothing.
Also show, quickly: up/down arrows to reorder, and the duplicate and delete icons that appear on hover. Then stop — resist demonstrating any interactive block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group read the nine names aloud once. It sounds silly; it works. The families are the vocabulary for the rest of the day and for every conversation you will have about a lesson afterwards.
The right-hand number is how many members each family has. Nobody needs to memorise members. The skill is: "I need this line to land" -&gt; Statement family -&gt; open the library -&gt; pick by eye.
Note the curriculum outline lists Chart separately from the static families; we teach it here because it behaves exactly like the other content blocks — you fill it in, it is not interactive.
Next nine slides are one per family, same shape each time: what it is for, what the members look like, and one thing to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warning. Nine slides at roughly four minutes each is about 35 minutes. Do not let Text blocks eat fifteen of them — it is the family everyone is most comfortable with and least needs.
Spend your time on the families they will under-use: Statement, Divider,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worth saying here.
1. Paragraph vs Paragraph with heading vs with subheading — the difference is only the heading level above the text. Use heading blocks to create scannable structure; people skim before they read.
2. Two column is where two-column layout actually comes from. Point back to the stack slide.
3. Table is plain and unstyled by design. It is for genuine tabular data. It is not a layout tool, and it does not scroll gracefully on a phone — if a table has more than about four columns, rethink it.
4. This is the family the anti-clutter rule is aimed at. Everyone over-reaches for Paragraph. The discipline is: write the paragraph, then ask what it would look like as a list, a statement, or an image with a caption.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under-used family in a beginner’s first course, and the fastest way to make a text-heavy lesson breathe.
Statement A through D are four visual treatments of the same thing: one short, important line. Pick by look — there is no functional difference, so do not let people agonise.
Note is the odd one out and worth calling out explicitly: it is styled as an aside — a caveat, a heads-up, a "check with your manager first". Teach it as the block for the sentence that would otherwise sit in brackets.
Exercise if you have a minute: take a dense paragraph from someone’s draft and pull one sentence out of it into a Statement. The paragraph gets shorter and the point gets louder. That is the whole lesson of this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Quotes do a specific job: they bring a human voice into the lesson. A line from a real customer, a real technician, a real manager carries weight that the same sentence in a paragraph does not.
Quote on image is the one to demo — it is the highest-impact block in this family and it is where cover-image cropping bites. Remind them: the image crops differently on every device, so the subject needs to survive edge cropping.
Quote carousel holds several quotes in one block. Useful for a "what our learners said" moment. Note that it does require a click to advance, so it sits at the border of static and interactive — but it is filed as a quote block, and we teach it here.
Warn against invented quotes. If the quote is fabricated for illustration, label it as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family, easy to teach, and the one where you can plant a genuinely useful habit.
The marker carries meaning. Numbered list = a sequence; doing step three before step two breaks something. Checkbox list = things the learner will actually tick off or verify. Bulleted = an unordered set.
Beginners pick these by appearance and end up numbering things that have no order, which quietly tells the learner a lie about the task.
Second habit worth planting: parallel phrasing. Every item in a list should start the same way — all verbs, or all noun phrases. A list that mixes "Check the reader" with "Battery life" is harder to scan than it looks. This comes up again in the editorial review on Day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members differ in how much room the image gets and whether text sits with it.
Image centered — sits in the content column with margins either side. The safe default.
Image full width — breaks the margins, edge to edge. Use it for a moment, not for every picture.
Image &amp; text — the honest two-column layout: picture one side, words the other.
Text on image — words laid over the picture. Contrast is on you; a busy photo makes the text unreadable. Rise gives you an overlay for exactly this reason.
Banner — a wide, short strip. Good as a section opener inside a long lesson.
The cropping point matters more than any of the above. Rise reflows, so the same image is cropped differently on desktop, tablet and phone. Anything critical near an edge will be lost. Say it once here and prove it in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gallery when several images are peers — four product shots, four workspace setups, four before-and-afters. If one image matters more than the others, it wants an Image block, not a slot in a grid.
Carousel shows one at a time and needs a click; the grids show everything at once. Grids are better when you want comparison, the carousel is better when you want sequence.
Choose the column count for the number of images, not the other way round. A three-column grid with four images leaves an orphan on the second row and it looks like a mistake.
Captions: this is where galleries fall down. A grid of four uncaptioned photos teaches nothing. Every caption should tell the learner what to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very different things filed under one family.
Audio and Video — upload or link. Always introduce them. A bare video with no lead-in gets skipped; "Watch the two minutes below and note where the technician confirms the code" gets watched.
Embed — pulls in an external page or player. Two warnings: it depends on that external service staying up, and it may be blocked on a corporate network. Never put anything essential behind an embed alone.
Attachment — a downloadable file: a job aid, a checklist, a form. This is the block people forget exists and then email the PDF separately.
Code snippet — text only, monospaced. It displays code; it does not run it.
Accessibility, briefly: captions and transcripts are your responsibility, not the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chart types, built by typing values into the block — no spreadsheet, no image editor.
Match the type to the question. Bar compares things. Line shows change over time. Pie shows parts of one whole — and only works with a handful of slices; past five or six it becomes unreadable.
The habit to teach is the headline. Do not write "Q3 results" above a chart. Write the finding: "Escalations fell by a third after the new script." Then the chart is evidence for a claim rather than a puzzle.
Keep the data small. These blocks are for making one point visual, not for reporting.
A note on the curriculum: charts are sometimes listed apart from the other static families. They belong here — you fill one in exactly like any other content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family that looks like nothing and does the most for readability.
Divider — a rule between sections. Numbered divider — the same, with a step number, which is excellent for procedures. Spacer — pure white space, for when two blocks are crowding each other and padding is not enough.
Continue is different in kind, so separate it clearly. It hides everything below it until the learner clicks. That is a real behaviour change: it forces a pause. Use it at a genuine decision or comprehension point — before an assessment, or before "now that you have read the policy". Sprinkling Continue blocks through a lesson just makes people click.
Tie back to pacing: a long lesson with no dividers reads as an undifferentiated wall. Dividers are how you show structure without adding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families were about choosing. This section is about finishing.
These three settings are where beginner lessons visibly differ from experienced ones — not in the content, in the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do not describe. Put three blocks on a lesson, set the middle one to 100px, and let them see the lesson go lopsided. Then set all three to 30 and watch it settle.
The consistency point is the one to labour. Beginners tune padding block by block, chasing a look on one screen, and end up with a course that has no rhythm. Get them to decide their value now and write it on a sticky note.
The documentation-lag box is a genuine teaching moment beyond padding: two Articulate documentation sets exist, the older help.rise.com and the newer support site, and the newer one reflects current settings. Trust the live interface over any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Backgrounds are where enthusiastic beginners do the most damage, so lead with the failure mode.
The banded look on the left happens when someone colours every other block to "add interest". The result is a stripey page where nothing stands out because everything does. Show the two stacks and let them see it.
The fix on the right: use a background to group blocks that belong together, so the fill means "this is one section". The other fix, if you want visual transitions without stripes, is full-width imagery between sections.
Contrast: Auto is right most of the time and wrong on busy images. If text becomes hard to read over a background image, that is what Light and Dark are for. Check it on mobile, where the crop changes what is behind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This is a small setting with an outsized number of support questions attached to it.
Show the toggle live. The reason it matters is location, not function: it is under Theme, not under the block, and that is exactly the confusion that comes back on Day 4 with navigation — course navigation lives under Theme too, while each quiz has its own Settings panel. Plant the pattern now: block-level settings are on the block, course-level settings are under Theme.
Do not turn this into an accessibility lecture, but do name motion sensitivity as a real reason to switch it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of register here. Everything so far has been "what the tool does". This section is judgement.
Be explicit that these are practitioner conventions, not settings the software enforces. That honesty buys you credibility for the rest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credibility move on this slide is the orange box. Do not present community heuristics as vendor rules — somebody in the room will go looking for them in the Articulate documentation, not find them, and then discount everything else you said today.
The 50% rule is the useful one and the one to enforce in the lab. It is easy to check: count the blocks, count the text blocks.
The 20-block threshold usually lands with people who have already written a monster lesson. Ask who has one. Then ask where it would naturally split.
The stripe rule connects straight back to the banding demo two slides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middle column, not the left — the symptom is what people recognise in their own work; the label is not.
Best way to run this slide: have someone volunteer a lesson they have already drafted, put it on the screen, and let the group name which of the five it has. It is much more effective than agreeing with the slide in the abstract.
Be kind about it. Everyone’s first Rise course has at least three of these, including yours. The point is that they are all cheap to fix once you can see them — which is why we spent the morning learning what else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talking. The remaining time is theirs.
Have the brief slide up on the screen for the whole lab so nobody has to ask what the requirements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real block of time — an hour is not too much. Walk the room; do not narrate from the front.
Insist on a real topic. People build a throwaway lesson about coffee, learn nothing they can reuse, and delete it. A lesson from their actual work becomes the seed of a real course and they will care whether the layout is any good.
The peer test in the top-right corner is the part to protect. It is the only feedback in the day that comes from someone who does not already know what the lesson is supposed to say — and reading it on a phone surfaces cropping and padding problems immediately.
Enforce the no-interactions rule gently but firmly. Someone always sneaks in an accordion. The constraint is the lesson: static blocks alone can carry a good lesson, and if you skip straight to interactions you never learn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out on paper if you can. It is the artefact people keep from today.
Walk it once, quickly — do not read all twelve lines aloud. Point out that the Check column is the one people skip: previewing on mobile takes ten seconds and catches the majority of layout problems while they are still cheap to fix.
Tell them this checklist grows. Day 3 adds interaction questions, Day 4 adds assessment and branding, Day 5 adds the publishing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back to the contract you set on slide 3. Ask the room to say what they can now do — do not read the left column to them.
The reason to preview Day 3 is motivational, not informational: the accordion is the block that solves the problem they have all just felt, which is having more to say than a lesson can comfortably hold.
The homework line matters. If they arrive tomorrow with a real lesson, Day 3 has real content to transform and the exercises are far better. If they arrive empty-handed we spend the first half hour inventing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before people leave.
One: remind them the deliverable is the lesson, and to bring it tomorrow.
Two: collect one sentence each on what they found hardest today. That tells you whether Day 3 needs to open with a recap of block mechanics or can go straight into interactions.
If the room struggled with the tool rather than the choices — hunting for settings, losing blocks — slow Day 3 down and re-demo the block toolbar first. If they struggled with the choices, that is exactly right, and Day 3 will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1481328"/>
            <a:ext cx="3657600" cy="292608"/>
          </a:xfrm>
          <a:prstGeom prst="rect">
            <a:avLst/>
          </a:prstGeom>
          <a:noFill/>
          <a:ln/>
        </p:spPr>
        <p:txBody>
          <a:bodyPr wrap="square" lIns="0" tIns="0" rIns="0" bIns="0" rtlCol="0" anchor="ctr"/>
          <a:lstStyle/>
          <a:p>
            <a:pPr indent="0" marL="0">
              <a:buNone/>
            </a:pPr>
            <a:r>
              <a:rPr lang="en-US" sz="1250" b="1" spc="260" kern="0" dirty="0">
                <a:solidFill>
                  <a:srgbClr val="ED6A2A"/>
                </a:solidFill>
                <a:latin typeface="Calibri" pitchFamily="34" charset="0"/>
                <a:ea typeface="Calibri" pitchFamily="34" charset="-122"/>
                <a:cs typeface="Calibri" pitchFamily="34" charset="-120"/>
              </a:rPr>
              <a:t>DAY 2 OF 5</a:t>
            </a:r>
            <a:endParaRPr lang="en-US" sz="1250" dirty="0"/>
          </a:p>
        </p:txBody>
      </p:sp>
      <p:sp>
        <p:nvSpPr>
          <p:cNvPr id="3" name="Text 1"/>
          <p:cNvSpPr/>
          <p:nvPr/>
        </p:nvSpPr>
        <p:spPr>
          <a:xfrm>
            <a:off x="566928" y="1865376"/>
            <a:ext cx="6949440" cy="1828800"/>
          </a:xfrm>
          <a:prstGeom prst="rect">
            <a:avLst/>
          </a:prstGeom>
          <a:noFill/>
          <a:ln/>
        </p:spPr>
        <p:txBody>
          <a:bodyPr wrap="square" lIns="0" tIns="0" rIns="0" bIns="0" rtlCol="0" anchor="t"/>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Blocks that carry</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your content</a:t>
            </a:r>
            <a:endParaRPr lang="en-US" sz="5000" dirty="0"/>
          </a:p>
        </p:txBody>
      </p:sp>
      <p:sp>
        <p:nvSpPr>
          <p:cNvPr id="4" name="Text 2"/>
          <p:cNvSpPr/>
          <p:nvPr/>
        </p:nvSpPr>
        <p:spPr>
          <a:xfrm>
            <a:off x="566928" y="3822192"/>
            <a:ext cx="6309360" cy="822960"/>
          </a:xfrm>
          <a:prstGeom prst="rect">
            <a:avLst/>
          </a:prstGeom>
          <a:noFill/>
          <a:ln/>
        </p:spPr>
        <p:txBody>
          <a:bodyPr wrap="square" lIns="0" tIns="0" rIns="0" bIns="0" rtlCol="0" anchor="t"/>
          <a:lstStyle/>
          <a:p>
            <a:pPr indent="0" marL="0">
              <a:lnSpc>
                <a:spcPts val="2400"/>
              </a:lnSpc>
              <a:buNone/>
            </a:pPr>
            <a:r>
              <a:rPr lang="en-US" sz="1550" dirty="0">
                <a:solidFill>
                  <a:srgbClr val="A9B3C0"/>
                </a:solidFill>
                <a:latin typeface="Calibri" pitchFamily="34" charset="0"/>
                <a:ea typeface="Calibri" pitchFamily="34" charset="-122"/>
                <a:cs typeface="Calibri" pitchFamily="34" charset="-120"/>
              </a:rPr>
              <a:t>The nine static block families in Articulate Rise 360 — and the layout rules that keep a lesson readable.</a:t>
            </a:r>
            <a:endParaRPr lang="en-US" sz="1550" dirty="0"/>
          </a:p>
        </p:txBody>
      </p:sp>
      <p:sp>
        <p:nvSpPr>
          <p:cNvPr id="5" name="Shape 3"/>
          <p:cNvSpPr/>
          <p:nvPr/>
        </p:nvSpPr>
        <p:spPr>
          <a:xfrm>
            <a:off x="7818120" y="1600200"/>
            <a:ext cx="3474720" cy="530352"/>
          </a:xfrm>
          <a:prstGeom prst="roundRect">
            <a:avLst>
              <a:gd name="adj" fmla="val 13793"/>
            </a:avLst>
          </a:prstGeom>
          <a:solidFill>
            <a:srgbClr val="1C2230"/>
          </a:solidFill>
          <a:ln w="12700">
            <a:solidFill>
              <a:srgbClr val="2A3242"/>
            </a:solidFill>
            <a:prstDash val="solid"/>
          </a:ln>
        </p:spPr>
      </p:sp>
      <p:sp>
        <p:nvSpPr>
          <p:cNvPr id="6" name="Shape 4"/>
          <p:cNvSpPr/>
          <p:nvPr/>
        </p:nvSpPr>
        <p:spPr>
          <a:xfrm>
            <a:off x="7818120" y="2276856"/>
            <a:ext cx="3474720" cy="960120"/>
          </a:xfrm>
          <a:prstGeom prst="roundRect">
            <a:avLst>
              <a:gd name="adj" fmla="val 7619"/>
            </a:avLst>
          </a:prstGeom>
          <a:solidFill>
            <a:srgbClr val="1C2230"/>
          </a:solidFill>
          <a:ln w="12700">
            <a:solidFill>
              <a:srgbClr val="2A3242"/>
            </a:solidFill>
            <a:prstDash val="solid"/>
          </a:ln>
        </p:spPr>
      </p:sp>
      <p:sp>
        <p:nvSpPr>
          <p:cNvPr id="7" name="Shape 5"/>
          <p:cNvSpPr/>
          <p:nvPr/>
        </p:nvSpPr>
        <p:spPr>
          <a:xfrm>
            <a:off x="7818120" y="3383280"/>
            <a:ext cx="3474720" cy="530352"/>
          </a:xfrm>
          <a:prstGeom prst="roundRect">
            <a:avLst>
              <a:gd name="adj" fmla="val 13793"/>
            </a:avLst>
          </a:prstGeom>
          <a:solidFill>
            <a:srgbClr val="ED6A2A"/>
          </a:solidFill>
          <a:ln w="12700">
            <a:solidFill>
              <a:srgbClr val="ED6A2A"/>
            </a:solidFill>
            <a:prstDash val="solid"/>
          </a:ln>
        </p:spPr>
      </p:sp>
      <p:sp>
        <p:nvSpPr>
          <p:cNvPr id="8" name="Shape 6"/>
          <p:cNvSpPr/>
          <p:nvPr/>
        </p:nvSpPr>
        <p:spPr>
          <a:xfrm>
            <a:off x="7818120" y="4059936"/>
            <a:ext cx="3474720" cy="749808"/>
          </a:xfrm>
          <a:prstGeom prst="roundRect">
            <a:avLst>
              <a:gd name="adj" fmla="val 9756"/>
            </a:avLst>
          </a:prstGeom>
          <a:solidFill>
            <a:srgbClr val="1C2230"/>
          </a:solidFill>
          <a:ln w="12700">
            <a:solidFill>
              <a:srgbClr val="2A3242"/>
            </a:solidFill>
            <a:prstDash val="solid"/>
          </a:ln>
        </p:spPr>
      </p:sp>
      <p:sp>
        <p:nvSpPr>
          <p:cNvPr id="9" name="Shape 7"/>
          <p:cNvSpPr/>
          <p:nvPr/>
        </p:nvSpPr>
        <p:spPr>
          <a:xfrm>
            <a:off x="7818120" y="4956048"/>
            <a:ext cx="3474720" cy="402336"/>
          </a:xfrm>
          <a:prstGeom prst="roundRect">
            <a:avLst>
              <a:gd name="adj" fmla="val 18182"/>
            </a:avLst>
          </a:prstGeom>
          <a:solidFill>
            <a:srgbClr val="1C2230"/>
          </a:solidFill>
          <a:ln w="12700">
            <a:solidFill>
              <a:srgbClr val="2A3242"/>
            </a:solidFill>
            <a:prstDash val="solid"/>
          </a:ln>
        </p:spPr>
      </p:sp>
      <p:sp>
        <p:nvSpPr>
          <p:cNvPr id="10" name="Text 8"/>
          <p:cNvSpPr/>
          <p:nvPr/>
        </p:nvSpPr>
        <p:spPr>
          <a:xfrm>
            <a:off x="7818120" y="5559552"/>
            <a:ext cx="3474720" cy="274320"/>
          </a:xfrm>
          <a:prstGeom prst="rect">
            <a:avLst/>
          </a:prstGeom>
          <a:noFill/>
          <a:ln/>
        </p:spPr>
        <p:txBody>
          <a:bodyPr wrap="square" lIns="0" tIns="0" rIns="0" bIns="0" rtlCol="0" anchor="ctr"/>
          <a:lstStyle/>
          <a:p>
            <a:pPr algn="ctr" indent="0" marL="0">
              <a:buNone/>
            </a:pPr>
            <a:r>
              <a:rPr lang="en-US" sz="1100" i="1" dirty="0">
                <a:solidFill>
                  <a:srgbClr val="A9B3C0"/>
                </a:solidFill>
                <a:latin typeface="Calibri" pitchFamily="34" charset="0"/>
                <a:ea typeface="Calibri" pitchFamily="34" charset="-122"/>
                <a:cs typeface="Calibri" pitchFamily="34" charset="-120"/>
              </a:rPr>
              <a:t>one lesson  =  a stack of blocks</a:t>
            </a:r>
            <a:endParaRPr lang="en-US" sz="1100" dirty="0"/>
          </a:p>
        </p:txBody>
      </p:sp>
      <p:sp>
        <p:nvSpPr>
          <p:cNvPr id="11" name="Text 9"/>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2  ·  Blocks that carry your content</a:t>
            </a:r>
            <a:endParaRPr lang="en-US" sz="950" dirty="0"/>
          </a:p>
        </p:txBody>
      </p:sp>
      <p:sp>
        <p:nvSpPr>
          <p:cNvPr id="12" name="Text 10"/>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Where today sits</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Five days, one build workflow. Today is the second step: filling a lesson.</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a:t>
            </a:r>
            <a:endParaRPr lang="en-US" sz="950" dirty="0"/>
          </a:p>
        </p:txBody>
      </p:sp>
      <p:sp>
        <p:nvSpPr>
          <p:cNvPr id="6" name="Shape 4"/>
          <p:cNvSpPr/>
          <p:nvPr/>
        </p:nvSpPr>
        <p:spPr>
          <a:xfrm>
            <a:off x="566928" y="1874520"/>
            <a:ext cx="2036003" cy="3383280"/>
          </a:xfrm>
          <a:prstGeom prst="roundRect">
            <a:avLst>
              <a:gd name="adj" fmla="val 404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Shape 5"/>
          <p:cNvSpPr/>
          <p:nvPr/>
        </p:nvSpPr>
        <p:spPr>
          <a:xfrm>
            <a:off x="822960" y="2139696"/>
            <a:ext cx="457200" cy="457200"/>
          </a:xfrm>
          <a:prstGeom prst="ellipse">
            <a:avLst/>
          </a:prstGeom>
          <a:solidFill>
            <a:srgbClr val="F4F6F8"/>
          </a:solidFill>
          <a:ln w="12700">
            <a:solidFill>
              <a:srgbClr val="E2E6EB"/>
            </a:solidFill>
            <a:prstDash val="solid"/>
          </a:ln>
        </p:spPr>
      </p:sp>
      <p:sp>
        <p:nvSpPr>
          <p:cNvPr id="8" name="Text 6"/>
          <p:cNvSpPr/>
          <p:nvPr/>
        </p:nvSpPr>
        <p:spPr>
          <a:xfrm>
            <a:off x="822960" y="2139696"/>
            <a:ext cx="457200" cy="457200"/>
          </a:xfrm>
          <a:prstGeom prst="rect">
            <a:avLst/>
          </a:prstGeom>
          <a:noFill/>
          <a:ln/>
        </p:spPr>
        <p:txBody>
          <a:bodyPr wrap="square" lIns="0" tIns="0" rIns="0" bIns="0" rtlCol="0" anchor="ctr"/>
          <a:lstStyle/>
          <a:p>
            <a:pPr algn="ctr" indent="0" marL="0">
              <a:buNone/>
            </a:pPr>
            <a:r>
              <a:rPr lang="en-US" sz="1700" b="1" dirty="0">
                <a:solidFill>
                  <a:srgbClr val="5A6675"/>
                </a:solidFill>
                <a:latin typeface="Cambria" pitchFamily="34" charset="0"/>
                <a:ea typeface="Cambria" pitchFamily="34" charset="-122"/>
                <a:cs typeface="Cambria" pitchFamily="34" charset="-120"/>
              </a:rPr>
              <a:t>1</a:t>
            </a:r>
            <a:endParaRPr lang="en-US" sz="1700" dirty="0"/>
          </a:p>
        </p:txBody>
      </p:sp>
      <p:sp>
        <p:nvSpPr>
          <p:cNvPr id="9" name="Text 7"/>
          <p:cNvSpPr/>
          <p:nvPr/>
        </p:nvSpPr>
        <p:spPr>
          <a:xfrm>
            <a:off x="804672" y="2743200"/>
            <a:ext cx="1560515" cy="768096"/>
          </a:xfrm>
          <a:prstGeom prst="rect">
            <a:avLst/>
          </a:prstGeom>
          <a:noFill/>
          <a:ln/>
        </p:spPr>
        <p:txBody>
          <a:bodyPr wrap="square" lIns="0" tIns="0" rIns="0" bIns="0" rtlCol="0" anchor="t"/>
          <a:lstStyle/>
          <a:p>
            <a:pPr indent="0" marL="0">
              <a:buNone/>
            </a:pPr>
            <a:r>
              <a:rPr lang="en-US" sz="1500" b="1" dirty="0">
                <a:solidFill>
                  <a:srgbClr val="12161F"/>
                </a:solidFill>
                <a:latin typeface="Cambria" pitchFamily="34" charset="0"/>
                <a:ea typeface="Cambria" pitchFamily="34" charset="-122"/>
                <a:cs typeface="Cambria" pitchFamily="34" charset="-120"/>
              </a:rPr>
              <a:t>Orientation</a:t>
            </a:r>
            <a:endParaRPr lang="en-US" sz="1500" dirty="0"/>
          </a:p>
        </p:txBody>
      </p:sp>
      <p:sp>
        <p:nvSpPr>
          <p:cNvPr id="10" name="Text 8"/>
          <p:cNvSpPr/>
          <p:nvPr/>
        </p:nvSpPr>
        <p:spPr>
          <a:xfrm>
            <a:off x="804672" y="3584448"/>
            <a:ext cx="1560515" cy="1463040"/>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The web-page model, the hierarchy, the dashboard, your outline</a:t>
            </a:r>
            <a:endParaRPr lang="en-US" sz="1150" dirty="0"/>
          </a:p>
        </p:txBody>
      </p:sp>
      <p:sp>
        <p:nvSpPr>
          <p:cNvPr id="11" name="Shape 9"/>
          <p:cNvSpPr/>
          <p:nvPr/>
        </p:nvSpPr>
        <p:spPr>
          <a:xfrm>
            <a:off x="2822387" y="1874520"/>
            <a:ext cx="2036003" cy="3383280"/>
          </a:xfrm>
          <a:prstGeom prst="roundRect">
            <a:avLst>
              <a:gd name="adj" fmla="val 4042"/>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2" name="Shape 10"/>
          <p:cNvSpPr/>
          <p:nvPr/>
        </p:nvSpPr>
        <p:spPr>
          <a:xfrm>
            <a:off x="3078419" y="2139696"/>
            <a:ext cx="457200" cy="457200"/>
          </a:xfrm>
          <a:prstGeom prst="ellipse">
            <a:avLst/>
          </a:prstGeom>
          <a:solidFill>
            <a:srgbClr val="ED6A2A"/>
          </a:solidFill>
          <a:ln w="12700">
            <a:solidFill>
              <a:srgbClr val="ED6A2A"/>
            </a:solidFill>
            <a:prstDash val="solid"/>
          </a:ln>
        </p:spPr>
      </p:sp>
      <p:sp>
        <p:nvSpPr>
          <p:cNvPr id="13" name="Text 11"/>
          <p:cNvSpPr/>
          <p:nvPr/>
        </p:nvSpPr>
        <p:spPr>
          <a:xfrm>
            <a:off x="3078419" y="213969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4" name="Text 12"/>
          <p:cNvSpPr/>
          <p:nvPr/>
        </p:nvSpPr>
        <p:spPr>
          <a:xfrm>
            <a:off x="3060131" y="2743200"/>
            <a:ext cx="1560515" cy="768096"/>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Static blocks &amp; layout</a:t>
            </a:r>
            <a:endParaRPr lang="en-US" sz="1500" dirty="0"/>
          </a:p>
        </p:txBody>
      </p:sp>
      <p:sp>
        <p:nvSpPr>
          <p:cNvPr id="15" name="Text 13"/>
          <p:cNvSpPr/>
          <p:nvPr/>
        </p:nvSpPr>
        <p:spPr>
          <a:xfrm>
            <a:off x="3060131" y="3584448"/>
            <a:ext cx="1560515" cy="1463040"/>
          </a:xfrm>
          <a:prstGeom prst="rect">
            <a:avLst/>
          </a:prstGeom>
          <a:noFill/>
          <a:ln/>
        </p:spPr>
        <p:txBody>
          <a:bodyPr wrap="square" lIns="0" tIns="0" rIns="0" bIns="0" rtlCol="0" anchor="t"/>
          <a:lstStyle/>
          <a:p>
            <a:pPr indent="0" marL="0">
              <a:lnSpc>
                <a:spcPts val="1600"/>
              </a:lnSpc>
              <a:buNone/>
            </a:pPr>
            <a:r>
              <a:rPr lang="en-US" sz="1150" dirty="0">
                <a:solidFill>
                  <a:srgbClr val="A9B3C0"/>
                </a:solidFill>
                <a:latin typeface="Calibri" pitchFamily="34" charset="0"/>
                <a:ea typeface="Calibri" pitchFamily="34" charset="-122"/>
                <a:cs typeface="Calibri" pitchFamily="34" charset="-120"/>
              </a:rPr>
              <a:t>The nine content families, padding, backgrounds, anti-clutter</a:t>
            </a:r>
            <a:endParaRPr lang="en-US" sz="1150" dirty="0"/>
          </a:p>
        </p:txBody>
      </p:sp>
      <p:sp>
        <p:nvSpPr>
          <p:cNvPr id="16" name="Shape 14"/>
          <p:cNvSpPr/>
          <p:nvPr/>
        </p:nvSpPr>
        <p:spPr>
          <a:xfrm>
            <a:off x="5077846" y="1874520"/>
            <a:ext cx="2036003" cy="3383280"/>
          </a:xfrm>
          <a:prstGeom prst="roundRect">
            <a:avLst>
              <a:gd name="adj" fmla="val 404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7" name="Shape 15"/>
          <p:cNvSpPr/>
          <p:nvPr/>
        </p:nvSpPr>
        <p:spPr>
          <a:xfrm>
            <a:off x="5333878" y="2139696"/>
            <a:ext cx="457200" cy="457200"/>
          </a:xfrm>
          <a:prstGeom prst="ellipse">
            <a:avLst/>
          </a:prstGeom>
          <a:solidFill>
            <a:srgbClr val="F4F6F8"/>
          </a:solidFill>
          <a:ln w="12700">
            <a:solidFill>
              <a:srgbClr val="E2E6EB"/>
            </a:solidFill>
            <a:prstDash val="solid"/>
          </a:ln>
        </p:spPr>
      </p:sp>
      <p:sp>
        <p:nvSpPr>
          <p:cNvPr id="18" name="Text 16"/>
          <p:cNvSpPr/>
          <p:nvPr/>
        </p:nvSpPr>
        <p:spPr>
          <a:xfrm>
            <a:off x="5333878" y="2139696"/>
            <a:ext cx="457200" cy="457200"/>
          </a:xfrm>
          <a:prstGeom prst="rect">
            <a:avLst/>
          </a:prstGeom>
          <a:noFill/>
          <a:ln/>
        </p:spPr>
        <p:txBody>
          <a:bodyPr wrap="square" lIns="0" tIns="0" rIns="0" bIns="0" rtlCol="0" anchor="ctr"/>
          <a:lstStyle/>
          <a:p>
            <a:pPr algn="ctr" indent="0" marL="0">
              <a:buNone/>
            </a:pPr>
            <a:r>
              <a:rPr lang="en-US" sz="1700" b="1" dirty="0">
                <a:solidFill>
                  <a:srgbClr val="5A6675"/>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5315590" y="2743200"/>
            <a:ext cx="1560515" cy="768096"/>
          </a:xfrm>
          <a:prstGeom prst="rect">
            <a:avLst/>
          </a:prstGeom>
          <a:noFill/>
          <a:ln/>
        </p:spPr>
        <p:txBody>
          <a:bodyPr wrap="square" lIns="0" tIns="0" rIns="0" bIns="0" rtlCol="0" anchor="t"/>
          <a:lstStyle/>
          <a:p>
            <a:pPr indent="0" marL="0">
              <a:buNone/>
            </a:pPr>
            <a:r>
              <a:rPr lang="en-US" sz="1500" b="1" dirty="0">
                <a:solidFill>
                  <a:srgbClr val="12161F"/>
                </a:solidFill>
                <a:latin typeface="Cambria" pitchFamily="34" charset="0"/>
                <a:ea typeface="Cambria" pitchFamily="34" charset="-122"/>
                <a:cs typeface="Cambria" pitchFamily="34" charset="-120"/>
              </a:rPr>
              <a:t>Interactive blocks</a:t>
            </a:r>
            <a:endParaRPr lang="en-US" sz="1500" dirty="0"/>
          </a:p>
        </p:txBody>
      </p:sp>
      <p:sp>
        <p:nvSpPr>
          <p:cNvPr id="20" name="Text 18"/>
          <p:cNvSpPr/>
          <p:nvPr/>
        </p:nvSpPr>
        <p:spPr>
          <a:xfrm>
            <a:off x="5315590" y="3584448"/>
            <a:ext cx="1560515" cy="1463040"/>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Accordion, tabs, labeled graphic, process, sorting, scenario</a:t>
            </a:r>
            <a:endParaRPr lang="en-US" sz="1150" dirty="0"/>
          </a:p>
        </p:txBody>
      </p:sp>
      <p:sp>
        <p:nvSpPr>
          <p:cNvPr id="21" name="Shape 19"/>
          <p:cNvSpPr/>
          <p:nvPr/>
        </p:nvSpPr>
        <p:spPr>
          <a:xfrm>
            <a:off x="7333305" y="1874520"/>
            <a:ext cx="2036003" cy="3383280"/>
          </a:xfrm>
          <a:prstGeom prst="roundRect">
            <a:avLst>
              <a:gd name="adj" fmla="val 404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2" name="Shape 20"/>
          <p:cNvSpPr/>
          <p:nvPr/>
        </p:nvSpPr>
        <p:spPr>
          <a:xfrm>
            <a:off x="7589337" y="2139696"/>
            <a:ext cx="457200" cy="457200"/>
          </a:xfrm>
          <a:prstGeom prst="ellipse">
            <a:avLst/>
          </a:prstGeom>
          <a:solidFill>
            <a:srgbClr val="F4F6F8"/>
          </a:solidFill>
          <a:ln w="12700">
            <a:solidFill>
              <a:srgbClr val="E2E6EB"/>
            </a:solidFill>
            <a:prstDash val="solid"/>
          </a:ln>
        </p:spPr>
      </p:sp>
      <p:sp>
        <p:nvSpPr>
          <p:cNvPr id="23" name="Text 21"/>
          <p:cNvSpPr/>
          <p:nvPr/>
        </p:nvSpPr>
        <p:spPr>
          <a:xfrm>
            <a:off x="7589337" y="2139696"/>
            <a:ext cx="457200" cy="457200"/>
          </a:xfrm>
          <a:prstGeom prst="rect">
            <a:avLst/>
          </a:prstGeom>
          <a:noFill/>
          <a:ln/>
        </p:spPr>
        <p:txBody>
          <a:bodyPr wrap="square" lIns="0" tIns="0" rIns="0" bIns="0" rtlCol="0" anchor="ctr"/>
          <a:lstStyle/>
          <a:p>
            <a:pPr algn="ctr" indent="0" marL="0">
              <a:buNone/>
            </a:pPr>
            <a:r>
              <a:rPr lang="en-US" sz="1700" b="1" dirty="0">
                <a:solidFill>
                  <a:srgbClr val="5A6675"/>
                </a:solidFill>
                <a:latin typeface="Cambria" pitchFamily="34" charset="0"/>
                <a:ea typeface="Cambria" pitchFamily="34" charset="-122"/>
                <a:cs typeface="Cambria" pitchFamily="34" charset="-120"/>
              </a:rPr>
              <a:t>4</a:t>
            </a:r>
            <a:endParaRPr lang="en-US" sz="1700" dirty="0"/>
          </a:p>
        </p:txBody>
      </p:sp>
      <p:sp>
        <p:nvSpPr>
          <p:cNvPr id="24" name="Text 22"/>
          <p:cNvSpPr/>
          <p:nvPr/>
        </p:nvSpPr>
        <p:spPr>
          <a:xfrm>
            <a:off x="7571049" y="2743200"/>
            <a:ext cx="1560515" cy="768096"/>
          </a:xfrm>
          <a:prstGeom prst="rect">
            <a:avLst/>
          </a:prstGeom>
          <a:noFill/>
          <a:ln/>
        </p:spPr>
        <p:txBody>
          <a:bodyPr wrap="square" lIns="0" tIns="0" rIns="0" bIns="0" rtlCol="0" anchor="t"/>
          <a:lstStyle/>
          <a:p>
            <a:pPr indent="0" marL="0">
              <a:buNone/>
            </a:pPr>
            <a:r>
              <a:rPr lang="en-US" sz="1500" b="1" dirty="0">
                <a:solidFill>
                  <a:srgbClr val="12161F"/>
                </a:solidFill>
                <a:latin typeface="Cambria" pitchFamily="34" charset="0"/>
                <a:ea typeface="Cambria" pitchFamily="34" charset="-122"/>
                <a:cs typeface="Cambria" pitchFamily="34" charset="-120"/>
              </a:rPr>
              <a:t>Assessment &amp; theme</a:t>
            </a:r>
            <a:endParaRPr lang="en-US" sz="1500" dirty="0"/>
          </a:p>
        </p:txBody>
      </p:sp>
      <p:sp>
        <p:nvSpPr>
          <p:cNvPr id="25" name="Text 23"/>
          <p:cNvSpPr/>
          <p:nvPr/>
        </p:nvSpPr>
        <p:spPr>
          <a:xfrm>
            <a:off x="7571049" y="3584448"/>
            <a:ext cx="1560515" cy="1463040"/>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Knowledge checks, quizzes, colours, fonts, free vs restricted navigation</a:t>
            </a:r>
            <a:endParaRPr lang="en-US" sz="1150" dirty="0"/>
          </a:p>
        </p:txBody>
      </p:sp>
      <p:sp>
        <p:nvSpPr>
          <p:cNvPr id="26" name="Shape 24"/>
          <p:cNvSpPr/>
          <p:nvPr/>
        </p:nvSpPr>
        <p:spPr>
          <a:xfrm>
            <a:off x="9588764" y="1874520"/>
            <a:ext cx="2036003" cy="3383280"/>
          </a:xfrm>
          <a:prstGeom prst="roundRect">
            <a:avLst>
              <a:gd name="adj" fmla="val 404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7" name="Shape 25"/>
          <p:cNvSpPr/>
          <p:nvPr/>
        </p:nvSpPr>
        <p:spPr>
          <a:xfrm>
            <a:off x="9844796" y="2139696"/>
            <a:ext cx="457200" cy="457200"/>
          </a:xfrm>
          <a:prstGeom prst="ellipse">
            <a:avLst/>
          </a:prstGeom>
          <a:solidFill>
            <a:srgbClr val="F4F6F8"/>
          </a:solidFill>
          <a:ln w="12700">
            <a:solidFill>
              <a:srgbClr val="E2E6EB"/>
            </a:solidFill>
            <a:prstDash val="solid"/>
          </a:ln>
        </p:spPr>
      </p:sp>
      <p:sp>
        <p:nvSpPr>
          <p:cNvPr id="28" name="Text 26"/>
          <p:cNvSpPr/>
          <p:nvPr/>
        </p:nvSpPr>
        <p:spPr>
          <a:xfrm>
            <a:off x="9844796" y="2139696"/>
            <a:ext cx="457200" cy="457200"/>
          </a:xfrm>
          <a:prstGeom prst="rect">
            <a:avLst/>
          </a:prstGeom>
          <a:noFill/>
          <a:ln/>
        </p:spPr>
        <p:txBody>
          <a:bodyPr wrap="square" lIns="0" tIns="0" rIns="0" bIns="0" rtlCol="0" anchor="ctr"/>
          <a:lstStyle/>
          <a:p>
            <a:pPr algn="ctr" indent="0" marL="0">
              <a:buNone/>
            </a:pPr>
            <a:r>
              <a:rPr lang="en-US" sz="1700" b="1" dirty="0">
                <a:solidFill>
                  <a:srgbClr val="5A6675"/>
                </a:solidFill>
                <a:latin typeface="Cambria" pitchFamily="34" charset="0"/>
                <a:ea typeface="Cambria" pitchFamily="34" charset="-122"/>
                <a:cs typeface="Cambria" pitchFamily="34" charset="-120"/>
              </a:rPr>
              <a:t>5</a:t>
            </a:r>
            <a:endParaRPr lang="en-US" sz="1700" dirty="0"/>
          </a:p>
        </p:txBody>
      </p:sp>
      <p:sp>
        <p:nvSpPr>
          <p:cNvPr id="29" name="Text 27"/>
          <p:cNvSpPr/>
          <p:nvPr/>
        </p:nvSpPr>
        <p:spPr>
          <a:xfrm>
            <a:off x="9826508" y="2743200"/>
            <a:ext cx="1560515" cy="768096"/>
          </a:xfrm>
          <a:prstGeom prst="rect">
            <a:avLst/>
          </a:prstGeom>
          <a:noFill/>
          <a:ln/>
        </p:spPr>
        <p:txBody>
          <a:bodyPr wrap="square" lIns="0" tIns="0" rIns="0" bIns="0" rtlCol="0" anchor="t"/>
          <a:lstStyle/>
          <a:p>
            <a:pPr indent="0" marL="0">
              <a:buNone/>
            </a:pPr>
            <a:r>
              <a:rPr lang="en-US" sz="1500" b="1" dirty="0">
                <a:solidFill>
                  <a:srgbClr val="12161F"/>
                </a:solidFill>
                <a:latin typeface="Cambria" pitchFamily="34" charset="0"/>
                <a:ea typeface="Cambria" pitchFamily="34" charset="-122"/>
                <a:cs typeface="Cambria" pitchFamily="34" charset="-120"/>
              </a:rPr>
              <a:t>Preview &amp; publish</a:t>
            </a:r>
            <a:endParaRPr lang="en-US" sz="1500" dirty="0"/>
          </a:p>
        </p:txBody>
      </p:sp>
      <p:sp>
        <p:nvSpPr>
          <p:cNvPr id="30" name="Text 28"/>
          <p:cNvSpPr/>
          <p:nvPr/>
        </p:nvSpPr>
        <p:spPr>
          <a:xfrm>
            <a:off x="9826508" y="3584448"/>
            <a:ext cx="1560515" cy="1463040"/>
          </a:xfrm>
          <a:prstGeom prst="rect">
            <a:avLst/>
          </a:prstGeom>
          <a:noFill/>
          <a:ln/>
        </p:spPr>
        <p:txBody>
          <a:bodyPr wrap="square" lIns="0" tIns="0" rIns="0" bIns="0" rtlCol="0" anchor="t"/>
          <a:lstStyle/>
          <a:p>
            <a:pPr indent="0" marL="0">
              <a:lnSpc>
                <a:spcPts val="1600"/>
              </a:lnSpc>
              <a:buNone/>
            </a:pPr>
            <a:r>
              <a:rPr lang="en-US" sz="1150" dirty="0">
                <a:solidFill>
                  <a:srgbClr val="5A6675"/>
                </a:solidFill>
                <a:latin typeface="Calibri" pitchFamily="34" charset="0"/>
                <a:ea typeface="Calibri" pitchFamily="34" charset="-122"/>
                <a:cs typeface="Calibri" pitchFamily="34" charset="-120"/>
              </a:rPr>
              <a:t>Multi-device preview, Quick Share, Reach 360, LMS export</a:t>
            </a:r>
            <a:endParaRPr lang="en-US" sz="1150" dirty="0"/>
          </a:p>
        </p:txBody>
      </p:sp>
      <p:sp>
        <p:nvSpPr>
          <p:cNvPr id="31" name="Text 29"/>
          <p:cNvSpPr/>
          <p:nvPr/>
        </p:nvSpPr>
        <p:spPr>
          <a:xfrm>
            <a:off x="2822387" y="5394960"/>
            <a:ext cx="2036003" cy="274320"/>
          </a:xfrm>
          <a:prstGeom prst="rect">
            <a:avLst/>
          </a:prstGeom>
          <a:noFill/>
          <a:ln/>
        </p:spPr>
        <p:txBody>
          <a:bodyPr wrap="square" lIns="0" tIns="0" rIns="0" bIns="0" rtlCol="0" anchor="ctr"/>
          <a:lstStyle/>
          <a:p>
            <a:pPr algn="ctr" indent="0" marL="0">
              <a:buNone/>
            </a:pPr>
            <a:r>
              <a:rPr lang="en-US" sz="1150" b="1" dirty="0">
                <a:solidFill>
                  <a:srgbClr val="ED6A2A"/>
                </a:solidFill>
                <a:latin typeface="Calibri" pitchFamily="34" charset="0"/>
                <a:ea typeface="Calibri" pitchFamily="34" charset="-122"/>
                <a:cs typeface="Calibri" pitchFamily="34" charset="-120"/>
              </a:rPr>
              <a:t>You are here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From yesterday to today</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You built an empty shelf. Today you put things on it.</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3</a:t>
            </a:r>
            <a:endParaRPr lang="en-US" sz="950" dirty="0"/>
          </a:p>
        </p:txBody>
      </p:sp>
      <p:sp>
        <p:nvSpPr>
          <p:cNvPr id="6" name="Shape 4"/>
          <p:cNvSpPr/>
          <p:nvPr/>
        </p:nvSpPr>
        <p:spPr>
          <a:xfrm>
            <a:off x="566928" y="1737360"/>
            <a:ext cx="5117440" cy="3703320"/>
          </a:xfrm>
          <a:prstGeom prst="roundRect">
            <a:avLst>
              <a:gd name="adj" fmla="val 222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1993392"/>
            <a:ext cx="4385920" cy="274320"/>
          </a:xfrm>
          <a:prstGeom prst="rect">
            <a:avLst/>
          </a:prstGeom>
          <a:noFill/>
          <a:ln/>
        </p:spPr>
        <p:txBody>
          <a:bodyPr wrap="square" lIns="0" tIns="0" rIns="0" bIns="0" rtlCol="0" anchor="ctr"/>
          <a:lstStyle/>
          <a:p>
            <a:pPr indent="0" marL="0">
              <a:buNone/>
            </a:pPr>
            <a:r>
              <a:rPr lang="en-US" sz="1100" b="1" spc="180" kern="0" dirty="0">
                <a:solidFill>
                  <a:srgbClr val="5A6675"/>
                </a:solidFill>
                <a:latin typeface="Calibri" pitchFamily="34" charset="0"/>
                <a:ea typeface="Calibri" pitchFamily="34" charset="-122"/>
                <a:cs typeface="Calibri" pitchFamily="34" charset="-120"/>
              </a:rPr>
              <a:t>YOU CAN ALREADY</a:t>
            </a:r>
            <a:endParaRPr lang="en-US" sz="1100" dirty="0"/>
          </a:p>
        </p:txBody>
      </p:sp>
      <p:sp>
        <p:nvSpPr>
          <p:cNvPr id="8" name="Text 6"/>
          <p:cNvSpPr/>
          <p:nvPr/>
        </p:nvSpPr>
        <p:spPr>
          <a:xfrm>
            <a:off x="932688" y="2359152"/>
            <a:ext cx="4385920" cy="2834640"/>
          </a:xfrm>
          <a:prstGeom prst="rect">
            <a:avLst/>
          </a:prstGeom>
          <a:noFill/>
          <a:ln/>
        </p:spPr>
        <p:txBody>
          <a:bodyPr wrap="square" lIns="0" tIns="0" rIns="0" bIns="0" rtlCol="0" anchor="t"/>
          <a:lstStyle/>
          <a:p>
            <a:pPr marL="342900" indent="-342900">
              <a:lnSpc>
                <a:spcPts val="2100"/>
              </a:lnSpc>
              <a:spcAft>
                <a:spcPts val="1000"/>
              </a:spcAft>
              <a:buSzPct val="100000"/>
              <a:buChar char="•"/>
            </a:pPr>
            <a:r>
              <a:rPr lang="en-US" sz="1400" dirty="0">
                <a:solidFill>
                  <a:srgbClr val="12161F"/>
                </a:solidFill>
                <a:latin typeface="Calibri" pitchFamily="34" charset="0"/>
                <a:ea typeface="Calibri" pitchFamily="34" charset="-122"/>
                <a:cs typeface="Calibri" pitchFamily="34" charset="-120"/>
              </a:rPr>
              <a:t>Explain why Rise is responsive, not slide-based</a:t>
            </a:r>
            <a:endParaRPr lang="en-US" sz="1400" dirty="0"/>
          </a:p>
          <a:p>
            <a:pPr marL="342900" indent="-342900">
              <a:lnSpc>
                <a:spcPts val="2100"/>
              </a:lnSpc>
              <a:spcAft>
                <a:spcPts val="1000"/>
              </a:spcAft>
              <a:buSzPct val="100000"/>
              <a:buChar char="•"/>
            </a:pPr>
            <a:r>
              <a:rPr lang="en-US" sz="1400" dirty="0">
                <a:solidFill>
                  <a:srgbClr val="12161F"/>
                </a:solidFill>
                <a:latin typeface="Calibri" pitchFamily="34" charset="0"/>
                <a:ea typeface="Calibri" pitchFamily="34" charset="-122"/>
                <a:cs typeface="Calibri" pitchFamily="34" charset="-120"/>
              </a:rPr>
              <a:t>Create a course and set title, description, cover image</a:t>
            </a:r>
            <a:endParaRPr lang="en-US" sz="1400" dirty="0"/>
          </a:p>
          <a:p>
            <a:pPr marL="342900" indent="-342900">
              <a:lnSpc>
                <a:spcPts val="2100"/>
              </a:lnSpc>
              <a:spcAft>
                <a:spcPts val="1000"/>
              </a:spcAft>
              <a:buSzPct val="100000"/>
              <a:buChar char="•"/>
            </a:pPr>
            <a:r>
              <a:rPr lang="en-US" sz="1400" dirty="0">
                <a:solidFill>
                  <a:srgbClr val="12161F"/>
                </a:solidFill>
                <a:latin typeface="Calibri" pitchFamily="34" charset="0"/>
                <a:ea typeface="Calibri" pitchFamily="34" charset="-122"/>
                <a:cs typeface="Calibri" pitchFamily="34" charset="-120"/>
              </a:rPr>
              <a:t>Build an outline of sections and lessons</a:t>
            </a:r>
            <a:endParaRPr lang="en-US" sz="1400" dirty="0"/>
          </a:p>
          <a:p>
            <a:pPr marL="342900" indent="-342900">
              <a:lnSpc>
                <a:spcPts val="2100"/>
              </a:lnSpc>
              <a:spcAft>
                <a:spcPts val="1000"/>
              </a:spcAft>
              <a:buSzPct val="100000"/>
              <a:buChar char="•"/>
            </a:pPr>
            <a:r>
              <a:rPr lang="en-US" sz="1400" dirty="0">
                <a:solidFill>
                  <a:srgbClr val="12161F"/>
                </a:solidFill>
                <a:latin typeface="Calibri" pitchFamily="34" charset="0"/>
                <a:ea typeface="Calibri" pitchFamily="34" charset="-122"/>
                <a:cs typeface="Calibri" pitchFamily="34" charset="-120"/>
              </a:rPr>
              <a:t>Reorder lessons by dragging them</a:t>
            </a:r>
            <a:endParaRPr lang="en-US" sz="1400" dirty="0"/>
          </a:p>
        </p:txBody>
      </p:sp>
      <p:sp>
        <p:nvSpPr>
          <p:cNvPr id="9" name="Shape 7"/>
          <p:cNvSpPr/>
          <p:nvPr/>
        </p:nvSpPr>
        <p:spPr>
          <a:xfrm>
            <a:off x="6507328" y="1737360"/>
            <a:ext cx="5117440" cy="3703320"/>
          </a:xfrm>
          <a:prstGeom prst="roundRect">
            <a:avLst>
              <a:gd name="adj" fmla="val 2222"/>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0" name="Text 8"/>
          <p:cNvSpPr/>
          <p:nvPr/>
        </p:nvSpPr>
        <p:spPr>
          <a:xfrm>
            <a:off x="6873088" y="1993392"/>
            <a:ext cx="4385920" cy="274320"/>
          </a:xfrm>
          <a:prstGeom prst="rect">
            <a:avLst/>
          </a:prstGeom>
          <a:noFill/>
          <a:ln/>
        </p:spPr>
        <p:txBody>
          <a:bodyPr wrap="square" lIns="0" tIns="0" rIns="0" bIns="0" rtlCol="0" anchor="ctr"/>
          <a:lstStyle/>
          <a:p>
            <a:pPr indent="0" marL="0">
              <a:buNone/>
            </a:pPr>
            <a:r>
              <a:rPr lang="en-US" sz="1100" b="1" spc="180" kern="0" dirty="0">
                <a:solidFill>
                  <a:srgbClr val="ED6A2A"/>
                </a:solidFill>
                <a:latin typeface="Calibri" pitchFamily="34" charset="0"/>
                <a:ea typeface="Calibri" pitchFamily="34" charset="-122"/>
                <a:cs typeface="Calibri" pitchFamily="34" charset="-120"/>
              </a:rPr>
              <a:t>BY TONIGHT YOU WILL</a:t>
            </a:r>
            <a:endParaRPr lang="en-US" sz="1100" dirty="0"/>
          </a:p>
        </p:txBody>
      </p:sp>
      <p:sp>
        <p:nvSpPr>
          <p:cNvPr id="11" name="Text 9"/>
          <p:cNvSpPr/>
          <p:nvPr/>
        </p:nvSpPr>
        <p:spPr>
          <a:xfrm>
            <a:off x="6873088" y="2359152"/>
            <a:ext cx="4385920" cy="2834640"/>
          </a:xfrm>
          <a:prstGeom prst="rect">
            <a:avLst/>
          </a:prstGeom>
          <a:noFill/>
          <a:ln/>
        </p:spPr>
        <p:txBody>
          <a:bodyPr wrap="square" lIns="0" tIns="0" rIns="0" bIns="0" rtlCol="0" anchor="t"/>
          <a:lstStyle/>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Name the nine static families and what each is for</a:t>
            </a:r>
            <a:endParaRPr lang="en-US" sz="1400" dirty="0"/>
          </a:p>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Add, reorder, swap and delete blocks fluently</a:t>
            </a:r>
            <a:endParaRPr lang="en-US" sz="1400" dirty="0"/>
          </a:p>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Set padding and backgrounds on purpose, not by accident</a:t>
            </a:r>
            <a:endParaRPr lang="en-US" sz="1400" dirty="0"/>
          </a:p>
          <a:p>
            <a:pPr marL="342900" indent="-342900">
              <a:lnSpc>
                <a:spcPts val="21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Build one lesson that passes the anti-clutter rules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ONE</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stack</a:t>
            </a:r>
            <a:endParaRPr lang="en-US" sz="4000" dirty="0"/>
          </a:p>
        </p:txBody>
      </p:sp>
      <p:sp>
        <p:nvSpPr>
          <p:cNvPr id="4" name="Text 2"/>
          <p:cNvSpPr/>
          <p:nvPr/>
        </p:nvSpPr>
        <p:spPr>
          <a:xfrm>
            <a:off x="566928" y="3657600"/>
            <a:ext cx="5750076"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How a lesson is assembled, and the three ways to put a block into it.</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2  ·  Blocks that carry your content</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A lesson is a vertical stack</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No slides, no canvas, no fixed size. Blocks sit one on top of the next and the learner scrolls.</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5</a:t>
            </a:r>
            <a:endParaRPr lang="en-US" sz="950" dirty="0"/>
          </a:p>
        </p:txBody>
      </p:sp>
      <p:sp>
        <p:nvSpPr>
          <p:cNvPr id="6" name="Shape 4"/>
          <p:cNvSpPr/>
          <p:nvPr/>
        </p:nvSpPr>
        <p:spPr>
          <a:xfrm>
            <a:off x="566928" y="1783080"/>
            <a:ext cx="3200400" cy="3977640"/>
          </a:xfrm>
          <a:prstGeom prst="roundRect">
            <a:avLst>
              <a:gd name="adj" fmla="val 25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Shape 5"/>
          <p:cNvSpPr/>
          <p:nvPr/>
        </p:nvSpPr>
        <p:spPr>
          <a:xfrm>
            <a:off x="804672" y="1984248"/>
            <a:ext cx="2724912" cy="457200"/>
          </a:xfrm>
          <a:prstGeom prst="roundRect">
            <a:avLst>
              <a:gd name="adj" fmla="val 12000"/>
            </a:avLst>
          </a:prstGeom>
          <a:solidFill>
            <a:srgbClr val="12161F"/>
          </a:solidFill>
          <a:ln w="9525">
            <a:solidFill>
              <a:srgbClr val="E2E6EB"/>
            </a:solidFill>
            <a:prstDash val="solid"/>
          </a:ln>
        </p:spPr>
      </p:sp>
      <p:sp>
        <p:nvSpPr>
          <p:cNvPr id="8" name="Text 6"/>
          <p:cNvSpPr/>
          <p:nvPr/>
        </p:nvSpPr>
        <p:spPr>
          <a:xfrm>
            <a:off x="804672" y="1984248"/>
            <a:ext cx="2724912"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Heading</a:t>
            </a:r>
            <a:endParaRPr lang="en-US" sz="1150" dirty="0"/>
          </a:p>
        </p:txBody>
      </p:sp>
      <p:sp>
        <p:nvSpPr>
          <p:cNvPr id="9" name="Shape 7"/>
          <p:cNvSpPr/>
          <p:nvPr/>
        </p:nvSpPr>
        <p:spPr>
          <a:xfrm>
            <a:off x="804672" y="2551176"/>
            <a:ext cx="2724912" cy="658368"/>
          </a:xfrm>
          <a:prstGeom prst="roundRect">
            <a:avLst>
              <a:gd name="adj" fmla="val 8333"/>
            </a:avLst>
          </a:prstGeom>
          <a:solidFill>
            <a:srgbClr val="F4F6F8"/>
          </a:solidFill>
          <a:ln w="9525">
            <a:solidFill>
              <a:srgbClr val="E2E6EB"/>
            </a:solidFill>
            <a:prstDash val="solid"/>
          </a:ln>
        </p:spPr>
      </p:sp>
      <p:sp>
        <p:nvSpPr>
          <p:cNvPr id="10" name="Text 8"/>
          <p:cNvSpPr/>
          <p:nvPr/>
        </p:nvSpPr>
        <p:spPr>
          <a:xfrm>
            <a:off x="804672" y="2551176"/>
            <a:ext cx="2724912" cy="658368"/>
          </a:xfrm>
          <a:prstGeom prst="rect">
            <a:avLst/>
          </a:prstGeom>
          <a:noFill/>
          <a:ln/>
        </p:spPr>
        <p:txBody>
          <a:bodyPr wrap="square" lIns="0" tIns="0" rIns="0" bIns="0" rtlCol="0" anchor="ctr"/>
          <a:lstStyle/>
          <a:p>
            <a:pPr algn="ctr" indent="0" marL="0">
              <a:buNone/>
            </a:pPr>
            <a:r>
              <a:rPr lang="en-US" sz="1150" b="1" dirty="0">
                <a:solidFill>
                  <a:srgbClr val="5A6675"/>
                </a:solidFill>
                <a:latin typeface="Calibri" pitchFamily="34" charset="0"/>
                <a:ea typeface="Calibri" pitchFamily="34" charset="-122"/>
                <a:cs typeface="Calibri" pitchFamily="34" charset="-120"/>
              </a:rPr>
              <a:t>Paragraph</a:t>
            </a:r>
            <a:endParaRPr lang="en-US" sz="1150" dirty="0"/>
          </a:p>
        </p:txBody>
      </p:sp>
      <p:sp>
        <p:nvSpPr>
          <p:cNvPr id="11" name="Shape 9"/>
          <p:cNvSpPr/>
          <p:nvPr/>
        </p:nvSpPr>
        <p:spPr>
          <a:xfrm>
            <a:off x="804672" y="3319272"/>
            <a:ext cx="2724912" cy="841248"/>
          </a:xfrm>
          <a:prstGeom prst="roundRect">
            <a:avLst>
              <a:gd name="adj" fmla="val 6522"/>
            </a:avLst>
          </a:prstGeom>
          <a:solidFill>
            <a:srgbClr val="F6C7AC"/>
          </a:solidFill>
          <a:ln w="9525">
            <a:solidFill>
              <a:srgbClr val="E2E6EB"/>
            </a:solidFill>
            <a:prstDash val="solid"/>
          </a:ln>
        </p:spPr>
      </p:sp>
      <p:sp>
        <p:nvSpPr>
          <p:cNvPr id="12" name="Text 10"/>
          <p:cNvSpPr/>
          <p:nvPr/>
        </p:nvSpPr>
        <p:spPr>
          <a:xfrm>
            <a:off x="804672" y="3319272"/>
            <a:ext cx="2724912" cy="841248"/>
          </a:xfrm>
          <a:prstGeom prst="rect">
            <a:avLst/>
          </a:prstGeom>
          <a:noFill/>
          <a:ln/>
        </p:spPr>
        <p:txBody>
          <a:bodyPr wrap="square" lIns="0" tIns="0" rIns="0" bIns="0" rtlCol="0" anchor="ctr"/>
          <a:lstStyle/>
          <a:p>
            <a:pPr algn="ctr" indent="0" marL="0">
              <a:buNone/>
            </a:pPr>
            <a:r>
              <a:rPr lang="en-US" sz="1150" b="1" dirty="0">
                <a:solidFill>
                  <a:srgbClr val="5A6675"/>
                </a:solidFill>
                <a:latin typeface="Calibri" pitchFamily="34" charset="0"/>
                <a:ea typeface="Calibri" pitchFamily="34" charset="-122"/>
                <a:cs typeface="Calibri" pitchFamily="34" charset="-120"/>
              </a:rPr>
              <a:t>Image</a:t>
            </a:r>
            <a:endParaRPr lang="en-US" sz="1150" dirty="0"/>
          </a:p>
        </p:txBody>
      </p:sp>
      <p:sp>
        <p:nvSpPr>
          <p:cNvPr id="13" name="Shape 11"/>
          <p:cNvSpPr/>
          <p:nvPr/>
        </p:nvSpPr>
        <p:spPr>
          <a:xfrm>
            <a:off x="804672" y="4270248"/>
            <a:ext cx="2724912" cy="457200"/>
          </a:xfrm>
          <a:prstGeom prst="roundRect">
            <a:avLst>
              <a:gd name="adj" fmla="val 12000"/>
            </a:avLst>
          </a:prstGeom>
          <a:solidFill>
            <a:srgbClr val="F4F6F8"/>
          </a:solidFill>
          <a:ln w="9525">
            <a:solidFill>
              <a:srgbClr val="E2E6EB"/>
            </a:solidFill>
            <a:prstDash val="solid"/>
          </a:ln>
        </p:spPr>
      </p:sp>
      <p:sp>
        <p:nvSpPr>
          <p:cNvPr id="14" name="Text 12"/>
          <p:cNvSpPr/>
          <p:nvPr/>
        </p:nvSpPr>
        <p:spPr>
          <a:xfrm>
            <a:off x="804672" y="4270248"/>
            <a:ext cx="2724912" cy="457200"/>
          </a:xfrm>
          <a:prstGeom prst="rect">
            <a:avLst/>
          </a:prstGeom>
          <a:noFill/>
          <a:ln/>
        </p:spPr>
        <p:txBody>
          <a:bodyPr wrap="square" lIns="0" tIns="0" rIns="0" bIns="0" rtlCol="0" anchor="ctr"/>
          <a:lstStyle/>
          <a:p>
            <a:pPr algn="ctr" indent="0" marL="0">
              <a:buNone/>
            </a:pPr>
            <a:r>
              <a:rPr lang="en-US" sz="1150" b="1" dirty="0">
                <a:solidFill>
                  <a:srgbClr val="5A6675"/>
                </a:solidFill>
                <a:latin typeface="Calibri" pitchFamily="34" charset="0"/>
                <a:ea typeface="Calibri" pitchFamily="34" charset="-122"/>
                <a:cs typeface="Calibri" pitchFamily="34" charset="-120"/>
              </a:rPr>
              <a:t>Statement</a:t>
            </a:r>
            <a:endParaRPr lang="en-US" sz="1150" dirty="0"/>
          </a:p>
        </p:txBody>
      </p:sp>
      <p:sp>
        <p:nvSpPr>
          <p:cNvPr id="15" name="Shape 13"/>
          <p:cNvSpPr/>
          <p:nvPr/>
        </p:nvSpPr>
        <p:spPr>
          <a:xfrm>
            <a:off x="804672" y="4837176"/>
            <a:ext cx="2724912" cy="566928"/>
          </a:xfrm>
          <a:prstGeom prst="roundRect">
            <a:avLst>
              <a:gd name="adj" fmla="val 9677"/>
            </a:avLst>
          </a:prstGeom>
          <a:solidFill>
            <a:srgbClr val="F4F6F8"/>
          </a:solidFill>
          <a:ln w="9525">
            <a:solidFill>
              <a:srgbClr val="E2E6EB"/>
            </a:solidFill>
            <a:prstDash val="solid"/>
          </a:ln>
        </p:spPr>
      </p:sp>
      <p:sp>
        <p:nvSpPr>
          <p:cNvPr id="16" name="Text 14"/>
          <p:cNvSpPr/>
          <p:nvPr/>
        </p:nvSpPr>
        <p:spPr>
          <a:xfrm>
            <a:off x="804672" y="4837176"/>
            <a:ext cx="2724912" cy="566928"/>
          </a:xfrm>
          <a:prstGeom prst="rect">
            <a:avLst/>
          </a:prstGeom>
          <a:noFill/>
          <a:ln/>
        </p:spPr>
        <p:txBody>
          <a:bodyPr wrap="square" lIns="0" tIns="0" rIns="0" bIns="0" rtlCol="0" anchor="ctr"/>
          <a:lstStyle/>
          <a:p>
            <a:pPr algn="ctr" indent="0" marL="0">
              <a:buNone/>
            </a:pPr>
            <a:r>
              <a:rPr lang="en-US" sz="1150" b="1" dirty="0">
                <a:solidFill>
                  <a:srgbClr val="5A6675"/>
                </a:solidFill>
                <a:latin typeface="Calibri" pitchFamily="34" charset="0"/>
                <a:ea typeface="Calibri" pitchFamily="34" charset="-122"/>
                <a:cs typeface="Calibri" pitchFamily="34" charset="-120"/>
              </a:rPr>
              <a:t>List</a:t>
            </a:r>
            <a:endParaRPr lang="en-US" sz="1150" dirty="0"/>
          </a:p>
        </p:txBody>
      </p:sp>
      <p:sp>
        <p:nvSpPr>
          <p:cNvPr id="17" name="Text 15"/>
          <p:cNvSpPr/>
          <p:nvPr/>
        </p:nvSpPr>
        <p:spPr>
          <a:xfrm>
            <a:off x="566928" y="5431536"/>
            <a:ext cx="3200400" cy="274320"/>
          </a:xfrm>
          <a:prstGeom prst="rect">
            <a:avLst/>
          </a:prstGeom>
          <a:noFill/>
          <a:ln/>
        </p:spPr>
        <p:txBody>
          <a:bodyPr wrap="square" lIns="0" tIns="0" rIns="0" bIns="0" rtlCol="0" anchor="ctr"/>
          <a:lstStyle/>
          <a:p>
            <a:pPr algn="ctr" indent="0" marL="0">
              <a:buNone/>
            </a:pPr>
            <a:r>
              <a:rPr lang="en-US" sz="1100" i="1" dirty="0">
                <a:solidFill>
                  <a:srgbClr val="5A6675"/>
                </a:solidFill>
                <a:latin typeface="Calibri" pitchFamily="34" charset="0"/>
                <a:ea typeface="Calibri" pitchFamily="34" charset="-122"/>
                <a:cs typeface="Calibri" pitchFamily="34" charset="-120"/>
              </a:rPr>
              <a:t>scroll  ↓</a:t>
            </a:r>
            <a:endParaRPr lang="en-US" sz="1100" dirty="0"/>
          </a:p>
        </p:txBody>
      </p:sp>
      <p:sp>
        <p:nvSpPr>
          <p:cNvPr id="18" name="Shape 16"/>
          <p:cNvSpPr/>
          <p:nvPr/>
        </p:nvSpPr>
        <p:spPr>
          <a:xfrm>
            <a:off x="4334256" y="1865376"/>
            <a:ext cx="310896" cy="310896"/>
          </a:xfrm>
          <a:prstGeom prst="ellipse">
            <a:avLst/>
          </a:prstGeom>
          <a:solidFill>
            <a:srgbClr val="12161F"/>
          </a:solidFill>
          <a:ln/>
        </p:spPr>
      </p:sp>
      <p:sp>
        <p:nvSpPr>
          <p:cNvPr id="19" name="Text 17"/>
          <p:cNvSpPr/>
          <p:nvPr/>
        </p:nvSpPr>
        <p:spPr>
          <a:xfrm>
            <a:off x="4334256" y="18653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8"/>
          <p:cNvSpPr/>
          <p:nvPr/>
        </p:nvSpPr>
        <p:spPr>
          <a:xfrm>
            <a:off x="4791456" y="1828800"/>
            <a:ext cx="6833311" cy="310896"/>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One column, top to bottom</a:t>
            </a:r>
            <a:endParaRPr lang="en-US" sz="1700" dirty="0"/>
          </a:p>
        </p:txBody>
      </p:sp>
      <p:sp>
        <p:nvSpPr>
          <p:cNvPr id="21" name="Text 19"/>
          <p:cNvSpPr/>
          <p:nvPr/>
        </p:nvSpPr>
        <p:spPr>
          <a:xfrm>
            <a:off x="4791456" y="2176272"/>
            <a:ext cx="6833311" cy="868680"/>
          </a:xfrm>
          <a:prstGeom prst="rect">
            <a:avLst/>
          </a:prstGeom>
          <a:noFill/>
          <a:ln/>
        </p:spPr>
        <p:txBody>
          <a:bodyPr wrap="square" lIns="0" tIns="0" rIns="0" bIns="0" rtlCol="0" anchor="t"/>
          <a:lstStyle/>
          <a:p>
            <a:pPr indent="0" marL="0">
              <a:lnSpc>
                <a:spcPts val="1800"/>
              </a:lnSpc>
              <a:buNone/>
            </a:pPr>
            <a:r>
              <a:rPr lang="en-US" sz="1300" dirty="0">
                <a:solidFill>
                  <a:srgbClr val="5A6675"/>
                </a:solidFill>
                <a:latin typeface="Calibri" pitchFamily="34" charset="0"/>
                <a:ea typeface="Calibri" pitchFamily="34" charset="-122"/>
                <a:cs typeface="Calibri" pitchFamily="34" charset="-120"/>
              </a:rPr>
              <a:t>Blocks never sit side by side. Two-column looks come from inside a block — Two column text, Image &amp; text, a grid gallery — never from placing two blocks next to each other.</a:t>
            </a:r>
            <a:endParaRPr lang="en-US" sz="1300" dirty="0"/>
          </a:p>
        </p:txBody>
      </p:sp>
      <p:sp>
        <p:nvSpPr>
          <p:cNvPr id="22" name="Shape 20"/>
          <p:cNvSpPr/>
          <p:nvPr/>
        </p:nvSpPr>
        <p:spPr>
          <a:xfrm>
            <a:off x="4334256" y="3218688"/>
            <a:ext cx="310896" cy="310896"/>
          </a:xfrm>
          <a:prstGeom prst="ellipse">
            <a:avLst/>
          </a:prstGeom>
          <a:solidFill>
            <a:srgbClr val="12161F"/>
          </a:solidFill>
          <a:ln/>
        </p:spPr>
      </p:sp>
      <p:sp>
        <p:nvSpPr>
          <p:cNvPr id="23" name="Text 21"/>
          <p:cNvSpPr/>
          <p:nvPr/>
        </p:nvSpPr>
        <p:spPr>
          <a:xfrm>
            <a:off x="4334256" y="32186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2"/>
          <p:cNvSpPr/>
          <p:nvPr/>
        </p:nvSpPr>
        <p:spPr>
          <a:xfrm>
            <a:off x="4791456" y="3182112"/>
            <a:ext cx="6833311" cy="310896"/>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Order is the only layout you control</a:t>
            </a:r>
            <a:endParaRPr lang="en-US" sz="1700" dirty="0"/>
          </a:p>
        </p:txBody>
      </p:sp>
      <p:sp>
        <p:nvSpPr>
          <p:cNvPr id="25" name="Text 23"/>
          <p:cNvSpPr/>
          <p:nvPr/>
        </p:nvSpPr>
        <p:spPr>
          <a:xfrm>
            <a:off x="4791456" y="3529584"/>
            <a:ext cx="6833311" cy="868680"/>
          </a:xfrm>
          <a:prstGeom prst="rect">
            <a:avLst/>
          </a:prstGeom>
          <a:noFill/>
          <a:ln/>
        </p:spPr>
        <p:txBody>
          <a:bodyPr wrap="square" lIns="0" tIns="0" rIns="0" bIns="0" rtlCol="0" anchor="t"/>
          <a:lstStyle/>
          <a:p>
            <a:pPr indent="0" marL="0">
              <a:lnSpc>
                <a:spcPts val="1800"/>
              </a:lnSpc>
              <a:buNone/>
            </a:pPr>
            <a:r>
              <a:rPr lang="en-US" sz="1300" dirty="0">
                <a:solidFill>
                  <a:srgbClr val="5A6675"/>
                </a:solidFill>
                <a:latin typeface="Calibri" pitchFamily="34" charset="0"/>
                <a:ea typeface="Calibri" pitchFamily="34" charset="-122"/>
                <a:cs typeface="Calibri" pitchFamily="34" charset="-120"/>
              </a:rPr>
              <a:t>Move a block with the up and down arrows; duplicate and delete appear on hover. There is no free positioning — to move something, you move its block.</a:t>
            </a:r>
            <a:endParaRPr lang="en-US" sz="1300" dirty="0"/>
          </a:p>
        </p:txBody>
      </p:sp>
      <p:sp>
        <p:nvSpPr>
          <p:cNvPr id="26" name="Shape 24"/>
          <p:cNvSpPr/>
          <p:nvPr/>
        </p:nvSpPr>
        <p:spPr>
          <a:xfrm>
            <a:off x="4334256" y="4572000"/>
            <a:ext cx="310896" cy="310896"/>
          </a:xfrm>
          <a:prstGeom prst="ellipse">
            <a:avLst/>
          </a:prstGeom>
          <a:solidFill>
            <a:srgbClr val="12161F"/>
          </a:solidFill>
          <a:ln/>
        </p:spPr>
      </p:sp>
      <p:sp>
        <p:nvSpPr>
          <p:cNvPr id="27" name="Text 25"/>
          <p:cNvSpPr/>
          <p:nvPr/>
        </p:nvSpPr>
        <p:spPr>
          <a:xfrm>
            <a:off x="4334256" y="45720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6"/>
          <p:cNvSpPr/>
          <p:nvPr/>
        </p:nvSpPr>
        <p:spPr>
          <a:xfrm>
            <a:off x="4791456" y="4535424"/>
            <a:ext cx="6833311" cy="310896"/>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Every block reflows on its own</a:t>
            </a:r>
            <a:endParaRPr lang="en-US" sz="1700" dirty="0"/>
          </a:p>
        </p:txBody>
      </p:sp>
      <p:sp>
        <p:nvSpPr>
          <p:cNvPr id="29" name="Text 27"/>
          <p:cNvSpPr/>
          <p:nvPr/>
        </p:nvSpPr>
        <p:spPr>
          <a:xfrm>
            <a:off x="4791456" y="4882896"/>
            <a:ext cx="6833311" cy="868680"/>
          </a:xfrm>
          <a:prstGeom prst="rect">
            <a:avLst/>
          </a:prstGeom>
          <a:noFill/>
          <a:ln/>
        </p:spPr>
        <p:txBody>
          <a:bodyPr wrap="square" lIns="0" tIns="0" rIns="0" bIns="0" rtlCol="0" anchor="t"/>
          <a:lstStyle/>
          <a:p>
            <a:pPr indent="0" marL="0">
              <a:lnSpc>
                <a:spcPts val="1800"/>
              </a:lnSpc>
              <a:buNone/>
            </a:pPr>
            <a:r>
              <a:rPr lang="en-US" sz="1300" dirty="0">
                <a:solidFill>
                  <a:srgbClr val="5A6675"/>
                </a:solidFill>
                <a:latin typeface="Calibri" pitchFamily="34" charset="0"/>
                <a:ea typeface="Calibri" pitchFamily="34" charset="-122"/>
                <a:cs typeface="Calibri" pitchFamily="34" charset="-120"/>
              </a:rPr>
              <a:t>You do not design a phone version. Rise re-stacks the same blocks narrower. Preview it — do not assume it.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Three ways to add a block</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All three insert the same thing. Which one you reach for is a habit worth choosing deliberately.</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6</a:t>
            </a:r>
            <a:endParaRPr lang="en-US" sz="950" dirty="0"/>
          </a:p>
        </p:txBody>
      </p:sp>
      <p:sp>
        <p:nvSpPr>
          <p:cNvPr id="6" name="Shape 4"/>
          <p:cNvSpPr/>
          <p:nvPr/>
        </p:nvSpPr>
        <p:spPr>
          <a:xfrm>
            <a:off x="566928" y="1828800"/>
            <a:ext cx="3442106" cy="3200400"/>
          </a:xfrm>
          <a:prstGeom prst="roundRect">
            <a:avLst>
              <a:gd name="adj" fmla="val 25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Shape 5"/>
          <p:cNvSpPr/>
          <p:nvPr/>
        </p:nvSpPr>
        <p:spPr>
          <a:xfrm>
            <a:off x="877824" y="2121408"/>
            <a:ext cx="420624" cy="420624"/>
          </a:xfrm>
          <a:prstGeom prst="roundRect">
            <a:avLst>
              <a:gd name="adj" fmla="val 21739"/>
            </a:avLst>
          </a:prstGeom>
          <a:solidFill>
            <a:srgbClr val="ED6A2A"/>
          </a:solidFill>
          <a:ln/>
        </p:spPr>
      </p:sp>
      <p:sp>
        <p:nvSpPr>
          <p:cNvPr id="8" name="Text 6"/>
          <p:cNvSpPr/>
          <p:nvPr/>
        </p:nvSpPr>
        <p:spPr>
          <a:xfrm>
            <a:off x="877824" y="21214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877824" y="2688336"/>
            <a:ext cx="2820314" cy="548640"/>
          </a:xfrm>
          <a:prstGeom prst="rect">
            <a:avLst/>
          </a:prstGeom>
          <a:noFill/>
          <a:ln/>
        </p:spPr>
        <p:txBody>
          <a:bodyPr wrap="square" lIns="0" tIns="0" rIns="0" bIns="0" rtlCol="0" anchor="t"/>
          <a:lstStyle/>
          <a:p>
            <a:pPr indent="0" marL="0">
              <a:buNone/>
            </a:pPr>
            <a:r>
              <a:rPr lang="en-US" sz="1800" b="1" dirty="0">
                <a:solidFill>
                  <a:srgbClr val="12161F"/>
                </a:solidFill>
                <a:latin typeface="Cambria" pitchFamily="34" charset="0"/>
                <a:ea typeface="Cambria" pitchFamily="34" charset="-122"/>
                <a:cs typeface="Cambria" pitchFamily="34" charset="-120"/>
              </a:rPr>
              <a:t>The blocks shortcut bar</a:t>
            </a:r>
            <a:endParaRPr lang="en-US" sz="1800" dirty="0"/>
          </a:p>
        </p:txBody>
      </p:sp>
      <p:sp>
        <p:nvSpPr>
          <p:cNvPr id="10" name="Text 8"/>
          <p:cNvSpPr/>
          <p:nvPr/>
        </p:nvSpPr>
        <p:spPr>
          <a:xfrm>
            <a:off x="877824" y="3273552"/>
            <a:ext cx="2820314" cy="1234440"/>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The row of common block types under the block you are on. Fastest for the block you already know you want.</a:t>
            </a:r>
            <a:endParaRPr lang="en-US" sz="1300" dirty="0"/>
          </a:p>
        </p:txBody>
      </p:sp>
      <p:sp>
        <p:nvSpPr>
          <p:cNvPr id="11" name="Text 9"/>
          <p:cNvSpPr/>
          <p:nvPr/>
        </p:nvSpPr>
        <p:spPr>
          <a:xfrm>
            <a:off x="877824" y="4535424"/>
            <a:ext cx="2820314" cy="292608"/>
          </a:xfrm>
          <a:prstGeom prst="rect">
            <a:avLst/>
          </a:prstGeom>
          <a:noFill/>
          <a:ln/>
        </p:spPr>
        <p:txBody>
          <a:bodyPr wrap="square" lIns="0" tIns="0" rIns="0" bIns="0" rtlCol="0" anchor="ctr"/>
          <a:lstStyle/>
          <a:p>
            <a:pPr indent="0" marL="0">
              <a:buNone/>
            </a:pPr>
            <a:r>
              <a:rPr lang="en-US" sz="1200" b="1" dirty="0">
                <a:solidFill>
                  <a:srgbClr val="ED6A2A"/>
                </a:solidFill>
                <a:latin typeface="Calibri" pitchFamily="34" charset="0"/>
                <a:ea typeface="Calibri" pitchFamily="34" charset="-122"/>
                <a:cs typeface="Calibri" pitchFamily="34" charset="-120"/>
              </a:rPr>
              <a:t>Use when: drafting fast</a:t>
            </a:r>
            <a:endParaRPr lang="en-US" sz="1200" dirty="0"/>
          </a:p>
        </p:txBody>
      </p:sp>
      <p:sp>
        <p:nvSpPr>
          <p:cNvPr id="12" name="Shape 10"/>
          <p:cNvSpPr/>
          <p:nvPr/>
        </p:nvSpPr>
        <p:spPr>
          <a:xfrm>
            <a:off x="4374794" y="1828800"/>
            <a:ext cx="3442106" cy="3200400"/>
          </a:xfrm>
          <a:prstGeom prst="roundRect">
            <a:avLst>
              <a:gd name="adj" fmla="val 25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3" name="Shape 11"/>
          <p:cNvSpPr/>
          <p:nvPr/>
        </p:nvSpPr>
        <p:spPr>
          <a:xfrm>
            <a:off x="4685690" y="2121408"/>
            <a:ext cx="420624" cy="420624"/>
          </a:xfrm>
          <a:prstGeom prst="roundRect">
            <a:avLst>
              <a:gd name="adj" fmla="val 21739"/>
            </a:avLst>
          </a:prstGeom>
          <a:solidFill>
            <a:srgbClr val="ED6A2A"/>
          </a:solidFill>
          <a:ln/>
        </p:spPr>
      </p:sp>
      <p:sp>
        <p:nvSpPr>
          <p:cNvPr id="14" name="Text 12"/>
          <p:cNvSpPr/>
          <p:nvPr/>
        </p:nvSpPr>
        <p:spPr>
          <a:xfrm>
            <a:off x="4685690" y="21214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4685690" y="2688336"/>
            <a:ext cx="2820314" cy="548640"/>
          </a:xfrm>
          <a:prstGeom prst="rect">
            <a:avLst/>
          </a:prstGeom>
          <a:noFill/>
          <a:ln/>
        </p:spPr>
        <p:txBody>
          <a:bodyPr wrap="square" lIns="0" tIns="0" rIns="0" bIns="0" rtlCol="0" anchor="t"/>
          <a:lstStyle/>
          <a:p>
            <a:pPr indent="0" marL="0">
              <a:buNone/>
            </a:pPr>
            <a:r>
              <a:rPr lang="en-US" sz="1800" b="1" dirty="0">
                <a:solidFill>
                  <a:srgbClr val="12161F"/>
                </a:solidFill>
                <a:latin typeface="Cambria" pitchFamily="34" charset="0"/>
                <a:ea typeface="Cambria" pitchFamily="34" charset="-122"/>
                <a:cs typeface="Cambria" pitchFamily="34" charset="-120"/>
              </a:rPr>
              <a:t>All Blocks</a:t>
            </a:r>
            <a:endParaRPr lang="en-US" sz="1800" dirty="0"/>
          </a:p>
        </p:txBody>
      </p:sp>
      <p:sp>
        <p:nvSpPr>
          <p:cNvPr id="16" name="Text 14"/>
          <p:cNvSpPr/>
          <p:nvPr/>
        </p:nvSpPr>
        <p:spPr>
          <a:xfrm>
            <a:off x="4685690" y="3273552"/>
            <a:ext cx="2820314" cy="1234440"/>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Opens the full block library sidebar, grouped by family. Browse when you are not sure what exists or what it looks like.</a:t>
            </a:r>
            <a:endParaRPr lang="en-US" sz="1300" dirty="0"/>
          </a:p>
        </p:txBody>
      </p:sp>
      <p:sp>
        <p:nvSpPr>
          <p:cNvPr id="17" name="Text 15"/>
          <p:cNvSpPr/>
          <p:nvPr/>
        </p:nvSpPr>
        <p:spPr>
          <a:xfrm>
            <a:off x="4685690" y="4535424"/>
            <a:ext cx="2820314" cy="292608"/>
          </a:xfrm>
          <a:prstGeom prst="rect">
            <a:avLst/>
          </a:prstGeom>
          <a:noFill/>
          <a:ln/>
        </p:spPr>
        <p:txBody>
          <a:bodyPr wrap="square" lIns="0" tIns="0" rIns="0" bIns="0" rtlCol="0" anchor="ctr"/>
          <a:lstStyle/>
          <a:p>
            <a:pPr indent="0" marL="0">
              <a:buNone/>
            </a:pPr>
            <a:r>
              <a:rPr lang="en-US" sz="1200" b="1" dirty="0">
                <a:solidFill>
                  <a:srgbClr val="ED6A2A"/>
                </a:solidFill>
                <a:latin typeface="Calibri" pitchFamily="34" charset="0"/>
                <a:ea typeface="Calibri" pitchFamily="34" charset="-122"/>
                <a:cs typeface="Calibri" pitchFamily="34" charset="-120"/>
              </a:rPr>
              <a:t>Use when: choosing</a:t>
            </a:r>
            <a:endParaRPr lang="en-US" sz="1200" dirty="0"/>
          </a:p>
        </p:txBody>
      </p:sp>
      <p:sp>
        <p:nvSpPr>
          <p:cNvPr id="18" name="Shape 16"/>
          <p:cNvSpPr/>
          <p:nvPr/>
        </p:nvSpPr>
        <p:spPr>
          <a:xfrm>
            <a:off x="8182661" y="1828800"/>
            <a:ext cx="3442106" cy="3200400"/>
          </a:xfrm>
          <a:prstGeom prst="roundRect">
            <a:avLst>
              <a:gd name="adj" fmla="val 25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9" name="Shape 17"/>
          <p:cNvSpPr/>
          <p:nvPr/>
        </p:nvSpPr>
        <p:spPr>
          <a:xfrm>
            <a:off x="8493557" y="2121408"/>
            <a:ext cx="420624" cy="420624"/>
          </a:xfrm>
          <a:prstGeom prst="roundRect">
            <a:avLst>
              <a:gd name="adj" fmla="val 21739"/>
            </a:avLst>
          </a:prstGeom>
          <a:solidFill>
            <a:srgbClr val="ED6A2A"/>
          </a:solidFill>
          <a:ln/>
        </p:spPr>
      </p:sp>
      <p:sp>
        <p:nvSpPr>
          <p:cNvPr id="20" name="Text 18"/>
          <p:cNvSpPr/>
          <p:nvPr/>
        </p:nvSpPr>
        <p:spPr>
          <a:xfrm>
            <a:off x="8493557" y="21214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21" name="Text 19"/>
          <p:cNvSpPr/>
          <p:nvPr/>
        </p:nvSpPr>
        <p:spPr>
          <a:xfrm>
            <a:off x="8493557" y="2688336"/>
            <a:ext cx="2820314" cy="548640"/>
          </a:xfrm>
          <a:prstGeom prst="rect">
            <a:avLst/>
          </a:prstGeom>
          <a:noFill/>
          <a:ln/>
        </p:spPr>
        <p:txBody>
          <a:bodyPr wrap="square" lIns="0" tIns="0" rIns="0" bIns="0" rtlCol="0" anchor="t"/>
          <a:lstStyle/>
          <a:p>
            <a:pPr indent="0" marL="0">
              <a:buNone/>
            </a:pPr>
            <a:r>
              <a:rPr lang="en-US" sz="1800" b="1" dirty="0">
                <a:solidFill>
                  <a:srgbClr val="12161F"/>
                </a:solidFill>
                <a:latin typeface="Cambria" pitchFamily="34" charset="0"/>
                <a:ea typeface="Cambria" pitchFamily="34" charset="-122"/>
                <a:cs typeface="Cambria" pitchFamily="34" charset="-120"/>
              </a:rPr>
              <a:t>The insert icon  ( + )</a:t>
            </a:r>
            <a:endParaRPr lang="en-US" sz="1800" dirty="0"/>
          </a:p>
        </p:txBody>
      </p:sp>
      <p:sp>
        <p:nvSpPr>
          <p:cNvPr id="22" name="Text 20"/>
          <p:cNvSpPr/>
          <p:nvPr/>
        </p:nvSpPr>
        <p:spPr>
          <a:xfrm>
            <a:off x="8493557" y="3273552"/>
            <a:ext cx="2820314" cy="1234440"/>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Appears between two existing blocks. The only route that puts a block in the middle of a finished stack.</a:t>
            </a:r>
            <a:endParaRPr lang="en-US" sz="1300" dirty="0"/>
          </a:p>
        </p:txBody>
      </p:sp>
      <p:sp>
        <p:nvSpPr>
          <p:cNvPr id="23" name="Text 21"/>
          <p:cNvSpPr/>
          <p:nvPr/>
        </p:nvSpPr>
        <p:spPr>
          <a:xfrm>
            <a:off x="8493557" y="4535424"/>
            <a:ext cx="2820314" cy="292608"/>
          </a:xfrm>
          <a:prstGeom prst="rect">
            <a:avLst/>
          </a:prstGeom>
          <a:noFill/>
          <a:ln/>
        </p:spPr>
        <p:txBody>
          <a:bodyPr wrap="square" lIns="0" tIns="0" rIns="0" bIns="0" rtlCol="0" anchor="ctr"/>
          <a:lstStyle/>
          <a:p>
            <a:pPr indent="0" marL="0">
              <a:buNone/>
            </a:pPr>
            <a:r>
              <a:rPr lang="en-US" sz="1200" b="1" dirty="0">
                <a:solidFill>
                  <a:srgbClr val="ED6A2A"/>
                </a:solidFill>
                <a:latin typeface="Calibri" pitchFamily="34" charset="0"/>
                <a:ea typeface="Calibri" pitchFamily="34" charset="-122"/>
                <a:cs typeface="Calibri" pitchFamily="34" charset="-120"/>
              </a:rPr>
              <a:t>Use when: revising</a:t>
            </a:r>
            <a:endParaRPr lang="en-US" sz="1200" dirty="0"/>
          </a:p>
        </p:txBody>
      </p:sp>
      <p:sp>
        <p:nvSpPr>
          <p:cNvPr id="24" name="Shape 22"/>
          <p:cNvSpPr/>
          <p:nvPr/>
        </p:nvSpPr>
        <p:spPr>
          <a:xfrm>
            <a:off x="566928" y="5285232"/>
            <a:ext cx="11057839" cy="749808"/>
          </a:xfrm>
          <a:prstGeom prst="roundRect">
            <a:avLst>
              <a:gd name="adj" fmla="val 1097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5" name="Text 23"/>
          <p:cNvSpPr/>
          <p:nvPr/>
        </p:nvSpPr>
        <p:spPr>
          <a:xfrm>
            <a:off x="877824" y="5285232"/>
            <a:ext cx="10436047" cy="749808"/>
          </a:xfrm>
          <a:prstGeom prst="rect">
            <a:avLst/>
          </a:prstGeom>
          <a:noFill/>
          <a:ln/>
        </p:spPr>
        <p:txBody>
          <a:bodyPr wrap="square" lIns="0" tIns="0" rIns="0" bIns="0" rtlCol="0" anchor="ctr"/>
          <a:lstStyle/>
          <a:p>
            <a:pPr indent="0" marL="0">
              <a:lnSpc>
                <a:spcPts val="1800"/>
              </a:lnSpc>
              <a:buNone/>
            </a:pPr>
            <a:r>
              <a:rPr lang="en-US" sz="1300" b="1" dirty="0">
                <a:solidFill>
                  <a:srgbClr val="12161F"/>
                </a:solidFill>
                <a:latin typeface="Calibri" pitchFamily="34" charset="0"/>
                <a:ea typeface="Calibri" pitchFamily="34" charset="-122"/>
                <a:cs typeface="Calibri" pitchFamily="34" charset="-120"/>
              </a:rPr>
              <a:t>Swap without retyping.  </a:t>
            </a:r>
            <a:pPr indent="0" marL="0">
              <a:lnSpc>
                <a:spcPts val="1800"/>
              </a:lnSpc>
              <a:buNone/>
            </a:pPr>
            <a:r>
              <a:rPr lang="en-US" sz="1300" dirty="0">
                <a:solidFill>
                  <a:srgbClr val="5A6675"/>
                </a:solidFill>
                <a:latin typeface="Calibri" pitchFamily="34" charset="0"/>
                <a:ea typeface="Calibri" pitchFamily="34" charset="-122"/>
                <a:cs typeface="Calibri" pitchFamily="34" charset="-120"/>
              </a:rPr>
              <a:t>Every block has a dropdown in its upper-left corner. It swaps the block for another member of the same family and keeps your content. Try Quote A, then Quote C, then Quote on image — same words, three looks.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The nine static families</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Learn the families, not the 42 members. The family tells you where to look; the library shows you the rest.</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7</a:t>
            </a:r>
            <a:endParaRPr lang="en-US" sz="950" dirty="0"/>
          </a:p>
        </p:txBody>
      </p:sp>
      <p:sp>
        <p:nvSpPr>
          <p:cNvPr id="6" name="Shape 4"/>
          <p:cNvSpPr/>
          <p:nvPr/>
        </p:nvSpPr>
        <p:spPr>
          <a:xfrm>
            <a:off x="566928" y="1847088"/>
            <a:ext cx="2036003" cy="1627632"/>
          </a:xfrm>
          <a:prstGeom prst="roundRect">
            <a:avLst>
              <a:gd name="adj" fmla="val 505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786384" y="2084832"/>
            <a:ext cx="1597091" cy="384048"/>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Text</a:t>
            </a:r>
            <a:endParaRPr lang="en-US" sz="1900" dirty="0"/>
          </a:p>
        </p:txBody>
      </p:sp>
      <p:sp>
        <p:nvSpPr>
          <p:cNvPr id="8" name="Text 6"/>
          <p:cNvSpPr/>
          <p:nvPr/>
        </p:nvSpPr>
        <p:spPr>
          <a:xfrm>
            <a:off x="786384" y="2487168"/>
            <a:ext cx="1597091" cy="47548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Carry the argument</a:t>
            </a:r>
            <a:endParaRPr lang="en-US" sz="1200" dirty="0"/>
          </a:p>
        </p:txBody>
      </p:sp>
      <p:sp>
        <p:nvSpPr>
          <p:cNvPr id="9" name="Text 7"/>
          <p:cNvSpPr/>
          <p:nvPr/>
        </p:nvSpPr>
        <p:spPr>
          <a:xfrm>
            <a:off x="786384" y="3054096"/>
            <a:ext cx="1597091" cy="274320"/>
          </a:xfrm>
          <a:prstGeom prst="rect">
            <a:avLst/>
          </a:prstGeom>
          <a:noFill/>
          <a:ln/>
        </p:spPr>
        <p:txBody>
          <a:bodyPr wrap="square" lIns="0" tIns="0" rIns="0" bIns="0" rtlCol="0" anchor="ctr"/>
          <a:lstStyle/>
          <a:p>
            <a:pPr indent="0" marL="0">
              <a:buNone/>
            </a:pPr>
            <a:r>
              <a:rPr lang="en-US" sz="1150" b="1" dirty="0">
                <a:solidFill>
                  <a:srgbClr val="ED6A2A"/>
                </a:solidFill>
                <a:latin typeface="Calibri" pitchFamily="34" charset="0"/>
                <a:ea typeface="Calibri" pitchFamily="34" charset="-122"/>
                <a:cs typeface="Calibri" pitchFamily="34" charset="-120"/>
              </a:rPr>
              <a:t>7 blocks</a:t>
            </a:r>
            <a:endParaRPr lang="en-US" sz="1150" dirty="0"/>
          </a:p>
        </p:txBody>
      </p:sp>
      <p:sp>
        <p:nvSpPr>
          <p:cNvPr id="10" name="Shape 8"/>
          <p:cNvSpPr/>
          <p:nvPr/>
        </p:nvSpPr>
        <p:spPr>
          <a:xfrm>
            <a:off x="2822387" y="1847088"/>
            <a:ext cx="2036003" cy="1627632"/>
          </a:xfrm>
          <a:prstGeom prst="roundRect">
            <a:avLst>
              <a:gd name="adj" fmla="val 505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1" name="Text 9"/>
          <p:cNvSpPr/>
          <p:nvPr/>
        </p:nvSpPr>
        <p:spPr>
          <a:xfrm>
            <a:off x="3041843" y="2084832"/>
            <a:ext cx="1597091" cy="384048"/>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Statement</a:t>
            </a:r>
            <a:endParaRPr lang="en-US" sz="1900" dirty="0"/>
          </a:p>
        </p:txBody>
      </p:sp>
      <p:sp>
        <p:nvSpPr>
          <p:cNvPr id="12" name="Text 10"/>
          <p:cNvSpPr/>
          <p:nvPr/>
        </p:nvSpPr>
        <p:spPr>
          <a:xfrm>
            <a:off x="3041843" y="2487168"/>
            <a:ext cx="1597091" cy="47548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Make one line land</a:t>
            </a:r>
            <a:endParaRPr lang="en-US" sz="1200" dirty="0"/>
          </a:p>
        </p:txBody>
      </p:sp>
      <p:sp>
        <p:nvSpPr>
          <p:cNvPr id="13" name="Text 11"/>
          <p:cNvSpPr/>
          <p:nvPr/>
        </p:nvSpPr>
        <p:spPr>
          <a:xfrm>
            <a:off x="3041843" y="3054096"/>
            <a:ext cx="1597091" cy="274320"/>
          </a:xfrm>
          <a:prstGeom prst="rect">
            <a:avLst/>
          </a:prstGeom>
          <a:noFill/>
          <a:ln/>
        </p:spPr>
        <p:txBody>
          <a:bodyPr wrap="square" lIns="0" tIns="0" rIns="0" bIns="0" rtlCol="0" anchor="ctr"/>
          <a:lstStyle/>
          <a:p>
            <a:pPr indent="0" marL="0">
              <a:buNone/>
            </a:pPr>
            <a:r>
              <a:rPr lang="en-US" sz="1150" b="1" dirty="0">
                <a:solidFill>
                  <a:srgbClr val="ED6A2A"/>
                </a:solidFill>
                <a:latin typeface="Calibri" pitchFamily="34" charset="0"/>
                <a:ea typeface="Calibri" pitchFamily="34" charset="-122"/>
                <a:cs typeface="Calibri" pitchFamily="34" charset="-120"/>
              </a:rPr>
              <a:t>5 blocks</a:t>
            </a:r>
            <a:endParaRPr lang="en-US" sz="1150" dirty="0"/>
          </a:p>
        </p:txBody>
      </p:sp>
      <p:sp>
        <p:nvSpPr>
          <p:cNvPr id="14" name="Shape 12"/>
          <p:cNvSpPr/>
          <p:nvPr/>
        </p:nvSpPr>
        <p:spPr>
          <a:xfrm>
            <a:off x="5077846" y="1847088"/>
            <a:ext cx="2036003" cy="1627632"/>
          </a:xfrm>
          <a:prstGeom prst="roundRect">
            <a:avLst>
              <a:gd name="adj" fmla="val 505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5" name="Text 13"/>
          <p:cNvSpPr/>
          <p:nvPr/>
        </p:nvSpPr>
        <p:spPr>
          <a:xfrm>
            <a:off x="5297302" y="2084832"/>
            <a:ext cx="1597091" cy="384048"/>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Quote</a:t>
            </a:r>
            <a:endParaRPr lang="en-US" sz="1900" dirty="0"/>
          </a:p>
        </p:txBody>
      </p:sp>
      <p:sp>
        <p:nvSpPr>
          <p:cNvPr id="16" name="Text 14"/>
          <p:cNvSpPr/>
          <p:nvPr/>
        </p:nvSpPr>
        <p:spPr>
          <a:xfrm>
            <a:off x="5297302" y="2487168"/>
            <a:ext cx="1597091" cy="47548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Give a voice a face</a:t>
            </a:r>
            <a:endParaRPr lang="en-US" sz="1200" dirty="0"/>
          </a:p>
        </p:txBody>
      </p:sp>
      <p:sp>
        <p:nvSpPr>
          <p:cNvPr id="17" name="Text 15"/>
          <p:cNvSpPr/>
          <p:nvPr/>
        </p:nvSpPr>
        <p:spPr>
          <a:xfrm>
            <a:off x="5297302" y="3054096"/>
            <a:ext cx="1597091" cy="274320"/>
          </a:xfrm>
          <a:prstGeom prst="rect">
            <a:avLst/>
          </a:prstGeom>
          <a:noFill/>
          <a:ln/>
        </p:spPr>
        <p:txBody>
          <a:bodyPr wrap="square" lIns="0" tIns="0" rIns="0" bIns="0" rtlCol="0" anchor="ctr"/>
          <a:lstStyle/>
          <a:p>
            <a:pPr indent="0" marL="0">
              <a:buNone/>
            </a:pPr>
            <a:r>
              <a:rPr lang="en-US" sz="1150" b="1" dirty="0">
                <a:solidFill>
                  <a:srgbClr val="ED6A2A"/>
                </a:solidFill>
                <a:latin typeface="Calibri" pitchFamily="34" charset="0"/>
                <a:ea typeface="Calibri" pitchFamily="34" charset="-122"/>
                <a:cs typeface="Calibri" pitchFamily="34" charset="-120"/>
              </a:rPr>
              <a:t>6 blocks</a:t>
            </a:r>
            <a:endParaRPr lang="en-US" sz="1150" dirty="0"/>
          </a:p>
        </p:txBody>
      </p:sp>
      <p:sp>
        <p:nvSpPr>
          <p:cNvPr id="18" name="Shape 16"/>
          <p:cNvSpPr/>
          <p:nvPr/>
        </p:nvSpPr>
        <p:spPr>
          <a:xfrm>
            <a:off x="7333305" y="1847088"/>
            <a:ext cx="2036003" cy="1627632"/>
          </a:xfrm>
          <a:prstGeom prst="roundRect">
            <a:avLst>
              <a:gd name="adj" fmla="val 505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9" name="Text 17"/>
          <p:cNvSpPr/>
          <p:nvPr/>
        </p:nvSpPr>
        <p:spPr>
          <a:xfrm>
            <a:off x="7552761" y="2084832"/>
            <a:ext cx="1597091" cy="384048"/>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List</a:t>
            </a:r>
            <a:endParaRPr lang="en-US" sz="1900" dirty="0"/>
          </a:p>
        </p:txBody>
      </p:sp>
      <p:sp>
        <p:nvSpPr>
          <p:cNvPr id="20" name="Text 18"/>
          <p:cNvSpPr/>
          <p:nvPr/>
        </p:nvSpPr>
        <p:spPr>
          <a:xfrm>
            <a:off x="7552761" y="2487168"/>
            <a:ext cx="1597091" cy="47548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Sequence or itemise</a:t>
            </a:r>
            <a:endParaRPr lang="en-US" sz="1200" dirty="0"/>
          </a:p>
        </p:txBody>
      </p:sp>
      <p:sp>
        <p:nvSpPr>
          <p:cNvPr id="21" name="Text 19"/>
          <p:cNvSpPr/>
          <p:nvPr/>
        </p:nvSpPr>
        <p:spPr>
          <a:xfrm>
            <a:off x="7552761" y="3054096"/>
            <a:ext cx="1597091" cy="274320"/>
          </a:xfrm>
          <a:prstGeom prst="rect">
            <a:avLst/>
          </a:prstGeom>
          <a:noFill/>
          <a:ln/>
        </p:spPr>
        <p:txBody>
          <a:bodyPr wrap="square" lIns="0" tIns="0" rIns="0" bIns="0" rtlCol="0" anchor="ctr"/>
          <a:lstStyle/>
          <a:p>
            <a:pPr indent="0" marL="0">
              <a:buNone/>
            </a:pPr>
            <a:r>
              <a:rPr lang="en-US" sz="1150" b="1" dirty="0">
                <a:solidFill>
                  <a:srgbClr val="ED6A2A"/>
                </a:solidFill>
                <a:latin typeface="Calibri" pitchFamily="34" charset="0"/>
                <a:ea typeface="Calibri" pitchFamily="34" charset="-122"/>
                <a:cs typeface="Calibri" pitchFamily="34" charset="-120"/>
              </a:rPr>
              <a:t>3 blocks</a:t>
            </a:r>
            <a:endParaRPr lang="en-US" sz="1150" dirty="0"/>
          </a:p>
        </p:txBody>
      </p:sp>
      <p:sp>
        <p:nvSpPr>
          <p:cNvPr id="22" name="Shape 20"/>
          <p:cNvSpPr/>
          <p:nvPr/>
        </p:nvSpPr>
        <p:spPr>
          <a:xfrm>
            <a:off x="9588764" y="1847088"/>
            <a:ext cx="2036003" cy="1627632"/>
          </a:xfrm>
          <a:prstGeom prst="roundRect">
            <a:avLst>
              <a:gd name="adj" fmla="val 505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3" name="Text 21"/>
          <p:cNvSpPr/>
          <p:nvPr/>
        </p:nvSpPr>
        <p:spPr>
          <a:xfrm>
            <a:off x="9808220" y="2084832"/>
            <a:ext cx="1597091" cy="384048"/>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Image</a:t>
            </a:r>
            <a:endParaRPr lang="en-US" sz="1900" dirty="0"/>
          </a:p>
        </p:txBody>
      </p:sp>
      <p:sp>
        <p:nvSpPr>
          <p:cNvPr id="24" name="Text 22"/>
          <p:cNvSpPr/>
          <p:nvPr/>
        </p:nvSpPr>
        <p:spPr>
          <a:xfrm>
            <a:off x="9808220" y="2487168"/>
            <a:ext cx="1597091" cy="47548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Show, don’t tell</a:t>
            </a:r>
            <a:endParaRPr lang="en-US" sz="1200" dirty="0"/>
          </a:p>
        </p:txBody>
      </p:sp>
      <p:sp>
        <p:nvSpPr>
          <p:cNvPr id="25" name="Text 23"/>
          <p:cNvSpPr/>
          <p:nvPr/>
        </p:nvSpPr>
        <p:spPr>
          <a:xfrm>
            <a:off x="9808220" y="3054096"/>
            <a:ext cx="1597091" cy="274320"/>
          </a:xfrm>
          <a:prstGeom prst="rect">
            <a:avLst/>
          </a:prstGeom>
          <a:noFill/>
          <a:ln/>
        </p:spPr>
        <p:txBody>
          <a:bodyPr wrap="square" lIns="0" tIns="0" rIns="0" bIns="0" rtlCol="0" anchor="ctr"/>
          <a:lstStyle/>
          <a:p>
            <a:pPr indent="0" marL="0">
              <a:buNone/>
            </a:pPr>
            <a:r>
              <a:rPr lang="en-US" sz="1150" b="1" dirty="0">
                <a:solidFill>
                  <a:srgbClr val="ED6A2A"/>
                </a:solidFill>
                <a:latin typeface="Calibri" pitchFamily="34" charset="0"/>
                <a:ea typeface="Calibri" pitchFamily="34" charset="-122"/>
                <a:cs typeface="Calibri" pitchFamily="34" charset="-120"/>
              </a:rPr>
              <a:t>5 blocks</a:t>
            </a:r>
            <a:endParaRPr lang="en-US" sz="1150" dirty="0"/>
          </a:p>
        </p:txBody>
      </p:sp>
      <p:sp>
        <p:nvSpPr>
          <p:cNvPr id="26" name="Shape 24"/>
          <p:cNvSpPr/>
          <p:nvPr/>
        </p:nvSpPr>
        <p:spPr>
          <a:xfrm>
            <a:off x="1694658" y="3767328"/>
            <a:ext cx="2036003" cy="1627632"/>
          </a:xfrm>
          <a:prstGeom prst="roundRect">
            <a:avLst>
              <a:gd name="adj" fmla="val 505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7" name="Text 25"/>
          <p:cNvSpPr/>
          <p:nvPr/>
        </p:nvSpPr>
        <p:spPr>
          <a:xfrm>
            <a:off x="1914114" y="4005072"/>
            <a:ext cx="1597091" cy="384048"/>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Gallery</a:t>
            </a:r>
            <a:endParaRPr lang="en-US" sz="1900" dirty="0"/>
          </a:p>
        </p:txBody>
      </p:sp>
      <p:sp>
        <p:nvSpPr>
          <p:cNvPr id="28" name="Text 26"/>
          <p:cNvSpPr/>
          <p:nvPr/>
        </p:nvSpPr>
        <p:spPr>
          <a:xfrm>
            <a:off x="1914114" y="4407408"/>
            <a:ext cx="1597091" cy="47548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Several images at once</a:t>
            </a:r>
            <a:endParaRPr lang="en-US" sz="1200" dirty="0"/>
          </a:p>
        </p:txBody>
      </p:sp>
      <p:sp>
        <p:nvSpPr>
          <p:cNvPr id="29" name="Text 27"/>
          <p:cNvSpPr/>
          <p:nvPr/>
        </p:nvSpPr>
        <p:spPr>
          <a:xfrm>
            <a:off x="1914114" y="4974336"/>
            <a:ext cx="1597091" cy="274320"/>
          </a:xfrm>
          <a:prstGeom prst="rect">
            <a:avLst/>
          </a:prstGeom>
          <a:noFill/>
          <a:ln/>
        </p:spPr>
        <p:txBody>
          <a:bodyPr wrap="square" lIns="0" tIns="0" rIns="0" bIns="0" rtlCol="0" anchor="ctr"/>
          <a:lstStyle/>
          <a:p>
            <a:pPr indent="0" marL="0">
              <a:buNone/>
            </a:pPr>
            <a:r>
              <a:rPr lang="en-US" sz="1150" b="1" dirty="0">
                <a:solidFill>
                  <a:srgbClr val="ED6A2A"/>
                </a:solidFill>
                <a:latin typeface="Calibri" pitchFamily="34" charset="0"/>
                <a:ea typeface="Calibri" pitchFamily="34" charset="-122"/>
                <a:cs typeface="Calibri" pitchFamily="34" charset="-120"/>
              </a:rPr>
              <a:t>4 blocks</a:t>
            </a:r>
            <a:endParaRPr lang="en-US" sz="1150" dirty="0"/>
          </a:p>
        </p:txBody>
      </p:sp>
      <p:sp>
        <p:nvSpPr>
          <p:cNvPr id="30" name="Shape 28"/>
          <p:cNvSpPr/>
          <p:nvPr/>
        </p:nvSpPr>
        <p:spPr>
          <a:xfrm>
            <a:off x="3950117" y="3767328"/>
            <a:ext cx="2036003" cy="1627632"/>
          </a:xfrm>
          <a:prstGeom prst="roundRect">
            <a:avLst>
              <a:gd name="adj" fmla="val 505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31" name="Text 29"/>
          <p:cNvSpPr/>
          <p:nvPr/>
        </p:nvSpPr>
        <p:spPr>
          <a:xfrm>
            <a:off x="4169573" y="4005072"/>
            <a:ext cx="1597091" cy="384048"/>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Multimedia</a:t>
            </a:r>
            <a:endParaRPr lang="en-US" sz="1900" dirty="0"/>
          </a:p>
        </p:txBody>
      </p:sp>
      <p:sp>
        <p:nvSpPr>
          <p:cNvPr id="32" name="Text 30"/>
          <p:cNvSpPr/>
          <p:nvPr/>
        </p:nvSpPr>
        <p:spPr>
          <a:xfrm>
            <a:off x="4169573" y="4407408"/>
            <a:ext cx="1597091" cy="47548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Audio, video, files, embeds</a:t>
            </a:r>
            <a:endParaRPr lang="en-US" sz="1200" dirty="0"/>
          </a:p>
        </p:txBody>
      </p:sp>
      <p:sp>
        <p:nvSpPr>
          <p:cNvPr id="33" name="Text 31"/>
          <p:cNvSpPr/>
          <p:nvPr/>
        </p:nvSpPr>
        <p:spPr>
          <a:xfrm>
            <a:off x="4169573" y="4974336"/>
            <a:ext cx="1597091" cy="274320"/>
          </a:xfrm>
          <a:prstGeom prst="rect">
            <a:avLst/>
          </a:prstGeom>
          <a:noFill/>
          <a:ln/>
        </p:spPr>
        <p:txBody>
          <a:bodyPr wrap="square" lIns="0" tIns="0" rIns="0" bIns="0" rtlCol="0" anchor="ctr"/>
          <a:lstStyle/>
          <a:p>
            <a:pPr indent="0" marL="0">
              <a:buNone/>
            </a:pPr>
            <a:r>
              <a:rPr lang="en-US" sz="1150" b="1" dirty="0">
                <a:solidFill>
                  <a:srgbClr val="ED6A2A"/>
                </a:solidFill>
                <a:latin typeface="Calibri" pitchFamily="34" charset="0"/>
                <a:ea typeface="Calibri" pitchFamily="34" charset="-122"/>
                <a:cs typeface="Calibri" pitchFamily="34" charset="-120"/>
              </a:rPr>
              <a:t>5 blocks</a:t>
            </a:r>
            <a:endParaRPr lang="en-US" sz="1150" dirty="0"/>
          </a:p>
        </p:txBody>
      </p:sp>
      <p:sp>
        <p:nvSpPr>
          <p:cNvPr id="34" name="Shape 32"/>
          <p:cNvSpPr/>
          <p:nvPr/>
        </p:nvSpPr>
        <p:spPr>
          <a:xfrm>
            <a:off x="6205576" y="3767328"/>
            <a:ext cx="2036003" cy="1627632"/>
          </a:xfrm>
          <a:prstGeom prst="roundRect">
            <a:avLst>
              <a:gd name="adj" fmla="val 505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35" name="Text 33"/>
          <p:cNvSpPr/>
          <p:nvPr/>
        </p:nvSpPr>
        <p:spPr>
          <a:xfrm>
            <a:off x="6425032" y="4005072"/>
            <a:ext cx="1597091" cy="384048"/>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Chart</a:t>
            </a:r>
            <a:endParaRPr lang="en-US" sz="1900" dirty="0"/>
          </a:p>
        </p:txBody>
      </p:sp>
      <p:sp>
        <p:nvSpPr>
          <p:cNvPr id="36" name="Text 34"/>
          <p:cNvSpPr/>
          <p:nvPr/>
        </p:nvSpPr>
        <p:spPr>
          <a:xfrm>
            <a:off x="6425032" y="4407408"/>
            <a:ext cx="1597091" cy="47548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Make a number visual</a:t>
            </a:r>
            <a:endParaRPr lang="en-US" sz="1200" dirty="0"/>
          </a:p>
        </p:txBody>
      </p:sp>
      <p:sp>
        <p:nvSpPr>
          <p:cNvPr id="37" name="Text 35"/>
          <p:cNvSpPr/>
          <p:nvPr/>
        </p:nvSpPr>
        <p:spPr>
          <a:xfrm>
            <a:off x="6425032" y="4974336"/>
            <a:ext cx="1597091" cy="274320"/>
          </a:xfrm>
          <a:prstGeom prst="rect">
            <a:avLst/>
          </a:prstGeom>
          <a:noFill/>
          <a:ln/>
        </p:spPr>
        <p:txBody>
          <a:bodyPr wrap="square" lIns="0" tIns="0" rIns="0" bIns="0" rtlCol="0" anchor="ctr"/>
          <a:lstStyle/>
          <a:p>
            <a:pPr indent="0" marL="0">
              <a:buNone/>
            </a:pPr>
            <a:r>
              <a:rPr lang="en-US" sz="1150" b="1" dirty="0">
                <a:solidFill>
                  <a:srgbClr val="ED6A2A"/>
                </a:solidFill>
                <a:latin typeface="Calibri" pitchFamily="34" charset="0"/>
                <a:ea typeface="Calibri" pitchFamily="34" charset="-122"/>
                <a:cs typeface="Calibri" pitchFamily="34" charset="-120"/>
              </a:rPr>
              <a:t>3 blocks</a:t>
            </a:r>
            <a:endParaRPr lang="en-US" sz="1150" dirty="0"/>
          </a:p>
        </p:txBody>
      </p:sp>
      <p:sp>
        <p:nvSpPr>
          <p:cNvPr id="38" name="Shape 36"/>
          <p:cNvSpPr/>
          <p:nvPr/>
        </p:nvSpPr>
        <p:spPr>
          <a:xfrm>
            <a:off x="8461035" y="3767328"/>
            <a:ext cx="2036003" cy="1627632"/>
          </a:xfrm>
          <a:prstGeom prst="roundRect">
            <a:avLst>
              <a:gd name="adj" fmla="val 505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39" name="Text 37"/>
          <p:cNvSpPr/>
          <p:nvPr/>
        </p:nvSpPr>
        <p:spPr>
          <a:xfrm>
            <a:off x="8680491" y="4005072"/>
            <a:ext cx="1597091" cy="384048"/>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Divider</a:t>
            </a:r>
            <a:endParaRPr lang="en-US" sz="1900" dirty="0"/>
          </a:p>
        </p:txBody>
      </p:sp>
      <p:sp>
        <p:nvSpPr>
          <p:cNvPr id="40" name="Text 38"/>
          <p:cNvSpPr/>
          <p:nvPr/>
        </p:nvSpPr>
        <p:spPr>
          <a:xfrm>
            <a:off x="8680491" y="4407408"/>
            <a:ext cx="1597091" cy="475488"/>
          </a:xfrm>
          <a:prstGeom prst="rect">
            <a:avLst/>
          </a:prstGeom>
          <a:noFill/>
          <a:ln/>
        </p:spPr>
        <p:txBody>
          <a:bodyPr wrap="square" lIns="0" tIns="0" rIns="0" bIns="0" rtlCol="0" anchor="t"/>
          <a:lstStyle/>
          <a:p>
            <a:pPr indent="0" marL="0">
              <a:lnSpc>
                <a:spcPts val="1600"/>
              </a:lnSpc>
              <a:buNone/>
            </a:pPr>
            <a:r>
              <a:rPr lang="en-US" sz="1200" dirty="0">
                <a:solidFill>
                  <a:srgbClr val="5A6675"/>
                </a:solidFill>
                <a:latin typeface="Calibri" pitchFamily="34" charset="0"/>
                <a:ea typeface="Calibri" pitchFamily="34" charset="-122"/>
                <a:cs typeface="Calibri" pitchFamily="34" charset="-120"/>
              </a:rPr>
              <a:t>Pace and separate</a:t>
            </a:r>
            <a:endParaRPr lang="en-US" sz="1200" dirty="0"/>
          </a:p>
        </p:txBody>
      </p:sp>
      <p:sp>
        <p:nvSpPr>
          <p:cNvPr id="41" name="Text 39"/>
          <p:cNvSpPr/>
          <p:nvPr/>
        </p:nvSpPr>
        <p:spPr>
          <a:xfrm>
            <a:off x="8680491" y="4974336"/>
            <a:ext cx="1597091" cy="274320"/>
          </a:xfrm>
          <a:prstGeom prst="rect">
            <a:avLst/>
          </a:prstGeom>
          <a:noFill/>
          <a:ln/>
        </p:spPr>
        <p:txBody>
          <a:bodyPr wrap="square" lIns="0" tIns="0" rIns="0" bIns="0" rtlCol="0" anchor="ctr"/>
          <a:lstStyle/>
          <a:p>
            <a:pPr indent="0" marL="0">
              <a:buNone/>
            </a:pPr>
            <a:r>
              <a:rPr lang="en-US" sz="1150" b="1" dirty="0">
                <a:solidFill>
                  <a:srgbClr val="ED6A2A"/>
                </a:solidFill>
                <a:latin typeface="Calibri" pitchFamily="34" charset="0"/>
                <a:ea typeface="Calibri" pitchFamily="34" charset="-122"/>
                <a:cs typeface="Calibri" pitchFamily="34" charset="-120"/>
              </a:rPr>
              <a:t>4 blocks</a:t>
            </a:r>
            <a:endParaRPr lang="en-US" sz="1150" dirty="0"/>
          </a:p>
        </p:txBody>
      </p:sp>
      <p:sp>
        <p:nvSpPr>
          <p:cNvPr id="42" name="Text 40"/>
          <p:cNvSpPr/>
          <p:nvPr/>
        </p:nvSpPr>
        <p:spPr>
          <a:xfrm>
            <a:off x="566928" y="5541264"/>
            <a:ext cx="11057839" cy="310896"/>
          </a:xfrm>
          <a:prstGeom prst="rect">
            <a:avLst/>
          </a:prstGeom>
          <a:noFill/>
          <a:ln/>
        </p:spPr>
        <p:txBody>
          <a:bodyPr wrap="square" lIns="0" tIns="0" rIns="0" bIns="0" rtlCol="0" anchor="ctr"/>
          <a:lstStyle/>
          <a:p>
            <a:pPr algn="ctr" indent="0" marL="0">
              <a:buNone/>
            </a:pPr>
            <a:r>
              <a:rPr lang="en-US" sz="1250" i="1" dirty="0">
                <a:solidFill>
                  <a:srgbClr val="5A6675"/>
                </a:solidFill>
                <a:latin typeface="Calibri" pitchFamily="34" charset="0"/>
                <a:ea typeface="Calibri" pitchFamily="34" charset="-122"/>
                <a:cs typeface="Calibri" pitchFamily="34" charset="-120"/>
              </a:rPr>
              <a:t>42 static blocks in total  ·  interactive and assessment blocks come on Days 3 and 4</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TWO</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nine families</a:t>
            </a:r>
            <a:endParaRPr lang="en-US" sz="4000" dirty="0"/>
          </a:p>
        </p:txBody>
      </p:sp>
      <p:sp>
        <p:nvSpPr>
          <p:cNvPr id="4" name="Text 2"/>
          <p:cNvSpPr/>
          <p:nvPr/>
        </p:nvSpPr>
        <p:spPr>
          <a:xfrm>
            <a:off x="566928" y="3657600"/>
            <a:ext cx="5750076"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One slide each: the official purpose, every member, and the mistake to avoid.</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2  ·  Blocks that carry your content</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Text blocks</a:t>
            </a:r>
            <a:endParaRPr lang="en-US" sz="3000" dirty="0"/>
          </a:p>
        </p:txBody>
      </p:sp>
      <p:sp>
        <p:nvSpPr>
          <p:cNvPr id="3" name="Text 1"/>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4" name="Text 2"/>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9</a:t>
            </a:r>
            <a:endParaRPr lang="en-US" sz="950" dirty="0"/>
          </a:p>
        </p:txBody>
      </p:sp>
      <p:sp>
        <p:nvSpPr>
          <p:cNvPr id="5" name="Text 3"/>
          <p:cNvSpPr/>
          <p:nvPr/>
        </p:nvSpPr>
        <p:spPr>
          <a:xfrm>
            <a:off x="566928" y="1005840"/>
            <a:ext cx="8625115" cy="512064"/>
          </a:xfrm>
          <a:prstGeom prst="rect">
            <a:avLst/>
          </a:prstGeom>
          <a:noFill/>
          <a:ln/>
        </p:spPr>
        <p:txBody>
          <a:bodyPr wrap="square" lIns="0" tIns="0" rIns="0" bIns="0" rtlCol="0" anchor="t"/>
          <a:lstStyle/>
          <a:p>
            <a:pPr indent="0" marL="0">
              <a:buNone/>
            </a:pPr>
            <a:r>
              <a:rPr lang="en-US" sz="1350" i="1" dirty="0">
                <a:solidFill>
                  <a:srgbClr val="5A6675"/>
                </a:solidFill>
                <a:latin typeface="Calibri" pitchFamily="34" charset="0"/>
                <a:ea typeface="Calibri" pitchFamily="34" charset="-122"/>
                <a:cs typeface="Calibri" pitchFamily="34" charset="-120"/>
              </a:rPr>
              <a:t>“Tell your story with these text block layouts.”  Seven layouts — the workhorses of any lesson, and the ones to ration.</a:t>
            </a:r>
            <a:endParaRPr lang="en-US" sz="1350" dirty="0"/>
          </a:p>
        </p:txBody>
      </p:sp>
      <p:sp>
        <p:nvSpPr>
          <p:cNvPr id="6" name="Shape 4"/>
          <p:cNvSpPr/>
          <p:nvPr/>
        </p:nvSpPr>
        <p:spPr>
          <a:xfrm>
            <a:off x="10390327" y="1024128"/>
            <a:ext cx="1234440" cy="274320"/>
          </a:xfrm>
          <a:prstGeom prst="roundRect">
            <a:avLst>
              <a:gd name="adj" fmla="val 50000"/>
            </a:avLst>
          </a:prstGeom>
          <a:solidFill>
            <a:srgbClr val="ED6A2A"/>
          </a:solidFill>
          <a:ln/>
        </p:spPr>
      </p:sp>
      <p:sp>
        <p:nvSpPr>
          <p:cNvPr id="7" name="Text 5"/>
          <p:cNvSpPr/>
          <p:nvPr/>
        </p:nvSpPr>
        <p:spPr>
          <a:xfrm>
            <a:off x="10390327" y="1024128"/>
            <a:ext cx="1234440" cy="274320"/>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alibri" pitchFamily="34" charset="0"/>
                <a:ea typeface="Calibri" pitchFamily="34" charset="-122"/>
                <a:cs typeface="Calibri" pitchFamily="34" charset="-120"/>
              </a:rPr>
              <a:t>7 BLOCKS</a:t>
            </a:r>
            <a:endParaRPr lang="en-US" sz="1100" dirty="0"/>
          </a:p>
        </p:txBody>
      </p:sp>
      <p:sp>
        <p:nvSpPr>
          <p:cNvPr id="8" name="Shape 6"/>
          <p:cNvSpPr/>
          <p:nvPr/>
        </p:nvSpPr>
        <p:spPr>
          <a:xfrm>
            <a:off x="1409013" y="1664208"/>
            <a:ext cx="2186315" cy="1827477"/>
          </a:xfrm>
          <a:prstGeom prst="roundRect">
            <a:avLst>
              <a:gd name="adj" fmla="val 450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9" name="Image 0" descr="/home/user/parallelism/rise360-curriculum/day2/assets/block-screenshots/paragraph.png">    </p:cNvPr>
          <p:cNvPicPr>
            <a:picLocks noChangeAspect="1"/>
          </p:cNvPicPr>
          <p:nvPr/>
        </p:nvPicPr>
        <p:blipFill>
          <a:blip r:embed="rId1"/>
          <a:stretch>
            <a:fillRect/>
          </a:stretch>
        </p:blipFill>
        <p:spPr>
          <a:xfrm>
            <a:off x="1509506" y="1764702"/>
            <a:ext cx="1985328" cy="1377575"/>
          </a:xfrm>
          <a:prstGeom prst="rect">
            <a:avLst/>
          </a:prstGeom>
        </p:spPr>
      </p:pic>
      <p:sp>
        <p:nvSpPr>
          <p:cNvPr id="10" name="Text 7"/>
          <p:cNvSpPr/>
          <p:nvPr/>
        </p:nvSpPr>
        <p:spPr>
          <a:xfrm>
            <a:off x="1449210" y="3173197"/>
            <a:ext cx="2105920" cy="262829"/>
          </a:xfrm>
          <a:prstGeom prst="rect">
            <a:avLst/>
          </a:prstGeom>
          <a:noFill/>
          <a:ln/>
        </p:spPr>
        <p:txBody>
          <a:bodyPr wrap="square" lIns="0" tIns="0" rIns="0" bIns="0" rtlCol="0" anchor="ctr"/>
          <a:lstStyle/>
          <a:p>
            <a:pPr algn="ctr" indent="0" marL="0">
              <a:buNone/>
            </a:pPr>
            <a:r>
              <a:rPr lang="en-US" sz="972" b="1" dirty="0">
                <a:solidFill>
                  <a:srgbClr val="12161F"/>
                </a:solidFill>
                <a:latin typeface="Calibri" pitchFamily="34" charset="0"/>
                <a:ea typeface="Calibri" pitchFamily="34" charset="-122"/>
                <a:cs typeface="Calibri" pitchFamily="34" charset="-120"/>
              </a:rPr>
              <a:t>Paragraph</a:t>
            </a:r>
            <a:endParaRPr lang="en-US" sz="972" dirty="0"/>
          </a:p>
        </p:txBody>
      </p:sp>
      <p:sp>
        <p:nvSpPr>
          <p:cNvPr id="11" name="Shape 8"/>
          <p:cNvSpPr/>
          <p:nvPr/>
        </p:nvSpPr>
        <p:spPr>
          <a:xfrm>
            <a:off x="3804798" y="1664208"/>
            <a:ext cx="2186315" cy="1827477"/>
          </a:xfrm>
          <a:prstGeom prst="roundRect">
            <a:avLst>
              <a:gd name="adj" fmla="val 450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2" name="Image 1" descr="/home/user/parallelism/rise360-curriculum/day2/assets/block-screenshots/paragraph_with_heading.png">    </p:cNvPr>
          <p:cNvPicPr>
            <a:picLocks noChangeAspect="1"/>
          </p:cNvPicPr>
          <p:nvPr/>
        </p:nvPicPr>
        <p:blipFill>
          <a:blip r:embed="rId2"/>
          <a:stretch>
            <a:fillRect/>
          </a:stretch>
        </p:blipFill>
        <p:spPr>
          <a:xfrm>
            <a:off x="3905291" y="1764702"/>
            <a:ext cx="1985328" cy="1377575"/>
          </a:xfrm>
          <a:prstGeom prst="rect">
            <a:avLst/>
          </a:prstGeom>
        </p:spPr>
      </p:pic>
      <p:sp>
        <p:nvSpPr>
          <p:cNvPr id="13" name="Text 9"/>
          <p:cNvSpPr/>
          <p:nvPr/>
        </p:nvSpPr>
        <p:spPr>
          <a:xfrm>
            <a:off x="3844995" y="3173197"/>
            <a:ext cx="2105920" cy="262829"/>
          </a:xfrm>
          <a:prstGeom prst="rect">
            <a:avLst/>
          </a:prstGeom>
          <a:noFill/>
          <a:ln/>
        </p:spPr>
        <p:txBody>
          <a:bodyPr wrap="square" lIns="0" tIns="0" rIns="0" bIns="0" rtlCol="0" anchor="ctr"/>
          <a:lstStyle/>
          <a:p>
            <a:pPr algn="ctr" indent="0" marL="0">
              <a:buNone/>
            </a:pPr>
            <a:r>
              <a:rPr lang="en-US" sz="972" b="1" dirty="0">
                <a:solidFill>
                  <a:srgbClr val="12161F"/>
                </a:solidFill>
                <a:latin typeface="Calibri" pitchFamily="34" charset="0"/>
                <a:ea typeface="Calibri" pitchFamily="34" charset="-122"/>
                <a:cs typeface="Calibri" pitchFamily="34" charset="-120"/>
              </a:rPr>
              <a:t>Paragraph with heading</a:t>
            </a:r>
            <a:endParaRPr lang="en-US" sz="972" dirty="0"/>
          </a:p>
        </p:txBody>
      </p:sp>
      <p:sp>
        <p:nvSpPr>
          <p:cNvPr id="14" name="Shape 10"/>
          <p:cNvSpPr/>
          <p:nvPr/>
        </p:nvSpPr>
        <p:spPr>
          <a:xfrm>
            <a:off x="6200582" y="1664208"/>
            <a:ext cx="2186315" cy="1827477"/>
          </a:xfrm>
          <a:prstGeom prst="roundRect">
            <a:avLst>
              <a:gd name="adj" fmla="val 450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5" name="Image 2" descr="/home/user/parallelism/rise360-curriculum/day2/assets/block-screenshots/paragraph_with_subheading.png">    </p:cNvPr>
          <p:cNvPicPr>
            <a:picLocks noChangeAspect="1"/>
          </p:cNvPicPr>
          <p:nvPr/>
        </p:nvPicPr>
        <p:blipFill>
          <a:blip r:embed="rId3"/>
          <a:stretch>
            <a:fillRect/>
          </a:stretch>
        </p:blipFill>
        <p:spPr>
          <a:xfrm>
            <a:off x="6301076" y="1764702"/>
            <a:ext cx="1985328" cy="1377575"/>
          </a:xfrm>
          <a:prstGeom prst="rect">
            <a:avLst/>
          </a:prstGeom>
        </p:spPr>
      </p:pic>
      <p:sp>
        <p:nvSpPr>
          <p:cNvPr id="16" name="Text 11"/>
          <p:cNvSpPr/>
          <p:nvPr/>
        </p:nvSpPr>
        <p:spPr>
          <a:xfrm>
            <a:off x="6240780" y="3173197"/>
            <a:ext cx="2105920" cy="262829"/>
          </a:xfrm>
          <a:prstGeom prst="rect">
            <a:avLst/>
          </a:prstGeom>
          <a:noFill/>
          <a:ln/>
        </p:spPr>
        <p:txBody>
          <a:bodyPr wrap="square" lIns="0" tIns="0" rIns="0" bIns="0" rtlCol="0" anchor="ctr"/>
          <a:lstStyle/>
          <a:p>
            <a:pPr algn="ctr" indent="0" marL="0">
              <a:buNone/>
            </a:pPr>
            <a:r>
              <a:rPr lang="en-US" sz="972" b="1" dirty="0">
                <a:solidFill>
                  <a:srgbClr val="12161F"/>
                </a:solidFill>
                <a:latin typeface="Calibri" pitchFamily="34" charset="0"/>
                <a:ea typeface="Calibri" pitchFamily="34" charset="-122"/>
                <a:cs typeface="Calibri" pitchFamily="34" charset="-120"/>
              </a:rPr>
              <a:t>Paragraph with subheading</a:t>
            </a:r>
            <a:endParaRPr lang="en-US" sz="972" dirty="0"/>
          </a:p>
        </p:txBody>
      </p:sp>
      <p:sp>
        <p:nvSpPr>
          <p:cNvPr id="17" name="Shape 12"/>
          <p:cNvSpPr/>
          <p:nvPr/>
        </p:nvSpPr>
        <p:spPr>
          <a:xfrm>
            <a:off x="8596367" y="1664208"/>
            <a:ext cx="2186315" cy="1827477"/>
          </a:xfrm>
          <a:prstGeom prst="roundRect">
            <a:avLst>
              <a:gd name="adj" fmla="val 450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8" name="Image 3" descr="/home/user/parallelism/rise360-curriculum/day2/assets/block-screenshots/heading.png">    </p:cNvPr>
          <p:cNvPicPr>
            <a:picLocks noChangeAspect="1"/>
          </p:cNvPicPr>
          <p:nvPr/>
        </p:nvPicPr>
        <p:blipFill>
          <a:blip r:embed="rId4"/>
          <a:stretch>
            <a:fillRect/>
          </a:stretch>
        </p:blipFill>
        <p:spPr>
          <a:xfrm>
            <a:off x="8696861" y="1764702"/>
            <a:ext cx="1985328" cy="1377575"/>
          </a:xfrm>
          <a:prstGeom prst="rect">
            <a:avLst/>
          </a:prstGeom>
        </p:spPr>
      </p:pic>
      <p:sp>
        <p:nvSpPr>
          <p:cNvPr id="19" name="Text 13"/>
          <p:cNvSpPr/>
          <p:nvPr/>
        </p:nvSpPr>
        <p:spPr>
          <a:xfrm>
            <a:off x="8636565" y="3173197"/>
            <a:ext cx="2105920" cy="262829"/>
          </a:xfrm>
          <a:prstGeom prst="rect">
            <a:avLst/>
          </a:prstGeom>
          <a:noFill/>
          <a:ln/>
        </p:spPr>
        <p:txBody>
          <a:bodyPr wrap="square" lIns="0" tIns="0" rIns="0" bIns="0" rtlCol="0" anchor="ctr"/>
          <a:lstStyle/>
          <a:p>
            <a:pPr algn="ctr" indent="0" marL="0">
              <a:buNone/>
            </a:pPr>
            <a:r>
              <a:rPr lang="en-US" sz="972" b="1" dirty="0">
                <a:solidFill>
                  <a:srgbClr val="12161F"/>
                </a:solidFill>
                <a:latin typeface="Calibri" pitchFamily="34" charset="0"/>
                <a:ea typeface="Calibri" pitchFamily="34" charset="-122"/>
                <a:cs typeface="Calibri" pitchFamily="34" charset="-120"/>
              </a:rPr>
              <a:t>Heading</a:t>
            </a:r>
            <a:endParaRPr lang="en-US" sz="972" dirty="0"/>
          </a:p>
        </p:txBody>
      </p:sp>
      <p:sp>
        <p:nvSpPr>
          <p:cNvPr id="20" name="Shape 14"/>
          <p:cNvSpPr/>
          <p:nvPr/>
        </p:nvSpPr>
        <p:spPr>
          <a:xfrm>
            <a:off x="2606905" y="3677211"/>
            <a:ext cx="2186315" cy="1827477"/>
          </a:xfrm>
          <a:prstGeom prst="roundRect">
            <a:avLst>
              <a:gd name="adj" fmla="val 450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1" name="Image 4" descr="/home/user/parallelism/rise360-curriculum/day2/assets/block-screenshots/subheading.png">    </p:cNvPr>
          <p:cNvPicPr>
            <a:picLocks noChangeAspect="1"/>
          </p:cNvPicPr>
          <p:nvPr/>
        </p:nvPicPr>
        <p:blipFill>
          <a:blip r:embed="rId5"/>
          <a:stretch>
            <a:fillRect/>
          </a:stretch>
        </p:blipFill>
        <p:spPr>
          <a:xfrm>
            <a:off x="2707399" y="3777705"/>
            <a:ext cx="1985328" cy="1377575"/>
          </a:xfrm>
          <a:prstGeom prst="rect">
            <a:avLst/>
          </a:prstGeom>
        </p:spPr>
      </p:pic>
      <p:sp>
        <p:nvSpPr>
          <p:cNvPr id="22" name="Text 15"/>
          <p:cNvSpPr/>
          <p:nvPr/>
        </p:nvSpPr>
        <p:spPr>
          <a:xfrm>
            <a:off x="2647103" y="5186201"/>
            <a:ext cx="2105920" cy="262829"/>
          </a:xfrm>
          <a:prstGeom prst="rect">
            <a:avLst/>
          </a:prstGeom>
          <a:noFill/>
          <a:ln/>
        </p:spPr>
        <p:txBody>
          <a:bodyPr wrap="square" lIns="0" tIns="0" rIns="0" bIns="0" rtlCol="0" anchor="ctr"/>
          <a:lstStyle/>
          <a:p>
            <a:pPr algn="ctr" indent="0" marL="0">
              <a:buNone/>
            </a:pPr>
            <a:r>
              <a:rPr lang="en-US" sz="972" b="1" dirty="0">
                <a:solidFill>
                  <a:srgbClr val="12161F"/>
                </a:solidFill>
                <a:latin typeface="Calibri" pitchFamily="34" charset="0"/>
                <a:ea typeface="Calibri" pitchFamily="34" charset="-122"/>
                <a:cs typeface="Calibri" pitchFamily="34" charset="-120"/>
              </a:rPr>
              <a:t>Subheading</a:t>
            </a:r>
            <a:endParaRPr lang="en-US" sz="972" dirty="0"/>
          </a:p>
        </p:txBody>
      </p:sp>
      <p:sp>
        <p:nvSpPr>
          <p:cNvPr id="23" name="Shape 16"/>
          <p:cNvSpPr/>
          <p:nvPr/>
        </p:nvSpPr>
        <p:spPr>
          <a:xfrm>
            <a:off x="5002690" y="3677211"/>
            <a:ext cx="2186315" cy="1827477"/>
          </a:xfrm>
          <a:prstGeom prst="roundRect">
            <a:avLst>
              <a:gd name="adj" fmla="val 450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4" name="Image 5" descr="/home/user/parallelism/rise360-curriculum/day2/assets/block-screenshots/two_column.png">    </p:cNvPr>
          <p:cNvPicPr>
            <a:picLocks noChangeAspect="1"/>
          </p:cNvPicPr>
          <p:nvPr/>
        </p:nvPicPr>
        <p:blipFill>
          <a:blip r:embed="rId6"/>
          <a:stretch>
            <a:fillRect/>
          </a:stretch>
        </p:blipFill>
        <p:spPr>
          <a:xfrm>
            <a:off x="5103184" y="3777705"/>
            <a:ext cx="1985328" cy="1377575"/>
          </a:xfrm>
          <a:prstGeom prst="rect">
            <a:avLst/>
          </a:prstGeom>
        </p:spPr>
      </p:pic>
      <p:sp>
        <p:nvSpPr>
          <p:cNvPr id="25" name="Text 17"/>
          <p:cNvSpPr/>
          <p:nvPr/>
        </p:nvSpPr>
        <p:spPr>
          <a:xfrm>
            <a:off x="5042887" y="5186201"/>
            <a:ext cx="2105920" cy="262829"/>
          </a:xfrm>
          <a:prstGeom prst="rect">
            <a:avLst/>
          </a:prstGeom>
          <a:noFill/>
          <a:ln/>
        </p:spPr>
        <p:txBody>
          <a:bodyPr wrap="square" lIns="0" tIns="0" rIns="0" bIns="0" rtlCol="0" anchor="ctr"/>
          <a:lstStyle/>
          <a:p>
            <a:pPr algn="ctr" indent="0" marL="0">
              <a:buNone/>
            </a:pPr>
            <a:r>
              <a:rPr lang="en-US" sz="972" b="1" dirty="0">
                <a:solidFill>
                  <a:srgbClr val="12161F"/>
                </a:solidFill>
                <a:latin typeface="Calibri" pitchFamily="34" charset="0"/>
                <a:ea typeface="Calibri" pitchFamily="34" charset="-122"/>
                <a:cs typeface="Calibri" pitchFamily="34" charset="-120"/>
              </a:rPr>
              <a:t>Two column</a:t>
            </a:r>
            <a:endParaRPr lang="en-US" sz="972" dirty="0"/>
          </a:p>
        </p:txBody>
      </p:sp>
      <p:sp>
        <p:nvSpPr>
          <p:cNvPr id="26" name="Shape 18"/>
          <p:cNvSpPr/>
          <p:nvPr/>
        </p:nvSpPr>
        <p:spPr>
          <a:xfrm>
            <a:off x="7398475" y="3677211"/>
            <a:ext cx="2186315" cy="1827477"/>
          </a:xfrm>
          <a:prstGeom prst="roundRect">
            <a:avLst>
              <a:gd name="adj" fmla="val 450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7" name="Image 6" descr="/home/user/parallelism/rise360-curriculum/day2/assets/block-screenshots/table.png">    </p:cNvPr>
          <p:cNvPicPr>
            <a:picLocks noChangeAspect="1"/>
          </p:cNvPicPr>
          <p:nvPr/>
        </p:nvPicPr>
        <p:blipFill>
          <a:blip r:embed="rId7"/>
          <a:stretch>
            <a:fillRect/>
          </a:stretch>
        </p:blipFill>
        <p:spPr>
          <a:xfrm>
            <a:off x="7498968" y="3777705"/>
            <a:ext cx="1985328" cy="1377575"/>
          </a:xfrm>
          <a:prstGeom prst="rect">
            <a:avLst/>
          </a:prstGeom>
        </p:spPr>
      </p:pic>
      <p:sp>
        <p:nvSpPr>
          <p:cNvPr id="28" name="Text 19"/>
          <p:cNvSpPr/>
          <p:nvPr/>
        </p:nvSpPr>
        <p:spPr>
          <a:xfrm>
            <a:off x="7438672" y="5186201"/>
            <a:ext cx="2105920" cy="262829"/>
          </a:xfrm>
          <a:prstGeom prst="rect">
            <a:avLst/>
          </a:prstGeom>
          <a:noFill/>
          <a:ln/>
        </p:spPr>
        <p:txBody>
          <a:bodyPr wrap="square" lIns="0" tIns="0" rIns="0" bIns="0" rtlCol="0" anchor="ctr"/>
          <a:lstStyle/>
          <a:p>
            <a:pPr algn="ctr" indent="0" marL="0">
              <a:buNone/>
            </a:pPr>
            <a:r>
              <a:rPr lang="en-US" sz="972" b="1" dirty="0">
                <a:solidFill>
                  <a:srgbClr val="12161F"/>
                </a:solidFill>
                <a:latin typeface="Calibri" pitchFamily="34" charset="0"/>
                <a:ea typeface="Calibri" pitchFamily="34" charset="-122"/>
                <a:cs typeface="Calibri" pitchFamily="34" charset="-120"/>
              </a:rPr>
              <a:t>Table</a:t>
            </a:r>
            <a:endParaRPr lang="en-US" sz="972" dirty="0"/>
          </a:p>
        </p:txBody>
      </p:sp>
      <p:sp>
        <p:nvSpPr>
          <p:cNvPr id="29" name="Shape 20"/>
          <p:cNvSpPr/>
          <p:nvPr/>
        </p:nvSpPr>
        <p:spPr>
          <a:xfrm>
            <a:off x="566928" y="5632704"/>
            <a:ext cx="11057839" cy="566928"/>
          </a:xfrm>
          <a:prstGeom prst="roundRect">
            <a:avLst>
              <a:gd name="adj" fmla="val 12903"/>
            </a:avLst>
          </a:prstGeom>
          <a:solidFill>
            <a:srgbClr val="FFF4EE"/>
          </a:solidFill>
          <a:ln w="9525">
            <a:solidFill>
              <a:srgbClr val="F6C7AC"/>
            </a:solidFill>
            <a:prstDash val="solid"/>
          </a:ln>
        </p:spPr>
      </p:sp>
      <p:sp>
        <p:nvSpPr>
          <p:cNvPr id="30" name="Shape 21"/>
          <p:cNvSpPr/>
          <p:nvPr/>
        </p:nvSpPr>
        <p:spPr>
          <a:xfrm>
            <a:off x="768096" y="5806440"/>
            <a:ext cx="219456" cy="219456"/>
          </a:xfrm>
          <a:prstGeom prst="ellipse">
            <a:avLst/>
          </a:prstGeom>
          <a:solidFill>
            <a:srgbClr val="ED6A2A"/>
          </a:solidFill>
          <a:ln/>
        </p:spPr>
      </p:sp>
      <p:sp>
        <p:nvSpPr>
          <p:cNvPr id="31" name="Text 22"/>
          <p:cNvSpPr/>
          <p:nvPr/>
        </p:nvSpPr>
        <p:spPr>
          <a:xfrm>
            <a:off x="1097280" y="5632704"/>
            <a:ext cx="10271455" cy="566928"/>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Keep paragraphs to two to four sentences. If a paragraph needs more, it usually wants to be a list, a table, or a second block.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Statement blocks</a:t>
            </a:r>
            <a:endParaRPr lang="en-US" sz="3000" dirty="0"/>
          </a:p>
        </p:txBody>
      </p:sp>
      <p:sp>
        <p:nvSpPr>
          <p:cNvPr id="3" name="Text 1"/>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4" name="Text 2"/>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10</a:t>
            </a:r>
            <a:endParaRPr lang="en-US" sz="950" dirty="0"/>
          </a:p>
        </p:txBody>
      </p:sp>
      <p:sp>
        <p:nvSpPr>
          <p:cNvPr id="5" name="Text 3"/>
          <p:cNvSpPr/>
          <p:nvPr/>
        </p:nvSpPr>
        <p:spPr>
          <a:xfrm>
            <a:off x="566928" y="1005840"/>
            <a:ext cx="8625115" cy="512064"/>
          </a:xfrm>
          <a:prstGeom prst="rect">
            <a:avLst/>
          </a:prstGeom>
          <a:noFill/>
          <a:ln/>
        </p:spPr>
        <p:txBody>
          <a:bodyPr wrap="square" lIns="0" tIns="0" rIns="0" bIns="0" rtlCol="0" anchor="t"/>
          <a:lstStyle/>
          <a:p>
            <a:pPr indent="0" marL="0">
              <a:buNone/>
            </a:pPr>
            <a:r>
              <a:rPr lang="en-US" sz="1350" i="1" dirty="0">
                <a:solidFill>
                  <a:srgbClr val="5A6675"/>
                </a:solidFill>
                <a:latin typeface="Calibri" pitchFamily="34" charset="0"/>
                <a:ea typeface="Calibri" pitchFamily="34" charset="-122"/>
                <a:cs typeface="Calibri" pitchFamily="34" charset="-120"/>
              </a:rPr>
              <a:t>“Make important information stand out… four uniquely-styled statement blocks and a useful note block.”</a:t>
            </a:r>
            <a:endParaRPr lang="en-US" sz="1350" dirty="0"/>
          </a:p>
        </p:txBody>
      </p:sp>
      <p:sp>
        <p:nvSpPr>
          <p:cNvPr id="6" name="Shape 4"/>
          <p:cNvSpPr/>
          <p:nvPr/>
        </p:nvSpPr>
        <p:spPr>
          <a:xfrm>
            <a:off x="10390327" y="1024128"/>
            <a:ext cx="1234440" cy="274320"/>
          </a:xfrm>
          <a:prstGeom prst="roundRect">
            <a:avLst>
              <a:gd name="adj" fmla="val 50000"/>
            </a:avLst>
          </a:prstGeom>
          <a:solidFill>
            <a:srgbClr val="ED6A2A"/>
          </a:solidFill>
          <a:ln/>
        </p:spPr>
      </p:sp>
      <p:sp>
        <p:nvSpPr>
          <p:cNvPr id="7" name="Text 5"/>
          <p:cNvSpPr/>
          <p:nvPr/>
        </p:nvSpPr>
        <p:spPr>
          <a:xfrm>
            <a:off x="10390327" y="1024128"/>
            <a:ext cx="1234440" cy="274320"/>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alibri" pitchFamily="34" charset="0"/>
                <a:ea typeface="Calibri" pitchFamily="34" charset="-122"/>
                <a:cs typeface="Calibri" pitchFamily="34" charset="-120"/>
              </a:rPr>
              <a:t>5 BLOCKS</a:t>
            </a:r>
            <a:endParaRPr lang="en-US" sz="1100" dirty="0"/>
          </a:p>
        </p:txBody>
      </p:sp>
      <p:sp>
        <p:nvSpPr>
          <p:cNvPr id="8" name="Shape 6"/>
          <p:cNvSpPr/>
          <p:nvPr/>
        </p:nvSpPr>
        <p:spPr>
          <a:xfrm>
            <a:off x="566928"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9" name="Image 0" descr="/home/user/parallelism/rise360-curriculum/day2/assets/block-screenshots/statement_a.png">    </p:cNvPr>
          <p:cNvPicPr>
            <a:picLocks noChangeAspect="1"/>
          </p:cNvPicPr>
          <p:nvPr/>
        </p:nvPicPr>
        <p:blipFill>
          <a:blip r:embed="rId1"/>
          <a:stretch>
            <a:fillRect/>
          </a:stretch>
        </p:blipFill>
        <p:spPr>
          <a:xfrm>
            <a:off x="685800" y="2205772"/>
            <a:ext cx="1783629" cy="1237620"/>
          </a:xfrm>
          <a:prstGeom prst="rect">
            <a:avLst/>
          </a:prstGeom>
        </p:spPr>
      </p:pic>
      <p:sp>
        <p:nvSpPr>
          <p:cNvPr id="10" name="Text 7"/>
          <p:cNvSpPr/>
          <p:nvPr/>
        </p:nvSpPr>
        <p:spPr>
          <a:xfrm>
            <a:off x="614477"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Statement A</a:t>
            </a:r>
            <a:endParaRPr lang="en-US" sz="1150" dirty="0"/>
          </a:p>
        </p:txBody>
      </p:sp>
      <p:sp>
        <p:nvSpPr>
          <p:cNvPr id="11" name="Text 8"/>
          <p:cNvSpPr/>
          <p:nvPr/>
        </p:nvSpPr>
        <p:spPr>
          <a:xfrm>
            <a:off x="685800"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Narrow, centred, hairline rules — quiet and formal</a:t>
            </a:r>
            <a:endParaRPr lang="en-US" sz="1050" dirty="0"/>
          </a:p>
        </p:txBody>
      </p:sp>
      <p:sp>
        <p:nvSpPr>
          <p:cNvPr id="12" name="Shape 9"/>
          <p:cNvSpPr/>
          <p:nvPr/>
        </p:nvSpPr>
        <p:spPr>
          <a:xfrm>
            <a:off x="2826045"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3" name="Image 1" descr="/home/user/parallelism/rise360-curriculum/day2/assets/block-screenshots/statement_b.png">    </p:cNvPr>
          <p:cNvPicPr>
            <a:picLocks noChangeAspect="1"/>
          </p:cNvPicPr>
          <p:nvPr/>
        </p:nvPicPr>
        <p:blipFill>
          <a:blip r:embed="rId2"/>
          <a:stretch>
            <a:fillRect/>
          </a:stretch>
        </p:blipFill>
        <p:spPr>
          <a:xfrm>
            <a:off x="2944917" y="2205772"/>
            <a:ext cx="1783629" cy="1237620"/>
          </a:xfrm>
          <a:prstGeom prst="rect">
            <a:avLst/>
          </a:prstGeom>
        </p:spPr>
      </p:pic>
      <p:sp>
        <p:nvSpPr>
          <p:cNvPr id="14" name="Text 10"/>
          <p:cNvSpPr/>
          <p:nvPr/>
        </p:nvSpPr>
        <p:spPr>
          <a:xfrm>
            <a:off x="2873593"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Statement B</a:t>
            </a:r>
            <a:endParaRPr lang="en-US" sz="1150" dirty="0"/>
          </a:p>
        </p:txBody>
      </p:sp>
      <p:sp>
        <p:nvSpPr>
          <p:cNvPr id="15" name="Text 11"/>
          <p:cNvSpPr/>
          <p:nvPr/>
        </p:nvSpPr>
        <p:spPr>
          <a:xfrm>
            <a:off x="2944917"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Centred under a short accent rule — a wider measure</a:t>
            </a:r>
            <a:endParaRPr lang="en-US" sz="1050" dirty="0"/>
          </a:p>
        </p:txBody>
      </p:sp>
      <p:sp>
        <p:nvSpPr>
          <p:cNvPr id="16" name="Shape 12"/>
          <p:cNvSpPr/>
          <p:nvPr/>
        </p:nvSpPr>
        <p:spPr>
          <a:xfrm>
            <a:off x="5085161"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7" name="Image 2" descr="/home/user/parallelism/rise360-curriculum/day2/assets/block-screenshots/statement_c.png">    </p:cNvPr>
          <p:cNvPicPr>
            <a:picLocks noChangeAspect="1"/>
          </p:cNvPicPr>
          <p:nvPr/>
        </p:nvPicPr>
        <p:blipFill>
          <a:blip r:embed="rId3"/>
          <a:stretch>
            <a:fillRect/>
          </a:stretch>
        </p:blipFill>
        <p:spPr>
          <a:xfrm>
            <a:off x="5204033" y="2205772"/>
            <a:ext cx="1783629" cy="1237620"/>
          </a:xfrm>
          <a:prstGeom prst="rect">
            <a:avLst/>
          </a:prstGeom>
        </p:spPr>
      </p:pic>
      <p:sp>
        <p:nvSpPr>
          <p:cNvPr id="18" name="Text 13"/>
          <p:cNvSpPr/>
          <p:nvPr/>
        </p:nvSpPr>
        <p:spPr>
          <a:xfrm>
            <a:off x="5132710"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Statement C</a:t>
            </a:r>
            <a:endParaRPr lang="en-US" sz="1150" dirty="0"/>
          </a:p>
        </p:txBody>
      </p:sp>
      <p:sp>
        <p:nvSpPr>
          <p:cNvPr id="19" name="Text 14"/>
          <p:cNvSpPr/>
          <p:nvPr/>
        </p:nvSpPr>
        <p:spPr>
          <a:xfrm>
            <a:off x="5204033"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Full-width tinted panel — the loudest of the four</a:t>
            </a:r>
            <a:endParaRPr lang="en-US" sz="1050" dirty="0"/>
          </a:p>
        </p:txBody>
      </p:sp>
      <p:sp>
        <p:nvSpPr>
          <p:cNvPr id="20" name="Shape 15"/>
          <p:cNvSpPr/>
          <p:nvPr/>
        </p:nvSpPr>
        <p:spPr>
          <a:xfrm>
            <a:off x="7344278"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1" name="Image 3" descr="/home/user/parallelism/rise360-curriculum/day2/assets/block-screenshots/statement_d.png">    </p:cNvPr>
          <p:cNvPicPr>
            <a:picLocks noChangeAspect="1"/>
          </p:cNvPicPr>
          <p:nvPr/>
        </p:nvPicPr>
        <p:blipFill>
          <a:blip r:embed="rId4"/>
          <a:stretch>
            <a:fillRect/>
          </a:stretch>
        </p:blipFill>
        <p:spPr>
          <a:xfrm>
            <a:off x="7463150" y="2205772"/>
            <a:ext cx="1783629" cy="1237620"/>
          </a:xfrm>
          <a:prstGeom prst="rect">
            <a:avLst/>
          </a:prstGeom>
        </p:spPr>
      </p:pic>
      <p:sp>
        <p:nvSpPr>
          <p:cNvPr id="22" name="Text 16"/>
          <p:cNvSpPr/>
          <p:nvPr/>
        </p:nvSpPr>
        <p:spPr>
          <a:xfrm>
            <a:off x="7391827"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Statement D</a:t>
            </a:r>
            <a:endParaRPr lang="en-US" sz="1150" dirty="0"/>
          </a:p>
        </p:txBody>
      </p:sp>
      <p:sp>
        <p:nvSpPr>
          <p:cNvPr id="23" name="Text 17"/>
          <p:cNvSpPr/>
          <p:nvPr/>
        </p:nvSpPr>
        <p:spPr>
          <a:xfrm>
            <a:off x="7463150"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Left-aligned and compact — emphasis mid-flow</a:t>
            </a:r>
            <a:endParaRPr lang="en-US" sz="1050" dirty="0"/>
          </a:p>
        </p:txBody>
      </p:sp>
      <p:sp>
        <p:nvSpPr>
          <p:cNvPr id="24" name="Shape 18"/>
          <p:cNvSpPr/>
          <p:nvPr/>
        </p:nvSpPr>
        <p:spPr>
          <a:xfrm>
            <a:off x="9603395"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5" name="Image 4" descr="/home/user/parallelism/rise360-curriculum/day2/assets/block-screenshots/note.png">    </p:cNvPr>
          <p:cNvPicPr>
            <a:picLocks noChangeAspect="1"/>
          </p:cNvPicPr>
          <p:nvPr/>
        </p:nvPicPr>
        <p:blipFill>
          <a:blip r:embed="rId5"/>
          <a:stretch>
            <a:fillRect/>
          </a:stretch>
        </p:blipFill>
        <p:spPr>
          <a:xfrm>
            <a:off x="9722267" y="2205772"/>
            <a:ext cx="1783629" cy="1237620"/>
          </a:xfrm>
          <a:prstGeom prst="rect">
            <a:avLst/>
          </a:prstGeom>
        </p:spPr>
      </p:pic>
      <p:sp>
        <p:nvSpPr>
          <p:cNvPr id="26" name="Text 19"/>
          <p:cNvSpPr/>
          <p:nvPr/>
        </p:nvSpPr>
        <p:spPr>
          <a:xfrm>
            <a:off x="9650943"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Note</a:t>
            </a:r>
            <a:endParaRPr lang="en-US" sz="1150" dirty="0"/>
          </a:p>
        </p:txBody>
      </p:sp>
      <p:sp>
        <p:nvSpPr>
          <p:cNvPr id="27" name="Text 20"/>
          <p:cNvSpPr/>
          <p:nvPr/>
        </p:nvSpPr>
        <p:spPr>
          <a:xfrm>
            <a:off x="9722267"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A boxed aside for a caveat or a heads-up</a:t>
            </a:r>
            <a:endParaRPr lang="en-US" sz="1050" dirty="0"/>
          </a:p>
        </p:txBody>
      </p:sp>
      <p:sp>
        <p:nvSpPr>
          <p:cNvPr id="28" name="Shape 21"/>
          <p:cNvSpPr/>
          <p:nvPr/>
        </p:nvSpPr>
        <p:spPr>
          <a:xfrm>
            <a:off x="566928" y="5029200"/>
            <a:ext cx="11057839" cy="566928"/>
          </a:xfrm>
          <a:prstGeom prst="roundRect">
            <a:avLst>
              <a:gd name="adj" fmla="val 12903"/>
            </a:avLst>
          </a:prstGeom>
          <a:solidFill>
            <a:srgbClr val="FFF4EE"/>
          </a:solidFill>
          <a:ln w="9525">
            <a:solidFill>
              <a:srgbClr val="F6C7AC"/>
            </a:solidFill>
            <a:prstDash val="solid"/>
          </a:ln>
        </p:spPr>
      </p:sp>
      <p:sp>
        <p:nvSpPr>
          <p:cNvPr id="29" name="Shape 22"/>
          <p:cNvSpPr/>
          <p:nvPr/>
        </p:nvSpPr>
        <p:spPr>
          <a:xfrm>
            <a:off x="768096" y="5202936"/>
            <a:ext cx="219456" cy="219456"/>
          </a:xfrm>
          <a:prstGeom prst="ellipse">
            <a:avLst/>
          </a:prstGeom>
          <a:solidFill>
            <a:srgbClr val="ED6A2A"/>
          </a:solidFill>
          <a:ln/>
        </p:spPr>
      </p:sp>
      <p:sp>
        <p:nvSpPr>
          <p:cNvPr id="30" name="Text 23"/>
          <p:cNvSpPr/>
          <p:nvPr/>
        </p:nvSpPr>
        <p:spPr>
          <a:xfrm>
            <a:off x="1097280" y="5029200"/>
            <a:ext cx="10271455" cy="566928"/>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A statement earns its weight by being rare. Two or three per lesson read as emphasis; one every screen reads as shouting.</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Quote blocks</a:t>
            </a:r>
            <a:endParaRPr lang="en-US" sz="3000" dirty="0"/>
          </a:p>
        </p:txBody>
      </p:sp>
      <p:sp>
        <p:nvSpPr>
          <p:cNvPr id="3" name="Text 1"/>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4" name="Text 2"/>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11</a:t>
            </a:r>
            <a:endParaRPr lang="en-US" sz="950" dirty="0"/>
          </a:p>
        </p:txBody>
      </p:sp>
      <p:sp>
        <p:nvSpPr>
          <p:cNvPr id="5" name="Text 3"/>
          <p:cNvSpPr/>
          <p:nvPr/>
        </p:nvSpPr>
        <p:spPr>
          <a:xfrm>
            <a:off x="566928" y="1005840"/>
            <a:ext cx="8625115" cy="512064"/>
          </a:xfrm>
          <a:prstGeom prst="rect">
            <a:avLst/>
          </a:prstGeom>
          <a:noFill/>
          <a:ln/>
        </p:spPr>
        <p:txBody>
          <a:bodyPr wrap="square" lIns="0" tIns="0" rIns="0" bIns="0" rtlCol="0" anchor="t"/>
          <a:lstStyle/>
          <a:p>
            <a:pPr indent="0" marL="0">
              <a:buNone/>
            </a:pPr>
            <a:r>
              <a:rPr lang="en-US" sz="1350" i="1" dirty="0">
                <a:solidFill>
                  <a:srgbClr val="5A6675"/>
                </a:solidFill>
                <a:latin typeface="Calibri" pitchFamily="34" charset="0"/>
                <a:ea typeface="Calibri" pitchFamily="34" charset="-122"/>
                <a:cs typeface="Calibri" pitchFamily="34" charset="-120"/>
              </a:rPr>
              <a:t>“Highlight quotes in your story using these eye-catching quote blocks.”  Four styles, plus quote on image and a carousel.</a:t>
            </a:r>
            <a:endParaRPr lang="en-US" sz="1350" dirty="0"/>
          </a:p>
        </p:txBody>
      </p:sp>
      <p:sp>
        <p:nvSpPr>
          <p:cNvPr id="6" name="Shape 4"/>
          <p:cNvSpPr/>
          <p:nvPr/>
        </p:nvSpPr>
        <p:spPr>
          <a:xfrm>
            <a:off x="10390327" y="1024128"/>
            <a:ext cx="1234440" cy="274320"/>
          </a:xfrm>
          <a:prstGeom prst="roundRect">
            <a:avLst>
              <a:gd name="adj" fmla="val 50000"/>
            </a:avLst>
          </a:prstGeom>
          <a:solidFill>
            <a:srgbClr val="ED6A2A"/>
          </a:solidFill>
          <a:ln/>
        </p:spPr>
      </p:sp>
      <p:sp>
        <p:nvSpPr>
          <p:cNvPr id="7" name="Text 5"/>
          <p:cNvSpPr/>
          <p:nvPr/>
        </p:nvSpPr>
        <p:spPr>
          <a:xfrm>
            <a:off x="10390327" y="1024128"/>
            <a:ext cx="1234440" cy="274320"/>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alibri" pitchFamily="34" charset="0"/>
                <a:ea typeface="Calibri" pitchFamily="34" charset="-122"/>
                <a:cs typeface="Calibri" pitchFamily="34" charset="-120"/>
              </a:rPr>
              <a:t>6 BLOCKS</a:t>
            </a:r>
            <a:endParaRPr lang="en-US" sz="1100" dirty="0"/>
          </a:p>
        </p:txBody>
      </p:sp>
      <p:sp>
        <p:nvSpPr>
          <p:cNvPr id="8" name="Shape 6"/>
          <p:cNvSpPr/>
          <p:nvPr/>
        </p:nvSpPr>
        <p:spPr>
          <a:xfrm>
            <a:off x="2446770" y="1664208"/>
            <a:ext cx="2316091" cy="1848194"/>
          </a:xfrm>
          <a:prstGeom prst="roundRect">
            <a:avLst>
              <a:gd name="adj" fmla="val 445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9" name="Image 0" descr="/home/user/parallelism/rise360-curriculum/day2/assets/block-screenshots/quote_a.png">    </p:cNvPr>
          <p:cNvPicPr>
            <a:picLocks noChangeAspect="1"/>
          </p:cNvPicPr>
          <p:nvPr/>
        </p:nvPicPr>
        <p:blipFill>
          <a:blip r:embed="rId1"/>
          <a:stretch>
            <a:fillRect/>
          </a:stretch>
        </p:blipFill>
        <p:spPr>
          <a:xfrm>
            <a:off x="2524821" y="1742258"/>
            <a:ext cx="2159990" cy="1498769"/>
          </a:xfrm>
          <a:prstGeom prst="rect">
            <a:avLst/>
          </a:prstGeom>
        </p:spPr>
      </p:pic>
      <p:sp>
        <p:nvSpPr>
          <p:cNvPr id="10" name="Text 7"/>
          <p:cNvSpPr/>
          <p:nvPr/>
        </p:nvSpPr>
        <p:spPr>
          <a:xfrm>
            <a:off x="2477990" y="3265042"/>
            <a:ext cx="2253651" cy="204131"/>
          </a:xfrm>
          <a:prstGeom prst="rect">
            <a:avLst/>
          </a:prstGeom>
          <a:noFill/>
          <a:ln/>
        </p:spPr>
        <p:txBody>
          <a:bodyPr wrap="square" lIns="0" tIns="0" rIns="0" bIns="0" rtlCol="0" anchor="ctr"/>
          <a:lstStyle/>
          <a:p>
            <a:pPr algn="ctr" indent="0" marL="0">
              <a:buNone/>
            </a:pPr>
            <a:r>
              <a:rPr lang="en-US" sz="900" b="1" dirty="0">
                <a:solidFill>
                  <a:srgbClr val="12161F"/>
                </a:solidFill>
                <a:latin typeface="Calibri" pitchFamily="34" charset="0"/>
                <a:ea typeface="Calibri" pitchFamily="34" charset="-122"/>
                <a:cs typeface="Calibri" pitchFamily="34" charset="-120"/>
              </a:rPr>
              <a:t>Quote A</a:t>
            </a:r>
            <a:endParaRPr lang="en-US" sz="900" dirty="0"/>
          </a:p>
        </p:txBody>
      </p:sp>
      <p:sp>
        <p:nvSpPr>
          <p:cNvPr id="11" name="Shape 8"/>
          <p:cNvSpPr/>
          <p:nvPr/>
        </p:nvSpPr>
        <p:spPr>
          <a:xfrm>
            <a:off x="4937802" y="1664208"/>
            <a:ext cx="2316091" cy="1848194"/>
          </a:xfrm>
          <a:prstGeom prst="roundRect">
            <a:avLst>
              <a:gd name="adj" fmla="val 445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2" name="Image 1" descr="/home/user/parallelism/rise360-curriculum/day2/assets/block-screenshots/quote_b.png">    </p:cNvPr>
          <p:cNvPicPr>
            <a:picLocks noChangeAspect="1"/>
          </p:cNvPicPr>
          <p:nvPr/>
        </p:nvPicPr>
        <p:blipFill>
          <a:blip r:embed="rId2"/>
          <a:stretch>
            <a:fillRect/>
          </a:stretch>
        </p:blipFill>
        <p:spPr>
          <a:xfrm>
            <a:off x="5015852" y="1742258"/>
            <a:ext cx="2159990" cy="1498769"/>
          </a:xfrm>
          <a:prstGeom prst="rect">
            <a:avLst/>
          </a:prstGeom>
        </p:spPr>
      </p:pic>
      <p:sp>
        <p:nvSpPr>
          <p:cNvPr id="13" name="Text 9"/>
          <p:cNvSpPr/>
          <p:nvPr/>
        </p:nvSpPr>
        <p:spPr>
          <a:xfrm>
            <a:off x="4969022" y="3265042"/>
            <a:ext cx="2253651" cy="204131"/>
          </a:xfrm>
          <a:prstGeom prst="rect">
            <a:avLst/>
          </a:prstGeom>
          <a:noFill/>
          <a:ln/>
        </p:spPr>
        <p:txBody>
          <a:bodyPr wrap="square" lIns="0" tIns="0" rIns="0" bIns="0" rtlCol="0" anchor="ctr"/>
          <a:lstStyle/>
          <a:p>
            <a:pPr algn="ctr" indent="0" marL="0">
              <a:buNone/>
            </a:pPr>
            <a:r>
              <a:rPr lang="en-US" sz="900" b="1" dirty="0">
                <a:solidFill>
                  <a:srgbClr val="12161F"/>
                </a:solidFill>
                <a:latin typeface="Calibri" pitchFamily="34" charset="0"/>
                <a:ea typeface="Calibri" pitchFamily="34" charset="-122"/>
                <a:cs typeface="Calibri" pitchFamily="34" charset="-120"/>
              </a:rPr>
              <a:t>Quote B</a:t>
            </a:r>
            <a:endParaRPr lang="en-US" sz="900" dirty="0"/>
          </a:p>
        </p:txBody>
      </p:sp>
      <p:sp>
        <p:nvSpPr>
          <p:cNvPr id="14" name="Shape 10"/>
          <p:cNvSpPr/>
          <p:nvPr/>
        </p:nvSpPr>
        <p:spPr>
          <a:xfrm>
            <a:off x="7428834" y="1664208"/>
            <a:ext cx="2316091" cy="1848194"/>
          </a:xfrm>
          <a:prstGeom prst="roundRect">
            <a:avLst>
              <a:gd name="adj" fmla="val 445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5" name="Image 2" descr="/home/user/parallelism/rise360-curriculum/day2/assets/block-screenshots/quote_c.png">    </p:cNvPr>
          <p:cNvPicPr>
            <a:picLocks noChangeAspect="1"/>
          </p:cNvPicPr>
          <p:nvPr/>
        </p:nvPicPr>
        <p:blipFill>
          <a:blip r:embed="rId3"/>
          <a:stretch>
            <a:fillRect/>
          </a:stretch>
        </p:blipFill>
        <p:spPr>
          <a:xfrm>
            <a:off x="7506884" y="1742258"/>
            <a:ext cx="2159990" cy="1498769"/>
          </a:xfrm>
          <a:prstGeom prst="rect">
            <a:avLst/>
          </a:prstGeom>
        </p:spPr>
      </p:pic>
      <p:sp>
        <p:nvSpPr>
          <p:cNvPr id="16" name="Text 11"/>
          <p:cNvSpPr/>
          <p:nvPr/>
        </p:nvSpPr>
        <p:spPr>
          <a:xfrm>
            <a:off x="7460054" y="3265042"/>
            <a:ext cx="2253651" cy="204131"/>
          </a:xfrm>
          <a:prstGeom prst="rect">
            <a:avLst/>
          </a:prstGeom>
          <a:noFill/>
          <a:ln/>
        </p:spPr>
        <p:txBody>
          <a:bodyPr wrap="square" lIns="0" tIns="0" rIns="0" bIns="0" rtlCol="0" anchor="ctr"/>
          <a:lstStyle/>
          <a:p>
            <a:pPr algn="ctr" indent="0" marL="0">
              <a:buNone/>
            </a:pPr>
            <a:r>
              <a:rPr lang="en-US" sz="900" b="1" dirty="0">
                <a:solidFill>
                  <a:srgbClr val="12161F"/>
                </a:solidFill>
                <a:latin typeface="Calibri" pitchFamily="34" charset="0"/>
                <a:ea typeface="Calibri" pitchFamily="34" charset="-122"/>
                <a:cs typeface="Calibri" pitchFamily="34" charset="-120"/>
              </a:rPr>
              <a:t>Quote C</a:t>
            </a:r>
            <a:endParaRPr lang="en-US" sz="900" dirty="0"/>
          </a:p>
        </p:txBody>
      </p:sp>
      <p:sp>
        <p:nvSpPr>
          <p:cNvPr id="17" name="Shape 12"/>
          <p:cNvSpPr/>
          <p:nvPr/>
        </p:nvSpPr>
        <p:spPr>
          <a:xfrm>
            <a:off x="2446770" y="3656494"/>
            <a:ext cx="2316091" cy="1848194"/>
          </a:xfrm>
          <a:prstGeom prst="roundRect">
            <a:avLst>
              <a:gd name="adj" fmla="val 445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8" name="Image 3" descr="/home/user/parallelism/rise360-curriculum/day2/assets/block-screenshots/quote_d.png">    </p:cNvPr>
          <p:cNvPicPr>
            <a:picLocks noChangeAspect="1"/>
          </p:cNvPicPr>
          <p:nvPr/>
        </p:nvPicPr>
        <p:blipFill>
          <a:blip r:embed="rId4"/>
          <a:stretch>
            <a:fillRect/>
          </a:stretch>
        </p:blipFill>
        <p:spPr>
          <a:xfrm>
            <a:off x="2524821" y="3734545"/>
            <a:ext cx="2159990" cy="1498769"/>
          </a:xfrm>
          <a:prstGeom prst="rect">
            <a:avLst/>
          </a:prstGeom>
        </p:spPr>
      </p:pic>
      <p:sp>
        <p:nvSpPr>
          <p:cNvPr id="19" name="Text 13"/>
          <p:cNvSpPr/>
          <p:nvPr/>
        </p:nvSpPr>
        <p:spPr>
          <a:xfrm>
            <a:off x="2477990" y="5257329"/>
            <a:ext cx="2253651" cy="204131"/>
          </a:xfrm>
          <a:prstGeom prst="rect">
            <a:avLst/>
          </a:prstGeom>
          <a:noFill/>
          <a:ln/>
        </p:spPr>
        <p:txBody>
          <a:bodyPr wrap="square" lIns="0" tIns="0" rIns="0" bIns="0" rtlCol="0" anchor="ctr"/>
          <a:lstStyle/>
          <a:p>
            <a:pPr algn="ctr" indent="0" marL="0">
              <a:buNone/>
            </a:pPr>
            <a:r>
              <a:rPr lang="en-US" sz="900" b="1" dirty="0">
                <a:solidFill>
                  <a:srgbClr val="12161F"/>
                </a:solidFill>
                <a:latin typeface="Calibri" pitchFamily="34" charset="0"/>
                <a:ea typeface="Calibri" pitchFamily="34" charset="-122"/>
                <a:cs typeface="Calibri" pitchFamily="34" charset="-120"/>
              </a:rPr>
              <a:t>Quote D</a:t>
            </a:r>
            <a:endParaRPr lang="en-US" sz="900" dirty="0"/>
          </a:p>
        </p:txBody>
      </p:sp>
      <p:sp>
        <p:nvSpPr>
          <p:cNvPr id="20" name="Shape 14"/>
          <p:cNvSpPr/>
          <p:nvPr/>
        </p:nvSpPr>
        <p:spPr>
          <a:xfrm>
            <a:off x="4937802" y="3656494"/>
            <a:ext cx="2316091" cy="1848194"/>
          </a:xfrm>
          <a:prstGeom prst="roundRect">
            <a:avLst>
              <a:gd name="adj" fmla="val 445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1" name="Image 4" descr="/home/user/parallelism/rise360-curriculum/day2/assets/block-screenshots/quote_on_image.png">    </p:cNvPr>
          <p:cNvPicPr>
            <a:picLocks noChangeAspect="1"/>
          </p:cNvPicPr>
          <p:nvPr/>
        </p:nvPicPr>
        <p:blipFill>
          <a:blip r:embed="rId5"/>
          <a:stretch>
            <a:fillRect/>
          </a:stretch>
        </p:blipFill>
        <p:spPr>
          <a:xfrm>
            <a:off x="5015852" y="3734545"/>
            <a:ext cx="2159990" cy="1498769"/>
          </a:xfrm>
          <a:prstGeom prst="rect">
            <a:avLst/>
          </a:prstGeom>
        </p:spPr>
      </p:pic>
      <p:sp>
        <p:nvSpPr>
          <p:cNvPr id="22" name="Text 15"/>
          <p:cNvSpPr/>
          <p:nvPr/>
        </p:nvSpPr>
        <p:spPr>
          <a:xfrm>
            <a:off x="4969022" y="5257329"/>
            <a:ext cx="2253651" cy="204131"/>
          </a:xfrm>
          <a:prstGeom prst="rect">
            <a:avLst/>
          </a:prstGeom>
          <a:noFill/>
          <a:ln/>
        </p:spPr>
        <p:txBody>
          <a:bodyPr wrap="square" lIns="0" tIns="0" rIns="0" bIns="0" rtlCol="0" anchor="ctr"/>
          <a:lstStyle/>
          <a:p>
            <a:pPr algn="ctr" indent="0" marL="0">
              <a:buNone/>
            </a:pPr>
            <a:r>
              <a:rPr lang="en-US" sz="900" b="1" dirty="0">
                <a:solidFill>
                  <a:srgbClr val="12161F"/>
                </a:solidFill>
                <a:latin typeface="Calibri" pitchFamily="34" charset="0"/>
                <a:ea typeface="Calibri" pitchFamily="34" charset="-122"/>
                <a:cs typeface="Calibri" pitchFamily="34" charset="-120"/>
              </a:rPr>
              <a:t>Quote on image</a:t>
            </a:r>
            <a:endParaRPr lang="en-US" sz="900" dirty="0"/>
          </a:p>
        </p:txBody>
      </p:sp>
      <p:sp>
        <p:nvSpPr>
          <p:cNvPr id="23" name="Shape 16"/>
          <p:cNvSpPr/>
          <p:nvPr/>
        </p:nvSpPr>
        <p:spPr>
          <a:xfrm>
            <a:off x="7428834" y="3656494"/>
            <a:ext cx="2316091" cy="1848194"/>
          </a:xfrm>
          <a:prstGeom prst="roundRect">
            <a:avLst>
              <a:gd name="adj" fmla="val 4453"/>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4" name="Image 5" descr="/home/user/parallelism/rise360-curriculum/day2/assets/block-screenshots/quote_carousel.png">    </p:cNvPr>
          <p:cNvPicPr>
            <a:picLocks noChangeAspect="1"/>
          </p:cNvPicPr>
          <p:nvPr/>
        </p:nvPicPr>
        <p:blipFill>
          <a:blip r:embed="rId6"/>
          <a:stretch>
            <a:fillRect/>
          </a:stretch>
        </p:blipFill>
        <p:spPr>
          <a:xfrm>
            <a:off x="7506884" y="3734545"/>
            <a:ext cx="2159990" cy="1498769"/>
          </a:xfrm>
          <a:prstGeom prst="rect">
            <a:avLst/>
          </a:prstGeom>
        </p:spPr>
      </p:pic>
      <p:sp>
        <p:nvSpPr>
          <p:cNvPr id="25" name="Text 17"/>
          <p:cNvSpPr/>
          <p:nvPr/>
        </p:nvSpPr>
        <p:spPr>
          <a:xfrm>
            <a:off x="7460054" y="5257329"/>
            <a:ext cx="2253651" cy="204131"/>
          </a:xfrm>
          <a:prstGeom prst="rect">
            <a:avLst/>
          </a:prstGeom>
          <a:noFill/>
          <a:ln/>
        </p:spPr>
        <p:txBody>
          <a:bodyPr wrap="square" lIns="0" tIns="0" rIns="0" bIns="0" rtlCol="0" anchor="ctr"/>
          <a:lstStyle/>
          <a:p>
            <a:pPr algn="ctr" indent="0" marL="0">
              <a:buNone/>
            </a:pPr>
            <a:r>
              <a:rPr lang="en-US" sz="900" b="1" dirty="0">
                <a:solidFill>
                  <a:srgbClr val="12161F"/>
                </a:solidFill>
                <a:latin typeface="Calibri" pitchFamily="34" charset="0"/>
                <a:ea typeface="Calibri" pitchFamily="34" charset="-122"/>
                <a:cs typeface="Calibri" pitchFamily="34" charset="-120"/>
              </a:rPr>
              <a:t>Quote carousel</a:t>
            </a:r>
            <a:endParaRPr lang="en-US" sz="900" dirty="0"/>
          </a:p>
        </p:txBody>
      </p:sp>
      <p:sp>
        <p:nvSpPr>
          <p:cNvPr id="26" name="Shape 18"/>
          <p:cNvSpPr/>
          <p:nvPr/>
        </p:nvSpPr>
        <p:spPr>
          <a:xfrm>
            <a:off x="566928" y="5632704"/>
            <a:ext cx="11057839" cy="566928"/>
          </a:xfrm>
          <a:prstGeom prst="roundRect">
            <a:avLst>
              <a:gd name="adj" fmla="val 12903"/>
            </a:avLst>
          </a:prstGeom>
          <a:solidFill>
            <a:srgbClr val="FFF4EE"/>
          </a:solidFill>
          <a:ln w="9525">
            <a:solidFill>
              <a:srgbClr val="F6C7AC"/>
            </a:solidFill>
            <a:prstDash val="solid"/>
          </a:ln>
        </p:spPr>
      </p:sp>
      <p:sp>
        <p:nvSpPr>
          <p:cNvPr id="27" name="Shape 19"/>
          <p:cNvSpPr/>
          <p:nvPr/>
        </p:nvSpPr>
        <p:spPr>
          <a:xfrm>
            <a:off x="768096" y="5806440"/>
            <a:ext cx="219456" cy="219456"/>
          </a:xfrm>
          <a:prstGeom prst="ellipse">
            <a:avLst/>
          </a:prstGeom>
          <a:solidFill>
            <a:srgbClr val="ED6A2A"/>
          </a:solidFill>
          <a:ln/>
        </p:spPr>
      </p:sp>
      <p:sp>
        <p:nvSpPr>
          <p:cNvPr id="28" name="Text 20"/>
          <p:cNvSpPr/>
          <p:nvPr/>
        </p:nvSpPr>
        <p:spPr>
          <a:xfrm>
            <a:off x="1097280" y="5632704"/>
            <a:ext cx="10271455" cy="566928"/>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Attribute every quote. An unattributed quote in a training module reads as decoration and learners discount it.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List blocks</a:t>
            </a:r>
            <a:endParaRPr lang="en-US" sz="3000" dirty="0"/>
          </a:p>
        </p:txBody>
      </p:sp>
      <p:sp>
        <p:nvSpPr>
          <p:cNvPr id="3" name="Text 1"/>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4" name="Text 2"/>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12</a:t>
            </a:r>
            <a:endParaRPr lang="en-US" sz="950" dirty="0"/>
          </a:p>
        </p:txBody>
      </p:sp>
      <p:sp>
        <p:nvSpPr>
          <p:cNvPr id="5" name="Text 3"/>
          <p:cNvSpPr/>
          <p:nvPr/>
        </p:nvSpPr>
        <p:spPr>
          <a:xfrm>
            <a:off x="566928" y="1005840"/>
            <a:ext cx="8625115" cy="512064"/>
          </a:xfrm>
          <a:prstGeom prst="rect">
            <a:avLst/>
          </a:prstGeom>
          <a:noFill/>
          <a:ln/>
        </p:spPr>
        <p:txBody>
          <a:bodyPr wrap="square" lIns="0" tIns="0" rIns="0" bIns="0" rtlCol="0" anchor="t"/>
          <a:lstStyle/>
          <a:p>
            <a:pPr indent="0" marL="0">
              <a:buNone/>
            </a:pPr>
            <a:r>
              <a:rPr lang="en-US" sz="1350" i="1" dirty="0">
                <a:solidFill>
                  <a:srgbClr val="5A6675"/>
                </a:solidFill>
                <a:latin typeface="Calibri" pitchFamily="34" charset="0"/>
                <a:ea typeface="Calibri" pitchFamily="34" charset="-122"/>
                <a:cs typeface="Calibri" pitchFamily="34" charset="-120"/>
              </a:rPr>
              <a:t>“Make your point with lists. Choose from three styles.”  The choice of marker is a meaning, not a decoration.</a:t>
            </a:r>
            <a:endParaRPr lang="en-US" sz="1350" dirty="0"/>
          </a:p>
        </p:txBody>
      </p:sp>
      <p:sp>
        <p:nvSpPr>
          <p:cNvPr id="6" name="Shape 4"/>
          <p:cNvSpPr/>
          <p:nvPr/>
        </p:nvSpPr>
        <p:spPr>
          <a:xfrm>
            <a:off x="10390327" y="1024128"/>
            <a:ext cx="1234440" cy="274320"/>
          </a:xfrm>
          <a:prstGeom prst="roundRect">
            <a:avLst>
              <a:gd name="adj" fmla="val 50000"/>
            </a:avLst>
          </a:prstGeom>
          <a:solidFill>
            <a:srgbClr val="ED6A2A"/>
          </a:solidFill>
          <a:ln/>
        </p:spPr>
      </p:sp>
      <p:sp>
        <p:nvSpPr>
          <p:cNvPr id="7" name="Text 5"/>
          <p:cNvSpPr/>
          <p:nvPr/>
        </p:nvSpPr>
        <p:spPr>
          <a:xfrm>
            <a:off x="10390327" y="1024128"/>
            <a:ext cx="1234440" cy="274320"/>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alibri" pitchFamily="34" charset="0"/>
                <a:ea typeface="Calibri" pitchFamily="34" charset="-122"/>
                <a:cs typeface="Calibri" pitchFamily="34" charset="-120"/>
              </a:rPr>
              <a:t>3 BLOCKS</a:t>
            </a:r>
            <a:endParaRPr lang="en-US" sz="1100" dirty="0"/>
          </a:p>
        </p:txBody>
      </p:sp>
      <p:sp>
        <p:nvSpPr>
          <p:cNvPr id="8" name="Shape 6"/>
          <p:cNvSpPr/>
          <p:nvPr/>
        </p:nvSpPr>
        <p:spPr>
          <a:xfrm>
            <a:off x="1129969" y="1737360"/>
            <a:ext cx="3164630" cy="3017520"/>
          </a:xfrm>
          <a:prstGeom prst="roundRect">
            <a:avLst>
              <a:gd name="adj" fmla="val 272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9" name="Image 0" descr="/home/user/parallelism/rise360-curriculum/day2/assets/block-screenshots/numbered_list.png">    </p:cNvPr>
          <p:cNvPicPr>
            <a:picLocks noChangeAspect="1"/>
          </p:cNvPicPr>
          <p:nvPr/>
        </p:nvPicPr>
        <p:blipFill>
          <a:blip r:embed="rId1"/>
          <a:stretch>
            <a:fillRect/>
          </a:stretch>
        </p:blipFill>
        <p:spPr>
          <a:xfrm>
            <a:off x="1236614" y="1844005"/>
            <a:ext cx="2951340" cy="2047868"/>
          </a:xfrm>
          <a:prstGeom prst="rect">
            <a:avLst/>
          </a:prstGeom>
        </p:spPr>
      </p:pic>
      <p:sp>
        <p:nvSpPr>
          <p:cNvPr id="10" name="Text 7"/>
          <p:cNvSpPr/>
          <p:nvPr/>
        </p:nvSpPr>
        <p:spPr>
          <a:xfrm>
            <a:off x="1172627" y="3924688"/>
            <a:ext cx="3079314" cy="229698"/>
          </a:xfrm>
          <a:prstGeom prst="rect">
            <a:avLst/>
          </a:prstGeom>
          <a:noFill/>
          <a:ln/>
        </p:spPr>
        <p:txBody>
          <a:bodyPr wrap="square" lIns="0" tIns="0" rIns="0" bIns="0" rtlCol="0" anchor="ctr"/>
          <a:lstStyle/>
          <a:p>
            <a:pPr algn="ctr" indent="0" marL="0">
              <a:buNone/>
            </a:pPr>
            <a:r>
              <a:rPr lang="en-US" sz="1032" b="1" dirty="0">
                <a:solidFill>
                  <a:srgbClr val="12161F"/>
                </a:solidFill>
                <a:latin typeface="Calibri" pitchFamily="34" charset="0"/>
                <a:ea typeface="Calibri" pitchFamily="34" charset="-122"/>
                <a:cs typeface="Calibri" pitchFamily="34" charset="-120"/>
              </a:rPr>
              <a:t>Numbered list</a:t>
            </a:r>
            <a:endParaRPr lang="en-US" sz="1032" dirty="0"/>
          </a:p>
        </p:txBody>
      </p:sp>
      <p:sp>
        <p:nvSpPr>
          <p:cNvPr id="11" name="Text 8"/>
          <p:cNvSpPr/>
          <p:nvPr/>
        </p:nvSpPr>
        <p:spPr>
          <a:xfrm>
            <a:off x="1236614" y="4154385"/>
            <a:ext cx="2951340" cy="541430"/>
          </a:xfrm>
          <a:prstGeom prst="rect">
            <a:avLst/>
          </a:prstGeom>
          <a:noFill/>
          <a:ln/>
        </p:spPr>
        <p:txBody>
          <a:bodyPr wrap="square" lIns="0" tIns="0" rIns="0" bIns="0" rtlCol="0" anchor="t"/>
          <a:lstStyle/>
          <a:p>
            <a:pPr algn="ctr" indent="0" marL="0">
              <a:lnSpc>
                <a:spcPts val="1256"/>
              </a:lnSpc>
              <a:buNone/>
            </a:pPr>
            <a:r>
              <a:rPr lang="en-US" sz="942" dirty="0">
                <a:solidFill>
                  <a:srgbClr val="5A6675"/>
                </a:solidFill>
                <a:latin typeface="Calibri" pitchFamily="34" charset="0"/>
                <a:ea typeface="Calibri" pitchFamily="34" charset="-122"/>
                <a:cs typeface="Calibri" pitchFamily="34" charset="-120"/>
              </a:rPr>
              <a:t>Numbered markers — use when order matters</a:t>
            </a:r>
            <a:endParaRPr lang="en-US" sz="942" dirty="0"/>
          </a:p>
        </p:txBody>
      </p:sp>
      <p:sp>
        <p:nvSpPr>
          <p:cNvPr id="12" name="Shape 9"/>
          <p:cNvSpPr/>
          <p:nvPr/>
        </p:nvSpPr>
        <p:spPr>
          <a:xfrm>
            <a:off x="4513532" y="1737360"/>
            <a:ext cx="3164630" cy="3017520"/>
          </a:xfrm>
          <a:prstGeom prst="roundRect">
            <a:avLst>
              <a:gd name="adj" fmla="val 272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3" name="Image 1" descr="/home/user/parallelism/rise360-curriculum/day2/assets/block-screenshots/checkbox_list.png">    </p:cNvPr>
          <p:cNvPicPr>
            <a:picLocks noChangeAspect="1"/>
          </p:cNvPicPr>
          <p:nvPr/>
        </p:nvPicPr>
        <p:blipFill>
          <a:blip r:embed="rId2"/>
          <a:stretch>
            <a:fillRect/>
          </a:stretch>
        </p:blipFill>
        <p:spPr>
          <a:xfrm>
            <a:off x="4620178" y="1844005"/>
            <a:ext cx="2951340" cy="2047868"/>
          </a:xfrm>
          <a:prstGeom prst="rect">
            <a:avLst/>
          </a:prstGeom>
        </p:spPr>
      </p:pic>
      <p:sp>
        <p:nvSpPr>
          <p:cNvPr id="14" name="Text 10"/>
          <p:cNvSpPr/>
          <p:nvPr/>
        </p:nvSpPr>
        <p:spPr>
          <a:xfrm>
            <a:off x="4556191" y="3924688"/>
            <a:ext cx="3079314" cy="229698"/>
          </a:xfrm>
          <a:prstGeom prst="rect">
            <a:avLst/>
          </a:prstGeom>
          <a:noFill/>
          <a:ln/>
        </p:spPr>
        <p:txBody>
          <a:bodyPr wrap="square" lIns="0" tIns="0" rIns="0" bIns="0" rtlCol="0" anchor="ctr"/>
          <a:lstStyle/>
          <a:p>
            <a:pPr algn="ctr" indent="0" marL="0">
              <a:buNone/>
            </a:pPr>
            <a:r>
              <a:rPr lang="en-US" sz="1032" b="1" dirty="0">
                <a:solidFill>
                  <a:srgbClr val="12161F"/>
                </a:solidFill>
                <a:latin typeface="Calibri" pitchFamily="34" charset="0"/>
                <a:ea typeface="Calibri" pitchFamily="34" charset="-122"/>
                <a:cs typeface="Calibri" pitchFamily="34" charset="-120"/>
              </a:rPr>
              <a:t>Checkbox list</a:t>
            </a:r>
            <a:endParaRPr lang="en-US" sz="1032" dirty="0"/>
          </a:p>
        </p:txBody>
      </p:sp>
      <p:sp>
        <p:nvSpPr>
          <p:cNvPr id="15" name="Text 11"/>
          <p:cNvSpPr/>
          <p:nvPr/>
        </p:nvSpPr>
        <p:spPr>
          <a:xfrm>
            <a:off x="4620178" y="4154385"/>
            <a:ext cx="2951340" cy="541430"/>
          </a:xfrm>
          <a:prstGeom prst="rect">
            <a:avLst/>
          </a:prstGeom>
          <a:noFill/>
          <a:ln/>
        </p:spPr>
        <p:txBody>
          <a:bodyPr wrap="square" lIns="0" tIns="0" rIns="0" bIns="0" rtlCol="0" anchor="t"/>
          <a:lstStyle/>
          <a:p>
            <a:pPr algn="ctr" indent="0" marL="0">
              <a:lnSpc>
                <a:spcPts val="1256"/>
              </a:lnSpc>
              <a:buNone/>
            </a:pPr>
            <a:r>
              <a:rPr lang="en-US" sz="942" dirty="0">
                <a:solidFill>
                  <a:srgbClr val="5A6675"/>
                </a:solidFill>
                <a:latin typeface="Calibri" pitchFamily="34" charset="0"/>
                <a:ea typeface="Calibri" pitchFamily="34" charset="-122"/>
                <a:cs typeface="Calibri" pitchFamily="34" charset="-120"/>
              </a:rPr>
              <a:t>Square markers — things the learner will tick off</a:t>
            </a:r>
            <a:endParaRPr lang="en-US" sz="942" dirty="0"/>
          </a:p>
        </p:txBody>
      </p:sp>
      <p:sp>
        <p:nvSpPr>
          <p:cNvPr id="16" name="Shape 12"/>
          <p:cNvSpPr/>
          <p:nvPr/>
        </p:nvSpPr>
        <p:spPr>
          <a:xfrm>
            <a:off x="7897096" y="1737360"/>
            <a:ext cx="3164630" cy="3017520"/>
          </a:xfrm>
          <a:prstGeom prst="roundRect">
            <a:avLst>
              <a:gd name="adj" fmla="val 272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7" name="Image 2" descr="/home/user/parallelism/rise360-curriculum/day2/assets/block-screenshots/bulleted_list.png">    </p:cNvPr>
          <p:cNvPicPr>
            <a:picLocks noChangeAspect="1"/>
          </p:cNvPicPr>
          <p:nvPr/>
        </p:nvPicPr>
        <p:blipFill>
          <a:blip r:embed="rId3"/>
          <a:stretch>
            <a:fillRect/>
          </a:stretch>
        </p:blipFill>
        <p:spPr>
          <a:xfrm>
            <a:off x="8003742" y="1844005"/>
            <a:ext cx="2951340" cy="2047868"/>
          </a:xfrm>
          <a:prstGeom prst="rect">
            <a:avLst/>
          </a:prstGeom>
        </p:spPr>
      </p:pic>
      <p:sp>
        <p:nvSpPr>
          <p:cNvPr id="18" name="Text 13"/>
          <p:cNvSpPr/>
          <p:nvPr/>
        </p:nvSpPr>
        <p:spPr>
          <a:xfrm>
            <a:off x="7939754" y="3924688"/>
            <a:ext cx="3079314" cy="229698"/>
          </a:xfrm>
          <a:prstGeom prst="rect">
            <a:avLst/>
          </a:prstGeom>
          <a:noFill/>
          <a:ln/>
        </p:spPr>
        <p:txBody>
          <a:bodyPr wrap="square" lIns="0" tIns="0" rIns="0" bIns="0" rtlCol="0" anchor="ctr"/>
          <a:lstStyle/>
          <a:p>
            <a:pPr algn="ctr" indent="0" marL="0">
              <a:buNone/>
            </a:pPr>
            <a:r>
              <a:rPr lang="en-US" sz="1032" b="1" dirty="0">
                <a:solidFill>
                  <a:srgbClr val="12161F"/>
                </a:solidFill>
                <a:latin typeface="Calibri" pitchFamily="34" charset="0"/>
                <a:ea typeface="Calibri" pitchFamily="34" charset="-122"/>
                <a:cs typeface="Calibri" pitchFamily="34" charset="-120"/>
              </a:rPr>
              <a:t>Bulleted list</a:t>
            </a:r>
            <a:endParaRPr lang="en-US" sz="1032" dirty="0"/>
          </a:p>
        </p:txBody>
      </p:sp>
      <p:sp>
        <p:nvSpPr>
          <p:cNvPr id="19" name="Text 14"/>
          <p:cNvSpPr/>
          <p:nvPr/>
        </p:nvSpPr>
        <p:spPr>
          <a:xfrm>
            <a:off x="8003742" y="4154385"/>
            <a:ext cx="2951340" cy="541430"/>
          </a:xfrm>
          <a:prstGeom prst="rect">
            <a:avLst/>
          </a:prstGeom>
          <a:noFill/>
          <a:ln/>
        </p:spPr>
        <p:txBody>
          <a:bodyPr wrap="square" lIns="0" tIns="0" rIns="0" bIns="0" rtlCol="0" anchor="t"/>
          <a:lstStyle/>
          <a:p>
            <a:pPr algn="ctr" indent="0" marL="0">
              <a:lnSpc>
                <a:spcPts val="1256"/>
              </a:lnSpc>
              <a:buNone/>
            </a:pPr>
            <a:r>
              <a:rPr lang="en-US" sz="942" dirty="0">
                <a:solidFill>
                  <a:srgbClr val="5A6675"/>
                </a:solidFill>
                <a:latin typeface="Calibri" pitchFamily="34" charset="0"/>
                <a:ea typeface="Calibri" pitchFamily="34" charset="-122"/>
                <a:cs typeface="Calibri" pitchFamily="34" charset="-120"/>
              </a:rPr>
              <a:t>Plain dots — an unordered set</a:t>
            </a:r>
            <a:endParaRPr lang="en-US" sz="942" dirty="0"/>
          </a:p>
        </p:txBody>
      </p:sp>
      <p:sp>
        <p:nvSpPr>
          <p:cNvPr id="20" name="Shape 15"/>
          <p:cNvSpPr/>
          <p:nvPr/>
        </p:nvSpPr>
        <p:spPr>
          <a:xfrm>
            <a:off x="566928" y="5029200"/>
            <a:ext cx="11057839" cy="566928"/>
          </a:xfrm>
          <a:prstGeom prst="roundRect">
            <a:avLst>
              <a:gd name="adj" fmla="val 12903"/>
            </a:avLst>
          </a:prstGeom>
          <a:solidFill>
            <a:srgbClr val="FFF4EE"/>
          </a:solidFill>
          <a:ln w="9525">
            <a:solidFill>
              <a:srgbClr val="F6C7AC"/>
            </a:solidFill>
            <a:prstDash val="solid"/>
          </a:ln>
        </p:spPr>
      </p:sp>
      <p:sp>
        <p:nvSpPr>
          <p:cNvPr id="21" name="Shape 16"/>
          <p:cNvSpPr/>
          <p:nvPr/>
        </p:nvSpPr>
        <p:spPr>
          <a:xfrm>
            <a:off x="768096" y="5202936"/>
            <a:ext cx="219456" cy="219456"/>
          </a:xfrm>
          <a:prstGeom prst="ellipse">
            <a:avLst/>
          </a:prstGeom>
          <a:solidFill>
            <a:srgbClr val="ED6A2A"/>
          </a:solidFill>
          <a:ln/>
        </p:spPr>
      </p:sp>
      <p:sp>
        <p:nvSpPr>
          <p:cNvPr id="22" name="Text 17"/>
          <p:cNvSpPr/>
          <p:nvPr/>
        </p:nvSpPr>
        <p:spPr>
          <a:xfrm>
            <a:off x="1097280" y="5029200"/>
            <a:ext cx="10271455" cy="566928"/>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Numbered means order matters. Checkbox means the learner will do these. Bulleted means neither. Pick on meaning, not on looks.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Image blocks</a:t>
            </a:r>
            <a:endParaRPr lang="en-US" sz="3000" dirty="0"/>
          </a:p>
        </p:txBody>
      </p:sp>
      <p:sp>
        <p:nvSpPr>
          <p:cNvPr id="3" name="Text 1"/>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4" name="Text 2"/>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13</a:t>
            </a:r>
            <a:endParaRPr lang="en-US" sz="950" dirty="0"/>
          </a:p>
        </p:txBody>
      </p:sp>
      <p:sp>
        <p:nvSpPr>
          <p:cNvPr id="5" name="Text 3"/>
          <p:cNvSpPr/>
          <p:nvPr/>
        </p:nvSpPr>
        <p:spPr>
          <a:xfrm>
            <a:off x="566928" y="1005840"/>
            <a:ext cx="8625115" cy="512064"/>
          </a:xfrm>
          <a:prstGeom prst="rect">
            <a:avLst/>
          </a:prstGeom>
          <a:noFill/>
          <a:ln/>
        </p:spPr>
        <p:txBody>
          <a:bodyPr wrap="square" lIns="0" tIns="0" rIns="0" bIns="0" rtlCol="0" anchor="t"/>
          <a:lstStyle/>
          <a:p>
            <a:pPr indent="0" marL="0">
              <a:buNone/>
            </a:pPr>
            <a:r>
              <a:rPr lang="en-US" sz="1350" i="1" dirty="0">
                <a:solidFill>
                  <a:srgbClr val="5A6675"/>
                </a:solidFill>
                <a:latin typeface="Calibri" pitchFamily="34" charset="0"/>
                <a:ea typeface="Calibri" pitchFamily="34" charset="-122"/>
                <a:cs typeface="Calibri" pitchFamily="34" charset="-120"/>
              </a:rPr>
              <a:t>“Make pictures pop with these stunning image blocks.”  Five ways to place a single image.</a:t>
            </a:r>
            <a:endParaRPr lang="en-US" sz="1350" dirty="0"/>
          </a:p>
        </p:txBody>
      </p:sp>
      <p:sp>
        <p:nvSpPr>
          <p:cNvPr id="6" name="Shape 4"/>
          <p:cNvSpPr/>
          <p:nvPr/>
        </p:nvSpPr>
        <p:spPr>
          <a:xfrm>
            <a:off x="10390327" y="1024128"/>
            <a:ext cx="1234440" cy="274320"/>
          </a:xfrm>
          <a:prstGeom prst="roundRect">
            <a:avLst>
              <a:gd name="adj" fmla="val 50000"/>
            </a:avLst>
          </a:prstGeom>
          <a:solidFill>
            <a:srgbClr val="ED6A2A"/>
          </a:solidFill>
          <a:ln/>
        </p:spPr>
      </p:sp>
      <p:sp>
        <p:nvSpPr>
          <p:cNvPr id="7" name="Text 5"/>
          <p:cNvSpPr/>
          <p:nvPr/>
        </p:nvSpPr>
        <p:spPr>
          <a:xfrm>
            <a:off x="10390327" y="1024128"/>
            <a:ext cx="1234440" cy="274320"/>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alibri" pitchFamily="34" charset="0"/>
                <a:ea typeface="Calibri" pitchFamily="34" charset="-122"/>
                <a:cs typeface="Calibri" pitchFamily="34" charset="-120"/>
              </a:rPr>
              <a:t>5 BLOCKS</a:t>
            </a:r>
            <a:endParaRPr lang="en-US" sz="1100" dirty="0"/>
          </a:p>
        </p:txBody>
      </p:sp>
      <p:sp>
        <p:nvSpPr>
          <p:cNvPr id="8" name="Shape 6"/>
          <p:cNvSpPr/>
          <p:nvPr/>
        </p:nvSpPr>
        <p:spPr>
          <a:xfrm>
            <a:off x="566928"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9" name="Image 0" descr="/home/user/parallelism/rise360-curriculum/day2/assets/block-screenshots/image_centered.png">    </p:cNvPr>
          <p:cNvPicPr>
            <a:picLocks noChangeAspect="1"/>
          </p:cNvPicPr>
          <p:nvPr/>
        </p:nvPicPr>
        <p:blipFill>
          <a:blip r:embed="rId1"/>
          <a:stretch>
            <a:fillRect/>
          </a:stretch>
        </p:blipFill>
        <p:spPr>
          <a:xfrm>
            <a:off x="685800" y="2205772"/>
            <a:ext cx="1783629" cy="1237620"/>
          </a:xfrm>
          <a:prstGeom prst="rect">
            <a:avLst/>
          </a:prstGeom>
        </p:spPr>
      </p:pic>
      <p:sp>
        <p:nvSpPr>
          <p:cNvPr id="10" name="Text 7"/>
          <p:cNvSpPr/>
          <p:nvPr/>
        </p:nvSpPr>
        <p:spPr>
          <a:xfrm>
            <a:off x="614477"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Image centered</a:t>
            </a:r>
            <a:endParaRPr lang="en-US" sz="1150" dirty="0"/>
          </a:p>
        </p:txBody>
      </p:sp>
      <p:sp>
        <p:nvSpPr>
          <p:cNvPr id="11" name="Text 8"/>
          <p:cNvSpPr/>
          <p:nvPr/>
        </p:nvSpPr>
        <p:spPr>
          <a:xfrm>
            <a:off x="685800"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Sits inside the content column — the safe default</a:t>
            </a:r>
            <a:endParaRPr lang="en-US" sz="1050" dirty="0"/>
          </a:p>
        </p:txBody>
      </p:sp>
      <p:sp>
        <p:nvSpPr>
          <p:cNvPr id="12" name="Shape 9"/>
          <p:cNvSpPr/>
          <p:nvPr/>
        </p:nvSpPr>
        <p:spPr>
          <a:xfrm>
            <a:off x="2826045"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3" name="Image 1" descr="/home/user/parallelism/rise360-curriculum/day2/assets/block-screenshots/image_full_width.png">    </p:cNvPr>
          <p:cNvPicPr>
            <a:picLocks noChangeAspect="1"/>
          </p:cNvPicPr>
          <p:nvPr/>
        </p:nvPicPr>
        <p:blipFill>
          <a:blip r:embed="rId2"/>
          <a:stretch>
            <a:fillRect/>
          </a:stretch>
        </p:blipFill>
        <p:spPr>
          <a:xfrm>
            <a:off x="2944917" y="2205772"/>
            <a:ext cx="1783629" cy="1237620"/>
          </a:xfrm>
          <a:prstGeom prst="rect">
            <a:avLst/>
          </a:prstGeom>
        </p:spPr>
      </p:pic>
      <p:sp>
        <p:nvSpPr>
          <p:cNvPr id="14" name="Text 10"/>
          <p:cNvSpPr/>
          <p:nvPr/>
        </p:nvSpPr>
        <p:spPr>
          <a:xfrm>
            <a:off x="2873593"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Image full width</a:t>
            </a:r>
            <a:endParaRPr lang="en-US" sz="1150" dirty="0"/>
          </a:p>
        </p:txBody>
      </p:sp>
      <p:sp>
        <p:nvSpPr>
          <p:cNvPr id="15" name="Text 11"/>
          <p:cNvSpPr/>
          <p:nvPr/>
        </p:nvSpPr>
        <p:spPr>
          <a:xfrm>
            <a:off x="2944917"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Breaks the margins edge to edge — use sparingly</a:t>
            </a:r>
            <a:endParaRPr lang="en-US" sz="1050" dirty="0"/>
          </a:p>
        </p:txBody>
      </p:sp>
      <p:sp>
        <p:nvSpPr>
          <p:cNvPr id="16" name="Shape 12"/>
          <p:cNvSpPr/>
          <p:nvPr/>
        </p:nvSpPr>
        <p:spPr>
          <a:xfrm>
            <a:off x="5085161"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7" name="Image 2" descr="/home/user/parallelism/rise360-curriculum/day2/assets/block-screenshots/image___text.png">    </p:cNvPr>
          <p:cNvPicPr>
            <a:picLocks noChangeAspect="1"/>
          </p:cNvPicPr>
          <p:nvPr/>
        </p:nvPicPr>
        <p:blipFill>
          <a:blip r:embed="rId3"/>
          <a:stretch>
            <a:fillRect/>
          </a:stretch>
        </p:blipFill>
        <p:spPr>
          <a:xfrm>
            <a:off x="5204033" y="2205772"/>
            <a:ext cx="1783629" cy="1237620"/>
          </a:xfrm>
          <a:prstGeom prst="rect">
            <a:avLst/>
          </a:prstGeom>
        </p:spPr>
      </p:pic>
      <p:sp>
        <p:nvSpPr>
          <p:cNvPr id="18" name="Text 13"/>
          <p:cNvSpPr/>
          <p:nvPr/>
        </p:nvSpPr>
        <p:spPr>
          <a:xfrm>
            <a:off x="5132710"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Image &amp; text</a:t>
            </a:r>
            <a:endParaRPr lang="en-US" sz="1150" dirty="0"/>
          </a:p>
        </p:txBody>
      </p:sp>
      <p:sp>
        <p:nvSpPr>
          <p:cNvPr id="19" name="Text 14"/>
          <p:cNvSpPr/>
          <p:nvPr/>
        </p:nvSpPr>
        <p:spPr>
          <a:xfrm>
            <a:off x="5204033"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Picture on one side, words on the other</a:t>
            </a:r>
            <a:endParaRPr lang="en-US" sz="1050" dirty="0"/>
          </a:p>
        </p:txBody>
      </p:sp>
      <p:sp>
        <p:nvSpPr>
          <p:cNvPr id="20" name="Shape 15"/>
          <p:cNvSpPr/>
          <p:nvPr/>
        </p:nvSpPr>
        <p:spPr>
          <a:xfrm>
            <a:off x="7344278"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1" name="Image 3" descr="/home/user/parallelism/rise360-curriculum/day2/assets/block-screenshots/text_on_image.png">    </p:cNvPr>
          <p:cNvPicPr>
            <a:picLocks noChangeAspect="1"/>
          </p:cNvPicPr>
          <p:nvPr/>
        </p:nvPicPr>
        <p:blipFill>
          <a:blip r:embed="rId4"/>
          <a:stretch>
            <a:fillRect/>
          </a:stretch>
        </p:blipFill>
        <p:spPr>
          <a:xfrm>
            <a:off x="7463150" y="2205772"/>
            <a:ext cx="1783629" cy="1237620"/>
          </a:xfrm>
          <a:prstGeom prst="rect">
            <a:avLst/>
          </a:prstGeom>
        </p:spPr>
      </p:pic>
      <p:sp>
        <p:nvSpPr>
          <p:cNvPr id="22" name="Text 16"/>
          <p:cNvSpPr/>
          <p:nvPr/>
        </p:nvSpPr>
        <p:spPr>
          <a:xfrm>
            <a:off x="7391827"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Text on image</a:t>
            </a:r>
            <a:endParaRPr lang="en-US" sz="1150" dirty="0"/>
          </a:p>
        </p:txBody>
      </p:sp>
      <p:sp>
        <p:nvSpPr>
          <p:cNvPr id="23" name="Text 17"/>
          <p:cNvSpPr/>
          <p:nvPr/>
        </p:nvSpPr>
        <p:spPr>
          <a:xfrm>
            <a:off x="7463150"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Words laid over the picture — watch contrast</a:t>
            </a:r>
            <a:endParaRPr lang="en-US" sz="1050" dirty="0"/>
          </a:p>
        </p:txBody>
      </p:sp>
      <p:sp>
        <p:nvSpPr>
          <p:cNvPr id="24" name="Shape 18"/>
          <p:cNvSpPr/>
          <p:nvPr/>
        </p:nvSpPr>
        <p:spPr>
          <a:xfrm>
            <a:off x="9603395"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5" name="Image 4" descr="/home/user/parallelism/rise360-curriculum/day2/assets/block-screenshots/banner.png">    </p:cNvPr>
          <p:cNvPicPr>
            <a:picLocks noChangeAspect="1"/>
          </p:cNvPicPr>
          <p:nvPr/>
        </p:nvPicPr>
        <p:blipFill>
          <a:blip r:embed="rId5"/>
          <a:stretch>
            <a:fillRect/>
          </a:stretch>
        </p:blipFill>
        <p:spPr>
          <a:xfrm>
            <a:off x="9722267" y="2205772"/>
            <a:ext cx="1783629" cy="1237620"/>
          </a:xfrm>
          <a:prstGeom prst="rect">
            <a:avLst/>
          </a:prstGeom>
        </p:spPr>
      </p:pic>
      <p:sp>
        <p:nvSpPr>
          <p:cNvPr id="26" name="Text 19"/>
          <p:cNvSpPr/>
          <p:nvPr/>
        </p:nvSpPr>
        <p:spPr>
          <a:xfrm>
            <a:off x="9650943"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Banner</a:t>
            </a:r>
            <a:endParaRPr lang="en-US" sz="1150" dirty="0"/>
          </a:p>
        </p:txBody>
      </p:sp>
      <p:sp>
        <p:nvSpPr>
          <p:cNvPr id="27" name="Text 20"/>
          <p:cNvSpPr/>
          <p:nvPr/>
        </p:nvSpPr>
        <p:spPr>
          <a:xfrm>
            <a:off x="9722267"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Wide and short — good as a section opener</a:t>
            </a:r>
            <a:endParaRPr lang="en-US" sz="1050" dirty="0"/>
          </a:p>
        </p:txBody>
      </p:sp>
      <p:sp>
        <p:nvSpPr>
          <p:cNvPr id="28" name="Shape 21"/>
          <p:cNvSpPr/>
          <p:nvPr/>
        </p:nvSpPr>
        <p:spPr>
          <a:xfrm>
            <a:off x="566928" y="5029200"/>
            <a:ext cx="11057839" cy="566928"/>
          </a:xfrm>
          <a:prstGeom prst="roundRect">
            <a:avLst>
              <a:gd name="adj" fmla="val 12903"/>
            </a:avLst>
          </a:prstGeom>
          <a:solidFill>
            <a:srgbClr val="FFF4EE"/>
          </a:solidFill>
          <a:ln w="9525">
            <a:solidFill>
              <a:srgbClr val="F6C7AC"/>
            </a:solidFill>
            <a:prstDash val="solid"/>
          </a:ln>
        </p:spPr>
      </p:sp>
      <p:sp>
        <p:nvSpPr>
          <p:cNvPr id="29" name="Shape 22"/>
          <p:cNvSpPr/>
          <p:nvPr/>
        </p:nvSpPr>
        <p:spPr>
          <a:xfrm>
            <a:off x="768096" y="5202936"/>
            <a:ext cx="219456" cy="219456"/>
          </a:xfrm>
          <a:prstGeom prst="ellipse">
            <a:avLst/>
          </a:prstGeom>
          <a:solidFill>
            <a:srgbClr val="ED6A2A"/>
          </a:solidFill>
          <a:ln/>
        </p:spPr>
      </p:sp>
      <p:sp>
        <p:nvSpPr>
          <p:cNvPr id="30" name="Text 23"/>
          <p:cNvSpPr/>
          <p:nvPr/>
        </p:nvSpPr>
        <p:spPr>
          <a:xfrm>
            <a:off x="1097280" y="5029200"/>
            <a:ext cx="10271455" cy="566928"/>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Images crop differently on every device. Keep the subject central and preview on mobile before you commit.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Gallery blocks</a:t>
            </a:r>
            <a:endParaRPr lang="en-US" sz="3000" dirty="0"/>
          </a:p>
        </p:txBody>
      </p:sp>
      <p:sp>
        <p:nvSpPr>
          <p:cNvPr id="3" name="Text 1"/>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4" name="Text 2"/>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14</a:t>
            </a:r>
            <a:endParaRPr lang="en-US" sz="950" dirty="0"/>
          </a:p>
        </p:txBody>
      </p:sp>
      <p:sp>
        <p:nvSpPr>
          <p:cNvPr id="5" name="Text 3"/>
          <p:cNvSpPr/>
          <p:nvPr/>
        </p:nvSpPr>
        <p:spPr>
          <a:xfrm>
            <a:off x="566928" y="1005840"/>
            <a:ext cx="8625115" cy="512064"/>
          </a:xfrm>
          <a:prstGeom prst="rect">
            <a:avLst/>
          </a:prstGeom>
          <a:noFill/>
          <a:ln/>
        </p:spPr>
        <p:txBody>
          <a:bodyPr wrap="square" lIns="0" tIns="0" rIns="0" bIns="0" rtlCol="0" anchor="t"/>
          <a:lstStyle/>
          <a:p>
            <a:pPr indent="0" marL="0">
              <a:buNone/>
            </a:pPr>
            <a:r>
              <a:rPr lang="en-US" sz="1350" i="1" dirty="0">
                <a:solidFill>
                  <a:srgbClr val="5A6675"/>
                </a:solidFill>
                <a:latin typeface="Calibri" pitchFamily="34" charset="0"/>
                <a:ea typeface="Calibri" pitchFamily="34" charset="-122"/>
                <a:cs typeface="Calibri" pitchFamily="34" charset="-120"/>
              </a:rPr>
              <a:t>“Showcase multiple images in gallery blocks, including carousels and grids.”</a:t>
            </a:r>
            <a:endParaRPr lang="en-US" sz="1350" dirty="0"/>
          </a:p>
        </p:txBody>
      </p:sp>
      <p:sp>
        <p:nvSpPr>
          <p:cNvPr id="6" name="Shape 4"/>
          <p:cNvSpPr/>
          <p:nvPr/>
        </p:nvSpPr>
        <p:spPr>
          <a:xfrm>
            <a:off x="10390327" y="1024128"/>
            <a:ext cx="1234440" cy="274320"/>
          </a:xfrm>
          <a:prstGeom prst="roundRect">
            <a:avLst>
              <a:gd name="adj" fmla="val 50000"/>
            </a:avLst>
          </a:prstGeom>
          <a:solidFill>
            <a:srgbClr val="ED6A2A"/>
          </a:solidFill>
          <a:ln/>
        </p:spPr>
      </p:sp>
      <p:sp>
        <p:nvSpPr>
          <p:cNvPr id="7" name="Text 5"/>
          <p:cNvSpPr/>
          <p:nvPr/>
        </p:nvSpPr>
        <p:spPr>
          <a:xfrm>
            <a:off x="10390327" y="1024128"/>
            <a:ext cx="1234440" cy="274320"/>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alibri" pitchFamily="34" charset="0"/>
                <a:ea typeface="Calibri" pitchFamily="34" charset="-122"/>
                <a:cs typeface="Calibri" pitchFamily="34" charset="-120"/>
              </a:rPr>
              <a:t>4 BLOCKS</a:t>
            </a:r>
            <a:endParaRPr lang="en-US" sz="1100" dirty="0"/>
          </a:p>
        </p:txBody>
      </p:sp>
      <p:sp>
        <p:nvSpPr>
          <p:cNvPr id="8" name="Shape 6"/>
          <p:cNvSpPr/>
          <p:nvPr/>
        </p:nvSpPr>
        <p:spPr>
          <a:xfrm>
            <a:off x="566928" y="1890956"/>
            <a:ext cx="2586152" cy="2710328"/>
          </a:xfrm>
          <a:prstGeom prst="roundRect">
            <a:avLst>
              <a:gd name="adj" fmla="val 318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9" name="Image 0" descr="/home/user/parallelism/rise360-curriculum/day2/assets/block-screenshots/carousel.png">    </p:cNvPr>
          <p:cNvPicPr>
            <a:picLocks noChangeAspect="1"/>
          </p:cNvPicPr>
          <p:nvPr/>
        </p:nvPicPr>
        <p:blipFill>
          <a:blip r:embed="rId1"/>
          <a:stretch>
            <a:fillRect/>
          </a:stretch>
        </p:blipFill>
        <p:spPr>
          <a:xfrm>
            <a:off x="685800" y="2009828"/>
            <a:ext cx="2348408" cy="1629507"/>
          </a:xfrm>
          <a:prstGeom prst="rect">
            <a:avLst/>
          </a:prstGeom>
        </p:spPr>
      </p:pic>
      <p:sp>
        <p:nvSpPr>
          <p:cNvPr id="10" name="Text 7"/>
          <p:cNvSpPr/>
          <p:nvPr/>
        </p:nvSpPr>
        <p:spPr>
          <a:xfrm>
            <a:off x="614477" y="3675911"/>
            <a:ext cx="2491054"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Carousel</a:t>
            </a:r>
            <a:endParaRPr lang="en-US" sz="1150" dirty="0"/>
          </a:p>
        </p:txBody>
      </p:sp>
      <p:sp>
        <p:nvSpPr>
          <p:cNvPr id="11" name="Text 8"/>
          <p:cNvSpPr/>
          <p:nvPr/>
        </p:nvSpPr>
        <p:spPr>
          <a:xfrm>
            <a:off x="685800" y="3931943"/>
            <a:ext cx="2348408"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One at a time, learner advances — good for sequence</a:t>
            </a:r>
            <a:endParaRPr lang="en-US" sz="1050" dirty="0"/>
          </a:p>
        </p:txBody>
      </p:sp>
      <p:sp>
        <p:nvSpPr>
          <p:cNvPr id="12" name="Shape 9"/>
          <p:cNvSpPr/>
          <p:nvPr/>
        </p:nvSpPr>
        <p:spPr>
          <a:xfrm>
            <a:off x="3390824" y="1890956"/>
            <a:ext cx="2586152" cy="2710328"/>
          </a:xfrm>
          <a:prstGeom prst="roundRect">
            <a:avLst>
              <a:gd name="adj" fmla="val 318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3" name="Image 1" descr="/home/user/parallelism/rise360-curriculum/day2/assets/block-screenshots/two_column_grid.png">    </p:cNvPr>
          <p:cNvPicPr>
            <a:picLocks noChangeAspect="1"/>
          </p:cNvPicPr>
          <p:nvPr/>
        </p:nvPicPr>
        <p:blipFill>
          <a:blip r:embed="rId2"/>
          <a:stretch>
            <a:fillRect/>
          </a:stretch>
        </p:blipFill>
        <p:spPr>
          <a:xfrm>
            <a:off x="3509696" y="2009828"/>
            <a:ext cx="2348408" cy="1629507"/>
          </a:xfrm>
          <a:prstGeom prst="rect">
            <a:avLst/>
          </a:prstGeom>
        </p:spPr>
      </p:pic>
      <p:sp>
        <p:nvSpPr>
          <p:cNvPr id="14" name="Text 10"/>
          <p:cNvSpPr/>
          <p:nvPr/>
        </p:nvSpPr>
        <p:spPr>
          <a:xfrm>
            <a:off x="3438373" y="3675911"/>
            <a:ext cx="2491054"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Two column grid</a:t>
            </a:r>
            <a:endParaRPr lang="en-US" sz="1150" dirty="0"/>
          </a:p>
        </p:txBody>
      </p:sp>
      <p:sp>
        <p:nvSpPr>
          <p:cNvPr id="15" name="Text 11"/>
          <p:cNvSpPr/>
          <p:nvPr/>
        </p:nvSpPr>
        <p:spPr>
          <a:xfrm>
            <a:off x="3509696" y="3931943"/>
            <a:ext cx="2348408"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Two images side by side</a:t>
            </a:r>
            <a:endParaRPr lang="en-US" sz="1050" dirty="0"/>
          </a:p>
        </p:txBody>
      </p:sp>
      <p:sp>
        <p:nvSpPr>
          <p:cNvPr id="16" name="Shape 12"/>
          <p:cNvSpPr/>
          <p:nvPr/>
        </p:nvSpPr>
        <p:spPr>
          <a:xfrm>
            <a:off x="6214720" y="1890956"/>
            <a:ext cx="2586152" cy="2710328"/>
          </a:xfrm>
          <a:prstGeom prst="roundRect">
            <a:avLst>
              <a:gd name="adj" fmla="val 318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7" name="Image 2" descr="/home/user/parallelism/rise360-curriculum/day2/assets/block-screenshots/three_column_grid.png">    </p:cNvPr>
          <p:cNvPicPr>
            <a:picLocks noChangeAspect="1"/>
          </p:cNvPicPr>
          <p:nvPr/>
        </p:nvPicPr>
        <p:blipFill>
          <a:blip r:embed="rId3"/>
          <a:stretch>
            <a:fillRect/>
          </a:stretch>
        </p:blipFill>
        <p:spPr>
          <a:xfrm>
            <a:off x="6333592" y="2009828"/>
            <a:ext cx="2348408" cy="1629507"/>
          </a:xfrm>
          <a:prstGeom prst="rect">
            <a:avLst/>
          </a:prstGeom>
        </p:spPr>
      </p:pic>
      <p:sp>
        <p:nvSpPr>
          <p:cNvPr id="18" name="Text 13"/>
          <p:cNvSpPr/>
          <p:nvPr/>
        </p:nvSpPr>
        <p:spPr>
          <a:xfrm>
            <a:off x="6262268" y="3675911"/>
            <a:ext cx="2491054"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Three column grid</a:t>
            </a:r>
            <a:endParaRPr lang="en-US" sz="1150" dirty="0"/>
          </a:p>
        </p:txBody>
      </p:sp>
      <p:sp>
        <p:nvSpPr>
          <p:cNvPr id="19" name="Text 14"/>
          <p:cNvSpPr/>
          <p:nvPr/>
        </p:nvSpPr>
        <p:spPr>
          <a:xfrm>
            <a:off x="6333592" y="3931943"/>
            <a:ext cx="2348408"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Three peers — comparison at a glance</a:t>
            </a:r>
            <a:endParaRPr lang="en-US" sz="1050" dirty="0"/>
          </a:p>
        </p:txBody>
      </p:sp>
      <p:sp>
        <p:nvSpPr>
          <p:cNvPr id="20" name="Shape 15"/>
          <p:cNvSpPr/>
          <p:nvPr/>
        </p:nvSpPr>
        <p:spPr>
          <a:xfrm>
            <a:off x="9038615" y="1890956"/>
            <a:ext cx="2586152" cy="2710328"/>
          </a:xfrm>
          <a:prstGeom prst="roundRect">
            <a:avLst>
              <a:gd name="adj" fmla="val 318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1" name="Image 3" descr="/home/user/parallelism/rise360-curriculum/day2/assets/block-screenshots/four_column_grid.png">    </p:cNvPr>
          <p:cNvPicPr>
            <a:picLocks noChangeAspect="1"/>
          </p:cNvPicPr>
          <p:nvPr/>
        </p:nvPicPr>
        <p:blipFill>
          <a:blip r:embed="rId4"/>
          <a:stretch>
            <a:fillRect/>
          </a:stretch>
        </p:blipFill>
        <p:spPr>
          <a:xfrm>
            <a:off x="9157487" y="2009828"/>
            <a:ext cx="2348408" cy="1629507"/>
          </a:xfrm>
          <a:prstGeom prst="rect">
            <a:avLst/>
          </a:prstGeom>
        </p:spPr>
      </p:pic>
      <p:sp>
        <p:nvSpPr>
          <p:cNvPr id="22" name="Text 16"/>
          <p:cNvSpPr/>
          <p:nvPr/>
        </p:nvSpPr>
        <p:spPr>
          <a:xfrm>
            <a:off x="9086164" y="3675911"/>
            <a:ext cx="2491054"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Four column grid</a:t>
            </a:r>
            <a:endParaRPr lang="en-US" sz="1150" dirty="0"/>
          </a:p>
        </p:txBody>
      </p:sp>
      <p:sp>
        <p:nvSpPr>
          <p:cNvPr id="23" name="Text 17"/>
          <p:cNvSpPr/>
          <p:nvPr/>
        </p:nvSpPr>
        <p:spPr>
          <a:xfrm>
            <a:off x="9157487" y="3931943"/>
            <a:ext cx="2348408"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Four peers — keep each one visually simple</a:t>
            </a:r>
            <a:endParaRPr lang="en-US" sz="1050" dirty="0"/>
          </a:p>
        </p:txBody>
      </p:sp>
      <p:sp>
        <p:nvSpPr>
          <p:cNvPr id="24" name="Shape 18"/>
          <p:cNvSpPr/>
          <p:nvPr/>
        </p:nvSpPr>
        <p:spPr>
          <a:xfrm>
            <a:off x="566928" y="5029200"/>
            <a:ext cx="11057839" cy="566928"/>
          </a:xfrm>
          <a:prstGeom prst="roundRect">
            <a:avLst>
              <a:gd name="adj" fmla="val 12903"/>
            </a:avLst>
          </a:prstGeom>
          <a:solidFill>
            <a:srgbClr val="FFF4EE"/>
          </a:solidFill>
          <a:ln w="9525">
            <a:solidFill>
              <a:srgbClr val="F6C7AC"/>
            </a:solidFill>
            <a:prstDash val="solid"/>
          </a:ln>
        </p:spPr>
      </p:sp>
      <p:sp>
        <p:nvSpPr>
          <p:cNvPr id="25" name="Shape 19"/>
          <p:cNvSpPr/>
          <p:nvPr/>
        </p:nvSpPr>
        <p:spPr>
          <a:xfrm>
            <a:off x="768096" y="5202936"/>
            <a:ext cx="219456" cy="219456"/>
          </a:xfrm>
          <a:prstGeom prst="ellipse">
            <a:avLst/>
          </a:prstGeom>
          <a:solidFill>
            <a:srgbClr val="ED6A2A"/>
          </a:solidFill>
          <a:ln/>
        </p:spPr>
      </p:sp>
      <p:sp>
        <p:nvSpPr>
          <p:cNvPr id="26" name="Text 20"/>
          <p:cNvSpPr/>
          <p:nvPr/>
        </p:nvSpPr>
        <p:spPr>
          <a:xfrm>
            <a:off x="1097280" y="5029200"/>
            <a:ext cx="10271455" cy="566928"/>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Every gallery image needs a caption that says something. “Image 1” is not a caption.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Multimedia blocks</a:t>
            </a:r>
            <a:endParaRPr lang="en-US" sz="3000" dirty="0"/>
          </a:p>
        </p:txBody>
      </p:sp>
      <p:sp>
        <p:nvSpPr>
          <p:cNvPr id="3" name="Text 1"/>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4" name="Text 2"/>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15</a:t>
            </a:r>
            <a:endParaRPr lang="en-US" sz="950" dirty="0"/>
          </a:p>
        </p:txBody>
      </p:sp>
      <p:sp>
        <p:nvSpPr>
          <p:cNvPr id="5" name="Text 3"/>
          <p:cNvSpPr/>
          <p:nvPr/>
        </p:nvSpPr>
        <p:spPr>
          <a:xfrm>
            <a:off x="566928" y="1005840"/>
            <a:ext cx="8625115" cy="512064"/>
          </a:xfrm>
          <a:prstGeom prst="rect">
            <a:avLst/>
          </a:prstGeom>
          <a:noFill/>
          <a:ln/>
        </p:spPr>
        <p:txBody>
          <a:bodyPr wrap="square" lIns="0" tIns="0" rIns="0" bIns="0" rtlCol="0" anchor="t"/>
          <a:lstStyle/>
          <a:p>
            <a:pPr indent="0" marL="0">
              <a:buNone/>
            </a:pPr>
            <a:r>
              <a:rPr lang="en-US" sz="1350" i="1" dirty="0">
                <a:solidFill>
                  <a:srgbClr val="5A6675"/>
                </a:solidFill>
                <a:latin typeface="Calibri" pitchFamily="34" charset="0"/>
                <a:ea typeface="Calibri" pitchFamily="34" charset="-122"/>
                <a:cs typeface="Calibri" pitchFamily="34" charset="-120"/>
              </a:rPr>
              <a:t>“Create media-rich content… audio clips, videos, website embeds, file attachments, and code snippets (text only).”</a:t>
            </a:r>
            <a:endParaRPr lang="en-US" sz="1350" dirty="0"/>
          </a:p>
        </p:txBody>
      </p:sp>
      <p:sp>
        <p:nvSpPr>
          <p:cNvPr id="6" name="Shape 4"/>
          <p:cNvSpPr/>
          <p:nvPr/>
        </p:nvSpPr>
        <p:spPr>
          <a:xfrm>
            <a:off x="10390327" y="1024128"/>
            <a:ext cx="1234440" cy="274320"/>
          </a:xfrm>
          <a:prstGeom prst="roundRect">
            <a:avLst>
              <a:gd name="adj" fmla="val 50000"/>
            </a:avLst>
          </a:prstGeom>
          <a:solidFill>
            <a:srgbClr val="ED6A2A"/>
          </a:solidFill>
          <a:ln/>
        </p:spPr>
      </p:sp>
      <p:sp>
        <p:nvSpPr>
          <p:cNvPr id="7" name="Text 5"/>
          <p:cNvSpPr/>
          <p:nvPr/>
        </p:nvSpPr>
        <p:spPr>
          <a:xfrm>
            <a:off x="10390327" y="1024128"/>
            <a:ext cx="1234440" cy="274320"/>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alibri" pitchFamily="34" charset="0"/>
                <a:ea typeface="Calibri" pitchFamily="34" charset="-122"/>
                <a:cs typeface="Calibri" pitchFamily="34" charset="-120"/>
              </a:rPr>
              <a:t>5 BLOCKS</a:t>
            </a:r>
            <a:endParaRPr lang="en-US" sz="1100" dirty="0"/>
          </a:p>
        </p:txBody>
      </p:sp>
      <p:sp>
        <p:nvSpPr>
          <p:cNvPr id="8" name="Shape 6"/>
          <p:cNvSpPr/>
          <p:nvPr/>
        </p:nvSpPr>
        <p:spPr>
          <a:xfrm>
            <a:off x="566928"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9" name="Image 0" descr="/home/user/parallelism/rise360-curriculum/day2/assets/block-screenshots/audio.png">    </p:cNvPr>
          <p:cNvPicPr>
            <a:picLocks noChangeAspect="1"/>
          </p:cNvPicPr>
          <p:nvPr/>
        </p:nvPicPr>
        <p:blipFill>
          <a:blip r:embed="rId1"/>
          <a:stretch>
            <a:fillRect/>
          </a:stretch>
        </p:blipFill>
        <p:spPr>
          <a:xfrm>
            <a:off x="685800" y="2205772"/>
            <a:ext cx="1783629" cy="1237620"/>
          </a:xfrm>
          <a:prstGeom prst="rect">
            <a:avLst/>
          </a:prstGeom>
        </p:spPr>
      </p:pic>
      <p:sp>
        <p:nvSpPr>
          <p:cNvPr id="10" name="Text 7"/>
          <p:cNvSpPr/>
          <p:nvPr/>
        </p:nvSpPr>
        <p:spPr>
          <a:xfrm>
            <a:off x="614477"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Audio</a:t>
            </a:r>
            <a:endParaRPr lang="en-US" sz="1150" dirty="0"/>
          </a:p>
        </p:txBody>
      </p:sp>
      <p:sp>
        <p:nvSpPr>
          <p:cNvPr id="11" name="Text 8"/>
          <p:cNvSpPr/>
          <p:nvPr/>
        </p:nvSpPr>
        <p:spPr>
          <a:xfrm>
            <a:off x="685800"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Upload or link a clip — introduce it first</a:t>
            </a:r>
            <a:endParaRPr lang="en-US" sz="1050" dirty="0"/>
          </a:p>
        </p:txBody>
      </p:sp>
      <p:sp>
        <p:nvSpPr>
          <p:cNvPr id="12" name="Shape 9"/>
          <p:cNvSpPr/>
          <p:nvPr/>
        </p:nvSpPr>
        <p:spPr>
          <a:xfrm>
            <a:off x="2826045"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3" name="Image 1" descr="/home/user/parallelism/rise360-curriculum/day2/assets/block-screenshots/video.png">    </p:cNvPr>
          <p:cNvPicPr>
            <a:picLocks noChangeAspect="1"/>
          </p:cNvPicPr>
          <p:nvPr/>
        </p:nvPicPr>
        <p:blipFill>
          <a:blip r:embed="rId2"/>
          <a:stretch>
            <a:fillRect/>
          </a:stretch>
        </p:blipFill>
        <p:spPr>
          <a:xfrm>
            <a:off x="2944917" y="2205772"/>
            <a:ext cx="1783629" cy="1237620"/>
          </a:xfrm>
          <a:prstGeom prst="rect">
            <a:avLst/>
          </a:prstGeom>
        </p:spPr>
      </p:pic>
      <p:sp>
        <p:nvSpPr>
          <p:cNvPr id="14" name="Text 10"/>
          <p:cNvSpPr/>
          <p:nvPr/>
        </p:nvSpPr>
        <p:spPr>
          <a:xfrm>
            <a:off x="2873593"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Video</a:t>
            </a:r>
            <a:endParaRPr lang="en-US" sz="1150" dirty="0"/>
          </a:p>
        </p:txBody>
      </p:sp>
      <p:sp>
        <p:nvSpPr>
          <p:cNvPr id="15" name="Text 11"/>
          <p:cNvSpPr/>
          <p:nvPr/>
        </p:nvSpPr>
        <p:spPr>
          <a:xfrm>
            <a:off x="2944917"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Upload or link — say what to watch for</a:t>
            </a:r>
            <a:endParaRPr lang="en-US" sz="1050" dirty="0"/>
          </a:p>
        </p:txBody>
      </p:sp>
      <p:sp>
        <p:nvSpPr>
          <p:cNvPr id="16" name="Shape 12"/>
          <p:cNvSpPr/>
          <p:nvPr/>
        </p:nvSpPr>
        <p:spPr>
          <a:xfrm>
            <a:off x="5085161"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7" name="Image 2" descr="/home/user/parallelism/rise360-curriculum/day2/assets/block-screenshots/embed.png">    </p:cNvPr>
          <p:cNvPicPr>
            <a:picLocks noChangeAspect="1"/>
          </p:cNvPicPr>
          <p:nvPr/>
        </p:nvPicPr>
        <p:blipFill>
          <a:blip r:embed="rId3"/>
          <a:stretch>
            <a:fillRect/>
          </a:stretch>
        </p:blipFill>
        <p:spPr>
          <a:xfrm>
            <a:off x="5204033" y="2205772"/>
            <a:ext cx="1783629" cy="1237620"/>
          </a:xfrm>
          <a:prstGeom prst="rect">
            <a:avLst/>
          </a:prstGeom>
        </p:spPr>
      </p:pic>
      <p:sp>
        <p:nvSpPr>
          <p:cNvPr id="18" name="Text 13"/>
          <p:cNvSpPr/>
          <p:nvPr/>
        </p:nvSpPr>
        <p:spPr>
          <a:xfrm>
            <a:off x="5132710"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Embed</a:t>
            </a:r>
            <a:endParaRPr lang="en-US" sz="1150" dirty="0"/>
          </a:p>
        </p:txBody>
      </p:sp>
      <p:sp>
        <p:nvSpPr>
          <p:cNvPr id="19" name="Text 14"/>
          <p:cNvSpPr/>
          <p:nvPr/>
        </p:nvSpPr>
        <p:spPr>
          <a:xfrm>
            <a:off x="5204033"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Pulls in an external page or player</a:t>
            </a:r>
            <a:endParaRPr lang="en-US" sz="1050" dirty="0"/>
          </a:p>
        </p:txBody>
      </p:sp>
      <p:sp>
        <p:nvSpPr>
          <p:cNvPr id="20" name="Shape 15"/>
          <p:cNvSpPr/>
          <p:nvPr/>
        </p:nvSpPr>
        <p:spPr>
          <a:xfrm>
            <a:off x="7344278"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1" name="Image 3" descr="/home/user/parallelism/rise360-curriculum/day2/assets/block-screenshots/attachment.png">    </p:cNvPr>
          <p:cNvPicPr>
            <a:picLocks noChangeAspect="1"/>
          </p:cNvPicPr>
          <p:nvPr/>
        </p:nvPicPr>
        <p:blipFill>
          <a:blip r:embed="rId4"/>
          <a:stretch>
            <a:fillRect/>
          </a:stretch>
        </p:blipFill>
        <p:spPr>
          <a:xfrm>
            <a:off x="7463150" y="2205772"/>
            <a:ext cx="1783629" cy="1237620"/>
          </a:xfrm>
          <a:prstGeom prst="rect">
            <a:avLst/>
          </a:prstGeom>
        </p:spPr>
      </p:pic>
      <p:sp>
        <p:nvSpPr>
          <p:cNvPr id="22" name="Text 16"/>
          <p:cNvSpPr/>
          <p:nvPr/>
        </p:nvSpPr>
        <p:spPr>
          <a:xfrm>
            <a:off x="7391827"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Attachment</a:t>
            </a:r>
            <a:endParaRPr lang="en-US" sz="1150" dirty="0"/>
          </a:p>
        </p:txBody>
      </p:sp>
      <p:sp>
        <p:nvSpPr>
          <p:cNvPr id="23" name="Text 17"/>
          <p:cNvSpPr/>
          <p:nvPr/>
        </p:nvSpPr>
        <p:spPr>
          <a:xfrm>
            <a:off x="7463150"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A downloadable job aid, checklist or form</a:t>
            </a:r>
            <a:endParaRPr lang="en-US" sz="1050" dirty="0"/>
          </a:p>
        </p:txBody>
      </p:sp>
      <p:sp>
        <p:nvSpPr>
          <p:cNvPr id="24" name="Shape 18"/>
          <p:cNvSpPr/>
          <p:nvPr/>
        </p:nvSpPr>
        <p:spPr>
          <a:xfrm>
            <a:off x="9603395" y="2086900"/>
            <a:ext cx="2021373" cy="2318441"/>
          </a:xfrm>
          <a:prstGeom prst="roundRect">
            <a:avLst>
              <a:gd name="adj" fmla="val 407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5" name="Image 4" descr="/home/user/parallelism/rise360-curriculum/day2/assets/block-screenshots/code_snippet.png">    </p:cNvPr>
          <p:cNvPicPr>
            <a:picLocks noChangeAspect="1"/>
          </p:cNvPicPr>
          <p:nvPr/>
        </p:nvPicPr>
        <p:blipFill>
          <a:blip r:embed="rId5"/>
          <a:stretch>
            <a:fillRect/>
          </a:stretch>
        </p:blipFill>
        <p:spPr>
          <a:xfrm>
            <a:off x="9722267" y="2205772"/>
            <a:ext cx="1783629" cy="1237620"/>
          </a:xfrm>
          <a:prstGeom prst="rect">
            <a:avLst/>
          </a:prstGeom>
        </p:spPr>
      </p:pic>
      <p:sp>
        <p:nvSpPr>
          <p:cNvPr id="26" name="Text 19"/>
          <p:cNvSpPr/>
          <p:nvPr/>
        </p:nvSpPr>
        <p:spPr>
          <a:xfrm>
            <a:off x="9650943" y="3479968"/>
            <a:ext cx="1926275"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Code snippet</a:t>
            </a:r>
            <a:endParaRPr lang="en-US" sz="1150" dirty="0"/>
          </a:p>
        </p:txBody>
      </p:sp>
      <p:sp>
        <p:nvSpPr>
          <p:cNvPr id="27" name="Text 20"/>
          <p:cNvSpPr/>
          <p:nvPr/>
        </p:nvSpPr>
        <p:spPr>
          <a:xfrm>
            <a:off x="9722267" y="3736000"/>
            <a:ext cx="1783629"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Monospaced — displays code, never runs it</a:t>
            </a:r>
            <a:endParaRPr lang="en-US" sz="1050" dirty="0"/>
          </a:p>
        </p:txBody>
      </p:sp>
      <p:sp>
        <p:nvSpPr>
          <p:cNvPr id="28" name="Shape 21"/>
          <p:cNvSpPr/>
          <p:nvPr/>
        </p:nvSpPr>
        <p:spPr>
          <a:xfrm>
            <a:off x="566928" y="5029200"/>
            <a:ext cx="11057839" cy="566928"/>
          </a:xfrm>
          <a:prstGeom prst="roundRect">
            <a:avLst>
              <a:gd name="adj" fmla="val 12903"/>
            </a:avLst>
          </a:prstGeom>
          <a:solidFill>
            <a:srgbClr val="FFF4EE"/>
          </a:solidFill>
          <a:ln w="9525">
            <a:solidFill>
              <a:srgbClr val="F6C7AC"/>
            </a:solidFill>
            <a:prstDash val="solid"/>
          </a:ln>
        </p:spPr>
      </p:sp>
      <p:sp>
        <p:nvSpPr>
          <p:cNvPr id="29" name="Shape 22"/>
          <p:cNvSpPr/>
          <p:nvPr/>
        </p:nvSpPr>
        <p:spPr>
          <a:xfrm>
            <a:off x="768096" y="5202936"/>
            <a:ext cx="219456" cy="219456"/>
          </a:xfrm>
          <a:prstGeom prst="ellipse">
            <a:avLst/>
          </a:prstGeom>
          <a:solidFill>
            <a:srgbClr val="ED6A2A"/>
          </a:solidFill>
          <a:ln/>
        </p:spPr>
      </p:sp>
      <p:sp>
        <p:nvSpPr>
          <p:cNvPr id="30" name="Text 23"/>
          <p:cNvSpPr/>
          <p:nvPr/>
        </p:nvSpPr>
        <p:spPr>
          <a:xfrm>
            <a:off x="1097280" y="5029200"/>
            <a:ext cx="10271455" cy="566928"/>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Always write a lead line above a video or audio block that says what the learner should watch or listen for.</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Chart blocks</a:t>
            </a:r>
            <a:endParaRPr lang="en-US" sz="3000" dirty="0"/>
          </a:p>
        </p:txBody>
      </p:sp>
      <p:sp>
        <p:nvSpPr>
          <p:cNvPr id="3" name="Text 1"/>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4" name="Text 2"/>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16</a:t>
            </a:r>
            <a:endParaRPr lang="en-US" sz="950" dirty="0"/>
          </a:p>
        </p:txBody>
      </p:sp>
      <p:sp>
        <p:nvSpPr>
          <p:cNvPr id="5" name="Text 3"/>
          <p:cNvSpPr/>
          <p:nvPr/>
        </p:nvSpPr>
        <p:spPr>
          <a:xfrm>
            <a:off x="566928" y="1005840"/>
            <a:ext cx="8625115" cy="512064"/>
          </a:xfrm>
          <a:prstGeom prst="rect">
            <a:avLst/>
          </a:prstGeom>
          <a:noFill/>
          <a:ln/>
        </p:spPr>
        <p:txBody>
          <a:bodyPr wrap="square" lIns="0" tIns="0" rIns="0" bIns="0" rtlCol="0" anchor="t"/>
          <a:lstStyle/>
          <a:p>
            <a:pPr indent="0" marL="0">
              <a:buNone/>
            </a:pPr>
            <a:r>
              <a:rPr lang="en-US" sz="1350" i="1" dirty="0">
                <a:solidFill>
                  <a:srgbClr val="5A6675"/>
                </a:solidFill>
                <a:latin typeface="Calibri" pitchFamily="34" charset="0"/>
                <a:ea typeface="Calibri" pitchFamily="34" charset="-122"/>
                <a:cs typeface="Calibri" pitchFamily="34" charset="-120"/>
              </a:rPr>
              <a:t>“Create gorgeous data visualizations… simple to build bar, line, and pie charts your learners will love.”</a:t>
            </a:r>
            <a:endParaRPr lang="en-US" sz="1350" dirty="0"/>
          </a:p>
        </p:txBody>
      </p:sp>
      <p:sp>
        <p:nvSpPr>
          <p:cNvPr id="6" name="Shape 4"/>
          <p:cNvSpPr/>
          <p:nvPr/>
        </p:nvSpPr>
        <p:spPr>
          <a:xfrm>
            <a:off x="10390327" y="1024128"/>
            <a:ext cx="1234440" cy="274320"/>
          </a:xfrm>
          <a:prstGeom prst="roundRect">
            <a:avLst>
              <a:gd name="adj" fmla="val 50000"/>
            </a:avLst>
          </a:prstGeom>
          <a:solidFill>
            <a:srgbClr val="ED6A2A"/>
          </a:solidFill>
          <a:ln/>
        </p:spPr>
      </p:sp>
      <p:sp>
        <p:nvSpPr>
          <p:cNvPr id="7" name="Text 5"/>
          <p:cNvSpPr/>
          <p:nvPr/>
        </p:nvSpPr>
        <p:spPr>
          <a:xfrm>
            <a:off x="10390327" y="1024128"/>
            <a:ext cx="1234440" cy="274320"/>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alibri" pitchFamily="34" charset="0"/>
                <a:ea typeface="Calibri" pitchFamily="34" charset="-122"/>
                <a:cs typeface="Calibri" pitchFamily="34" charset="-120"/>
              </a:rPr>
              <a:t>3 BLOCKS</a:t>
            </a:r>
            <a:endParaRPr lang="en-US" sz="1100" dirty="0"/>
          </a:p>
        </p:txBody>
      </p:sp>
      <p:sp>
        <p:nvSpPr>
          <p:cNvPr id="8" name="Shape 6"/>
          <p:cNvSpPr/>
          <p:nvPr/>
        </p:nvSpPr>
        <p:spPr>
          <a:xfrm>
            <a:off x="1129969" y="1737360"/>
            <a:ext cx="3164630" cy="3017520"/>
          </a:xfrm>
          <a:prstGeom prst="roundRect">
            <a:avLst>
              <a:gd name="adj" fmla="val 272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9" name="Image 0" descr="/home/user/parallelism/rise360-curriculum/day2/assets/block-screenshots/bar.png">    </p:cNvPr>
          <p:cNvPicPr>
            <a:picLocks noChangeAspect="1"/>
          </p:cNvPicPr>
          <p:nvPr/>
        </p:nvPicPr>
        <p:blipFill>
          <a:blip r:embed="rId1"/>
          <a:stretch>
            <a:fillRect/>
          </a:stretch>
        </p:blipFill>
        <p:spPr>
          <a:xfrm>
            <a:off x="1236614" y="1844005"/>
            <a:ext cx="2951340" cy="2047868"/>
          </a:xfrm>
          <a:prstGeom prst="rect">
            <a:avLst/>
          </a:prstGeom>
        </p:spPr>
      </p:pic>
      <p:sp>
        <p:nvSpPr>
          <p:cNvPr id="10" name="Text 7"/>
          <p:cNvSpPr/>
          <p:nvPr/>
        </p:nvSpPr>
        <p:spPr>
          <a:xfrm>
            <a:off x="1172627" y="3924688"/>
            <a:ext cx="3079314" cy="229698"/>
          </a:xfrm>
          <a:prstGeom prst="rect">
            <a:avLst/>
          </a:prstGeom>
          <a:noFill/>
          <a:ln/>
        </p:spPr>
        <p:txBody>
          <a:bodyPr wrap="square" lIns="0" tIns="0" rIns="0" bIns="0" rtlCol="0" anchor="ctr"/>
          <a:lstStyle/>
          <a:p>
            <a:pPr algn="ctr" indent="0" marL="0">
              <a:buNone/>
            </a:pPr>
            <a:r>
              <a:rPr lang="en-US" sz="1032" b="1" dirty="0">
                <a:solidFill>
                  <a:srgbClr val="12161F"/>
                </a:solidFill>
                <a:latin typeface="Calibri" pitchFamily="34" charset="0"/>
                <a:ea typeface="Calibri" pitchFamily="34" charset="-122"/>
                <a:cs typeface="Calibri" pitchFamily="34" charset="-120"/>
              </a:rPr>
              <a:t>Bar</a:t>
            </a:r>
            <a:endParaRPr lang="en-US" sz="1032" dirty="0"/>
          </a:p>
        </p:txBody>
      </p:sp>
      <p:sp>
        <p:nvSpPr>
          <p:cNvPr id="11" name="Text 8"/>
          <p:cNvSpPr/>
          <p:nvPr/>
        </p:nvSpPr>
        <p:spPr>
          <a:xfrm>
            <a:off x="1236614" y="4154385"/>
            <a:ext cx="2951340" cy="541430"/>
          </a:xfrm>
          <a:prstGeom prst="rect">
            <a:avLst/>
          </a:prstGeom>
          <a:noFill/>
          <a:ln/>
        </p:spPr>
        <p:txBody>
          <a:bodyPr wrap="square" lIns="0" tIns="0" rIns="0" bIns="0" rtlCol="0" anchor="t"/>
          <a:lstStyle/>
          <a:p>
            <a:pPr algn="ctr" indent="0" marL="0">
              <a:lnSpc>
                <a:spcPts val="1256"/>
              </a:lnSpc>
              <a:buNone/>
            </a:pPr>
            <a:r>
              <a:rPr lang="en-US" sz="942" dirty="0">
                <a:solidFill>
                  <a:srgbClr val="5A6675"/>
                </a:solidFill>
                <a:latin typeface="Calibri" pitchFamily="34" charset="0"/>
                <a:ea typeface="Calibri" pitchFamily="34" charset="-122"/>
                <a:cs typeface="Calibri" pitchFamily="34" charset="-120"/>
              </a:rPr>
              <a:t>Compares things</a:t>
            </a:r>
            <a:endParaRPr lang="en-US" sz="942" dirty="0"/>
          </a:p>
        </p:txBody>
      </p:sp>
      <p:sp>
        <p:nvSpPr>
          <p:cNvPr id="12" name="Shape 9"/>
          <p:cNvSpPr/>
          <p:nvPr/>
        </p:nvSpPr>
        <p:spPr>
          <a:xfrm>
            <a:off x="4513532" y="1737360"/>
            <a:ext cx="3164630" cy="3017520"/>
          </a:xfrm>
          <a:prstGeom prst="roundRect">
            <a:avLst>
              <a:gd name="adj" fmla="val 272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3" name="Image 1" descr="/home/user/parallelism/rise360-curriculum/day2/assets/block-screenshots/line.png">    </p:cNvPr>
          <p:cNvPicPr>
            <a:picLocks noChangeAspect="1"/>
          </p:cNvPicPr>
          <p:nvPr/>
        </p:nvPicPr>
        <p:blipFill>
          <a:blip r:embed="rId2"/>
          <a:stretch>
            <a:fillRect/>
          </a:stretch>
        </p:blipFill>
        <p:spPr>
          <a:xfrm>
            <a:off x="4620178" y="1844005"/>
            <a:ext cx="2951340" cy="2047868"/>
          </a:xfrm>
          <a:prstGeom prst="rect">
            <a:avLst/>
          </a:prstGeom>
        </p:spPr>
      </p:pic>
      <p:sp>
        <p:nvSpPr>
          <p:cNvPr id="14" name="Text 10"/>
          <p:cNvSpPr/>
          <p:nvPr/>
        </p:nvSpPr>
        <p:spPr>
          <a:xfrm>
            <a:off x="4556191" y="3924688"/>
            <a:ext cx="3079314" cy="229698"/>
          </a:xfrm>
          <a:prstGeom prst="rect">
            <a:avLst/>
          </a:prstGeom>
          <a:noFill/>
          <a:ln/>
        </p:spPr>
        <p:txBody>
          <a:bodyPr wrap="square" lIns="0" tIns="0" rIns="0" bIns="0" rtlCol="0" anchor="ctr"/>
          <a:lstStyle/>
          <a:p>
            <a:pPr algn="ctr" indent="0" marL="0">
              <a:buNone/>
            </a:pPr>
            <a:r>
              <a:rPr lang="en-US" sz="1032" b="1" dirty="0">
                <a:solidFill>
                  <a:srgbClr val="12161F"/>
                </a:solidFill>
                <a:latin typeface="Calibri" pitchFamily="34" charset="0"/>
                <a:ea typeface="Calibri" pitchFamily="34" charset="-122"/>
                <a:cs typeface="Calibri" pitchFamily="34" charset="-120"/>
              </a:rPr>
              <a:t>Line</a:t>
            </a:r>
            <a:endParaRPr lang="en-US" sz="1032" dirty="0"/>
          </a:p>
        </p:txBody>
      </p:sp>
      <p:sp>
        <p:nvSpPr>
          <p:cNvPr id="15" name="Text 11"/>
          <p:cNvSpPr/>
          <p:nvPr/>
        </p:nvSpPr>
        <p:spPr>
          <a:xfrm>
            <a:off x="4620178" y="4154385"/>
            <a:ext cx="2951340" cy="541430"/>
          </a:xfrm>
          <a:prstGeom prst="rect">
            <a:avLst/>
          </a:prstGeom>
          <a:noFill/>
          <a:ln/>
        </p:spPr>
        <p:txBody>
          <a:bodyPr wrap="square" lIns="0" tIns="0" rIns="0" bIns="0" rtlCol="0" anchor="t"/>
          <a:lstStyle/>
          <a:p>
            <a:pPr algn="ctr" indent="0" marL="0">
              <a:lnSpc>
                <a:spcPts val="1256"/>
              </a:lnSpc>
              <a:buNone/>
            </a:pPr>
            <a:r>
              <a:rPr lang="en-US" sz="942" dirty="0">
                <a:solidFill>
                  <a:srgbClr val="5A6675"/>
                </a:solidFill>
                <a:latin typeface="Calibri" pitchFamily="34" charset="0"/>
                <a:ea typeface="Calibri" pitchFamily="34" charset="-122"/>
                <a:cs typeface="Calibri" pitchFamily="34" charset="-120"/>
              </a:rPr>
              <a:t>Shows change over time</a:t>
            </a:r>
            <a:endParaRPr lang="en-US" sz="942" dirty="0"/>
          </a:p>
        </p:txBody>
      </p:sp>
      <p:sp>
        <p:nvSpPr>
          <p:cNvPr id="16" name="Shape 12"/>
          <p:cNvSpPr/>
          <p:nvPr/>
        </p:nvSpPr>
        <p:spPr>
          <a:xfrm>
            <a:off x="7897096" y="1737360"/>
            <a:ext cx="3164630" cy="3017520"/>
          </a:xfrm>
          <a:prstGeom prst="roundRect">
            <a:avLst>
              <a:gd name="adj" fmla="val 272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7" name="Image 2" descr="/home/user/parallelism/rise360-curriculum/day2/assets/block-screenshots/pie.png">    </p:cNvPr>
          <p:cNvPicPr>
            <a:picLocks noChangeAspect="1"/>
          </p:cNvPicPr>
          <p:nvPr/>
        </p:nvPicPr>
        <p:blipFill>
          <a:blip r:embed="rId3"/>
          <a:stretch>
            <a:fillRect/>
          </a:stretch>
        </p:blipFill>
        <p:spPr>
          <a:xfrm>
            <a:off x="8003742" y="1844005"/>
            <a:ext cx="2951340" cy="2047868"/>
          </a:xfrm>
          <a:prstGeom prst="rect">
            <a:avLst/>
          </a:prstGeom>
        </p:spPr>
      </p:pic>
      <p:sp>
        <p:nvSpPr>
          <p:cNvPr id="18" name="Text 13"/>
          <p:cNvSpPr/>
          <p:nvPr/>
        </p:nvSpPr>
        <p:spPr>
          <a:xfrm>
            <a:off x="7939754" y="3924688"/>
            <a:ext cx="3079314" cy="229698"/>
          </a:xfrm>
          <a:prstGeom prst="rect">
            <a:avLst/>
          </a:prstGeom>
          <a:noFill/>
          <a:ln/>
        </p:spPr>
        <p:txBody>
          <a:bodyPr wrap="square" lIns="0" tIns="0" rIns="0" bIns="0" rtlCol="0" anchor="ctr"/>
          <a:lstStyle/>
          <a:p>
            <a:pPr algn="ctr" indent="0" marL="0">
              <a:buNone/>
            </a:pPr>
            <a:r>
              <a:rPr lang="en-US" sz="1032" b="1" dirty="0">
                <a:solidFill>
                  <a:srgbClr val="12161F"/>
                </a:solidFill>
                <a:latin typeface="Calibri" pitchFamily="34" charset="0"/>
                <a:ea typeface="Calibri" pitchFamily="34" charset="-122"/>
                <a:cs typeface="Calibri" pitchFamily="34" charset="-120"/>
              </a:rPr>
              <a:t>Pie</a:t>
            </a:r>
            <a:endParaRPr lang="en-US" sz="1032" dirty="0"/>
          </a:p>
        </p:txBody>
      </p:sp>
      <p:sp>
        <p:nvSpPr>
          <p:cNvPr id="19" name="Text 14"/>
          <p:cNvSpPr/>
          <p:nvPr/>
        </p:nvSpPr>
        <p:spPr>
          <a:xfrm>
            <a:off x="8003742" y="4154385"/>
            <a:ext cx="2951340" cy="541430"/>
          </a:xfrm>
          <a:prstGeom prst="rect">
            <a:avLst/>
          </a:prstGeom>
          <a:noFill/>
          <a:ln/>
        </p:spPr>
        <p:txBody>
          <a:bodyPr wrap="square" lIns="0" tIns="0" rIns="0" bIns="0" rtlCol="0" anchor="t"/>
          <a:lstStyle/>
          <a:p>
            <a:pPr algn="ctr" indent="0" marL="0">
              <a:lnSpc>
                <a:spcPts val="1256"/>
              </a:lnSpc>
              <a:buNone/>
            </a:pPr>
            <a:r>
              <a:rPr lang="en-US" sz="942" dirty="0">
                <a:solidFill>
                  <a:srgbClr val="5A6675"/>
                </a:solidFill>
                <a:latin typeface="Calibri" pitchFamily="34" charset="0"/>
                <a:ea typeface="Calibri" pitchFamily="34" charset="-122"/>
                <a:cs typeface="Calibri" pitchFamily="34" charset="-120"/>
              </a:rPr>
              <a:t>Parts of one whole — only a few slices</a:t>
            </a:r>
            <a:endParaRPr lang="en-US" sz="942" dirty="0"/>
          </a:p>
        </p:txBody>
      </p:sp>
      <p:sp>
        <p:nvSpPr>
          <p:cNvPr id="20" name="Shape 15"/>
          <p:cNvSpPr/>
          <p:nvPr/>
        </p:nvSpPr>
        <p:spPr>
          <a:xfrm>
            <a:off x="566928" y="5029200"/>
            <a:ext cx="11057839" cy="566928"/>
          </a:xfrm>
          <a:prstGeom prst="roundRect">
            <a:avLst>
              <a:gd name="adj" fmla="val 12903"/>
            </a:avLst>
          </a:prstGeom>
          <a:solidFill>
            <a:srgbClr val="FFF4EE"/>
          </a:solidFill>
          <a:ln w="9525">
            <a:solidFill>
              <a:srgbClr val="F6C7AC"/>
            </a:solidFill>
            <a:prstDash val="solid"/>
          </a:ln>
        </p:spPr>
      </p:sp>
      <p:sp>
        <p:nvSpPr>
          <p:cNvPr id="21" name="Shape 16"/>
          <p:cNvSpPr/>
          <p:nvPr/>
        </p:nvSpPr>
        <p:spPr>
          <a:xfrm>
            <a:off x="768096" y="5202936"/>
            <a:ext cx="219456" cy="219456"/>
          </a:xfrm>
          <a:prstGeom prst="ellipse">
            <a:avLst/>
          </a:prstGeom>
          <a:solidFill>
            <a:srgbClr val="ED6A2A"/>
          </a:solidFill>
          <a:ln/>
        </p:spPr>
      </p:sp>
      <p:sp>
        <p:nvSpPr>
          <p:cNvPr id="22" name="Text 17"/>
          <p:cNvSpPr/>
          <p:nvPr/>
        </p:nvSpPr>
        <p:spPr>
          <a:xfrm>
            <a:off x="1097280" y="5029200"/>
            <a:ext cx="10271455" cy="566928"/>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Say the finding in a heading above the chart. A chart on its own makes the learner guess what you wanted them to see.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Divider blocks</a:t>
            </a:r>
            <a:endParaRPr lang="en-US" sz="3000" dirty="0"/>
          </a:p>
        </p:txBody>
      </p:sp>
      <p:sp>
        <p:nvSpPr>
          <p:cNvPr id="3" name="Text 1"/>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4" name="Text 2"/>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17</a:t>
            </a:r>
            <a:endParaRPr lang="en-US" sz="950" dirty="0"/>
          </a:p>
        </p:txBody>
      </p:sp>
      <p:sp>
        <p:nvSpPr>
          <p:cNvPr id="5" name="Text 3"/>
          <p:cNvSpPr/>
          <p:nvPr/>
        </p:nvSpPr>
        <p:spPr>
          <a:xfrm>
            <a:off x="566928" y="1005840"/>
            <a:ext cx="8625115" cy="512064"/>
          </a:xfrm>
          <a:prstGeom prst="rect">
            <a:avLst/>
          </a:prstGeom>
          <a:noFill/>
          <a:ln/>
        </p:spPr>
        <p:txBody>
          <a:bodyPr wrap="square" lIns="0" tIns="0" rIns="0" bIns="0" rtlCol="0" anchor="t"/>
          <a:lstStyle/>
          <a:p>
            <a:pPr indent="0" marL="0">
              <a:buNone/>
            </a:pPr>
            <a:r>
              <a:rPr lang="en-US" sz="1350" i="1" dirty="0">
                <a:solidFill>
                  <a:srgbClr val="5A6675"/>
                </a:solidFill>
                <a:latin typeface="Calibri" pitchFamily="34" charset="0"/>
                <a:ea typeface="Calibri" pitchFamily="34" charset="-122"/>
                <a:cs typeface="Calibri" pitchFamily="34" charset="-120"/>
              </a:rPr>
              <a:t>“Organize block lessons into logical sections… and use continue blocks to encourage learners to master content before moving on.”</a:t>
            </a:r>
            <a:endParaRPr lang="en-US" sz="1350" dirty="0"/>
          </a:p>
        </p:txBody>
      </p:sp>
      <p:sp>
        <p:nvSpPr>
          <p:cNvPr id="6" name="Shape 4"/>
          <p:cNvSpPr/>
          <p:nvPr/>
        </p:nvSpPr>
        <p:spPr>
          <a:xfrm>
            <a:off x="10390327" y="1024128"/>
            <a:ext cx="1234440" cy="274320"/>
          </a:xfrm>
          <a:prstGeom prst="roundRect">
            <a:avLst>
              <a:gd name="adj" fmla="val 50000"/>
            </a:avLst>
          </a:prstGeom>
          <a:solidFill>
            <a:srgbClr val="ED6A2A"/>
          </a:solidFill>
          <a:ln/>
        </p:spPr>
      </p:sp>
      <p:sp>
        <p:nvSpPr>
          <p:cNvPr id="7" name="Text 5"/>
          <p:cNvSpPr/>
          <p:nvPr/>
        </p:nvSpPr>
        <p:spPr>
          <a:xfrm>
            <a:off x="10390327" y="1024128"/>
            <a:ext cx="1234440" cy="274320"/>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alibri" pitchFamily="34" charset="0"/>
                <a:ea typeface="Calibri" pitchFamily="34" charset="-122"/>
                <a:cs typeface="Calibri" pitchFamily="34" charset="-120"/>
              </a:rPr>
              <a:t>4 BLOCKS</a:t>
            </a:r>
            <a:endParaRPr lang="en-US" sz="1100" dirty="0"/>
          </a:p>
        </p:txBody>
      </p:sp>
      <p:sp>
        <p:nvSpPr>
          <p:cNvPr id="8" name="Shape 6"/>
          <p:cNvSpPr/>
          <p:nvPr/>
        </p:nvSpPr>
        <p:spPr>
          <a:xfrm>
            <a:off x="566928" y="1890956"/>
            <a:ext cx="2586152" cy="2710328"/>
          </a:xfrm>
          <a:prstGeom prst="roundRect">
            <a:avLst>
              <a:gd name="adj" fmla="val 318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9" name="Image 0" descr="/home/user/parallelism/rise360-curriculum/day2/assets/block-screenshots/continue.png">    </p:cNvPr>
          <p:cNvPicPr>
            <a:picLocks noChangeAspect="1"/>
          </p:cNvPicPr>
          <p:nvPr/>
        </p:nvPicPr>
        <p:blipFill>
          <a:blip r:embed="rId1"/>
          <a:stretch>
            <a:fillRect/>
          </a:stretch>
        </p:blipFill>
        <p:spPr>
          <a:xfrm>
            <a:off x="685800" y="2009828"/>
            <a:ext cx="2348408" cy="1629507"/>
          </a:xfrm>
          <a:prstGeom prst="rect">
            <a:avLst/>
          </a:prstGeom>
        </p:spPr>
      </p:pic>
      <p:sp>
        <p:nvSpPr>
          <p:cNvPr id="10" name="Text 7"/>
          <p:cNvSpPr/>
          <p:nvPr/>
        </p:nvSpPr>
        <p:spPr>
          <a:xfrm>
            <a:off x="614477" y="3675911"/>
            <a:ext cx="2491054"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Continue</a:t>
            </a:r>
            <a:endParaRPr lang="en-US" sz="1150" dirty="0"/>
          </a:p>
        </p:txBody>
      </p:sp>
      <p:sp>
        <p:nvSpPr>
          <p:cNvPr id="11" name="Text 8"/>
          <p:cNvSpPr/>
          <p:nvPr/>
        </p:nvSpPr>
        <p:spPr>
          <a:xfrm>
            <a:off x="685800" y="3931943"/>
            <a:ext cx="2348408"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Hides what follows until the learner clicks</a:t>
            </a:r>
            <a:endParaRPr lang="en-US" sz="1050" dirty="0"/>
          </a:p>
        </p:txBody>
      </p:sp>
      <p:sp>
        <p:nvSpPr>
          <p:cNvPr id="12" name="Shape 9"/>
          <p:cNvSpPr/>
          <p:nvPr/>
        </p:nvSpPr>
        <p:spPr>
          <a:xfrm>
            <a:off x="3390824" y="1890956"/>
            <a:ext cx="2586152" cy="2710328"/>
          </a:xfrm>
          <a:prstGeom prst="roundRect">
            <a:avLst>
              <a:gd name="adj" fmla="val 318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3" name="Image 1" descr="/home/user/parallelism/rise360-curriculum/day2/assets/block-screenshots/divider.png">    </p:cNvPr>
          <p:cNvPicPr>
            <a:picLocks noChangeAspect="1"/>
          </p:cNvPicPr>
          <p:nvPr/>
        </p:nvPicPr>
        <p:blipFill>
          <a:blip r:embed="rId2"/>
          <a:stretch>
            <a:fillRect/>
          </a:stretch>
        </p:blipFill>
        <p:spPr>
          <a:xfrm>
            <a:off x="3509696" y="2009828"/>
            <a:ext cx="2348408" cy="1629507"/>
          </a:xfrm>
          <a:prstGeom prst="rect">
            <a:avLst/>
          </a:prstGeom>
        </p:spPr>
      </p:pic>
      <p:sp>
        <p:nvSpPr>
          <p:cNvPr id="14" name="Text 10"/>
          <p:cNvSpPr/>
          <p:nvPr/>
        </p:nvSpPr>
        <p:spPr>
          <a:xfrm>
            <a:off x="3438373" y="3675911"/>
            <a:ext cx="2491054"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Divider</a:t>
            </a:r>
            <a:endParaRPr lang="en-US" sz="1150" dirty="0"/>
          </a:p>
        </p:txBody>
      </p:sp>
      <p:sp>
        <p:nvSpPr>
          <p:cNvPr id="15" name="Text 11"/>
          <p:cNvSpPr/>
          <p:nvPr/>
        </p:nvSpPr>
        <p:spPr>
          <a:xfrm>
            <a:off x="3509696" y="3931943"/>
            <a:ext cx="2348408"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A plain rule between sections</a:t>
            </a:r>
            <a:endParaRPr lang="en-US" sz="1050" dirty="0"/>
          </a:p>
        </p:txBody>
      </p:sp>
      <p:sp>
        <p:nvSpPr>
          <p:cNvPr id="16" name="Shape 12"/>
          <p:cNvSpPr/>
          <p:nvPr/>
        </p:nvSpPr>
        <p:spPr>
          <a:xfrm>
            <a:off x="6214720" y="1890956"/>
            <a:ext cx="2586152" cy="2710328"/>
          </a:xfrm>
          <a:prstGeom prst="roundRect">
            <a:avLst>
              <a:gd name="adj" fmla="val 318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17" name="Image 2" descr="/home/user/parallelism/rise360-curriculum/day2/assets/block-screenshots/numbered_divider.png">    </p:cNvPr>
          <p:cNvPicPr>
            <a:picLocks noChangeAspect="1"/>
          </p:cNvPicPr>
          <p:nvPr/>
        </p:nvPicPr>
        <p:blipFill>
          <a:blip r:embed="rId3"/>
          <a:stretch>
            <a:fillRect/>
          </a:stretch>
        </p:blipFill>
        <p:spPr>
          <a:xfrm>
            <a:off x="6333592" y="2009828"/>
            <a:ext cx="2348408" cy="1629507"/>
          </a:xfrm>
          <a:prstGeom prst="rect">
            <a:avLst/>
          </a:prstGeom>
        </p:spPr>
      </p:pic>
      <p:sp>
        <p:nvSpPr>
          <p:cNvPr id="18" name="Text 13"/>
          <p:cNvSpPr/>
          <p:nvPr/>
        </p:nvSpPr>
        <p:spPr>
          <a:xfrm>
            <a:off x="6262268" y="3675911"/>
            <a:ext cx="2491054"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Numbered Divider</a:t>
            </a:r>
            <a:endParaRPr lang="en-US" sz="1150" dirty="0"/>
          </a:p>
        </p:txBody>
      </p:sp>
      <p:sp>
        <p:nvSpPr>
          <p:cNvPr id="19" name="Text 14"/>
          <p:cNvSpPr/>
          <p:nvPr/>
        </p:nvSpPr>
        <p:spPr>
          <a:xfrm>
            <a:off x="6333592" y="3931943"/>
            <a:ext cx="2348408"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A rule with a step number — good for procedures</a:t>
            </a:r>
            <a:endParaRPr lang="en-US" sz="1050" dirty="0"/>
          </a:p>
        </p:txBody>
      </p:sp>
      <p:sp>
        <p:nvSpPr>
          <p:cNvPr id="20" name="Shape 15"/>
          <p:cNvSpPr/>
          <p:nvPr/>
        </p:nvSpPr>
        <p:spPr>
          <a:xfrm>
            <a:off x="9038615" y="1890956"/>
            <a:ext cx="2586152" cy="2710328"/>
          </a:xfrm>
          <a:prstGeom prst="roundRect">
            <a:avLst>
              <a:gd name="adj" fmla="val 318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pic>
        <p:nvPicPr>
          <p:cNvPr id="21" name="Image 3" descr="/home/user/parallelism/rise360-curriculum/day2/assets/block-screenshots/spacer.png">    </p:cNvPr>
          <p:cNvPicPr>
            <a:picLocks noChangeAspect="1"/>
          </p:cNvPicPr>
          <p:nvPr/>
        </p:nvPicPr>
        <p:blipFill>
          <a:blip r:embed="rId4"/>
          <a:stretch>
            <a:fillRect/>
          </a:stretch>
        </p:blipFill>
        <p:spPr>
          <a:xfrm>
            <a:off x="9157487" y="2009828"/>
            <a:ext cx="2348408" cy="1629507"/>
          </a:xfrm>
          <a:prstGeom prst="rect">
            <a:avLst/>
          </a:prstGeom>
        </p:spPr>
      </p:pic>
      <p:sp>
        <p:nvSpPr>
          <p:cNvPr id="22" name="Text 16"/>
          <p:cNvSpPr/>
          <p:nvPr/>
        </p:nvSpPr>
        <p:spPr>
          <a:xfrm>
            <a:off x="9086164" y="3675911"/>
            <a:ext cx="2491054" cy="256032"/>
          </a:xfrm>
          <a:prstGeom prst="rect">
            <a:avLst/>
          </a:prstGeom>
          <a:noFill/>
          <a:ln/>
        </p:spPr>
        <p:txBody>
          <a:bodyPr wrap="square" lIns="0" tIns="0" rIns="0" bIns="0" rtlCol="0" anchor="ctr"/>
          <a:lstStyle/>
          <a:p>
            <a:pPr algn="ctr" indent="0" marL="0">
              <a:buNone/>
            </a:pPr>
            <a:r>
              <a:rPr lang="en-US" sz="1150" b="1" dirty="0">
                <a:solidFill>
                  <a:srgbClr val="12161F"/>
                </a:solidFill>
                <a:latin typeface="Calibri" pitchFamily="34" charset="0"/>
                <a:ea typeface="Calibri" pitchFamily="34" charset="-122"/>
                <a:cs typeface="Calibri" pitchFamily="34" charset="-120"/>
              </a:rPr>
              <a:t>Spacer</a:t>
            </a:r>
            <a:endParaRPr lang="en-US" sz="1150" dirty="0"/>
          </a:p>
        </p:txBody>
      </p:sp>
      <p:sp>
        <p:nvSpPr>
          <p:cNvPr id="23" name="Text 17"/>
          <p:cNvSpPr/>
          <p:nvPr/>
        </p:nvSpPr>
        <p:spPr>
          <a:xfrm>
            <a:off x="9157487" y="3931943"/>
            <a:ext cx="2348408" cy="603504"/>
          </a:xfrm>
          <a:prstGeom prst="rect">
            <a:avLst/>
          </a:prstGeom>
          <a:noFill/>
          <a:ln/>
        </p:spPr>
        <p:txBody>
          <a:bodyPr wrap="square" lIns="0" tIns="0" rIns="0" bIns="0" rtlCol="0" anchor="t"/>
          <a:lstStyle/>
          <a:p>
            <a:pPr algn="ctr" indent="0" marL="0">
              <a:lnSpc>
                <a:spcPts val="1400"/>
              </a:lnSpc>
              <a:buNone/>
            </a:pPr>
            <a:r>
              <a:rPr lang="en-US" sz="1050" dirty="0">
                <a:solidFill>
                  <a:srgbClr val="5A6675"/>
                </a:solidFill>
                <a:latin typeface="Calibri" pitchFamily="34" charset="0"/>
                <a:ea typeface="Calibri" pitchFamily="34" charset="-122"/>
                <a:cs typeface="Calibri" pitchFamily="34" charset="-120"/>
              </a:rPr>
              <a:t>Pure white space when padding is not enough</a:t>
            </a:r>
            <a:endParaRPr lang="en-US" sz="1050" dirty="0"/>
          </a:p>
        </p:txBody>
      </p:sp>
      <p:sp>
        <p:nvSpPr>
          <p:cNvPr id="24" name="Shape 18"/>
          <p:cNvSpPr/>
          <p:nvPr/>
        </p:nvSpPr>
        <p:spPr>
          <a:xfrm>
            <a:off x="566928" y="5029200"/>
            <a:ext cx="11057839" cy="566928"/>
          </a:xfrm>
          <a:prstGeom prst="roundRect">
            <a:avLst>
              <a:gd name="adj" fmla="val 12903"/>
            </a:avLst>
          </a:prstGeom>
          <a:solidFill>
            <a:srgbClr val="FFF4EE"/>
          </a:solidFill>
          <a:ln w="9525">
            <a:solidFill>
              <a:srgbClr val="F6C7AC"/>
            </a:solidFill>
            <a:prstDash val="solid"/>
          </a:ln>
        </p:spPr>
      </p:sp>
      <p:sp>
        <p:nvSpPr>
          <p:cNvPr id="25" name="Shape 19"/>
          <p:cNvSpPr/>
          <p:nvPr/>
        </p:nvSpPr>
        <p:spPr>
          <a:xfrm>
            <a:off x="768096" y="5202936"/>
            <a:ext cx="219456" cy="219456"/>
          </a:xfrm>
          <a:prstGeom prst="ellipse">
            <a:avLst/>
          </a:prstGeom>
          <a:solidFill>
            <a:srgbClr val="ED6A2A"/>
          </a:solidFill>
          <a:ln/>
        </p:spPr>
      </p:sp>
      <p:sp>
        <p:nvSpPr>
          <p:cNvPr id="26" name="Text 20"/>
          <p:cNvSpPr/>
          <p:nvPr/>
        </p:nvSpPr>
        <p:spPr>
          <a:xfrm>
            <a:off x="1097280" y="5029200"/>
            <a:ext cx="10271455" cy="566928"/>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Continue is the one block here that changes behaviour: it stops the lesson until the learner clicks. Use it to gate, not to decorate.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THREE</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Layout &amp; polish</a:t>
            </a:r>
            <a:endParaRPr lang="en-US" sz="4000" dirty="0"/>
          </a:p>
        </p:txBody>
      </p:sp>
      <p:sp>
        <p:nvSpPr>
          <p:cNvPr id="4" name="Text 2"/>
          <p:cNvSpPr/>
          <p:nvPr/>
        </p:nvSpPr>
        <p:spPr>
          <a:xfrm>
            <a:off x="566928" y="3657600"/>
            <a:ext cx="5750076"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Padding, backgrounds, animation — the three settings that decide whether a good lesson looks good.</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2  ·  Blocks that carry your content</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Padding: the space above and below a block</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Open the design icon in the block’s upper-right corner. Padding is the first thing in the panel and the first thing people get wrong.</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19</a:t>
            </a:r>
            <a:endParaRPr lang="en-US" sz="950" dirty="0"/>
          </a:p>
        </p:txBody>
      </p:sp>
      <p:sp>
        <p:nvSpPr>
          <p:cNvPr id="6" name="Shape 4"/>
          <p:cNvSpPr/>
          <p:nvPr/>
        </p:nvSpPr>
        <p:spPr>
          <a:xfrm>
            <a:off x="566928" y="1783080"/>
            <a:ext cx="5300320" cy="3154680"/>
          </a:xfrm>
          <a:prstGeom prst="roundRect">
            <a:avLst>
              <a:gd name="adj" fmla="val 2609"/>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14400" y="2011680"/>
            <a:ext cx="4605376" cy="274320"/>
          </a:xfrm>
          <a:prstGeom prst="rect">
            <a:avLst/>
          </a:prstGeom>
          <a:noFill/>
          <a:ln/>
        </p:spPr>
        <p:txBody>
          <a:bodyPr wrap="square" lIns="0" tIns="0" rIns="0" bIns="0" rtlCol="0" anchor="ctr"/>
          <a:lstStyle/>
          <a:p>
            <a:pPr indent="0" marL="0">
              <a:buNone/>
            </a:pPr>
            <a:r>
              <a:rPr lang="en-US" sz="1100" b="1" spc="180" kern="0" dirty="0">
                <a:solidFill>
                  <a:srgbClr val="5A6675"/>
                </a:solidFill>
                <a:latin typeface="Calibri" pitchFamily="34" charset="0"/>
                <a:ea typeface="Calibri" pitchFamily="34" charset="-122"/>
                <a:cs typeface="Calibri" pitchFamily="34" charset="-120"/>
              </a:rPr>
              <a:t>THE NUMBERS</a:t>
            </a:r>
            <a:endParaRPr lang="en-US" sz="1100" dirty="0"/>
          </a:p>
        </p:txBody>
      </p:sp>
      <p:sp>
        <p:nvSpPr>
          <p:cNvPr id="8" name="Text 6"/>
          <p:cNvSpPr/>
          <p:nvPr/>
        </p:nvSpPr>
        <p:spPr>
          <a:xfrm>
            <a:off x="914400" y="2377440"/>
            <a:ext cx="1371600" cy="310896"/>
          </a:xfrm>
          <a:prstGeom prst="rect">
            <a:avLst/>
          </a:prstGeom>
          <a:noFill/>
          <a:ln/>
        </p:spPr>
        <p:txBody>
          <a:bodyPr wrap="square" lIns="0" tIns="0" rIns="0" bIns="0" rtlCol="0" anchor="ctr"/>
          <a:lstStyle/>
          <a:p>
            <a:pPr indent="0" marL="0">
              <a:buNone/>
            </a:pPr>
            <a:r>
              <a:rPr lang="en-US" sz="1700" b="1" dirty="0">
                <a:solidFill>
                  <a:srgbClr val="ED6A2A"/>
                </a:solidFill>
                <a:latin typeface="Cambria" pitchFamily="34" charset="0"/>
                <a:ea typeface="Cambria" pitchFamily="34" charset="-122"/>
                <a:cs typeface="Cambria" pitchFamily="34" charset="-120"/>
              </a:rPr>
              <a:t>30px</a:t>
            </a:r>
            <a:endParaRPr lang="en-US" sz="1700" dirty="0"/>
          </a:p>
        </p:txBody>
      </p:sp>
      <p:sp>
        <p:nvSpPr>
          <p:cNvPr id="9" name="Text 7"/>
          <p:cNvSpPr/>
          <p:nvPr/>
        </p:nvSpPr>
        <p:spPr>
          <a:xfrm>
            <a:off x="2350008" y="2377440"/>
            <a:ext cx="3169768" cy="402336"/>
          </a:xfrm>
          <a:prstGeom prst="rect">
            <a:avLst/>
          </a:prstGeom>
          <a:noFill/>
          <a:ln/>
        </p:spPr>
        <p:txBody>
          <a:bodyPr wrap="square" lIns="0" tIns="0" rIns="0" bIns="0" rtlCol="0" anchor="ctr"/>
          <a:lstStyle/>
          <a:p>
            <a:pPr indent="0" marL="0">
              <a:lnSpc>
                <a:spcPts val="1600"/>
              </a:lnSpc>
              <a:buNone/>
            </a:pPr>
            <a:r>
              <a:rPr lang="en-US" sz="1250" dirty="0">
                <a:solidFill>
                  <a:srgbClr val="5A6675"/>
                </a:solidFill>
                <a:latin typeface="Calibri" pitchFamily="34" charset="0"/>
                <a:ea typeface="Calibri" pitchFamily="34" charset="-122"/>
                <a:cs typeface="Calibri" pitchFamily="34" charset="-120"/>
              </a:rPr>
              <a:t>the default — Articulate calls this “plenty of breathing room”</a:t>
            </a:r>
            <a:endParaRPr lang="en-US" sz="1250" dirty="0"/>
          </a:p>
        </p:txBody>
      </p:sp>
      <p:sp>
        <p:nvSpPr>
          <p:cNvPr id="10" name="Text 8"/>
          <p:cNvSpPr/>
          <p:nvPr/>
        </p:nvSpPr>
        <p:spPr>
          <a:xfrm>
            <a:off x="914400" y="2889504"/>
            <a:ext cx="1371600" cy="310896"/>
          </a:xfrm>
          <a:prstGeom prst="rect">
            <a:avLst/>
          </a:prstGeom>
          <a:noFill/>
          <a:ln/>
        </p:spPr>
        <p:txBody>
          <a:bodyPr wrap="square" lIns="0" tIns="0" rIns="0" bIns="0" rtlCol="0" anchor="ctr"/>
          <a:lstStyle/>
          <a:p>
            <a:pPr indent="0" marL="0">
              <a:buNone/>
            </a:pPr>
            <a:r>
              <a:rPr lang="en-US" sz="1700" b="1" dirty="0">
                <a:solidFill>
                  <a:srgbClr val="ED6A2A"/>
                </a:solidFill>
                <a:latin typeface="Cambria" pitchFamily="34" charset="0"/>
                <a:ea typeface="Cambria" pitchFamily="34" charset="-122"/>
                <a:cs typeface="Cambria" pitchFamily="34" charset="-120"/>
              </a:rPr>
              <a:t>200px</a:t>
            </a:r>
            <a:endParaRPr lang="en-US" sz="1700" dirty="0"/>
          </a:p>
        </p:txBody>
      </p:sp>
      <p:sp>
        <p:nvSpPr>
          <p:cNvPr id="11" name="Text 9"/>
          <p:cNvSpPr/>
          <p:nvPr/>
        </p:nvSpPr>
        <p:spPr>
          <a:xfrm>
            <a:off x="2350008" y="2889504"/>
            <a:ext cx="3169768" cy="402336"/>
          </a:xfrm>
          <a:prstGeom prst="rect">
            <a:avLst/>
          </a:prstGeom>
          <a:noFill/>
          <a:ln/>
        </p:spPr>
        <p:txBody>
          <a:bodyPr wrap="square" lIns="0" tIns="0" rIns="0" bIns="0" rtlCol="0" anchor="ctr"/>
          <a:lstStyle/>
          <a:p>
            <a:pPr indent="0" marL="0">
              <a:lnSpc>
                <a:spcPts val="1600"/>
              </a:lnSpc>
              <a:buNone/>
            </a:pPr>
            <a:r>
              <a:rPr lang="en-US" sz="1250" dirty="0">
                <a:solidFill>
                  <a:srgbClr val="5A6675"/>
                </a:solidFill>
                <a:latin typeface="Calibri" pitchFamily="34" charset="0"/>
                <a:ea typeface="Calibri" pitchFamily="34" charset="-122"/>
                <a:cs typeface="Calibri" pitchFamily="34" charset="-120"/>
              </a:rPr>
              <a:t>the current maximum in the Format menu</a:t>
            </a:r>
            <a:endParaRPr lang="en-US" sz="1250" dirty="0"/>
          </a:p>
        </p:txBody>
      </p:sp>
      <p:sp>
        <p:nvSpPr>
          <p:cNvPr id="12" name="Text 10"/>
          <p:cNvSpPr/>
          <p:nvPr/>
        </p:nvSpPr>
        <p:spPr>
          <a:xfrm>
            <a:off x="914400" y="3401568"/>
            <a:ext cx="1371600" cy="310896"/>
          </a:xfrm>
          <a:prstGeom prst="rect">
            <a:avLst/>
          </a:prstGeom>
          <a:noFill/>
          <a:ln/>
        </p:spPr>
        <p:txBody>
          <a:bodyPr wrap="square" lIns="0" tIns="0" rIns="0" bIns="0" rtlCol="0" anchor="ctr"/>
          <a:lstStyle/>
          <a:p>
            <a:pPr indent="0" marL="0">
              <a:buNone/>
            </a:pPr>
            <a:r>
              <a:rPr lang="en-US" sz="1700" b="1" dirty="0">
                <a:solidFill>
                  <a:srgbClr val="ED6A2A"/>
                </a:solidFill>
                <a:latin typeface="Cambria" pitchFamily="34" charset="0"/>
                <a:ea typeface="Cambria" pitchFamily="34" charset="-122"/>
                <a:cs typeface="Cambria" pitchFamily="34" charset="-120"/>
              </a:rPr>
              <a:t>0px</a:t>
            </a:r>
            <a:endParaRPr lang="en-US" sz="1700" dirty="0"/>
          </a:p>
        </p:txBody>
      </p:sp>
      <p:sp>
        <p:nvSpPr>
          <p:cNvPr id="13" name="Text 11"/>
          <p:cNvSpPr/>
          <p:nvPr/>
        </p:nvSpPr>
        <p:spPr>
          <a:xfrm>
            <a:off x="2350008" y="3401568"/>
            <a:ext cx="3169768" cy="402336"/>
          </a:xfrm>
          <a:prstGeom prst="rect">
            <a:avLst/>
          </a:prstGeom>
          <a:noFill/>
          <a:ln/>
        </p:spPr>
        <p:txBody>
          <a:bodyPr wrap="square" lIns="0" tIns="0" rIns="0" bIns="0" rtlCol="0" anchor="ctr"/>
          <a:lstStyle/>
          <a:p>
            <a:pPr indent="0" marL="0">
              <a:lnSpc>
                <a:spcPts val="1600"/>
              </a:lnSpc>
              <a:buNone/>
            </a:pPr>
            <a:r>
              <a:rPr lang="en-US" sz="1250" dirty="0">
                <a:solidFill>
                  <a:srgbClr val="5A6675"/>
                </a:solidFill>
                <a:latin typeface="Calibri" pitchFamily="34" charset="0"/>
                <a:ea typeface="Calibri" pitchFamily="34" charset="-122"/>
                <a:cs typeface="Calibri" pitchFamily="34" charset="-120"/>
              </a:rPr>
              <a:t>no padding at all, for blocks meant to touch</a:t>
            </a:r>
            <a:endParaRPr lang="en-US" sz="1250" dirty="0"/>
          </a:p>
        </p:txBody>
      </p:sp>
      <p:sp>
        <p:nvSpPr>
          <p:cNvPr id="14" name="Text 12"/>
          <p:cNvSpPr/>
          <p:nvPr/>
        </p:nvSpPr>
        <p:spPr>
          <a:xfrm>
            <a:off x="914400" y="3913632"/>
            <a:ext cx="1371600" cy="310896"/>
          </a:xfrm>
          <a:prstGeom prst="rect">
            <a:avLst/>
          </a:prstGeom>
          <a:noFill/>
          <a:ln/>
        </p:spPr>
        <p:txBody>
          <a:bodyPr wrap="square" lIns="0" tIns="0" rIns="0" bIns="0" rtlCol="0" anchor="ctr"/>
          <a:lstStyle/>
          <a:p>
            <a:pPr indent="0" marL="0">
              <a:buNone/>
            </a:pPr>
            <a:r>
              <a:rPr lang="en-US" sz="1700" b="1" dirty="0">
                <a:solidFill>
                  <a:srgbClr val="ED6A2A"/>
                </a:solidFill>
                <a:latin typeface="Cambria" pitchFamily="34" charset="0"/>
                <a:ea typeface="Cambria" pitchFamily="34" charset="-122"/>
                <a:cs typeface="Cambria" pitchFamily="34" charset="-120"/>
              </a:rPr>
              <a:t>S / M / L</a:t>
            </a:r>
            <a:endParaRPr lang="en-US" sz="1700" dirty="0"/>
          </a:p>
        </p:txBody>
      </p:sp>
      <p:sp>
        <p:nvSpPr>
          <p:cNvPr id="15" name="Text 13"/>
          <p:cNvSpPr/>
          <p:nvPr/>
        </p:nvSpPr>
        <p:spPr>
          <a:xfrm>
            <a:off x="2350008" y="3913632"/>
            <a:ext cx="3169768" cy="402336"/>
          </a:xfrm>
          <a:prstGeom prst="rect">
            <a:avLst/>
          </a:prstGeom>
          <a:noFill/>
          <a:ln/>
        </p:spPr>
        <p:txBody>
          <a:bodyPr wrap="square" lIns="0" tIns="0" rIns="0" bIns="0" rtlCol="0" anchor="ctr"/>
          <a:lstStyle/>
          <a:p>
            <a:pPr indent="0" marL="0">
              <a:lnSpc>
                <a:spcPts val="1600"/>
              </a:lnSpc>
              <a:buNone/>
            </a:pPr>
            <a:r>
              <a:rPr lang="en-US" sz="1250" dirty="0">
                <a:solidFill>
                  <a:srgbClr val="5A6675"/>
                </a:solidFill>
                <a:latin typeface="Calibri" pitchFamily="34" charset="0"/>
                <a:ea typeface="Calibri" pitchFamily="34" charset="-122"/>
                <a:cs typeface="Calibri" pitchFamily="34" charset="-120"/>
              </a:rPr>
              <a:t>presets; exact pixel values still live under “more”</a:t>
            </a:r>
            <a:endParaRPr lang="en-US" sz="1250" dirty="0"/>
          </a:p>
        </p:txBody>
      </p:sp>
      <p:sp>
        <p:nvSpPr>
          <p:cNvPr id="16" name="Shape 14"/>
          <p:cNvSpPr/>
          <p:nvPr/>
        </p:nvSpPr>
        <p:spPr>
          <a:xfrm>
            <a:off x="6324448" y="1783080"/>
            <a:ext cx="5300320" cy="3154680"/>
          </a:xfrm>
          <a:prstGeom prst="roundRect">
            <a:avLst>
              <a:gd name="adj" fmla="val 2609"/>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7" name="Text 15"/>
          <p:cNvSpPr/>
          <p:nvPr/>
        </p:nvSpPr>
        <p:spPr>
          <a:xfrm>
            <a:off x="6671920" y="2011680"/>
            <a:ext cx="4605376" cy="274320"/>
          </a:xfrm>
          <a:prstGeom prst="rect">
            <a:avLst/>
          </a:prstGeom>
          <a:noFill/>
          <a:ln/>
        </p:spPr>
        <p:txBody>
          <a:bodyPr wrap="square" lIns="0" tIns="0" rIns="0" bIns="0" rtlCol="0" anchor="ctr"/>
          <a:lstStyle/>
          <a:p>
            <a:pPr indent="0" marL="0">
              <a:buNone/>
            </a:pPr>
            <a:r>
              <a:rPr lang="en-US" sz="1100" b="1" spc="180" kern="0" dirty="0">
                <a:solidFill>
                  <a:srgbClr val="ED6A2A"/>
                </a:solidFill>
                <a:latin typeface="Calibri" pitchFamily="34" charset="0"/>
                <a:ea typeface="Calibri" pitchFamily="34" charset="-122"/>
                <a:cs typeface="Calibri" pitchFamily="34" charset="-120"/>
              </a:rPr>
              <a:t>THE RULE THAT MATTERS</a:t>
            </a:r>
            <a:endParaRPr lang="en-US" sz="1100" dirty="0"/>
          </a:p>
        </p:txBody>
      </p:sp>
      <p:sp>
        <p:nvSpPr>
          <p:cNvPr id="18" name="Text 16"/>
          <p:cNvSpPr/>
          <p:nvPr/>
        </p:nvSpPr>
        <p:spPr>
          <a:xfrm>
            <a:off x="6671920" y="2340864"/>
            <a:ext cx="4605376" cy="841248"/>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Consistency beats any particular value.</a:t>
            </a:r>
            <a:endParaRPr lang="en-US" sz="2100" dirty="0"/>
          </a:p>
        </p:txBody>
      </p:sp>
      <p:sp>
        <p:nvSpPr>
          <p:cNvPr id="19" name="Text 17"/>
          <p:cNvSpPr/>
          <p:nvPr/>
        </p:nvSpPr>
        <p:spPr>
          <a:xfrm>
            <a:off x="6671920" y="3200400"/>
            <a:ext cx="4605376" cy="1645920"/>
          </a:xfrm>
          <a:prstGeom prst="rect">
            <a:avLst/>
          </a:prstGeom>
          <a:noFill/>
          <a:ln/>
        </p:spPr>
        <p:txBody>
          <a:bodyPr wrap="square" lIns="0" tIns="0" rIns="0" bIns="0" rtlCol="0" anchor="t"/>
          <a:lstStyle/>
          <a:p>
            <a:pPr indent="0" marL="0">
              <a:lnSpc>
                <a:spcPts val="1900"/>
              </a:lnSpc>
              <a:buNone/>
            </a:pPr>
            <a:r>
              <a:rPr lang="en-US" sz="1300" dirty="0">
                <a:solidFill>
                  <a:srgbClr val="A9B3C0"/>
                </a:solidFill>
                <a:latin typeface="Calibri" pitchFamily="34" charset="0"/>
                <a:ea typeface="Calibri" pitchFamily="34" charset="-122"/>
                <a:cs typeface="Calibri" pitchFamily="34" charset="-120"/>
              </a:rPr>
              <a:t>A course where every block sits at 30px looks deliberate. A course where padding wanders between 20, 45 and 60 looks broken, even though no single block is wrong.</a:t>
            </a:r>
            <a:endParaRPr lang="en-US" sz="1300" dirty="0"/>
          </a:p>
          <a:p>
            <a:pPr indent="0" marL="0">
              <a:lnSpc>
                <a:spcPts val="1900"/>
              </a:lnSpc>
              <a:buNone/>
            </a:pPr>
            <a:endParaRPr lang="en-US" sz="1300" dirty="0"/>
          </a:p>
          <a:p>
            <a:pPr indent="0" marL="0">
              <a:lnSpc>
                <a:spcPts val="1900"/>
              </a:lnSpc>
              <a:buNone/>
            </a:pPr>
            <a:r>
              <a:rPr lang="en-US" sz="1300" dirty="0">
                <a:solidFill>
                  <a:srgbClr val="A9B3C0"/>
                </a:solidFill>
                <a:latin typeface="Calibri" pitchFamily="34" charset="0"/>
                <a:ea typeface="Calibri" pitchFamily="34" charset="-122"/>
                <a:cs typeface="Calibri" pitchFamily="34" charset="-120"/>
              </a:rPr>
              <a:t>Pick a value. Use it everywhere. Change it only when you mean something by it.</a:t>
            </a:r>
            <a:endParaRPr lang="en-US" sz="1300" dirty="0"/>
          </a:p>
        </p:txBody>
      </p:sp>
      <p:sp>
        <p:nvSpPr>
          <p:cNvPr id="20" name="Shape 18"/>
          <p:cNvSpPr/>
          <p:nvPr/>
        </p:nvSpPr>
        <p:spPr>
          <a:xfrm>
            <a:off x="566928" y="5102352"/>
            <a:ext cx="11057839" cy="1060704"/>
          </a:xfrm>
          <a:prstGeom prst="roundRect">
            <a:avLst>
              <a:gd name="adj" fmla="val 7759"/>
            </a:avLst>
          </a:prstGeom>
          <a:solidFill>
            <a:srgbClr val="FFF4EE"/>
          </a:solidFill>
          <a:ln w="9525">
            <a:solidFill>
              <a:srgbClr val="F6C7AC"/>
            </a:solidFill>
            <a:prstDash val="solid"/>
          </a:ln>
        </p:spPr>
      </p:sp>
      <p:sp>
        <p:nvSpPr>
          <p:cNvPr id="21" name="Text 19"/>
          <p:cNvSpPr/>
          <p:nvPr/>
        </p:nvSpPr>
        <p:spPr>
          <a:xfrm>
            <a:off x="914400" y="5102352"/>
            <a:ext cx="10362895" cy="1060704"/>
          </a:xfrm>
          <a:prstGeom prst="rect">
            <a:avLst/>
          </a:prstGeom>
          <a:noFill/>
          <a:ln/>
        </p:spPr>
        <p:txBody>
          <a:bodyPr wrap="square" lIns="0" tIns="0" rIns="0" bIns="0" rtlCol="0" anchor="ctr"/>
          <a:lstStyle/>
          <a:p>
            <a:pPr indent="0" marL="0">
              <a:lnSpc>
                <a:spcPts val="1800"/>
              </a:lnSpc>
              <a:buNone/>
            </a:pPr>
            <a:r>
              <a:rPr lang="en-US" sz="1250" b="1" dirty="0">
                <a:solidFill>
                  <a:srgbClr val="7A3F1C"/>
                </a:solidFill>
                <a:latin typeface="Calibri" pitchFamily="34" charset="0"/>
                <a:ea typeface="Calibri" pitchFamily="34" charset="-122"/>
                <a:cs typeface="Calibri" pitchFamily="34" charset="-120"/>
              </a:rPr>
              <a:t>Documentation lag, worth knowing.  </a:t>
            </a:r>
            <a:pPr indent="0" marL="0">
              <a:lnSpc>
                <a:spcPts val="1800"/>
              </a:lnSpc>
              <a:buNone/>
            </a:pPr>
            <a:r>
              <a:rPr lang="en-US" sz="1250" dirty="0">
                <a:solidFill>
                  <a:srgbClr val="7A3F1C"/>
                </a:solidFill>
                <a:latin typeface="Calibri" pitchFamily="34" charset="0"/>
                <a:ea typeface="Calibri" pitchFamily="34" charset="-122"/>
                <a:cs typeface="Calibri" pitchFamily="34" charset="-120"/>
              </a:rPr>
              <a:t>Older Articulate help pages describe a 0–100px range from the legacy sidebar Settings tab. The current Format menu goes to 200px. When a help article and the interface disagree, the interface is right — Rise ships faster than its documentation. Teach people to check the live UI rather than trust a screenshot in an article.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Backgrounds and contrast</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The same panel fills a block’s white space — with a colour, a theme tint, or an image.</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20</a:t>
            </a:r>
            <a:endParaRPr lang="en-US" sz="950" dirty="0"/>
          </a:p>
        </p:txBody>
      </p:sp>
      <p:sp>
        <p:nvSpPr>
          <p:cNvPr id="6" name="Shape 4"/>
          <p:cNvSpPr/>
          <p:nvPr/>
        </p:nvSpPr>
        <p:spPr>
          <a:xfrm>
            <a:off x="566928" y="1783080"/>
            <a:ext cx="3442106" cy="1737360"/>
          </a:xfrm>
          <a:prstGeom prst="roundRect">
            <a:avLst>
              <a:gd name="adj" fmla="val 473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59536" y="1975104"/>
            <a:ext cx="2856890" cy="365760"/>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Colour</a:t>
            </a:r>
            <a:endParaRPr lang="en-US" sz="1900" dirty="0"/>
          </a:p>
        </p:txBody>
      </p:sp>
      <p:sp>
        <p:nvSpPr>
          <p:cNvPr id="8" name="Text 6"/>
          <p:cNvSpPr/>
          <p:nvPr/>
        </p:nvSpPr>
        <p:spPr>
          <a:xfrm>
            <a:off x="859536" y="2377440"/>
            <a:ext cx="2856890" cy="960120"/>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Type a hex code, pick manually, or take a theme colour or a tint of one.</a:t>
            </a:r>
            <a:endParaRPr lang="en-US" sz="1250" dirty="0"/>
          </a:p>
        </p:txBody>
      </p:sp>
      <p:sp>
        <p:nvSpPr>
          <p:cNvPr id="9" name="Shape 7"/>
          <p:cNvSpPr/>
          <p:nvPr/>
        </p:nvSpPr>
        <p:spPr>
          <a:xfrm>
            <a:off x="4374794" y="1783080"/>
            <a:ext cx="3442106" cy="1737360"/>
          </a:xfrm>
          <a:prstGeom prst="roundRect">
            <a:avLst>
              <a:gd name="adj" fmla="val 473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0" name="Text 8"/>
          <p:cNvSpPr/>
          <p:nvPr/>
        </p:nvSpPr>
        <p:spPr>
          <a:xfrm>
            <a:off x="4667402" y="1975104"/>
            <a:ext cx="2856890" cy="365760"/>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Image</a:t>
            </a:r>
            <a:endParaRPr lang="en-US" sz="1900" dirty="0"/>
          </a:p>
        </p:txBody>
      </p:sp>
      <p:sp>
        <p:nvSpPr>
          <p:cNvPr id="11" name="Text 9"/>
          <p:cNvSpPr/>
          <p:nvPr/>
        </p:nvSpPr>
        <p:spPr>
          <a:xfrm>
            <a:off x="4667402" y="2377440"/>
            <a:ext cx="2856890" cy="960120"/>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A photo behind the block’s content. Handy behind a statement; risky behind a paragraph.</a:t>
            </a:r>
            <a:endParaRPr lang="en-US" sz="1250" dirty="0"/>
          </a:p>
        </p:txBody>
      </p:sp>
      <p:sp>
        <p:nvSpPr>
          <p:cNvPr id="12" name="Shape 10"/>
          <p:cNvSpPr/>
          <p:nvPr/>
        </p:nvSpPr>
        <p:spPr>
          <a:xfrm>
            <a:off x="8182661" y="1783080"/>
            <a:ext cx="3442106" cy="1737360"/>
          </a:xfrm>
          <a:prstGeom prst="roundRect">
            <a:avLst>
              <a:gd name="adj" fmla="val 473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3" name="Text 11"/>
          <p:cNvSpPr/>
          <p:nvPr/>
        </p:nvSpPr>
        <p:spPr>
          <a:xfrm>
            <a:off x="8475269" y="1975104"/>
            <a:ext cx="2856890" cy="365760"/>
          </a:xfrm>
          <a:prstGeom prst="rect">
            <a:avLst/>
          </a:prstGeom>
          <a:noFill/>
          <a:ln/>
        </p:spPr>
        <p:txBody>
          <a:bodyPr wrap="square" lIns="0" tIns="0" rIns="0" bIns="0" rtlCol="0" anchor="ctr"/>
          <a:lstStyle/>
          <a:p>
            <a:pPr indent="0" marL="0">
              <a:buNone/>
            </a:pPr>
            <a:r>
              <a:rPr lang="en-US" sz="1900" b="1" dirty="0">
                <a:solidFill>
                  <a:srgbClr val="12161F"/>
                </a:solidFill>
                <a:latin typeface="Cambria" pitchFamily="34" charset="0"/>
                <a:ea typeface="Cambria" pitchFamily="34" charset="-122"/>
                <a:cs typeface="Cambria" pitchFamily="34" charset="-120"/>
              </a:rPr>
              <a:t>Contrast</a:t>
            </a:r>
            <a:endParaRPr lang="en-US" sz="1900" dirty="0"/>
          </a:p>
        </p:txBody>
      </p:sp>
      <p:sp>
        <p:nvSpPr>
          <p:cNvPr id="14" name="Text 12"/>
          <p:cNvSpPr/>
          <p:nvPr/>
        </p:nvSpPr>
        <p:spPr>
          <a:xfrm>
            <a:off x="8475269" y="2377440"/>
            <a:ext cx="2856890" cy="960120"/>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Auto, Light or Dark, set per block. Auto guesses from the background; override it when the guess is wrong.</a:t>
            </a:r>
            <a:endParaRPr lang="en-US" sz="1250" dirty="0"/>
          </a:p>
        </p:txBody>
      </p:sp>
      <p:sp>
        <p:nvSpPr>
          <p:cNvPr id="15" name="Shape 13"/>
          <p:cNvSpPr/>
          <p:nvPr/>
        </p:nvSpPr>
        <p:spPr>
          <a:xfrm>
            <a:off x="566928" y="3767328"/>
            <a:ext cx="5300320" cy="2377440"/>
          </a:xfrm>
          <a:prstGeom prst="roundRect">
            <a:avLst>
              <a:gd name="adj" fmla="val 346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6" name="Text 14"/>
          <p:cNvSpPr/>
          <p:nvPr/>
        </p:nvSpPr>
        <p:spPr>
          <a:xfrm>
            <a:off x="841248" y="3913632"/>
            <a:ext cx="4751680" cy="274320"/>
          </a:xfrm>
          <a:prstGeom prst="rect">
            <a:avLst/>
          </a:prstGeom>
          <a:noFill/>
          <a:ln/>
        </p:spPr>
        <p:txBody>
          <a:bodyPr wrap="square" lIns="0" tIns="0" rIns="0" bIns="0" rtlCol="0" anchor="ctr"/>
          <a:lstStyle/>
          <a:p>
            <a:pPr indent="0" marL="0">
              <a:buNone/>
            </a:pPr>
            <a:r>
              <a:rPr lang="en-US" sz="1250" b="1" dirty="0">
                <a:solidFill>
                  <a:srgbClr val="B23B23"/>
                </a:solidFill>
                <a:latin typeface="Calibri" pitchFamily="34" charset="0"/>
                <a:ea typeface="Calibri" pitchFamily="34" charset="-122"/>
                <a:cs typeface="Calibri" pitchFamily="34" charset="-120"/>
              </a:rPr>
              <a:t>Banding — what to avoid</a:t>
            </a:r>
            <a:endParaRPr lang="en-US" sz="1250" dirty="0"/>
          </a:p>
        </p:txBody>
      </p:sp>
      <p:sp>
        <p:nvSpPr>
          <p:cNvPr id="17" name="Shape 15"/>
          <p:cNvSpPr/>
          <p:nvPr/>
        </p:nvSpPr>
        <p:spPr>
          <a:xfrm>
            <a:off x="841248" y="4279392"/>
            <a:ext cx="4751680" cy="329184"/>
          </a:xfrm>
          <a:prstGeom prst="rect">
            <a:avLst/>
          </a:prstGeom>
          <a:solidFill>
            <a:srgbClr val="E8EDF3"/>
          </a:solidFill>
          <a:ln w="9525">
            <a:solidFill>
              <a:srgbClr val="E2E6EB"/>
            </a:solidFill>
            <a:prstDash val="solid"/>
          </a:ln>
        </p:spPr>
      </p:sp>
      <p:sp>
        <p:nvSpPr>
          <p:cNvPr id="18" name="Shape 16"/>
          <p:cNvSpPr/>
          <p:nvPr/>
        </p:nvSpPr>
        <p:spPr>
          <a:xfrm>
            <a:off x="841248" y="4645152"/>
            <a:ext cx="4751680" cy="329184"/>
          </a:xfrm>
          <a:prstGeom prst="rect">
            <a:avLst/>
          </a:prstGeom>
          <a:solidFill>
            <a:srgbClr val="FFFFFF"/>
          </a:solidFill>
          <a:ln w="9525">
            <a:solidFill>
              <a:srgbClr val="E2E6EB"/>
            </a:solidFill>
            <a:prstDash val="solid"/>
          </a:ln>
        </p:spPr>
      </p:sp>
      <p:sp>
        <p:nvSpPr>
          <p:cNvPr id="19" name="Shape 17"/>
          <p:cNvSpPr/>
          <p:nvPr/>
        </p:nvSpPr>
        <p:spPr>
          <a:xfrm>
            <a:off x="841248" y="5010912"/>
            <a:ext cx="4751680" cy="329184"/>
          </a:xfrm>
          <a:prstGeom prst="rect">
            <a:avLst/>
          </a:prstGeom>
          <a:solidFill>
            <a:srgbClr val="E8EDF3"/>
          </a:solidFill>
          <a:ln w="9525">
            <a:solidFill>
              <a:srgbClr val="E2E6EB"/>
            </a:solidFill>
            <a:prstDash val="solid"/>
          </a:ln>
        </p:spPr>
      </p:sp>
      <p:sp>
        <p:nvSpPr>
          <p:cNvPr id="20" name="Shape 18"/>
          <p:cNvSpPr/>
          <p:nvPr/>
        </p:nvSpPr>
        <p:spPr>
          <a:xfrm>
            <a:off x="841248" y="5376672"/>
            <a:ext cx="4751680" cy="329184"/>
          </a:xfrm>
          <a:prstGeom prst="rect">
            <a:avLst/>
          </a:prstGeom>
          <a:solidFill>
            <a:srgbClr val="FFFFFF"/>
          </a:solidFill>
          <a:ln w="9525">
            <a:solidFill>
              <a:srgbClr val="E2E6EB"/>
            </a:solidFill>
            <a:prstDash val="solid"/>
          </a:ln>
        </p:spPr>
      </p:sp>
      <p:sp>
        <p:nvSpPr>
          <p:cNvPr id="21" name="Text 19"/>
          <p:cNvSpPr/>
          <p:nvPr/>
        </p:nvSpPr>
        <p:spPr>
          <a:xfrm>
            <a:off x="841248" y="5724144"/>
            <a:ext cx="4751680" cy="310896"/>
          </a:xfrm>
          <a:prstGeom prst="rect">
            <a:avLst/>
          </a:prstGeom>
          <a:noFill/>
          <a:ln/>
        </p:spPr>
        <p:txBody>
          <a:bodyPr wrap="square" lIns="0" tIns="0" rIns="0" bIns="0" rtlCol="0" anchor="ctr"/>
          <a:lstStyle/>
          <a:p>
            <a:pPr indent="0" marL="0">
              <a:buNone/>
            </a:pPr>
            <a:r>
              <a:rPr lang="en-US" sz="1100" i="1" dirty="0">
                <a:solidFill>
                  <a:srgbClr val="5A6675"/>
                </a:solidFill>
                <a:latin typeface="Calibri" pitchFamily="34" charset="0"/>
                <a:ea typeface="Calibri" pitchFamily="34" charset="-122"/>
                <a:cs typeface="Calibri" pitchFamily="34" charset="-120"/>
              </a:rPr>
              <a:t>Alternating fills stripe the page and flatten the hierarchy.</a:t>
            </a:r>
            <a:endParaRPr lang="en-US" sz="1100" dirty="0"/>
          </a:p>
        </p:txBody>
      </p:sp>
      <p:sp>
        <p:nvSpPr>
          <p:cNvPr id="22" name="Shape 20"/>
          <p:cNvSpPr/>
          <p:nvPr/>
        </p:nvSpPr>
        <p:spPr>
          <a:xfrm>
            <a:off x="6324448" y="3767328"/>
            <a:ext cx="5300320" cy="2377440"/>
          </a:xfrm>
          <a:prstGeom prst="roundRect">
            <a:avLst>
              <a:gd name="adj" fmla="val 3462"/>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3" name="Text 21"/>
          <p:cNvSpPr/>
          <p:nvPr/>
        </p:nvSpPr>
        <p:spPr>
          <a:xfrm>
            <a:off x="6598768" y="3913632"/>
            <a:ext cx="4751680" cy="274320"/>
          </a:xfrm>
          <a:prstGeom prst="rect">
            <a:avLst/>
          </a:prstGeom>
          <a:noFill/>
          <a:ln/>
        </p:spPr>
        <p:txBody>
          <a:bodyPr wrap="square" lIns="0" tIns="0" rIns="0" bIns="0" rtlCol="0" anchor="ctr"/>
          <a:lstStyle/>
          <a:p>
            <a:pPr indent="0" marL="0">
              <a:buNone/>
            </a:pPr>
            <a:r>
              <a:rPr lang="en-US" sz="1250" b="1" dirty="0">
                <a:solidFill>
                  <a:srgbClr val="2E7D5B"/>
                </a:solidFill>
                <a:latin typeface="Calibri" pitchFamily="34" charset="0"/>
                <a:ea typeface="Calibri" pitchFamily="34" charset="-122"/>
                <a:cs typeface="Calibri" pitchFamily="34" charset="-120"/>
              </a:rPr>
              <a:t>Grouping — what to do instead</a:t>
            </a:r>
            <a:endParaRPr lang="en-US" sz="1250" dirty="0"/>
          </a:p>
        </p:txBody>
      </p:sp>
      <p:sp>
        <p:nvSpPr>
          <p:cNvPr id="24" name="Shape 22"/>
          <p:cNvSpPr/>
          <p:nvPr/>
        </p:nvSpPr>
        <p:spPr>
          <a:xfrm>
            <a:off x="6598768" y="4279392"/>
            <a:ext cx="4751680" cy="329184"/>
          </a:xfrm>
          <a:prstGeom prst="rect">
            <a:avLst/>
          </a:prstGeom>
          <a:solidFill>
            <a:srgbClr val="FFFFFF"/>
          </a:solidFill>
          <a:ln w="9525">
            <a:solidFill>
              <a:srgbClr val="E2E6EB"/>
            </a:solidFill>
            <a:prstDash val="solid"/>
          </a:ln>
        </p:spPr>
      </p:sp>
      <p:sp>
        <p:nvSpPr>
          <p:cNvPr id="25" name="Shape 23"/>
          <p:cNvSpPr/>
          <p:nvPr/>
        </p:nvSpPr>
        <p:spPr>
          <a:xfrm>
            <a:off x="6598768" y="4645152"/>
            <a:ext cx="4751680" cy="329184"/>
          </a:xfrm>
          <a:prstGeom prst="rect">
            <a:avLst/>
          </a:prstGeom>
          <a:solidFill>
            <a:srgbClr val="E8EDF3"/>
          </a:solidFill>
          <a:ln w="9525">
            <a:solidFill>
              <a:srgbClr val="E2E6EB"/>
            </a:solidFill>
            <a:prstDash val="solid"/>
          </a:ln>
        </p:spPr>
      </p:sp>
      <p:sp>
        <p:nvSpPr>
          <p:cNvPr id="26" name="Shape 24"/>
          <p:cNvSpPr/>
          <p:nvPr/>
        </p:nvSpPr>
        <p:spPr>
          <a:xfrm>
            <a:off x="6598768" y="5010912"/>
            <a:ext cx="4751680" cy="329184"/>
          </a:xfrm>
          <a:prstGeom prst="rect">
            <a:avLst/>
          </a:prstGeom>
          <a:solidFill>
            <a:srgbClr val="E8EDF3"/>
          </a:solidFill>
          <a:ln w="9525">
            <a:solidFill>
              <a:srgbClr val="E2E6EB"/>
            </a:solidFill>
            <a:prstDash val="solid"/>
          </a:ln>
        </p:spPr>
      </p:sp>
      <p:sp>
        <p:nvSpPr>
          <p:cNvPr id="27" name="Shape 25"/>
          <p:cNvSpPr/>
          <p:nvPr/>
        </p:nvSpPr>
        <p:spPr>
          <a:xfrm>
            <a:off x="6598768" y="5376672"/>
            <a:ext cx="4751680" cy="329184"/>
          </a:xfrm>
          <a:prstGeom prst="rect">
            <a:avLst/>
          </a:prstGeom>
          <a:solidFill>
            <a:srgbClr val="FFFFFF"/>
          </a:solidFill>
          <a:ln w="9525">
            <a:solidFill>
              <a:srgbClr val="E2E6EB"/>
            </a:solidFill>
            <a:prstDash val="solid"/>
          </a:ln>
        </p:spPr>
      </p:sp>
      <p:sp>
        <p:nvSpPr>
          <p:cNvPr id="28" name="Text 26"/>
          <p:cNvSpPr/>
          <p:nvPr/>
        </p:nvSpPr>
        <p:spPr>
          <a:xfrm>
            <a:off x="6598768" y="5724144"/>
            <a:ext cx="4751680" cy="310896"/>
          </a:xfrm>
          <a:prstGeom prst="rect">
            <a:avLst/>
          </a:prstGeom>
          <a:noFill/>
          <a:ln/>
        </p:spPr>
        <p:txBody>
          <a:bodyPr wrap="square" lIns="0" tIns="0" rIns="0" bIns="0" rtlCol="0" anchor="ctr"/>
          <a:lstStyle/>
          <a:p>
            <a:pPr indent="0" marL="0">
              <a:buNone/>
            </a:pPr>
            <a:r>
              <a:rPr lang="en-US" sz="1100" i="1" dirty="0">
                <a:solidFill>
                  <a:srgbClr val="5A6675"/>
                </a:solidFill>
                <a:latin typeface="Calibri" pitchFamily="34" charset="0"/>
                <a:ea typeface="Calibri" pitchFamily="34" charset="-122"/>
                <a:cs typeface="Calibri" pitchFamily="34" charset="-120"/>
              </a:rPr>
              <a:t>One fill across blocks that belong together reads as a section.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Block entrance animations</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On by default for non-text blocks. One toggle, course-wide, and worth a deliberate decision.</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21</a:t>
            </a:r>
            <a:endParaRPr lang="en-US" sz="950" dirty="0"/>
          </a:p>
        </p:txBody>
      </p:sp>
      <p:sp>
        <p:nvSpPr>
          <p:cNvPr id="6" name="Shape 4"/>
          <p:cNvSpPr/>
          <p:nvPr/>
        </p:nvSpPr>
        <p:spPr>
          <a:xfrm>
            <a:off x="566928" y="1874520"/>
            <a:ext cx="5750076" cy="2606040"/>
          </a:xfrm>
          <a:prstGeom prst="roundRect">
            <a:avLst>
              <a:gd name="adj" fmla="val 3158"/>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2103120"/>
            <a:ext cx="5018556" cy="365760"/>
          </a:xfrm>
          <a:prstGeom prst="rect">
            <a:avLst/>
          </a:prstGeom>
          <a:noFill/>
          <a:ln/>
        </p:spPr>
        <p:txBody>
          <a:bodyPr wrap="square" lIns="0" tIns="0" rIns="0" bIns="0" rtlCol="0" anchor="ctr"/>
          <a:lstStyle/>
          <a:p>
            <a:pPr indent="0" marL="0">
              <a:buNone/>
            </a:pPr>
            <a:r>
              <a:rPr lang="en-US" sz="2000" b="1" dirty="0">
                <a:solidFill>
                  <a:srgbClr val="12161F"/>
                </a:solidFill>
                <a:latin typeface="Cambria" pitchFamily="34" charset="0"/>
                <a:ea typeface="Cambria" pitchFamily="34" charset="-122"/>
                <a:cs typeface="Cambria" pitchFamily="34" charset="-120"/>
              </a:rPr>
              <a:t>Where it lives</a:t>
            </a:r>
            <a:endParaRPr lang="en-US" sz="2000" dirty="0"/>
          </a:p>
        </p:txBody>
      </p:sp>
      <p:sp>
        <p:nvSpPr>
          <p:cNvPr id="8" name="Text 6"/>
          <p:cNvSpPr/>
          <p:nvPr/>
        </p:nvSpPr>
        <p:spPr>
          <a:xfrm>
            <a:off x="932688" y="2523744"/>
            <a:ext cx="5018556" cy="384048"/>
          </a:xfrm>
          <a:prstGeom prst="rect">
            <a:avLst/>
          </a:prstGeom>
          <a:noFill/>
          <a:ln/>
        </p:spPr>
        <p:txBody>
          <a:bodyPr wrap="square" lIns="0" tIns="0" rIns="0" bIns="0" rtlCol="0" anchor="ctr"/>
          <a:lstStyle/>
          <a:p>
            <a:pPr indent="0" marL="0">
              <a:buNone/>
            </a:pPr>
            <a:r>
              <a:rPr lang="en-US" sz="1500" b="1" dirty="0">
                <a:solidFill>
                  <a:srgbClr val="ED6A2A"/>
                </a:solidFill>
                <a:latin typeface="Calibri" pitchFamily="34" charset="0"/>
                <a:ea typeface="Calibri" pitchFamily="34" charset="-122"/>
                <a:cs typeface="Calibri" pitchFamily="34" charset="-120"/>
              </a:rPr>
              <a:t>Theme  ›  Blocks  ›  Block Entrance Animations</a:t>
            </a:r>
            <a:endParaRPr lang="en-US" sz="1500" dirty="0"/>
          </a:p>
        </p:txBody>
      </p:sp>
      <p:sp>
        <p:nvSpPr>
          <p:cNvPr id="9" name="Text 7"/>
          <p:cNvSpPr/>
          <p:nvPr/>
        </p:nvSpPr>
        <p:spPr>
          <a:xfrm>
            <a:off x="932688" y="3017520"/>
            <a:ext cx="5018556" cy="960120"/>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Not in a block’s own settings — this is a Theme-level switch that applies to the whole course. Non-text blocks fade in as the learner scrolls to them; text blocks do not animate.</a:t>
            </a:r>
            <a:endParaRPr lang="en-US" sz="1300" dirty="0"/>
          </a:p>
        </p:txBody>
      </p:sp>
      <p:sp>
        <p:nvSpPr>
          <p:cNvPr id="10" name="Shape 8"/>
          <p:cNvSpPr/>
          <p:nvPr/>
        </p:nvSpPr>
        <p:spPr>
          <a:xfrm>
            <a:off x="6774204" y="1874520"/>
            <a:ext cx="4850563" cy="2606040"/>
          </a:xfrm>
          <a:prstGeom prst="roundRect">
            <a:avLst>
              <a:gd name="adj" fmla="val 3158"/>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1" name="Text 9"/>
          <p:cNvSpPr/>
          <p:nvPr/>
        </p:nvSpPr>
        <p:spPr>
          <a:xfrm>
            <a:off x="7139964" y="2103120"/>
            <a:ext cx="4119043"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Turn it off when…</a:t>
            </a:r>
            <a:endParaRPr lang="en-US" sz="2000" dirty="0"/>
          </a:p>
        </p:txBody>
      </p:sp>
      <p:sp>
        <p:nvSpPr>
          <p:cNvPr id="12" name="Text 10"/>
          <p:cNvSpPr/>
          <p:nvPr/>
        </p:nvSpPr>
        <p:spPr>
          <a:xfrm>
            <a:off x="7139964" y="2542032"/>
            <a:ext cx="4119043" cy="178308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300" dirty="0">
                <a:solidFill>
                  <a:srgbClr val="A9B3C0"/>
                </a:solidFill>
                <a:latin typeface="Calibri" pitchFamily="34" charset="0"/>
                <a:ea typeface="Calibri" pitchFamily="34" charset="-122"/>
                <a:cs typeface="Calibri" pitchFamily="34" charset="-120"/>
              </a:rPr>
              <a:t>the course is reference material people scan rather than read</a:t>
            </a:r>
            <a:endParaRPr lang="en-US" sz="1300" dirty="0"/>
          </a:p>
          <a:p>
            <a:pPr marL="342900" indent="-342900">
              <a:lnSpc>
                <a:spcPts val="1900"/>
              </a:lnSpc>
              <a:spcAft>
                <a:spcPts val="800"/>
              </a:spcAft>
              <a:buSzPct val="100000"/>
              <a:buChar char="•"/>
            </a:pPr>
            <a:r>
              <a:rPr lang="en-US" sz="1300" dirty="0">
                <a:solidFill>
                  <a:srgbClr val="A9B3C0"/>
                </a:solidFill>
                <a:latin typeface="Calibri" pitchFamily="34" charset="0"/>
                <a:ea typeface="Calibri" pitchFamily="34" charset="-122"/>
                <a:cs typeface="Calibri" pitchFamily="34" charset="-120"/>
              </a:rPr>
              <a:t>your audience includes people sensitive to motion</a:t>
            </a:r>
            <a:endParaRPr lang="en-US" sz="1300" dirty="0"/>
          </a:p>
          <a:p>
            <a:pPr marL="342900" indent="-342900">
              <a:lnSpc>
                <a:spcPts val="1900"/>
              </a:lnSpc>
              <a:spcAft>
                <a:spcPts val="800"/>
              </a:spcAft>
              <a:buSzPct val="100000"/>
              <a:buChar char="•"/>
            </a:pPr>
            <a:r>
              <a:rPr lang="en-US" sz="1300" dirty="0">
                <a:solidFill>
                  <a:srgbClr val="A9B3C0"/>
                </a:solidFill>
                <a:latin typeface="Calibri" pitchFamily="34" charset="0"/>
                <a:ea typeface="Calibri" pitchFamily="34" charset="-122"/>
                <a:cs typeface="Calibri" pitchFamily="34" charset="-120"/>
              </a:rPr>
              <a:t>the lesson is long and the repeated fade becomes a drag</a:t>
            </a:r>
            <a:endParaRPr lang="en-US" sz="1300" dirty="0"/>
          </a:p>
        </p:txBody>
      </p:sp>
      <p:sp>
        <p:nvSpPr>
          <p:cNvPr id="13" name="Shape 11"/>
          <p:cNvSpPr/>
          <p:nvPr/>
        </p:nvSpPr>
        <p:spPr>
          <a:xfrm>
            <a:off x="566928" y="4718304"/>
            <a:ext cx="11057839" cy="1325880"/>
          </a:xfrm>
          <a:prstGeom prst="roundRect">
            <a:avLst>
              <a:gd name="adj" fmla="val 620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4" name="Text 12"/>
          <p:cNvSpPr/>
          <p:nvPr/>
        </p:nvSpPr>
        <p:spPr>
          <a:xfrm>
            <a:off x="932688" y="4846320"/>
            <a:ext cx="10326319" cy="310896"/>
          </a:xfrm>
          <a:prstGeom prst="rect">
            <a:avLst/>
          </a:prstGeom>
          <a:noFill/>
          <a:ln/>
        </p:spPr>
        <p:txBody>
          <a:bodyPr wrap="square" lIns="0" tIns="0" rIns="0" bIns="0" rtlCol="0" anchor="ctr"/>
          <a:lstStyle/>
          <a:p>
            <a:pPr indent="0" marL="0">
              <a:buNone/>
            </a:pPr>
            <a:r>
              <a:rPr lang="en-US" sz="1700" b="1" dirty="0">
                <a:solidFill>
                  <a:srgbClr val="12161F"/>
                </a:solidFill>
                <a:latin typeface="Cambria" pitchFamily="34" charset="0"/>
                <a:ea typeface="Cambria" pitchFamily="34" charset="-122"/>
                <a:cs typeface="Cambria" pitchFamily="34" charset="-120"/>
              </a:rPr>
              <a:t>Why a facilitator should mention it at all</a:t>
            </a:r>
            <a:endParaRPr lang="en-US" sz="1700" dirty="0"/>
          </a:p>
        </p:txBody>
      </p:sp>
      <p:sp>
        <p:nvSpPr>
          <p:cNvPr id="15" name="Text 13"/>
          <p:cNvSpPr/>
          <p:nvPr/>
        </p:nvSpPr>
        <p:spPr>
          <a:xfrm>
            <a:off x="932688" y="5193792"/>
            <a:ext cx="10326319" cy="777240"/>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Because it is the most common "why does my course feel slow?" question, and because nobody finds it — people look in the block settings, where it is not. Show them the Theme menu once and it stops being a mystery. It also previews the Day 4 point that all global styling lives under Theme.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FOUR</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Keeping it readable</a:t>
            </a:r>
            <a:endParaRPr lang="en-US" sz="4000" dirty="0"/>
          </a:p>
        </p:txBody>
      </p:sp>
      <p:sp>
        <p:nvSpPr>
          <p:cNvPr id="4" name="Text 2"/>
          <p:cNvSpPr/>
          <p:nvPr/>
        </p:nvSpPr>
        <p:spPr>
          <a:xfrm>
            <a:off x="566928" y="3657600"/>
            <a:ext cx="5750076"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Four rules of thumb, and the five mistakes every first Rise course makes.</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2  ·  Blocks that carry your content</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Four rules of thumb</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None of these is enforced by Rise. All four are what separates a first course from a fifth.</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23</a:t>
            </a:r>
            <a:endParaRPr lang="en-US" sz="950" dirty="0"/>
          </a:p>
        </p:txBody>
      </p:sp>
      <p:sp>
        <p:nvSpPr>
          <p:cNvPr id="6" name="Shape 4"/>
          <p:cNvSpPr/>
          <p:nvPr/>
        </p:nvSpPr>
        <p:spPr>
          <a:xfrm>
            <a:off x="566928" y="1828800"/>
            <a:ext cx="2558720" cy="306324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04672" y="2084832"/>
            <a:ext cx="2083232" cy="658368"/>
          </a:xfrm>
          <a:prstGeom prst="rect">
            <a:avLst/>
          </a:prstGeom>
          <a:noFill/>
          <a:ln/>
        </p:spPr>
        <p:txBody>
          <a:bodyPr wrap="square" lIns="0" tIns="0" rIns="0" bIns="0" rtlCol="0" anchor="ctr"/>
          <a:lstStyle/>
          <a:p>
            <a:pPr indent="0" marL="0">
              <a:buNone/>
            </a:pPr>
            <a:r>
              <a:rPr lang="en-US" sz="3800" b="1" dirty="0">
                <a:solidFill>
                  <a:srgbClr val="ED6A2A"/>
                </a:solidFill>
                <a:latin typeface="Cambria" pitchFamily="34" charset="0"/>
                <a:ea typeface="Cambria" pitchFamily="34" charset="-122"/>
                <a:cs typeface="Cambria" pitchFamily="34" charset="-120"/>
              </a:rPr>
              <a:t>≤ 50%</a:t>
            </a:r>
            <a:endParaRPr lang="en-US" sz="3800" dirty="0"/>
          </a:p>
        </p:txBody>
      </p:sp>
      <p:sp>
        <p:nvSpPr>
          <p:cNvPr id="8" name="Text 6"/>
          <p:cNvSpPr/>
          <p:nvPr/>
        </p:nvSpPr>
        <p:spPr>
          <a:xfrm>
            <a:off x="804672" y="2761488"/>
            <a:ext cx="2083232" cy="310896"/>
          </a:xfrm>
          <a:prstGeom prst="rect">
            <a:avLst/>
          </a:prstGeom>
          <a:noFill/>
          <a:ln/>
        </p:spPr>
        <p:txBody>
          <a:bodyPr wrap="square" lIns="0" tIns="0" rIns="0" bIns="0" rtlCol="0" anchor="t"/>
          <a:lstStyle/>
          <a:p>
            <a:pPr indent="0" marL="0">
              <a:buNone/>
            </a:pPr>
            <a:r>
              <a:rPr lang="en-US" sz="1300" b="1" dirty="0">
                <a:solidFill>
                  <a:srgbClr val="12161F"/>
                </a:solidFill>
                <a:latin typeface="Calibri" pitchFamily="34" charset="0"/>
                <a:ea typeface="Calibri" pitchFamily="34" charset="-122"/>
                <a:cs typeface="Calibri" pitchFamily="34" charset="-120"/>
              </a:rPr>
              <a:t>text blocks</a:t>
            </a:r>
            <a:endParaRPr lang="en-US" sz="1300" dirty="0"/>
          </a:p>
        </p:txBody>
      </p:sp>
      <p:sp>
        <p:nvSpPr>
          <p:cNvPr id="9" name="Text 7"/>
          <p:cNvSpPr/>
          <p:nvPr/>
        </p:nvSpPr>
        <p:spPr>
          <a:xfrm>
            <a:off x="804672" y="3163824"/>
            <a:ext cx="2083232" cy="1554480"/>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No more than about half a lesson should be text blocks. The rest earns its place as images, media, dividers and — from tomorrow — interactions.</a:t>
            </a:r>
            <a:endParaRPr lang="en-US" sz="1250" dirty="0"/>
          </a:p>
        </p:txBody>
      </p:sp>
      <p:sp>
        <p:nvSpPr>
          <p:cNvPr id="10" name="Shape 8"/>
          <p:cNvSpPr/>
          <p:nvPr/>
        </p:nvSpPr>
        <p:spPr>
          <a:xfrm>
            <a:off x="3399968" y="1828800"/>
            <a:ext cx="2558720" cy="306324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1" name="Text 9"/>
          <p:cNvSpPr/>
          <p:nvPr/>
        </p:nvSpPr>
        <p:spPr>
          <a:xfrm>
            <a:off x="3637712" y="2084832"/>
            <a:ext cx="2083232" cy="658368"/>
          </a:xfrm>
          <a:prstGeom prst="rect">
            <a:avLst/>
          </a:prstGeom>
          <a:noFill/>
          <a:ln/>
        </p:spPr>
        <p:txBody>
          <a:bodyPr wrap="square" lIns="0" tIns="0" rIns="0" bIns="0" rtlCol="0" anchor="ctr"/>
          <a:lstStyle/>
          <a:p>
            <a:pPr indent="0" marL="0">
              <a:buNone/>
            </a:pPr>
            <a:r>
              <a:rPr lang="en-US" sz="3800" b="1" dirty="0">
                <a:solidFill>
                  <a:srgbClr val="ED6A2A"/>
                </a:solidFill>
                <a:latin typeface="Cambria" pitchFamily="34" charset="0"/>
                <a:ea typeface="Cambria" pitchFamily="34" charset="-122"/>
                <a:cs typeface="Cambria" pitchFamily="34" charset="-120"/>
              </a:rPr>
              <a:t>1–2+</a:t>
            </a:r>
            <a:endParaRPr lang="en-US" sz="3800" dirty="0"/>
          </a:p>
        </p:txBody>
      </p:sp>
      <p:sp>
        <p:nvSpPr>
          <p:cNvPr id="12" name="Text 10"/>
          <p:cNvSpPr/>
          <p:nvPr/>
        </p:nvSpPr>
        <p:spPr>
          <a:xfrm>
            <a:off x="3637712" y="2761488"/>
            <a:ext cx="2083232" cy="310896"/>
          </a:xfrm>
          <a:prstGeom prst="rect">
            <a:avLst/>
          </a:prstGeom>
          <a:noFill/>
          <a:ln/>
        </p:spPr>
        <p:txBody>
          <a:bodyPr wrap="square" lIns="0" tIns="0" rIns="0" bIns="0" rtlCol="0" anchor="t"/>
          <a:lstStyle/>
          <a:p>
            <a:pPr indent="0" marL="0">
              <a:buNone/>
            </a:pPr>
            <a:r>
              <a:rPr lang="en-US" sz="1300" b="1" dirty="0">
                <a:solidFill>
                  <a:srgbClr val="12161F"/>
                </a:solidFill>
                <a:latin typeface="Calibri" pitchFamily="34" charset="0"/>
                <a:ea typeface="Calibri" pitchFamily="34" charset="-122"/>
                <a:cs typeface="Calibri" pitchFamily="34" charset="-120"/>
              </a:rPr>
              <a:t>images per lesson</a:t>
            </a:r>
            <a:endParaRPr lang="en-US" sz="1300" dirty="0"/>
          </a:p>
        </p:txBody>
      </p:sp>
      <p:sp>
        <p:nvSpPr>
          <p:cNvPr id="13" name="Text 11"/>
          <p:cNvSpPr/>
          <p:nvPr/>
        </p:nvSpPr>
        <p:spPr>
          <a:xfrm>
            <a:off x="3637712" y="3163824"/>
            <a:ext cx="2083232" cy="1554480"/>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At minimum. A lesson with no picture in it is a document, and people read documents somewhere other than an LMS.</a:t>
            </a:r>
            <a:endParaRPr lang="en-US" sz="1250" dirty="0"/>
          </a:p>
        </p:txBody>
      </p:sp>
      <p:sp>
        <p:nvSpPr>
          <p:cNvPr id="14" name="Shape 12"/>
          <p:cNvSpPr/>
          <p:nvPr/>
        </p:nvSpPr>
        <p:spPr>
          <a:xfrm>
            <a:off x="6233008" y="1828800"/>
            <a:ext cx="2558720" cy="306324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5" name="Text 13"/>
          <p:cNvSpPr/>
          <p:nvPr/>
        </p:nvSpPr>
        <p:spPr>
          <a:xfrm>
            <a:off x="6470752" y="2084832"/>
            <a:ext cx="2083232" cy="658368"/>
          </a:xfrm>
          <a:prstGeom prst="rect">
            <a:avLst/>
          </a:prstGeom>
          <a:noFill/>
          <a:ln/>
        </p:spPr>
        <p:txBody>
          <a:bodyPr wrap="square" lIns="0" tIns="0" rIns="0" bIns="0" rtlCol="0" anchor="ctr"/>
          <a:lstStyle/>
          <a:p>
            <a:pPr indent="0" marL="0">
              <a:buNone/>
            </a:pPr>
            <a:r>
              <a:rPr lang="en-US" sz="3800" b="1" dirty="0">
                <a:solidFill>
                  <a:srgbClr val="ED6A2A"/>
                </a:solidFill>
                <a:latin typeface="Cambria" pitchFamily="34" charset="0"/>
                <a:ea typeface="Cambria" pitchFamily="34" charset="-122"/>
                <a:cs typeface="Cambria" pitchFamily="34" charset="-120"/>
              </a:rPr>
              <a:t>≤ 20</a:t>
            </a:r>
            <a:endParaRPr lang="en-US" sz="3800" dirty="0"/>
          </a:p>
        </p:txBody>
      </p:sp>
      <p:sp>
        <p:nvSpPr>
          <p:cNvPr id="16" name="Text 14"/>
          <p:cNvSpPr/>
          <p:nvPr/>
        </p:nvSpPr>
        <p:spPr>
          <a:xfrm>
            <a:off x="6470752" y="2761488"/>
            <a:ext cx="2083232" cy="310896"/>
          </a:xfrm>
          <a:prstGeom prst="rect">
            <a:avLst/>
          </a:prstGeom>
          <a:noFill/>
          <a:ln/>
        </p:spPr>
        <p:txBody>
          <a:bodyPr wrap="square" lIns="0" tIns="0" rIns="0" bIns="0" rtlCol="0" anchor="t"/>
          <a:lstStyle/>
          <a:p>
            <a:pPr indent="0" marL="0">
              <a:buNone/>
            </a:pPr>
            <a:r>
              <a:rPr lang="en-US" sz="1300" b="1" dirty="0">
                <a:solidFill>
                  <a:srgbClr val="12161F"/>
                </a:solidFill>
                <a:latin typeface="Calibri" pitchFamily="34" charset="0"/>
                <a:ea typeface="Calibri" pitchFamily="34" charset="-122"/>
                <a:cs typeface="Calibri" pitchFamily="34" charset="-120"/>
              </a:rPr>
              <a:t>blocks per lesson</a:t>
            </a:r>
            <a:endParaRPr lang="en-US" sz="1300" dirty="0"/>
          </a:p>
        </p:txBody>
      </p:sp>
      <p:sp>
        <p:nvSpPr>
          <p:cNvPr id="17" name="Text 15"/>
          <p:cNvSpPr/>
          <p:nvPr/>
        </p:nvSpPr>
        <p:spPr>
          <a:xfrm>
            <a:off x="6470752" y="3163824"/>
            <a:ext cx="2083232" cy="1554480"/>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Past roughly twenty blocks, ask whether this is really two or three shorter lessons. Rise scrolls forever; attention does not.</a:t>
            </a:r>
            <a:endParaRPr lang="en-US" sz="1250" dirty="0"/>
          </a:p>
        </p:txBody>
      </p:sp>
      <p:sp>
        <p:nvSpPr>
          <p:cNvPr id="18" name="Shape 16"/>
          <p:cNvSpPr/>
          <p:nvPr/>
        </p:nvSpPr>
        <p:spPr>
          <a:xfrm>
            <a:off x="9066047" y="1828800"/>
            <a:ext cx="2558720" cy="3063240"/>
          </a:xfrm>
          <a:prstGeom prst="roundRect">
            <a:avLst>
              <a:gd name="adj" fmla="val 321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9" name="Text 17"/>
          <p:cNvSpPr/>
          <p:nvPr/>
        </p:nvSpPr>
        <p:spPr>
          <a:xfrm>
            <a:off x="9303791" y="2084832"/>
            <a:ext cx="2083232" cy="658368"/>
          </a:xfrm>
          <a:prstGeom prst="rect">
            <a:avLst/>
          </a:prstGeom>
          <a:noFill/>
          <a:ln/>
        </p:spPr>
        <p:txBody>
          <a:bodyPr wrap="square" lIns="0" tIns="0" rIns="0" bIns="0" rtlCol="0" anchor="ctr"/>
          <a:lstStyle/>
          <a:p>
            <a:pPr indent="0" marL="0">
              <a:buNone/>
            </a:pPr>
            <a:r>
              <a:rPr lang="en-US" sz="3800" b="1" dirty="0">
                <a:solidFill>
                  <a:srgbClr val="ED6A2A"/>
                </a:solidFill>
                <a:latin typeface="Cambria" pitchFamily="34" charset="0"/>
                <a:ea typeface="Cambria" pitchFamily="34" charset="-122"/>
                <a:cs typeface="Cambria" pitchFamily="34" charset="-120"/>
              </a:rPr>
              <a:t>0</a:t>
            </a:r>
            <a:endParaRPr lang="en-US" sz="3800" dirty="0"/>
          </a:p>
        </p:txBody>
      </p:sp>
      <p:sp>
        <p:nvSpPr>
          <p:cNvPr id="20" name="Text 18"/>
          <p:cNvSpPr/>
          <p:nvPr/>
        </p:nvSpPr>
        <p:spPr>
          <a:xfrm>
            <a:off x="9303791" y="2761488"/>
            <a:ext cx="2083232" cy="310896"/>
          </a:xfrm>
          <a:prstGeom prst="rect">
            <a:avLst/>
          </a:prstGeom>
          <a:noFill/>
          <a:ln/>
        </p:spPr>
        <p:txBody>
          <a:bodyPr wrap="square" lIns="0" tIns="0" rIns="0" bIns="0" rtlCol="0" anchor="t"/>
          <a:lstStyle/>
          <a:p>
            <a:pPr indent="0" marL="0">
              <a:buNone/>
            </a:pPr>
            <a:r>
              <a:rPr lang="en-US" sz="1300" b="1" dirty="0">
                <a:solidFill>
                  <a:srgbClr val="12161F"/>
                </a:solidFill>
                <a:latin typeface="Calibri" pitchFamily="34" charset="0"/>
                <a:ea typeface="Calibri" pitchFamily="34" charset="-122"/>
                <a:cs typeface="Calibri" pitchFamily="34" charset="-120"/>
              </a:rPr>
              <a:t>stripes</a:t>
            </a:r>
            <a:endParaRPr lang="en-US" sz="1300" dirty="0"/>
          </a:p>
        </p:txBody>
      </p:sp>
      <p:sp>
        <p:nvSpPr>
          <p:cNvPr id="21" name="Text 19"/>
          <p:cNvSpPr/>
          <p:nvPr/>
        </p:nvSpPr>
        <p:spPr>
          <a:xfrm>
            <a:off x="9303791" y="3163824"/>
            <a:ext cx="2083232" cy="1554480"/>
          </a:xfrm>
          <a:prstGeom prst="rect">
            <a:avLst/>
          </a:prstGeom>
          <a:noFill/>
          <a:ln/>
        </p:spPr>
        <p:txBody>
          <a:bodyPr wrap="square" lIns="0" tIns="0" rIns="0" bIns="0" rtlCol="0" anchor="t"/>
          <a:lstStyle/>
          <a:p>
            <a:pPr indent="0" marL="0">
              <a:lnSpc>
                <a:spcPts val="1800"/>
              </a:lnSpc>
              <a:buNone/>
            </a:pPr>
            <a:r>
              <a:rPr lang="en-US" sz="1250" dirty="0">
                <a:solidFill>
                  <a:srgbClr val="5A6675"/>
                </a:solidFill>
                <a:latin typeface="Calibri" pitchFamily="34" charset="0"/>
                <a:ea typeface="Calibri" pitchFamily="34" charset="-122"/>
                <a:cs typeface="Calibri" pitchFamily="34" charset="-120"/>
              </a:rPr>
              <a:t>Never alternate background colours block by block. Group with one fill, or transition with full-width imagery.</a:t>
            </a:r>
            <a:endParaRPr lang="en-US" sz="1250" dirty="0"/>
          </a:p>
        </p:txBody>
      </p:sp>
      <p:sp>
        <p:nvSpPr>
          <p:cNvPr id="22" name="Shape 20"/>
          <p:cNvSpPr/>
          <p:nvPr/>
        </p:nvSpPr>
        <p:spPr>
          <a:xfrm>
            <a:off x="566928" y="5138928"/>
            <a:ext cx="11057839" cy="713232"/>
          </a:xfrm>
          <a:prstGeom prst="roundRect">
            <a:avLst>
              <a:gd name="adj" fmla="val 11538"/>
            </a:avLst>
          </a:prstGeom>
          <a:solidFill>
            <a:srgbClr val="FFF4EE"/>
          </a:solidFill>
          <a:ln w="9525">
            <a:solidFill>
              <a:srgbClr val="F6C7AC"/>
            </a:solidFill>
            <a:prstDash val="solid"/>
          </a:ln>
        </p:spPr>
      </p:sp>
      <p:sp>
        <p:nvSpPr>
          <p:cNvPr id="23" name="Text 21"/>
          <p:cNvSpPr/>
          <p:nvPr/>
        </p:nvSpPr>
        <p:spPr>
          <a:xfrm>
            <a:off x="914400" y="5138928"/>
            <a:ext cx="10362895" cy="713232"/>
          </a:xfrm>
          <a:prstGeom prst="rect">
            <a:avLst/>
          </a:prstGeom>
          <a:noFill/>
          <a:ln/>
        </p:spPr>
        <p:txBody>
          <a:bodyPr wrap="square" lIns="0" tIns="0" rIns="0" bIns="0" rtlCol="0" anchor="ctr"/>
          <a:lstStyle/>
          <a:p>
            <a:pPr indent="0" marL="0">
              <a:lnSpc>
                <a:spcPts val="1800"/>
              </a:lnSpc>
              <a:buNone/>
            </a:pPr>
            <a:r>
              <a:rPr lang="en-US" sz="1250" b="1" dirty="0">
                <a:solidFill>
                  <a:srgbClr val="7A3F1C"/>
                </a:solidFill>
                <a:latin typeface="Calibri" pitchFamily="34" charset="0"/>
                <a:ea typeface="Calibri" pitchFamily="34" charset="-122"/>
                <a:cs typeface="Calibri" pitchFamily="34" charset="-120"/>
              </a:rPr>
              <a:t>Say this out loud to your group:  </a:t>
            </a:r>
            <a:pPr indent="0" marL="0">
              <a:lnSpc>
                <a:spcPts val="1800"/>
              </a:lnSpc>
              <a:buNone/>
            </a:pPr>
            <a:r>
              <a:rPr lang="en-US" sz="1250" dirty="0">
                <a:solidFill>
                  <a:srgbClr val="7A3F1C"/>
                </a:solidFill>
                <a:latin typeface="Calibri" pitchFamily="34" charset="0"/>
                <a:ea typeface="Calibri" pitchFamily="34" charset="-122"/>
                <a:cs typeface="Calibri" pitchFamily="34" charset="-120"/>
              </a:rPr>
              <a:t>these figures come from practitioner guidance in the Articulate community, not from Articulate’s own documentation. They are good defaults to design against, not standards to audit against.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The five mistakes every first course makes</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Recognise them in your own draft before someone else does.</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24</a:t>
            </a:r>
            <a:endParaRPr lang="en-US" sz="950" dirty="0"/>
          </a:p>
        </p:txBody>
      </p:sp>
      <p:sp>
        <p:nvSpPr>
          <p:cNvPr id="6" name="Shape 4"/>
          <p:cNvSpPr/>
          <p:nvPr/>
        </p:nvSpPr>
        <p:spPr>
          <a:xfrm>
            <a:off x="566928" y="1737360"/>
            <a:ext cx="11057839" cy="749808"/>
          </a:xfrm>
          <a:prstGeom prst="roundRect">
            <a:avLst>
              <a:gd name="adj" fmla="val 1097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Shape 5"/>
          <p:cNvSpPr/>
          <p:nvPr/>
        </p:nvSpPr>
        <p:spPr>
          <a:xfrm>
            <a:off x="822960" y="1956816"/>
            <a:ext cx="310896" cy="310896"/>
          </a:xfrm>
          <a:prstGeom prst="ellipse">
            <a:avLst/>
          </a:prstGeom>
          <a:solidFill>
            <a:srgbClr val="ED6A2A"/>
          </a:solidFill>
          <a:ln/>
        </p:spPr>
      </p:sp>
      <p:sp>
        <p:nvSpPr>
          <p:cNvPr id="8" name="Text 6"/>
          <p:cNvSpPr/>
          <p:nvPr/>
        </p:nvSpPr>
        <p:spPr>
          <a:xfrm>
            <a:off x="822960" y="19568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80160" y="1737360"/>
            <a:ext cx="2331720" cy="749808"/>
          </a:xfrm>
          <a:prstGeom prst="rect">
            <a:avLst/>
          </a:prstGeom>
          <a:noFill/>
          <a:ln/>
        </p:spPr>
        <p:txBody>
          <a:bodyPr wrap="square" lIns="0" tIns="0" rIns="0" bIns="0" rtlCol="0" anchor="ctr"/>
          <a:lstStyle/>
          <a:p>
            <a:pPr indent="0" marL="0">
              <a:buNone/>
            </a:pPr>
            <a:r>
              <a:rPr lang="en-US" sz="1600" b="1" dirty="0">
                <a:solidFill>
                  <a:srgbClr val="12161F"/>
                </a:solidFill>
                <a:latin typeface="Cambria" pitchFamily="34" charset="0"/>
                <a:ea typeface="Cambria" pitchFamily="34" charset="-122"/>
                <a:cs typeface="Cambria" pitchFamily="34" charset="-120"/>
              </a:rPr>
              <a:t>Too much text</a:t>
            </a:r>
            <a:endParaRPr lang="en-US" sz="1600" dirty="0"/>
          </a:p>
        </p:txBody>
      </p:sp>
      <p:sp>
        <p:nvSpPr>
          <p:cNvPr id="10" name="Text 8"/>
          <p:cNvSpPr/>
          <p:nvPr/>
        </p:nvSpPr>
        <p:spPr>
          <a:xfrm>
            <a:off x="3675888" y="1737360"/>
            <a:ext cx="4114800" cy="749808"/>
          </a:xfrm>
          <a:prstGeom prst="rect">
            <a:avLst/>
          </a:prstGeom>
          <a:noFill/>
          <a:ln/>
        </p:spPr>
        <p:txBody>
          <a:bodyPr wrap="square" lIns="0" tIns="0" rIns="0" bIns="0" rtlCol="0" anchor="ctr"/>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Paragraphs that run past four sentences, and every idea delivered as prose.</a:t>
            </a:r>
            <a:endParaRPr lang="en-US" sz="1250" dirty="0"/>
          </a:p>
        </p:txBody>
      </p:sp>
      <p:sp>
        <p:nvSpPr>
          <p:cNvPr id="11" name="Text 9"/>
          <p:cNvSpPr/>
          <p:nvPr/>
        </p:nvSpPr>
        <p:spPr>
          <a:xfrm>
            <a:off x="7927848" y="1737360"/>
            <a:ext cx="3422599" cy="749808"/>
          </a:xfrm>
          <a:prstGeom prst="rect">
            <a:avLst/>
          </a:prstGeom>
          <a:noFill/>
          <a:ln/>
        </p:spPr>
        <p:txBody>
          <a:bodyPr wrap="square" lIns="0" tIns="0" rIns="0" bIns="0" rtlCol="0" anchor="ctr"/>
          <a:lstStyle/>
          <a:p>
            <a:pPr indent="0" marL="0">
              <a:lnSpc>
                <a:spcPts val="1700"/>
              </a:lnSpc>
              <a:buNone/>
            </a:pPr>
            <a:r>
              <a:rPr lang="en-US" sz="1250" b="1" dirty="0">
                <a:solidFill>
                  <a:srgbClr val="2E7D5B"/>
                </a:solidFill>
                <a:latin typeface="Calibri" pitchFamily="34" charset="0"/>
                <a:ea typeface="Calibri" pitchFamily="34" charset="-122"/>
                <a:cs typeface="Calibri" pitchFamily="34" charset="-120"/>
              </a:rPr>
              <a:t>Cut to need-to-know. Pull one line into a Statement.</a:t>
            </a:r>
            <a:endParaRPr lang="en-US" sz="1250" dirty="0"/>
          </a:p>
        </p:txBody>
      </p:sp>
      <p:sp>
        <p:nvSpPr>
          <p:cNvPr id="12" name="Shape 10"/>
          <p:cNvSpPr/>
          <p:nvPr/>
        </p:nvSpPr>
        <p:spPr>
          <a:xfrm>
            <a:off x="566928" y="2615184"/>
            <a:ext cx="11057839" cy="749808"/>
          </a:xfrm>
          <a:prstGeom prst="roundRect">
            <a:avLst>
              <a:gd name="adj" fmla="val 1097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3" name="Shape 11"/>
          <p:cNvSpPr/>
          <p:nvPr/>
        </p:nvSpPr>
        <p:spPr>
          <a:xfrm>
            <a:off x="822960" y="2834640"/>
            <a:ext cx="310896" cy="310896"/>
          </a:xfrm>
          <a:prstGeom prst="ellipse">
            <a:avLst/>
          </a:prstGeom>
          <a:solidFill>
            <a:srgbClr val="ED6A2A"/>
          </a:solidFill>
          <a:ln/>
        </p:spPr>
      </p:sp>
      <p:sp>
        <p:nvSpPr>
          <p:cNvPr id="14" name="Text 12"/>
          <p:cNvSpPr/>
          <p:nvPr/>
        </p:nvSpPr>
        <p:spPr>
          <a:xfrm>
            <a:off x="822960" y="28346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280160" y="2615184"/>
            <a:ext cx="2331720" cy="749808"/>
          </a:xfrm>
          <a:prstGeom prst="rect">
            <a:avLst/>
          </a:prstGeom>
          <a:noFill/>
          <a:ln/>
        </p:spPr>
        <p:txBody>
          <a:bodyPr wrap="square" lIns="0" tIns="0" rIns="0" bIns="0" rtlCol="0" anchor="ctr"/>
          <a:lstStyle/>
          <a:p>
            <a:pPr indent="0" marL="0">
              <a:buNone/>
            </a:pPr>
            <a:r>
              <a:rPr lang="en-US" sz="1600" b="1" dirty="0">
                <a:solidFill>
                  <a:srgbClr val="12161F"/>
                </a:solidFill>
                <a:latin typeface="Cambria" pitchFamily="34" charset="0"/>
                <a:ea typeface="Cambria" pitchFamily="34" charset="-122"/>
                <a:cs typeface="Cambria" pitchFamily="34" charset="-120"/>
              </a:rPr>
              <a:t>Not enough visuals</a:t>
            </a:r>
            <a:endParaRPr lang="en-US" sz="1600" dirty="0"/>
          </a:p>
        </p:txBody>
      </p:sp>
      <p:sp>
        <p:nvSpPr>
          <p:cNvPr id="16" name="Text 14"/>
          <p:cNvSpPr/>
          <p:nvPr/>
        </p:nvSpPr>
        <p:spPr>
          <a:xfrm>
            <a:off x="3675888" y="2615184"/>
            <a:ext cx="4114800" cy="749808"/>
          </a:xfrm>
          <a:prstGeom prst="rect">
            <a:avLst/>
          </a:prstGeom>
          <a:noFill/>
          <a:ln/>
        </p:spPr>
        <p:txBody>
          <a:bodyPr wrap="square" lIns="0" tIns="0" rIns="0" bIns="0" rtlCol="0" anchor="ctr"/>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A lesson with no image in it at all.</a:t>
            </a:r>
            <a:endParaRPr lang="en-US" sz="1250" dirty="0"/>
          </a:p>
        </p:txBody>
      </p:sp>
      <p:sp>
        <p:nvSpPr>
          <p:cNvPr id="17" name="Text 15"/>
          <p:cNvSpPr/>
          <p:nvPr/>
        </p:nvSpPr>
        <p:spPr>
          <a:xfrm>
            <a:off x="7927848" y="2615184"/>
            <a:ext cx="3422599" cy="749808"/>
          </a:xfrm>
          <a:prstGeom prst="rect">
            <a:avLst/>
          </a:prstGeom>
          <a:noFill/>
          <a:ln/>
        </p:spPr>
        <p:txBody>
          <a:bodyPr wrap="square" lIns="0" tIns="0" rIns="0" bIns="0" rtlCol="0" anchor="ctr"/>
          <a:lstStyle/>
          <a:p>
            <a:pPr indent="0" marL="0">
              <a:lnSpc>
                <a:spcPts val="1700"/>
              </a:lnSpc>
              <a:buNone/>
            </a:pPr>
            <a:r>
              <a:rPr lang="en-US" sz="1250" b="1" dirty="0">
                <a:solidFill>
                  <a:srgbClr val="2E7D5B"/>
                </a:solidFill>
                <a:latin typeface="Calibri" pitchFamily="34" charset="0"/>
                <a:ea typeface="Calibri" pitchFamily="34" charset="-122"/>
                <a:cs typeface="Calibri" pitchFamily="34" charset="-120"/>
              </a:rPr>
              <a:t>One or two image blocks, minimum. Caption them.</a:t>
            </a:r>
            <a:endParaRPr lang="en-US" sz="1250" dirty="0"/>
          </a:p>
        </p:txBody>
      </p:sp>
      <p:sp>
        <p:nvSpPr>
          <p:cNvPr id="18" name="Shape 16"/>
          <p:cNvSpPr/>
          <p:nvPr/>
        </p:nvSpPr>
        <p:spPr>
          <a:xfrm>
            <a:off x="566928" y="3493008"/>
            <a:ext cx="11057839" cy="749808"/>
          </a:xfrm>
          <a:prstGeom prst="roundRect">
            <a:avLst>
              <a:gd name="adj" fmla="val 1097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9" name="Shape 17"/>
          <p:cNvSpPr/>
          <p:nvPr/>
        </p:nvSpPr>
        <p:spPr>
          <a:xfrm>
            <a:off x="822960" y="3712464"/>
            <a:ext cx="310896" cy="310896"/>
          </a:xfrm>
          <a:prstGeom prst="ellipse">
            <a:avLst/>
          </a:prstGeom>
          <a:solidFill>
            <a:srgbClr val="ED6A2A"/>
          </a:solidFill>
          <a:ln/>
        </p:spPr>
      </p:sp>
      <p:sp>
        <p:nvSpPr>
          <p:cNvPr id="20" name="Text 18"/>
          <p:cNvSpPr/>
          <p:nvPr/>
        </p:nvSpPr>
        <p:spPr>
          <a:xfrm>
            <a:off x="822960" y="37124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1280160" y="3493008"/>
            <a:ext cx="2331720" cy="749808"/>
          </a:xfrm>
          <a:prstGeom prst="rect">
            <a:avLst/>
          </a:prstGeom>
          <a:noFill/>
          <a:ln/>
        </p:spPr>
        <p:txBody>
          <a:bodyPr wrap="square" lIns="0" tIns="0" rIns="0" bIns="0" rtlCol="0" anchor="ctr"/>
          <a:lstStyle/>
          <a:p>
            <a:pPr indent="0" marL="0">
              <a:buNone/>
            </a:pPr>
            <a:r>
              <a:rPr lang="en-US" sz="1600" b="1" dirty="0">
                <a:solidFill>
                  <a:srgbClr val="12161F"/>
                </a:solidFill>
                <a:latin typeface="Cambria" pitchFamily="34" charset="0"/>
                <a:ea typeface="Cambria" pitchFamily="34" charset="-122"/>
                <a:cs typeface="Cambria" pitchFamily="34" charset="-120"/>
              </a:rPr>
              <a:t>No block variety</a:t>
            </a:r>
            <a:endParaRPr lang="en-US" sz="1600" dirty="0"/>
          </a:p>
        </p:txBody>
      </p:sp>
      <p:sp>
        <p:nvSpPr>
          <p:cNvPr id="22" name="Text 20"/>
          <p:cNvSpPr/>
          <p:nvPr/>
        </p:nvSpPr>
        <p:spPr>
          <a:xfrm>
            <a:off x="3675888" y="3493008"/>
            <a:ext cx="4114800" cy="749808"/>
          </a:xfrm>
          <a:prstGeom prst="rect">
            <a:avLst/>
          </a:prstGeom>
          <a:noFill/>
          <a:ln/>
        </p:spPr>
        <p:txBody>
          <a:bodyPr wrap="square" lIns="0" tIns="0" rIns="0" bIns="0" rtlCol="0" anchor="ctr"/>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Paragraph, paragraph, paragraph, list, paragraph.</a:t>
            </a:r>
            <a:endParaRPr lang="en-US" sz="1250" dirty="0"/>
          </a:p>
        </p:txBody>
      </p:sp>
      <p:sp>
        <p:nvSpPr>
          <p:cNvPr id="23" name="Text 21"/>
          <p:cNvSpPr/>
          <p:nvPr/>
        </p:nvSpPr>
        <p:spPr>
          <a:xfrm>
            <a:off x="7927848" y="3493008"/>
            <a:ext cx="3422599" cy="749808"/>
          </a:xfrm>
          <a:prstGeom prst="rect">
            <a:avLst/>
          </a:prstGeom>
          <a:noFill/>
          <a:ln/>
        </p:spPr>
        <p:txBody>
          <a:bodyPr wrap="square" lIns="0" tIns="0" rIns="0" bIns="0" rtlCol="0" anchor="ctr"/>
          <a:lstStyle/>
          <a:p>
            <a:pPr indent="0" marL="0">
              <a:lnSpc>
                <a:spcPts val="1700"/>
              </a:lnSpc>
              <a:buNone/>
            </a:pPr>
            <a:r>
              <a:rPr lang="en-US" sz="1250" b="1" dirty="0">
                <a:solidFill>
                  <a:srgbClr val="2E7D5B"/>
                </a:solidFill>
                <a:latin typeface="Calibri" pitchFamily="34" charset="0"/>
                <a:ea typeface="Calibri" pitchFamily="34" charset="-122"/>
                <a:cs typeface="Calibri" pitchFamily="34" charset="-120"/>
              </a:rPr>
              <a:t>Vary the family. Aim for no more than half text.</a:t>
            </a:r>
            <a:endParaRPr lang="en-US" sz="1250" dirty="0"/>
          </a:p>
        </p:txBody>
      </p:sp>
      <p:sp>
        <p:nvSpPr>
          <p:cNvPr id="24" name="Shape 22"/>
          <p:cNvSpPr/>
          <p:nvPr/>
        </p:nvSpPr>
        <p:spPr>
          <a:xfrm>
            <a:off x="566928" y="4370832"/>
            <a:ext cx="11057839" cy="749808"/>
          </a:xfrm>
          <a:prstGeom prst="roundRect">
            <a:avLst>
              <a:gd name="adj" fmla="val 1097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5" name="Shape 23"/>
          <p:cNvSpPr/>
          <p:nvPr/>
        </p:nvSpPr>
        <p:spPr>
          <a:xfrm>
            <a:off x="822960" y="4590288"/>
            <a:ext cx="310896" cy="310896"/>
          </a:xfrm>
          <a:prstGeom prst="ellipse">
            <a:avLst/>
          </a:prstGeom>
          <a:solidFill>
            <a:srgbClr val="ED6A2A"/>
          </a:solidFill>
          <a:ln/>
        </p:spPr>
      </p:sp>
      <p:sp>
        <p:nvSpPr>
          <p:cNvPr id="26" name="Text 24"/>
          <p:cNvSpPr/>
          <p:nvPr/>
        </p:nvSpPr>
        <p:spPr>
          <a:xfrm>
            <a:off x="822960" y="45902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p:nvPr/>
        </p:nvSpPr>
        <p:spPr>
          <a:xfrm>
            <a:off x="1280160" y="4370832"/>
            <a:ext cx="2331720" cy="749808"/>
          </a:xfrm>
          <a:prstGeom prst="rect">
            <a:avLst/>
          </a:prstGeom>
          <a:noFill/>
          <a:ln/>
        </p:spPr>
        <p:txBody>
          <a:bodyPr wrap="square" lIns="0" tIns="0" rIns="0" bIns="0" rtlCol="0" anchor="ctr"/>
          <a:lstStyle/>
          <a:p>
            <a:pPr indent="0" marL="0">
              <a:buNone/>
            </a:pPr>
            <a:r>
              <a:rPr lang="en-US" sz="1600" b="1" dirty="0">
                <a:solidFill>
                  <a:srgbClr val="12161F"/>
                </a:solidFill>
                <a:latin typeface="Cambria" pitchFamily="34" charset="0"/>
                <a:ea typeface="Cambria" pitchFamily="34" charset="-122"/>
                <a:cs typeface="Cambria" pitchFamily="34" charset="-120"/>
              </a:rPr>
              <a:t>No pacing</a:t>
            </a:r>
            <a:endParaRPr lang="en-US" sz="1600" dirty="0"/>
          </a:p>
        </p:txBody>
      </p:sp>
      <p:sp>
        <p:nvSpPr>
          <p:cNvPr id="28" name="Text 26"/>
          <p:cNvSpPr/>
          <p:nvPr/>
        </p:nvSpPr>
        <p:spPr>
          <a:xfrm>
            <a:off x="3675888" y="4370832"/>
            <a:ext cx="4114800" cy="749808"/>
          </a:xfrm>
          <a:prstGeom prst="rect">
            <a:avLst/>
          </a:prstGeom>
          <a:noFill/>
          <a:ln/>
        </p:spPr>
        <p:txBody>
          <a:bodyPr wrap="square" lIns="0" tIns="0" rIns="0" bIns="0" rtlCol="0" anchor="ctr"/>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One unbroken run of blocks with no visual structure.</a:t>
            </a:r>
            <a:endParaRPr lang="en-US" sz="1250" dirty="0"/>
          </a:p>
        </p:txBody>
      </p:sp>
      <p:sp>
        <p:nvSpPr>
          <p:cNvPr id="29" name="Text 27"/>
          <p:cNvSpPr/>
          <p:nvPr/>
        </p:nvSpPr>
        <p:spPr>
          <a:xfrm>
            <a:off x="7927848" y="4370832"/>
            <a:ext cx="3422599" cy="749808"/>
          </a:xfrm>
          <a:prstGeom prst="rect">
            <a:avLst/>
          </a:prstGeom>
          <a:noFill/>
          <a:ln/>
        </p:spPr>
        <p:txBody>
          <a:bodyPr wrap="square" lIns="0" tIns="0" rIns="0" bIns="0" rtlCol="0" anchor="ctr"/>
          <a:lstStyle/>
          <a:p>
            <a:pPr indent="0" marL="0">
              <a:lnSpc>
                <a:spcPts val="1700"/>
              </a:lnSpc>
              <a:buNone/>
            </a:pPr>
            <a:r>
              <a:rPr lang="en-US" sz="1250" b="1" dirty="0">
                <a:solidFill>
                  <a:srgbClr val="2E7D5B"/>
                </a:solidFill>
                <a:latin typeface="Calibri" pitchFamily="34" charset="0"/>
                <a:ea typeface="Calibri" pitchFamily="34" charset="-122"/>
                <a:cs typeface="Calibri" pitchFamily="34" charset="-120"/>
              </a:rPr>
              <a:t>Dividers between sections; Continue at real checkpoints.</a:t>
            </a:r>
            <a:endParaRPr lang="en-US" sz="1250" dirty="0"/>
          </a:p>
        </p:txBody>
      </p:sp>
      <p:sp>
        <p:nvSpPr>
          <p:cNvPr id="30" name="Shape 28"/>
          <p:cNvSpPr/>
          <p:nvPr/>
        </p:nvSpPr>
        <p:spPr>
          <a:xfrm>
            <a:off x="566928" y="5248656"/>
            <a:ext cx="11057839" cy="749808"/>
          </a:xfrm>
          <a:prstGeom prst="roundRect">
            <a:avLst>
              <a:gd name="adj" fmla="val 10976"/>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31" name="Shape 29"/>
          <p:cNvSpPr/>
          <p:nvPr/>
        </p:nvSpPr>
        <p:spPr>
          <a:xfrm>
            <a:off x="822960" y="5468112"/>
            <a:ext cx="310896" cy="310896"/>
          </a:xfrm>
          <a:prstGeom prst="ellipse">
            <a:avLst/>
          </a:prstGeom>
          <a:solidFill>
            <a:srgbClr val="ED6A2A"/>
          </a:solidFill>
          <a:ln/>
        </p:spPr>
      </p:sp>
      <p:sp>
        <p:nvSpPr>
          <p:cNvPr id="32" name="Text 30"/>
          <p:cNvSpPr/>
          <p:nvPr/>
        </p:nvSpPr>
        <p:spPr>
          <a:xfrm>
            <a:off x="822960" y="54681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p:nvPr/>
        </p:nvSpPr>
        <p:spPr>
          <a:xfrm>
            <a:off x="1280160" y="5248656"/>
            <a:ext cx="2331720" cy="749808"/>
          </a:xfrm>
          <a:prstGeom prst="rect">
            <a:avLst/>
          </a:prstGeom>
          <a:noFill/>
          <a:ln/>
        </p:spPr>
        <p:txBody>
          <a:bodyPr wrap="square" lIns="0" tIns="0" rIns="0" bIns="0" rtlCol="0" anchor="ctr"/>
          <a:lstStyle/>
          <a:p>
            <a:pPr indent="0" marL="0">
              <a:buNone/>
            </a:pPr>
            <a:r>
              <a:rPr lang="en-US" sz="1600" b="1" dirty="0">
                <a:solidFill>
                  <a:srgbClr val="12161F"/>
                </a:solidFill>
                <a:latin typeface="Cambria" pitchFamily="34" charset="0"/>
                <a:ea typeface="Cambria" pitchFamily="34" charset="-122"/>
                <a:cs typeface="Cambria" pitchFamily="34" charset="-120"/>
              </a:rPr>
              <a:t>Endless lessons</a:t>
            </a:r>
            <a:endParaRPr lang="en-US" sz="1600" dirty="0"/>
          </a:p>
        </p:txBody>
      </p:sp>
      <p:sp>
        <p:nvSpPr>
          <p:cNvPr id="34" name="Text 32"/>
          <p:cNvSpPr/>
          <p:nvPr/>
        </p:nvSpPr>
        <p:spPr>
          <a:xfrm>
            <a:off x="3675888" y="5248656"/>
            <a:ext cx="4114800" cy="749808"/>
          </a:xfrm>
          <a:prstGeom prst="rect">
            <a:avLst/>
          </a:prstGeom>
          <a:noFill/>
          <a:ln/>
        </p:spPr>
        <p:txBody>
          <a:bodyPr wrap="square" lIns="0" tIns="0" rIns="0" bIns="0" rtlCol="0" anchor="ctr"/>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One lesson carrying an entire topic.</a:t>
            </a:r>
            <a:endParaRPr lang="en-US" sz="1250" dirty="0"/>
          </a:p>
        </p:txBody>
      </p:sp>
      <p:sp>
        <p:nvSpPr>
          <p:cNvPr id="35" name="Text 33"/>
          <p:cNvSpPr/>
          <p:nvPr/>
        </p:nvSpPr>
        <p:spPr>
          <a:xfrm>
            <a:off x="7927848" y="5248656"/>
            <a:ext cx="3422599" cy="749808"/>
          </a:xfrm>
          <a:prstGeom prst="rect">
            <a:avLst/>
          </a:prstGeom>
          <a:noFill/>
          <a:ln/>
        </p:spPr>
        <p:txBody>
          <a:bodyPr wrap="square" lIns="0" tIns="0" rIns="0" bIns="0" rtlCol="0" anchor="ctr"/>
          <a:lstStyle/>
          <a:p>
            <a:pPr indent="0" marL="0">
              <a:lnSpc>
                <a:spcPts val="1700"/>
              </a:lnSpc>
              <a:buNone/>
            </a:pPr>
            <a:r>
              <a:rPr lang="en-US" sz="1250" b="1" dirty="0">
                <a:solidFill>
                  <a:srgbClr val="2E7D5B"/>
                </a:solidFill>
                <a:latin typeface="Calibri" pitchFamily="34" charset="0"/>
                <a:ea typeface="Calibri" pitchFamily="34" charset="-122"/>
                <a:cs typeface="Calibri" pitchFamily="34" charset="-120"/>
              </a:rPr>
              <a:t>Split it. Two or three short lessons beat one long one.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6634704" cy="274320"/>
          </a:xfrm>
          <a:prstGeom prst="rect">
            <a:avLst/>
          </a:prstGeom>
          <a:noFill/>
          <a:ln/>
        </p:spPr>
        <p:txBody>
          <a:bodyPr wrap="square" lIns="0" tIns="0" rIns="0" bIns="0" rtlCol="0" anchor="ctr"/>
          <a:lstStyle/>
          <a:p>
            <a:pPr indent="0" marL="0">
              <a:buNone/>
            </a:pPr>
            <a:r>
              <a:rPr lang="en-US" sz="1200" b="1" spc="220" kern="0" dirty="0">
                <a:solidFill>
                  <a:srgbClr val="ED6A2A"/>
                </a:solidFill>
                <a:latin typeface="Calibri" pitchFamily="34" charset="0"/>
                <a:ea typeface="Calibri" pitchFamily="34" charset="-122"/>
                <a:cs typeface="Calibri" pitchFamily="34" charset="-120"/>
              </a:rPr>
              <a:t>SECTION FIVE</a:t>
            </a:r>
            <a:endParaRPr lang="en-US" sz="1200" dirty="0"/>
          </a:p>
        </p:txBody>
      </p:sp>
      <p:sp>
        <p:nvSpPr>
          <p:cNvPr id="3" name="Text 1"/>
          <p:cNvSpPr/>
          <p:nvPr/>
        </p:nvSpPr>
        <p:spPr>
          <a:xfrm>
            <a:off x="566928" y="2487168"/>
            <a:ext cx="6855860" cy="1051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Build it</a:t>
            </a:r>
            <a:endParaRPr lang="en-US" sz="4000" dirty="0"/>
          </a:p>
        </p:txBody>
      </p:sp>
      <p:sp>
        <p:nvSpPr>
          <p:cNvPr id="4" name="Text 2"/>
          <p:cNvSpPr/>
          <p:nvPr/>
        </p:nvSpPr>
        <p:spPr>
          <a:xfrm>
            <a:off x="566928" y="3657600"/>
            <a:ext cx="5750076"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The rest of today is hands on. One lesson, built to a brief.</a:t>
            </a:r>
            <a:endParaRPr lang="en-US" sz="1450" dirty="0"/>
          </a:p>
        </p:txBody>
      </p:sp>
      <p:sp>
        <p:nvSpPr>
          <p:cNvPr id="5" name="Shape 3"/>
          <p:cNvSpPr/>
          <p:nvPr/>
        </p:nvSpPr>
        <p:spPr>
          <a:xfrm>
            <a:off x="9338767" y="2331720"/>
            <a:ext cx="1920240" cy="475488"/>
          </a:xfrm>
          <a:prstGeom prst="roundRect">
            <a:avLst>
              <a:gd name="adj" fmla="val 15385"/>
            </a:avLst>
          </a:prstGeom>
          <a:solidFill>
            <a:srgbClr val="1C2230"/>
          </a:solidFill>
          <a:ln w="12700">
            <a:solidFill>
              <a:srgbClr val="2A3242"/>
            </a:solidFill>
            <a:prstDash val="solid"/>
          </a:ln>
        </p:spPr>
      </p:sp>
      <p:sp>
        <p:nvSpPr>
          <p:cNvPr id="6" name="Shape 4"/>
          <p:cNvSpPr/>
          <p:nvPr/>
        </p:nvSpPr>
        <p:spPr>
          <a:xfrm>
            <a:off x="9466783" y="2990088"/>
            <a:ext cx="1920240" cy="475488"/>
          </a:xfrm>
          <a:prstGeom prst="roundRect">
            <a:avLst>
              <a:gd name="adj" fmla="val 15385"/>
            </a:avLst>
          </a:prstGeom>
          <a:solidFill>
            <a:srgbClr val="1C2230"/>
          </a:solidFill>
          <a:ln w="12700">
            <a:solidFill>
              <a:srgbClr val="2A3242"/>
            </a:solidFill>
            <a:prstDash val="solid"/>
          </a:ln>
        </p:spPr>
      </p:sp>
      <p:sp>
        <p:nvSpPr>
          <p:cNvPr id="7" name="Shape 5"/>
          <p:cNvSpPr/>
          <p:nvPr/>
        </p:nvSpPr>
        <p:spPr>
          <a:xfrm>
            <a:off x="9594799" y="3648456"/>
            <a:ext cx="1920240" cy="475488"/>
          </a:xfrm>
          <a:prstGeom prst="roundRect">
            <a:avLst>
              <a:gd name="adj" fmla="val 15385"/>
            </a:avLst>
          </a:prstGeom>
          <a:solidFill>
            <a:srgbClr val="ED6A2A"/>
          </a:solidFill>
          <a:ln w="12700">
            <a:solidFill>
              <a:srgbClr val="ED6A2A"/>
            </a:solidFill>
            <a:prstDash val="solid"/>
          </a:ln>
        </p:spPr>
      </p:sp>
      <p:sp>
        <p:nvSpPr>
          <p:cNvPr id="8" name="Text 6"/>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2  ·  Blocks that carry your content</a:t>
            </a:r>
            <a:endParaRPr lang="en-US" sz="950" dirty="0"/>
          </a:p>
        </p:txBody>
      </p:sp>
      <p:sp>
        <p:nvSpPr>
          <p:cNvPr id="9" name="Text 7"/>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Your build: one varied lesson</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Pick a real topic from your own work. Not a demo topic — you will want to keep this.</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26</a:t>
            </a:r>
            <a:endParaRPr lang="en-US" sz="950" dirty="0"/>
          </a:p>
        </p:txBody>
      </p:sp>
      <p:sp>
        <p:nvSpPr>
          <p:cNvPr id="6" name="Shape 4"/>
          <p:cNvSpPr/>
          <p:nvPr/>
        </p:nvSpPr>
        <p:spPr>
          <a:xfrm>
            <a:off x="566928" y="1783080"/>
            <a:ext cx="5300320" cy="3703320"/>
          </a:xfrm>
          <a:prstGeom prst="roundRect">
            <a:avLst>
              <a:gd name="adj" fmla="val 2222"/>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2011680"/>
            <a:ext cx="4568800" cy="274320"/>
          </a:xfrm>
          <a:prstGeom prst="rect">
            <a:avLst/>
          </a:prstGeom>
          <a:noFill/>
          <a:ln/>
        </p:spPr>
        <p:txBody>
          <a:bodyPr wrap="square" lIns="0" tIns="0" rIns="0" bIns="0" rtlCol="0" anchor="ctr"/>
          <a:lstStyle/>
          <a:p>
            <a:pPr indent="0" marL="0">
              <a:buNone/>
            </a:pPr>
            <a:r>
              <a:rPr lang="en-US" sz="1100" b="1" spc="180" kern="0" dirty="0">
                <a:solidFill>
                  <a:srgbClr val="ED6A2A"/>
                </a:solidFill>
                <a:latin typeface="Calibri" pitchFamily="34" charset="0"/>
                <a:ea typeface="Calibri" pitchFamily="34" charset="-122"/>
                <a:cs typeface="Calibri" pitchFamily="34" charset="-120"/>
              </a:rPr>
              <a:t>THE BRIEF</a:t>
            </a:r>
            <a:endParaRPr lang="en-US" sz="1100" dirty="0"/>
          </a:p>
        </p:txBody>
      </p:sp>
      <p:sp>
        <p:nvSpPr>
          <p:cNvPr id="8" name="Text 6"/>
          <p:cNvSpPr/>
          <p:nvPr/>
        </p:nvSpPr>
        <p:spPr>
          <a:xfrm>
            <a:off x="932688" y="2359152"/>
            <a:ext cx="4568800" cy="301752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Eight to fourteen blocks</a:t>
            </a:r>
            <a:endParaRPr lang="en-US" sz="1300" dirty="0"/>
          </a:p>
          <a:p>
            <a:pPr marL="342900" indent="-342900">
              <a:lnSpc>
                <a:spcPts val="19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No more than half of them text</a:t>
            </a:r>
            <a:endParaRPr lang="en-US" sz="1300" dirty="0"/>
          </a:p>
          <a:p>
            <a:pPr marL="342900" indent="-342900">
              <a:lnSpc>
                <a:spcPts val="19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Two or more image or gallery blocks, captioned</a:t>
            </a:r>
            <a:endParaRPr lang="en-US" sz="1300" dirty="0"/>
          </a:p>
          <a:p>
            <a:pPr marL="342900" indent="-342900">
              <a:lnSpc>
                <a:spcPts val="19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One statement or quote carrying the key point</a:t>
            </a:r>
            <a:endParaRPr lang="en-US" sz="1300" dirty="0"/>
          </a:p>
          <a:p>
            <a:pPr marL="342900" indent="-342900">
              <a:lnSpc>
                <a:spcPts val="19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 divider, and a Continue where a pause helps</a:t>
            </a:r>
            <a:endParaRPr lang="en-US" sz="1300" dirty="0"/>
          </a:p>
          <a:p>
            <a:pPr marL="342900" indent="-342900">
              <a:lnSpc>
                <a:spcPts val="19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One padding value throughout</a:t>
            </a:r>
            <a:endParaRPr lang="en-US" sz="1300" dirty="0"/>
          </a:p>
          <a:p>
            <a:pPr marL="342900" indent="-342900">
              <a:lnSpc>
                <a:spcPts val="1900"/>
              </a:lnSpc>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No two adjacent blocks with different fills</a:t>
            </a:r>
            <a:endParaRPr lang="en-US" sz="1300" dirty="0"/>
          </a:p>
        </p:txBody>
      </p:sp>
      <p:sp>
        <p:nvSpPr>
          <p:cNvPr id="9" name="Shape 7"/>
          <p:cNvSpPr/>
          <p:nvPr/>
        </p:nvSpPr>
        <p:spPr>
          <a:xfrm>
            <a:off x="6324448" y="1783080"/>
            <a:ext cx="5300320" cy="1755648"/>
          </a:xfrm>
          <a:prstGeom prst="roundRect">
            <a:avLst>
              <a:gd name="adj" fmla="val 4688"/>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0" name="Text 8"/>
          <p:cNvSpPr/>
          <p:nvPr/>
        </p:nvSpPr>
        <p:spPr>
          <a:xfrm>
            <a:off x="6690208" y="1965960"/>
            <a:ext cx="4568800" cy="329184"/>
          </a:xfrm>
          <a:prstGeom prst="rect">
            <a:avLst/>
          </a:prstGeom>
          <a:noFill/>
          <a:ln/>
        </p:spPr>
        <p:txBody>
          <a:bodyPr wrap="square" lIns="0" tIns="0" rIns="0" bIns="0" rtlCol="0" anchor="ctr"/>
          <a:lstStyle/>
          <a:p>
            <a:pPr indent="0" marL="0">
              <a:buNone/>
            </a:pPr>
            <a:r>
              <a:rPr lang="en-US" sz="1800" b="1" dirty="0">
                <a:solidFill>
                  <a:srgbClr val="12161F"/>
                </a:solidFill>
                <a:latin typeface="Cambria" pitchFamily="34" charset="0"/>
                <a:ea typeface="Cambria" pitchFamily="34" charset="-122"/>
                <a:cs typeface="Cambria" pitchFamily="34" charset="-120"/>
              </a:rPr>
              <a:t>How you will know it works</a:t>
            </a:r>
            <a:endParaRPr lang="en-US" sz="1800" dirty="0"/>
          </a:p>
        </p:txBody>
      </p:sp>
      <p:sp>
        <p:nvSpPr>
          <p:cNvPr id="11" name="Text 9"/>
          <p:cNvSpPr/>
          <p:nvPr/>
        </p:nvSpPr>
        <p:spPr>
          <a:xfrm>
            <a:off x="6690208" y="2340864"/>
            <a:ext cx="4568800" cy="868680"/>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Swap laptops with the person next to you. They read your lesson on a phone preview and tell you, without scrolling back, what the main point was. If they cannot, the layout is doing the wrong job.</a:t>
            </a:r>
            <a:endParaRPr lang="en-US" sz="1300" dirty="0"/>
          </a:p>
        </p:txBody>
      </p:sp>
      <p:sp>
        <p:nvSpPr>
          <p:cNvPr id="12" name="Shape 10"/>
          <p:cNvSpPr/>
          <p:nvPr/>
        </p:nvSpPr>
        <p:spPr>
          <a:xfrm>
            <a:off x="6324448" y="3730752"/>
            <a:ext cx="5300320" cy="1755648"/>
          </a:xfrm>
          <a:prstGeom prst="roundRect">
            <a:avLst>
              <a:gd name="adj" fmla="val 4688"/>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3" name="Text 11"/>
          <p:cNvSpPr/>
          <p:nvPr/>
        </p:nvSpPr>
        <p:spPr>
          <a:xfrm>
            <a:off x="6690208" y="3913632"/>
            <a:ext cx="4568800" cy="329184"/>
          </a:xfrm>
          <a:prstGeom prst="rect">
            <a:avLst/>
          </a:prstGeom>
          <a:noFill/>
          <a:ln/>
        </p:spPr>
        <p:txBody>
          <a:bodyPr wrap="square" lIns="0" tIns="0" rIns="0" bIns="0" rtlCol="0" anchor="ctr"/>
          <a:lstStyle/>
          <a:p>
            <a:pPr indent="0" marL="0">
              <a:buNone/>
            </a:pPr>
            <a:r>
              <a:rPr lang="en-US" sz="1800" b="1" dirty="0">
                <a:solidFill>
                  <a:srgbClr val="12161F"/>
                </a:solidFill>
                <a:latin typeface="Cambria" pitchFamily="34" charset="0"/>
                <a:ea typeface="Cambria" pitchFamily="34" charset="-122"/>
                <a:cs typeface="Cambria" pitchFamily="34" charset="-120"/>
              </a:rPr>
              <a:t>If you finish early</a:t>
            </a:r>
            <a:endParaRPr lang="en-US" sz="1800" dirty="0"/>
          </a:p>
        </p:txBody>
      </p:sp>
      <p:sp>
        <p:nvSpPr>
          <p:cNvPr id="14" name="Text 12"/>
          <p:cNvSpPr/>
          <p:nvPr/>
        </p:nvSpPr>
        <p:spPr>
          <a:xfrm>
            <a:off x="6690208" y="4288536"/>
            <a:ext cx="4568800" cy="1051560"/>
          </a:xfrm>
          <a:prstGeom prst="rect">
            <a:avLst/>
          </a:prstGeom>
          <a:noFill/>
          <a:ln/>
        </p:spPr>
        <p:txBody>
          <a:bodyPr wrap="square" lIns="0" tIns="0" rIns="0" bIns="0" rtlCol="0" anchor="t"/>
          <a:lstStyle/>
          <a:p>
            <a:pPr indent="0" marL="0">
              <a:lnSpc>
                <a:spcPts val="1900"/>
              </a:lnSpc>
              <a:buNone/>
            </a:pPr>
            <a:r>
              <a:rPr lang="en-US" sz="1300" dirty="0">
                <a:solidFill>
                  <a:srgbClr val="5A6675"/>
                </a:solidFill>
                <a:latin typeface="Calibri" pitchFamily="34" charset="0"/>
                <a:ea typeface="Calibri" pitchFamily="34" charset="-122"/>
                <a:cs typeface="Calibri" pitchFamily="34" charset="-120"/>
              </a:rPr>
              <a:t>Rebuild your busiest text block three ways using the swap dropdown, and keep the version that reads fastest. Then try one chart block — most people never open that family unprompted.</a:t>
            </a:r>
            <a:endParaRPr lang="en-US" sz="1300" dirty="0"/>
          </a:p>
        </p:txBody>
      </p:sp>
      <p:sp>
        <p:nvSpPr>
          <p:cNvPr id="15" name="Shape 13"/>
          <p:cNvSpPr/>
          <p:nvPr/>
        </p:nvSpPr>
        <p:spPr>
          <a:xfrm>
            <a:off x="566928" y="5596128"/>
            <a:ext cx="11057839" cy="640080"/>
          </a:xfrm>
          <a:prstGeom prst="roundRect">
            <a:avLst>
              <a:gd name="adj" fmla="val 12857"/>
            </a:avLst>
          </a:prstGeom>
          <a:solidFill>
            <a:srgbClr val="FFF4EE"/>
          </a:solidFill>
          <a:ln w="9525">
            <a:solidFill>
              <a:srgbClr val="F6C7AC"/>
            </a:solidFill>
            <a:prstDash val="solid"/>
          </a:ln>
        </p:spPr>
      </p:sp>
      <p:sp>
        <p:nvSpPr>
          <p:cNvPr id="16" name="Text 14"/>
          <p:cNvSpPr/>
          <p:nvPr/>
        </p:nvSpPr>
        <p:spPr>
          <a:xfrm>
            <a:off x="914400" y="5596128"/>
            <a:ext cx="10362895" cy="640080"/>
          </a:xfrm>
          <a:prstGeom prst="rect">
            <a:avLst/>
          </a:prstGeom>
          <a:noFill/>
          <a:ln/>
        </p:spPr>
        <p:txBody>
          <a:bodyPr wrap="square" lIns="0" tIns="0" rIns="0" bIns="0" rtlCol="0" anchor="ctr"/>
          <a:lstStyle/>
          <a:p>
            <a:pPr indent="0" marL="0">
              <a:buNone/>
            </a:pPr>
            <a:r>
              <a:rPr lang="en-US" sz="1250" dirty="0">
                <a:solidFill>
                  <a:srgbClr val="7A3F1C"/>
                </a:solidFill>
                <a:latin typeface="Calibri" pitchFamily="34" charset="0"/>
                <a:ea typeface="Calibri" pitchFamily="34" charset="-122"/>
                <a:cs typeface="Calibri" pitchFamily="34" charset="-120"/>
              </a:rPr>
              <a:t>Do not add accordions, tabs, flashcards or knowledge checks today — they are tomorrow, and the brief is deliberately about what static blocks alone can do.</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Before you call it done</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Run this against your lesson. It is also the checklist you will use on every course after today.</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27</a:t>
            </a:r>
            <a:endParaRPr lang="en-US" sz="950" dirty="0"/>
          </a:p>
        </p:txBody>
      </p:sp>
      <p:sp>
        <p:nvSpPr>
          <p:cNvPr id="6" name="Shape 4"/>
          <p:cNvSpPr/>
          <p:nvPr/>
        </p:nvSpPr>
        <p:spPr>
          <a:xfrm>
            <a:off x="566928" y="1874520"/>
            <a:ext cx="3442106" cy="3749040"/>
          </a:xfrm>
          <a:prstGeom prst="roundRect">
            <a:avLst>
              <a:gd name="adj" fmla="val 239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877824" y="2103120"/>
            <a:ext cx="2820314" cy="365760"/>
          </a:xfrm>
          <a:prstGeom prst="rect">
            <a:avLst/>
          </a:prstGeom>
          <a:noFill/>
          <a:ln/>
        </p:spPr>
        <p:txBody>
          <a:bodyPr wrap="square" lIns="0" tIns="0" rIns="0" bIns="0" rtlCol="0" anchor="ctr"/>
          <a:lstStyle/>
          <a:p>
            <a:pPr indent="0" marL="0">
              <a:buNone/>
            </a:pPr>
            <a:r>
              <a:rPr lang="en-US" sz="2000" b="1" dirty="0">
                <a:solidFill>
                  <a:srgbClr val="12161F"/>
                </a:solidFill>
                <a:latin typeface="Cambria" pitchFamily="34" charset="0"/>
                <a:ea typeface="Cambria" pitchFamily="34" charset="-122"/>
                <a:cs typeface="Cambria" pitchFamily="34" charset="-120"/>
              </a:rPr>
              <a:t>Content</a:t>
            </a:r>
            <a:endParaRPr lang="en-US" sz="2000" dirty="0"/>
          </a:p>
        </p:txBody>
      </p:sp>
      <p:sp>
        <p:nvSpPr>
          <p:cNvPr id="8" name="Shape 6"/>
          <p:cNvSpPr/>
          <p:nvPr/>
        </p:nvSpPr>
        <p:spPr>
          <a:xfrm>
            <a:off x="877824" y="2688336"/>
            <a:ext cx="237744" cy="237744"/>
          </a:xfrm>
          <a:prstGeom prst="roundRect">
            <a:avLst>
              <a:gd name="adj" fmla="val 19231"/>
            </a:avLst>
          </a:prstGeom>
          <a:solidFill>
            <a:srgbClr val="F4F6F8"/>
          </a:solidFill>
          <a:ln w="12700">
            <a:solidFill>
              <a:srgbClr val="A9B3C0"/>
            </a:solidFill>
            <a:prstDash val="solid"/>
          </a:ln>
        </p:spPr>
      </p:sp>
      <p:sp>
        <p:nvSpPr>
          <p:cNvPr id="9" name="Text 7"/>
          <p:cNvSpPr/>
          <p:nvPr/>
        </p:nvSpPr>
        <p:spPr>
          <a:xfrm>
            <a:off x="1225296" y="2651760"/>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Every paragraph is four sentences or fewer</a:t>
            </a:r>
            <a:endParaRPr lang="en-US" sz="1250" dirty="0"/>
          </a:p>
        </p:txBody>
      </p:sp>
      <p:sp>
        <p:nvSpPr>
          <p:cNvPr id="10" name="Shape 8"/>
          <p:cNvSpPr/>
          <p:nvPr/>
        </p:nvSpPr>
        <p:spPr>
          <a:xfrm>
            <a:off x="877824" y="3438144"/>
            <a:ext cx="237744" cy="237744"/>
          </a:xfrm>
          <a:prstGeom prst="roundRect">
            <a:avLst>
              <a:gd name="adj" fmla="val 19231"/>
            </a:avLst>
          </a:prstGeom>
          <a:solidFill>
            <a:srgbClr val="F4F6F8"/>
          </a:solidFill>
          <a:ln w="12700">
            <a:solidFill>
              <a:srgbClr val="A9B3C0"/>
            </a:solidFill>
            <a:prstDash val="solid"/>
          </a:ln>
        </p:spPr>
      </p:sp>
      <p:sp>
        <p:nvSpPr>
          <p:cNvPr id="11" name="Text 9"/>
          <p:cNvSpPr/>
          <p:nvPr/>
        </p:nvSpPr>
        <p:spPr>
          <a:xfrm>
            <a:off x="1225296" y="3401568"/>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Every image and gallery slot has a real caption</a:t>
            </a:r>
            <a:endParaRPr lang="en-US" sz="1250" dirty="0"/>
          </a:p>
        </p:txBody>
      </p:sp>
      <p:sp>
        <p:nvSpPr>
          <p:cNvPr id="12" name="Shape 10"/>
          <p:cNvSpPr/>
          <p:nvPr/>
        </p:nvSpPr>
        <p:spPr>
          <a:xfrm>
            <a:off x="877824" y="4187952"/>
            <a:ext cx="237744" cy="237744"/>
          </a:xfrm>
          <a:prstGeom prst="roundRect">
            <a:avLst>
              <a:gd name="adj" fmla="val 19231"/>
            </a:avLst>
          </a:prstGeom>
          <a:solidFill>
            <a:srgbClr val="F4F6F8"/>
          </a:solidFill>
          <a:ln w="12700">
            <a:solidFill>
              <a:srgbClr val="A9B3C0"/>
            </a:solidFill>
            <a:prstDash val="solid"/>
          </a:ln>
        </p:spPr>
      </p:sp>
      <p:sp>
        <p:nvSpPr>
          <p:cNvPr id="13" name="Text 11"/>
          <p:cNvSpPr/>
          <p:nvPr/>
        </p:nvSpPr>
        <p:spPr>
          <a:xfrm>
            <a:off x="1225296" y="4151376"/>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Lists use the marker that matches their meaning</a:t>
            </a:r>
            <a:endParaRPr lang="en-US" sz="1250" dirty="0"/>
          </a:p>
        </p:txBody>
      </p:sp>
      <p:sp>
        <p:nvSpPr>
          <p:cNvPr id="14" name="Shape 12"/>
          <p:cNvSpPr/>
          <p:nvPr/>
        </p:nvSpPr>
        <p:spPr>
          <a:xfrm>
            <a:off x="877824" y="4937760"/>
            <a:ext cx="237744" cy="237744"/>
          </a:xfrm>
          <a:prstGeom prst="roundRect">
            <a:avLst>
              <a:gd name="adj" fmla="val 19231"/>
            </a:avLst>
          </a:prstGeom>
          <a:solidFill>
            <a:srgbClr val="F4F6F8"/>
          </a:solidFill>
          <a:ln w="12700">
            <a:solidFill>
              <a:srgbClr val="A9B3C0"/>
            </a:solidFill>
            <a:prstDash val="solid"/>
          </a:ln>
        </p:spPr>
      </p:sp>
      <p:sp>
        <p:nvSpPr>
          <p:cNvPr id="15" name="Text 13"/>
          <p:cNvSpPr/>
          <p:nvPr/>
        </p:nvSpPr>
        <p:spPr>
          <a:xfrm>
            <a:off x="1225296" y="4901184"/>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Any chart has the finding stated above it</a:t>
            </a:r>
            <a:endParaRPr lang="en-US" sz="1250" dirty="0"/>
          </a:p>
        </p:txBody>
      </p:sp>
      <p:sp>
        <p:nvSpPr>
          <p:cNvPr id="16" name="Shape 14"/>
          <p:cNvSpPr/>
          <p:nvPr/>
        </p:nvSpPr>
        <p:spPr>
          <a:xfrm>
            <a:off x="4374794" y="1874520"/>
            <a:ext cx="3442106" cy="3749040"/>
          </a:xfrm>
          <a:prstGeom prst="roundRect">
            <a:avLst>
              <a:gd name="adj" fmla="val 239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7" name="Text 15"/>
          <p:cNvSpPr/>
          <p:nvPr/>
        </p:nvSpPr>
        <p:spPr>
          <a:xfrm>
            <a:off x="4685690" y="2103120"/>
            <a:ext cx="2820314" cy="365760"/>
          </a:xfrm>
          <a:prstGeom prst="rect">
            <a:avLst/>
          </a:prstGeom>
          <a:noFill/>
          <a:ln/>
        </p:spPr>
        <p:txBody>
          <a:bodyPr wrap="square" lIns="0" tIns="0" rIns="0" bIns="0" rtlCol="0" anchor="ctr"/>
          <a:lstStyle/>
          <a:p>
            <a:pPr indent="0" marL="0">
              <a:buNone/>
            </a:pPr>
            <a:r>
              <a:rPr lang="en-US" sz="2000" b="1" dirty="0">
                <a:solidFill>
                  <a:srgbClr val="12161F"/>
                </a:solidFill>
                <a:latin typeface="Cambria" pitchFamily="34" charset="0"/>
                <a:ea typeface="Cambria" pitchFamily="34" charset="-122"/>
                <a:cs typeface="Cambria" pitchFamily="34" charset="-120"/>
              </a:rPr>
              <a:t>Layout</a:t>
            </a:r>
            <a:endParaRPr lang="en-US" sz="2000" dirty="0"/>
          </a:p>
        </p:txBody>
      </p:sp>
      <p:sp>
        <p:nvSpPr>
          <p:cNvPr id="18" name="Shape 16"/>
          <p:cNvSpPr/>
          <p:nvPr/>
        </p:nvSpPr>
        <p:spPr>
          <a:xfrm>
            <a:off x="4685690" y="2688336"/>
            <a:ext cx="237744" cy="237744"/>
          </a:xfrm>
          <a:prstGeom prst="roundRect">
            <a:avLst>
              <a:gd name="adj" fmla="val 19231"/>
            </a:avLst>
          </a:prstGeom>
          <a:solidFill>
            <a:srgbClr val="F4F6F8"/>
          </a:solidFill>
          <a:ln w="12700">
            <a:solidFill>
              <a:srgbClr val="A9B3C0"/>
            </a:solidFill>
            <a:prstDash val="solid"/>
          </a:ln>
        </p:spPr>
      </p:sp>
      <p:sp>
        <p:nvSpPr>
          <p:cNvPr id="19" name="Text 17"/>
          <p:cNvSpPr/>
          <p:nvPr/>
        </p:nvSpPr>
        <p:spPr>
          <a:xfrm>
            <a:off x="5033162" y="2651760"/>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One padding value, used throughout</a:t>
            </a:r>
            <a:endParaRPr lang="en-US" sz="1250" dirty="0"/>
          </a:p>
        </p:txBody>
      </p:sp>
      <p:sp>
        <p:nvSpPr>
          <p:cNvPr id="20" name="Shape 18"/>
          <p:cNvSpPr/>
          <p:nvPr/>
        </p:nvSpPr>
        <p:spPr>
          <a:xfrm>
            <a:off x="4685690" y="3438144"/>
            <a:ext cx="237744" cy="237744"/>
          </a:xfrm>
          <a:prstGeom prst="roundRect">
            <a:avLst>
              <a:gd name="adj" fmla="val 19231"/>
            </a:avLst>
          </a:prstGeom>
          <a:solidFill>
            <a:srgbClr val="F4F6F8"/>
          </a:solidFill>
          <a:ln w="12700">
            <a:solidFill>
              <a:srgbClr val="A9B3C0"/>
            </a:solidFill>
            <a:prstDash val="solid"/>
          </a:ln>
        </p:spPr>
      </p:sp>
      <p:sp>
        <p:nvSpPr>
          <p:cNvPr id="21" name="Text 19"/>
          <p:cNvSpPr/>
          <p:nvPr/>
        </p:nvSpPr>
        <p:spPr>
          <a:xfrm>
            <a:off x="5033162" y="3401568"/>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No two adjacent blocks with different fills</a:t>
            </a:r>
            <a:endParaRPr lang="en-US" sz="1250" dirty="0"/>
          </a:p>
        </p:txBody>
      </p:sp>
      <p:sp>
        <p:nvSpPr>
          <p:cNvPr id="22" name="Shape 20"/>
          <p:cNvSpPr/>
          <p:nvPr/>
        </p:nvSpPr>
        <p:spPr>
          <a:xfrm>
            <a:off x="4685690" y="4187952"/>
            <a:ext cx="237744" cy="237744"/>
          </a:xfrm>
          <a:prstGeom prst="roundRect">
            <a:avLst>
              <a:gd name="adj" fmla="val 19231"/>
            </a:avLst>
          </a:prstGeom>
          <a:solidFill>
            <a:srgbClr val="F4F6F8"/>
          </a:solidFill>
          <a:ln w="12700">
            <a:solidFill>
              <a:srgbClr val="A9B3C0"/>
            </a:solidFill>
            <a:prstDash val="solid"/>
          </a:ln>
        </p:spPr>
      </p:sp>
      <p:sp>
        <p:nvSpPr>
          <p:cNvPr id="23" name="Text 21"/>
          <p:cNvSpPr/>
          <p:nvPr/>
        </p:nvSpPr>
        <p:spPr>
          <a:xfrm>
            <a:off x="5033162" y="4151376"/>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Dividers mark the sections a reader would expect</a:t>
            </a:r>
            <a:endParaRPr lang="en-US" sz="1250" dirty="0"/>
          </a:p>
        </p:txBody>
      </p:sp>
      <p:sp>
        <p:nvSpPr>
          <p:cNvPr id="24" name="Shape 22"/>
          <p:cNvSpPr/>
          <p:nvPr/>
        </p:nvSpPr>
        <p:spPr>
          <a:xfrm>
            <a:off x="4685690" y="4937760"/>
            <a:ext cx="237744" cy="237744"/>
          </a:xfrm>
          <a:prstGeom prst="roundRect">
            <a:avLst>
              <a:gd name="adj" fmla="val 19231"/>
            </a:avLst>
          </a:prstGeom>
          <a:solidFill>
            <a:srgbClr val="F4F6F8"/>
          </a:solidFill>
          <a:ln w="12700">
            <a:solidFill>
              <a:srgbClr val="A9B3C0"/>
            </a:solidFill>
            <a:prstDash val="solid"/>
          </a:ln>
        </p:spPr>
      </p:sp>
      <p:sp>
        <p:nvSpPr>
          <p:cNvPr id="25" name="Text 23"/>
          <p:cNvSpPr/>
          <p:nvPr/>
        </p:nvSpPr>
        <p:spPr>
          <a:xfrm>
            <a:off x="5033162" y="4901184"/>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Continue blocks sit at real checkpoints only</a:t>
            </a:r>
            <a:endParaRPr lang="en-US" sz="1250" dirty="0"/>
          </a:p>
        </p:txBody>
      </p:sp>
      <p:sp>
        <p:nvSpPr>
          <p:cNvPr id="26" name="Shape 24"/>
          <p:cNvSpPr/>
          <p:nvPr/>
        </p:nvSpPr>
        <p:spPr>
          <a:xfrm>
            <a:off x="8182661" y="1874520"/>
            <a:ext cx="3442106" cy="3749040"/>
          </a:xfrm>
          <a:prstGeom prst="roundRect">
            <a:avLst>
              <a:gd name="adj" fmla="val 2391"/>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27" name="Text 25"/>
          <p:cNvSpPr/>
          <p:nvPr/>
        </p:nvSpPr>
        <p:spPr>
          <a:xfrm>
            <a:off x="8493557" y="2103120"/>
            <a:ext cx="2820314" cy="365760"/>
          </a:xfrm>
          <a:prstGeom prst="rect">
            <a:avLst/>
          </a:prstGeom>
          <a:noFill/>
          <a:ln/>
        </p:spPr>
        <p:txBody>
          <a:bodyPr wrap="square" lIns="0" tIns="0" rIns="0" bIns="0" rtlCol="0" anchor="ctr"/>
          <a:lstStyle/>
          <a:p>
            <a:pPr indent="0" marL="0">
              <a:buNone/>
            </a:pPr>
            <a:r>
              <a:rPr lang="en-US" sz="2000" b="1" dirty="0">
                <a:solidFill>
                  <a:srgbClr val="12161F"/>
                </a:solidFill>
                <a:latin typeface="Cambria" pitchFamily="34" charset="0"/>
                <a:ea typeface="Cambria" pitchFamily="34" charset="-122"/>
                <a:cs typeface="Cambria" pitchFamily="34" charset="-120"/>
              </a:rPr>
              <a:t>Check</a:t>
            </a:r>
            <a:endParaRPr lang="en-US" sz="2000" dirty="0"/>
          </a:p>
        </p:txBody>
      </p:sp>
      <p:sp>
        <p:nvSpPr>
          <p:cNvPr id="28" name="Shape 26"/>
          <p:cNvSpPr/>
          <p:nvPr/>
        </p:nvSpPr>
        <p:spPr>
          <a:xfrm>
            <a:off x="8493557" y="2688336"/>
            <a:ext cx="237744" cy="237744"/>
          </a:xfrm>
          <a:prstGeom prst="roundRect">
            <a:avLst>
              <a:gd name="adj" fmla="val 19231"/>
            </a:avLst>
          </a:prstGeom>
          <a:solidFill>
            <a:srgbClr val="F4F6F8"/>
          </a:solidFill>
          <a:ln w="12700">
            <a:solidFill>
              <a:srgbClr val="A9B3C0"/>
            </a:solidFill>
            <a:prstDash val="solid"/>
          </a:ln>
        </p:spPr>
      </p:sp>
      <p:sp>
        <p:nvSpPr>
          <p:cNvPr id="29" name="Text 27"/>
          <p:cNvSpPr/>
          <p:nvPr/>
        </p:nvSpPr>
        <p:spPr>
          <a:xfrm>
            <a:off x="8841029" y="2651760"/>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Previewed on mobile portrait, not just desktop</a:t>
            </a:r>
            <a:endParaRPr lang="en-US" sz="1250" dirty="0"/>
          </a:p>
        </p:txBody>
      </p:sp>
      <p:sp>
        <p:nvSpPr>
          <p:cNvPr id="30" name="Shape 28"/>
          <p:cNvSpPr/>
          <p:nvPr/>
        </p:nvSpPr>
        <p:spPr>
          <a:xfrm>
            <a:off x="8493557" y="3438144"/>
            <a:ext cx="237744" cy="237744"/>
          </a:xfrm>
          <a:prstGeom prst="roundRect">
            <a:avLst>
              <a:gd name="adj" fmla="val 19231"/>
            </a:avLst>
          </a:prstGeom>
          <a:solidFill>
            <a:srgbClr val="F4F6F8"/>
          </a:solidFill>
          <a:ln w="12700">
            <a:solidFill>
              <a:srgbClr val="A9B3C0"/>
            </a:solidFill>
            <a:prstDash val="solid"/>
          </a:ln>
        </p:spPr>
      </p:sp>
      <p:sp>
        <p:nvSpPr>
          <p:cNvPr id="31" name="Text 29"/>
          <p:cNvSpPr/>
          <p:nvPr/>
        </p:nvSpPr>
        <p:spPr>
          <a:xfrm>
            <a:off x="8841029" y="3401568"/>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Nothing important sits near an image edge</a:t>
            </a:r>
            <a:endParaRPr lang="en-US" sz="1250" dirty="0"/>
          </a:p>
        </p:txBody>
      </p:sp>
      <p:sp>
        <p:nvSpPr>
          <p:cNvPr id="32" name="Shape 30"/>
          <p:cNvSpPr/>
          <p:nvPr/>
        </p:nvSpPr>
        <p:spPr>
          <a:xfrm>
            <a:off x="8493557" y="4187952"/>
            <a:ext cx="237744" cy="237744"/>
          </a:xfrm>
          <a:prstGeom prst="roundRect">
            <a:avLst>
              <a:gd name="adj" fmla="val 19231"/>
            </a:avLst>
          </a:prstGeom>
          <a:solidFill>
            <a:srgbClr val="F4F6F8"/>
          </a:solidFill>
          <a:ln w="12700">
            <a:solidFill>
              <a:srgbClr val="A9B3C0"/>
            </a:solidFill>
            <a:prstDash val="solid"/>
          </a:ln>
        </p:spPr>
      </p:sp>
      <p:sp>
        <p:nvSpPr>
          <p:cNvPr id="33" name="Text 31"/>
          <p:cNvSpPr/>
          <p:nvPr/>
        </p:nvSpPr>
        <p:spPr>
          <a:xfrm>
            <a:off x="8841029" y="4151376"/>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Under twenty blocks, or split into two lessons</a:t>
            </a:r>
            <a:endParaRPr lang="en-US" sz="1250" dirty="0"/>
          </a:p>
        </p:txBody>
      </p:sp>
      <p:sp>
        <p:nvSpPr>
          <p:cNvPr id="34" name="Shape 32"/>
          <p:cNvSpPr/>
          <p:nvPr/>
        </p:nvSpPr>
        <p:spPr>
          <a:xfrm>
            <a:off x="8493557" y="4937760"/>
            <a:ext cx="237744" cy="237744"/>
          </a:xfrm>
          <a:prstGeom prst="roundRect">
            <a:avLst>
              <a:gd name="adj" fmla="val 19231"/>
            </a:avLst>
          </a:prstGeom>
          <a:solidFill>
            <a:srgbClr val="F4F6F8"/>
          </a:solidFill>
          <a:ln w="12700">
            <a:solidFill>
              <a:srgbClr val="A9B3C0"/>
            </a:solidFill>
            <a:prstDash val="solid"/>
          </a:ln>
        </p:spPr>
      </p:sp>
      <p:sp>
        <p:nvSpPr>
          <p:cNvPr id="35" name="Text 33"/>
          <p:cNvSpPr/>
          <p:nvPr/>
        </p:nvSpPr>
        <p:spPr>
          <a:xfrm>
            <a:off x="8841029" y="4901184"/>
            <a:ext cx="2472842" cy="640080"/>
          </a:xfrm>
          <a:prstGeom prst="rect">
            <a:avLst/>
          </a:prstGeom>
          <a:noFill/>
          <a:ln/>
        </p:spPr>
        <p:txBody>
          <a:bodyPr wrap="square" lIns="0" tIns="0" rIns="0" bIns="0" rtlCol="0" anchor="t"/>
          <a:lstStyle/>
          <a:p>
            <a:pPr indent="0" marL="0">
              <a:lnSpc>
                <a:spcPts val="1700"/>
              </a:lnSpc>
              <a:buNone/>
            </a:pPr>
            <a:r>
              <a:rPr lang="en-US" sz="1250" dirty="0">
                <a:solidFill>
                  <a:srgbClr val="5A6675"/>
                </a:solidFill>
                <a:latin typeface="Calibri" pitchFamily="34" charset="0"/>
                <a:ea typeface="Calibri" pitchFamily="34" charset="-122"/>
                <a:cs typeface="Calibri" pitchFamily="34" charset="-120"/>
              </a:rPr>
              <a:t>No more than half the blocks are text</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566928" y="420624"/>
            <a:ext cx="11057839" cy="566928"/>
          </a:xfrm>
          <a:prstGeom prst="rect">
            <a:avLst/>
          </a:prstGeom>
          <a:noFill/>
          <a:ln/>
        </p:spPr>
        <p:txBody>
          <a:bodyPr wrap="square" lIns="0" tIns="0" rIns="0" bIns="0" rtlCol="0" anchor="ctr"/>
          <a:lstStyle/>
          <a:p>
            <a:pPr indent="0" marL="0">
              <a:buNone/>
            </a:pPr>
            <a:r>
              <a:rPr lang="en-US" sz="3000" b="1" dirty="0">
                <a:solidFill>
                  <a:srgbClr val="12161F"/>
                </a:solidFill>
                <a:latin typeface="Cambria" pitchFamily="34" charset="0"/>
                <a:ea typeface="Cambria" pitchFamily="34" charset="-122"/>
                <a:cs typeface="Cambria" pitchFamily="34" charset="-120"/>
              </a:rPr>
              <a:t>Tomorrow: the blocks that answer back</a:t>
            </a:r>
            <a:endParaRPr lang="en-US" sz="3000" dirty="0"/>
          </a:p>
        </p:txBody>
      </p:sp>
      <p:sp>
        <p:nvSpPr>
          <p:cNvPr id="3" name="Text 1"/>
          <p:cNvSpPr/>
          <p:nvPr/>
        </p:nvSpPr>
        <p:spPr>
          <a:xfrm>
            <a:off x="566928" y="1005840"/>
            <a:ext cx="9067428" cy="384048"/>
          </a:xfrm>
          <a:prstGeom prst="rect">
            <a:avLst/>
          </a:prstGeom>
          <a:noFill/>
          <a:ln/>
        </p:spPr>
        <p:txBody>
          <a:bodyPr wrap="square" lIns="0" tIns="0" rIns="0" bIns="0" rtlCol="0" anchor="t"/>
          <a:lstStyle/>
          <a:p>
            <a:pPr indent="0" marL="0">
              <a:buNone/>
            </a:pPr>
            <a:r>
              <a:rPr lang="en-US" sz="1400" dirty="0">
                <a:solidFill>
                  <a:srgbClr val="5A6675"/>
                </a:solidFill>
                <a:latin typeface="Calibri" pitchFamily="34" charset="0"/>
                <a:ea typeface="Calibri" pitchFamily="34" charset="-122"/>
                <a:cs typeface="Calibri" pitchFamily="34" charset="-120"/>
              </a:rPr>
              <a:t>Everything today was content the learner reads. Day 3 is content the learner operates.</a:t>
            </a:r>
            <a:endParaRPr lang="en-US" sz="1400" dirty="0"/>
          </a:p>
        </p:txBody>
      </p:sp>
      <p:sp>
        <p:nvSpPr>
          <p:cNvPr id="4" name="Text 2"/>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5A6675"/>
                </a:solidFill>
                <a:latin typeface="Calibri" pitchFamily="34" charset="0"/>
                <a:ea typeface="Calibri" pitchFamily="34" charset="-122"/>
                <a:cs typeface="Calibri" pitchFamily="34" charset="-120"/>
              </a:rPr>
              <a:t>Rise 360  ·  Day 2  ·  Blocks that carry your content</a:t>
            </a:r>
            <a:endParaRPr lang="en-US" sz="950" dirty="0"/>
          </a:p>
        </p:txBody>
      </p:sp>
      <p:sp>
        <p:nvSpPr>
          <p:cNvPr id="5" name="Text 3"/>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5A6675"/>
                </a:solidFill>
                <a:latin typeface="Calibri" pitchFamily="34" charset="0"/>
                <a:ea typeface="Calibri" pitchFamily="34" charset="-122"/>
                <a:cs typeface="Calibri" pitchFamily="34" charset="-120"/>
              </a:rPr>
              <a:t>28</a:t>
            </a:r>
            <a:endParaRPr lang="en-US" sz="950" dirty="0"/>
          </a:p>
        </p:txBody>
      </p:sp>
      <p:sp>
        <p:nvSpPr>
          <p:cNvPr id="6" name="Shape 4"/>
          <p:cNvSpPr/>
          <p:nvPr/>
        </p:nvSpPr>
        <p:spPr>
          <a:xfrm>
            <a:off x="566928" y="1874520"/>
            <a:ext cx="5300320" cy="3063240"/>
          </a:xfrm>
          <a:prstGeom prst="roundRect">
            <a:avLst>
              <a:gd name="adj" fmla="val 2687"/>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7" name="Text 5"/>
          <p:cNvSpPr/>
          <p:nvPr/>
        </p:nvSpPr>
        <p:spPr>
          <a:xfrm>
            <a:off x="932688" y="2103120"/>
            <a:ext cx="4568800" cy="274320"/>
          </a:xfrm>
          <a:prstGeom prst="rect">
            <a:avLst/>
          </a:prstGeom>
          <a:noFill/>
          <a:ln/>
        </p:spPr>
        <p:txBody>
          <a:bodyPr wrap="square" lIns="0" tIns="0" rIns="0" bIns="0" rtlCol="0" anchor="ctr"/>
          <a:lstStyle/>
          <a:p>
            <a:pPr indent="0" marL="0">
              <a:buNone/>
            </a:pPr>
            <a:r>
              <a:rPr lang="en-US" sz="1100" b="1" spc="180" kern="0" dirty="0">
                <a:solidFill>
                  <a:srgbClr val="5A6675"/>
                </a:solidFill>
                <a:latin typeface="Calibri" pitchFamily="34" charset="0"/>
                <a:ea typeface="Calibri" pitchFamily="34" charset="-122"/>
                <a:cs typeface="Calibri" pitchFamily="34" charset="-120"/>
              </a:rPr>
              <a:t>WHAT YOU CAN DO NOW</a:t>
            </a:r>
            <a:endParaRPr lang="en-US" sz="1100" dirty="0"/>
          </a:p>
        </p:txBody>
      </p:sp>
      <p:sp>
        <p:nvSpPr>
          <p:cNvPr id="8" name="Text 6"/>
          <p:cNvSpPr/>
          <p:nvPr/>
        </p:nvSpPr>
        <p:spPr>
          <a:xfrm>
            <a:off x="932688" y="2468880"/>
            <a:ext cx="4568800" cy="2194560"/>
          </a:xfrm>
          <a:prstGeom prst="rect">
            <a:avLst/>
          </a:prstGeom>
          <a:noFill/>
          <a:ln/>
        </p:spPr>
        <p:txBody>
          <a:bodyPr wrap="square" lIns="0" tIns="0" rIns="0" bIns="0" rtlCol="0" anchor="t"/>
          <a:lstStyle/>
          <a:p>
            <a:pPr marL="342900" indent="-342900">
              <a:lnSpc>
                <a:spcPts val="2100"/>
              </a:lnSpc>
              <a:spcAft>
                <a:spcPts val="900"/>
              </a:spcAft>
              <a:buSzPct val="100000"/>
              <a:buChar char="•"/>
            </a:pPr>
            <a:r>
              <a:rPr lang="en-US" sz="1350" dirty="0">
                <a:solidFill>
                  <a:srgbClr val="12161F"/>
                </a:solidFill>
                <a:latin typeface="Calibri" pitchFamily="34" charset="0"/>
                <a:ea typeface="Calibri" pitchFamily="34" charset="-122"/>
                <a:cs typeface="Calibri" pitchFamily="34" charset="-120"/>
              </a:rPr>
              <a:t>Nine families, forty-two static blocks</a:t>
            </a:r>
            <a:endParaRPr lang="en-US" sz="1350" dirty="0"/>
          </a:p>
          <a:p>
            <a:pPr marL="342900" indent="-342900">
              <a:lnSpc>
                <a:spcPts val="2100"/>
              </a:lnSpc>
              <a:spcAft>
                <a:spcPts val="900"/>
              </a:spcAft>
              <a:buSzPct val="100000"/>
              <a:buChar char="•"/>
            </a:pPr>
            <a:r>
              <a:rPr lang="en-US" sz="1350" dirty="0">
                <a:solidFill>
                  <a:srgbClr val="12161F"/>
                </a:solidFill>
                <a:latin typeface="Calibri" pitchFamily="34" charset="0"/>
                <a:ea typeface="Calibri" pitchFamily="34" charset="-122"/>
                <a:cs typeface="Calibri" pitchFamily="34" charset="-120"/>
              </a:rPr>
              <a:t>Add, reorder, swap, duplicate, delete</a:t>
            </a:r>
            <a:endParaRPr lang="en-US" sz="1350" dirty="0"/>
          </a:p>
          <a:p>
            <a:pPr marL="342900" indent="-342900">
              <a:lnSpc>
                <a:spcPts val="2100"/>
              </a:lnSpc>
              <a:spcAft>
                <a:spcPts val="900"/>
              </a:spcAft>
              <a:buSzPct val="100000"/>
              <a:buChar char="•"/>
            </a:pPr>
            <a:r>
              <a:rPr lang="en-US" sz="1350" dirty="0">
                <a:solidFill>
                  <a:srgbClr val="12161F"/>
                </a:solidFill>
                <a:latin typeface="Calibri" pitchFamily="34" charset="0"/>
                <a:ea typeface="Calibri" pitchFamily="34" charset="-122"/>
                <a:cs typeface="Calibri" pitchFamily="34" charset="-120"/>
              </a:rPr>
              <a:t>Padding and backgrounds set on purpose</a:t>
            </a:r>
            <a:endParaRPr lang="en-US" sz="1350" dirty="0"/>
          </a:p>
          <a:p>
            <a:pPr marL="342900" indent="-342900">
              <a:lnSpc>
                <a:spcPts val="2100"/>
              </a:lnSpc>
              <a:spcAft>
                <a:spcPts val="900"/>
              </a:spcAft>
              <a:buSzPct val="100000"/>
              <a:buChar char="•"/>
            </a:pPr>
            <a:r>
              <a:rPr lang="en-US" sz="1350" dirty="0">
                <a:solidFill>
                  <a:srgbClr val="12161F"/>
                </a:solidFill>
                <a:latin typeface="Calibri" pitchFamily="34" charset="0"/>
                <a:ea typeface="Calibri" pitchFamily="34" charset="-122"/>
                <a:cs typeface="Calibri" pitchFamily="34" charset="-120"/>
              </a:rPr>
              <a:t>A lesson that passes the anti-clutter rules</a:t>
            </a:r>
            <a:endParaRPr lang="en-US" sz="1350" dirty="0"/>
          </a:p>
        </p:txBody>
      </p:sp>
      <p:sp>
        <p:nvSpPr>
          <p:cNvPr id="9" name="Shape 7"/>
          <p:cNvSpPr/>
          <p:nvPr/>
        </p:nvSpPr>
        <p:spPr>
          <a:xfrm>
            <a:off x="6324448" y="1874520"/>
            <a:ext cx="5300320" cy="3063240"/>
          </a:xfrm>
          <a:prstGeom prst="roundRect">
            <a:avLst>
              <a:gd name="adj" fmla="val 2687"/>
            </a:avLst>
          </a:prstGeom>
          <a:solidFill>
            <a:srgbClr val="12161F"/>
          </a:solidFill>
          <a:ln w="9525">
            <a:solidFill>
              <a:srgbClr val="12161F"/>
            </a:solidFill>
            <a:prstDash val="solid"/>
          </a:ln>
          <a:effectLst>
            <a:outerShdw sx="100000" sy="100000" kx="0" ky="0" algn="bl" rotWithShape="0" blurRad="177800" dist="38100" dir="5400000">
              <a:srgbClr val="9AA6B4">
                <a:alpha val="32000"/>
              </a:srgbClr>
            </a:outerShdw>
          </a:effectLst>
        </p:spPr>
      </p:sp>
      <p:sp>
        <p:nvSpPr>
          <p:cNvPr id="10" name="Text 8"/>
          <p:cNvSpPr/>
          <p:nvPr/>
        </p:nvSpPr>
        <p:spPr>
          <a:xfrm>
            <a:off x="6690208" y="2103120"/>
            <a:ext cx="4568800" cy="274320"/>
          </a:xfrm>
          <a:prstGeom prst="rect">
            <a:avLst/>
          </a:prstGeom>
          <a:noFill/>
          <a:ln/>
        </p:spPr>
        <p:txBody>
          <a:bodyPr wrap="square" lIns="0" tIns="0" rIns="0" bIns="0" rtlCol="0" anchor="ctr"/>
          <a:lstStyle/>
          <a:p>
            <a:pPr indent="0" marL="0">
              <a:buNone/>
            </a:pPr>
            <a:r>
              <a:rPr lang="en-US" sz="1100" b="1" spc="180" kern="0" dirty="0">
                <a:solidFill>
                  <a:srgbClr val="ED6A2A"/>
                </a:solidFill>
                <a:latin typeface="Calibri" pitchFamily="34" charset="0"/>
                <a:ea typeface="Calibri" pitchFamily="34" charset="-122"/>
                <a:cs typeface="Calibri" pitchFamily="34" charset="-120"/>
              </a:rPr>
              <a:t>WHAT DAY 3 ADDS</a:t>
            </a:r>
            <a:endParaRPr lang="en-US" sz="1100" dirty="0"/>
          </a:p>
        </p:txBody>
      </p:sp>
      <p:sp>
        <p:nvSpPr>
          <p:cNvPr id="11" name="Text 9"/>
          <p:cNvSpPr/>
          <p:nvPr/>
        </p:nvSpPr>
        <p:spPr>
          <a:xfrm>
            <a:off x="6690208" y="2468880"/>
            <a:ext cx="4568800" cy="2377440"/>
          </a:xfrm>
          <a:prstGeom prst="rect">
            <a:avLst/>
          </a:prstGeom>
          <a:noFill/>
          <a:ln/>
        </p:spPr>
        <p:txBody>
          <a:bodyPr wrap="square" lIns="0" tIns="0" rIns="0" bIns="0" rtlCol="0" anchor="t"/>
          <a:lstStyle/>
          <a:p>
            <a:pPr marL="342900" indent="-342900">
              <a:lnSpc>
                <a:spcPts val="21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Accordion and Tabs — hide secondary text</a:t>
            </a:r>
            <a:endParaRPr lang="en-US" sz="1350" dirty="0"/>
          </a:p>
          <a:p>
            <a:pPr marL="342900" indent="-342900">
              <a:lnSpc>
                <a:spcPts val="21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Labeled Graphic — an image to explore</a:t>
            </a:r>
            <a:endParaRPr lang="en-US" sz="1350" dirty="0"/>
          </a:p>
          <a:p>
            <a:pPr marL="342900" indent="-342900">
              <a:lnSpc>
                <a:spcPts val="21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Process and Timeline — sequence with pacing</a:t>
            </a:r>
            <a:endParaRPr lang="en-US" sz="1350" dirty="0"/>
          </a:p>
          <a:p>
            <a:pPr marL="342900" indent="-342900">
              <a:lnSpc>
                <a:spcPts val="21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Sorting and Scenario — decisions, not reading</a:t>
            </a:r>
            <a:endParaRPr lang="en-US" sz="1350" dirty="0"/>
          </a:p>
          <a:p>
            <a:pPr marL="342900" indent="-342900">
              <a:lnSpc>
                <a:spcPts val="2100"/>
              </a:lnSpc>
              <a:spcAft>
                <a:spcPts val="900"/>
              </a:spcAft>
              <a:buSzPct val="100000"/>
              <a:buChar char="•"/>
            </a:pPr>
            <a:r>
              <a:rPr lang="en-US" sz="1350" dirty="0">
                <a:solidFill>
                  <a:srgbClr val="FFFFFF"/>
                </a:solidFill>
                <a:latin typeface="Calibri" pitchFamily="34" charset="0"/>
                <a:ea typeface="Calibri" pitchFamily="34" charset="-122"/>
                <a:cs typeface="Calibri" pitchFamily="34" charset="-120"/>
              </a:rPr>
              <a:t>Flashcards, Buttons and Button stacks</a:t>
            </a:r>
            <a:endParaRPr lang="en-US" sz="1350" dirty="0"/>
          </a:p>
        </p:txBody>
      </p:sp>
      <p:sp>
        <p:nvSpPr>
          <p:cNvPr id="12" name="Shape 10"/>
          <p:cNvSpPr/>
          <p:nvPr/>
        </p:nvSpPr>
        <p:spPr>
          <a:xfrm>
            <a:off x="566928" y="5175504"/>
            <a:ext cx="11057839" cy="713232"/>
          </a:xfrm>
          <a:prstGeom prst="roundRect">
            <a:avLst>
              <a:gd name="adj" fmla="val 11538"/>
            </a:avLst>
          </a:prstGeom>
          <a:solidFill>
            <a:srgbClr val="FFFFFF"/>
          </a:solidFill>
          <a:ln w="9525">
            <a:solidFill>
              <a:srgbClr val="E2E6EB"/>
            </a:solidFill>
            <a:prstDash val="solid"/>
          </a:ln>
          <a:effectLst>
            <a:outerShdw sx="100000" sy="100000" kx="0" ky="0" algn="bl" rotWithShape="0" blurRad="177800" dist="38100" dir="5400000">
              <a:srgbClr val="9AA6B4">
                <a:alpha val="32000"/>
              </a:srgbClr>
            </a:outerShdw>
          </a:effectLst>
        </p:spPr>
      </p:sp>
      <p:sp>
        <p:nvSpPr>
          <p:cNvPr id="13" name="Text 11"/>
          <p:cNvSpPr/>
          <p:nvPr/>
        </p:nvSpPr>
        <p:spPr>
          <a:xfrm>
            <a:off x="914400" y="5175504"/>
            <a:ext cx="10362895" cy="713232"/>
          </a:xfrm>
          <a:prstGeom prst="rect">
            <a:avLst/>
          </a:prstGeom>
          <a:noFill/>
          <a:ln/>
        </p:spPr>
        <p:txBody>
          <a:bodyPr wrap="square" lIns="0" tIns="0" rIns="0" bIns="0" rtlCol="0" anchor="ctr"/>
          <a:lstStyle/>
          <a:p>
            <a:pPr indent="0" marL="0">
              <a:lnSpc>
                <a:spcPts val="1800"/>
              </a:lnSpc>
              <a:buNone/>
            </a:pPr>
            <a:r>
              <a:rPr lang="en-US" sz="1300" b="1" dirty="0">
                <a:solidFill>
                  <a:srgbClr val="12161F"/>
                </a:solidFill>
                <a:latin typeface="Calibri" pitchFamily="34" charset="0"/>
                <a:ea typeface="Calibri" pitchFamily="34" charset="-122"/>
                <a:cs typeface="Calibri" pitchFamily="34" charset="-120"/>
              </a:rPr>
              <a:t>Bring your lesson with you.  </a:t>
            </a:r>
            <a:pPr indent="0" marL="0">
              <a:lnSpc>
                <a:spcPts val="1800"/>
              </a:lnSpc>
              <a:buNone/>
            </a:pPr>
            <a:r>
              <a:rPr lang="en-US" sz="1300" dirty="0">
                <a:solidFill>
                  <a:srgbClr val="5A6675"/>
                </a:solidFill>
                <a:latin typeface="Calibri" pitchFamily="34" charset="0"/>
                <a:ea typeface="Calibri" pitchFamily="34" charset="-122"/>
                <a:cs typeface="Calibri" pitchFamily="34" charset="-120"/>
              </a:rPr>
              <a:t>Tomorrow starts by taking the most text-heavy block in the lesson you just built and turning it into an interaction. That works much better on real content than on a blank page.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161F"/>
        </a:solidFill>
      </p:bgPr>
    </p:bg>
    <p:spTree>
      <p:nvGrpSpPr>
        <p:cNvPr id="1" name=""/>
        <p:cNvGrpSpPr/>
        <p:nvPr/>
      </p:nvGrpSpPr>
      <p:grpSpPr>
        <a:xfrm>
          <a:off x="0" y="0"/>
          <a:ext cx="0" cy="0"/>
          <a:chOff x="0" y="0"/>
          <a:chExt cx="0" cy="0"/>
        </a:xfrm>
      </p:grpSpPr>
      <p:sp>
        <p:nvSpPr>
          <p:cNvPr id="2" name="Text 0"/>
          <p:cNvSpPr/>
          <p:nvPr/>
        </p:nvSpPr>
        <p:spPr>
          <a:xfrm>
            <a:off x="566928" y="2148840"/>
            <a:ext cx="5852160" cy="292608"/>
          </a:xfrm>
          <a:prstGeom prst="rect">
            <a:avLst/>
          </a:prstGeom>
          <a:noFill/>
          <a:ln/>
        </p:spPr>
        <p:txBody>
          <a:bodyPr wrap="square" lIns="0" tIns="0" rIns="0" bIns="0" rtlCol="0" anchor="ctr"/>
          <a:lstStyle/>
          <a:p>
            <a:pPr indent="0" marL="0">
              <a:buNone/>
            </a:pPr>
            <a:r>
              <a:rPr lang="en-US" sz="1250" b="1" spc="260" kern="0" dirty="0">
                <a:solidFill>
                  <a:srgbClr val="ED6A2A"/>
                </a:solidFill>
                <a:latin typeface="Calibri" pitchFamily="34" charset="0"/>
                <a:ea typeface="Calibri" pitchFamily="34" charset="-122"/>
                <a:cs typeface="Calibri" pitchFamily="34" charset="-120"/>
              </a:rPr>
              <a:t>DAY 2 COMPLETE</a:t>
            </a:r>
            <a:endParaRPr lang="en-US" sz="1250" dirty="0"/>
          </a:p>
        </p:txBody>
      </p:sp>
      <p:sp>
        <p:nvSpPr>
          <p:cNvPr id="3" name="Text 1"/>
          <p:cNvSpPr/>
          <p:nvPr/>
        </p:nvSpPr>
        <p:spPr>
          <a:xfrm>
            <a:off x="566928" y="2523744"/>
            <a:ext cx="6766560" cy="1554480"/>
          </a:xfrm>
          <a:prstGeom prst="rect">
            <a:avLst/>
          </a:prstGeom>
          <a:noFill/>
          <a:ln/>
        </p:spPr>
        <p:txBody>
          <a:bodyPr wrap="square" lIns="0" tIns="0" rIns="0" bIns="0" rtlCol="0" anchor="t"/>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Nine families.</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One readable lesson.</a:t>
            </a:r>
            <a:endParaRPr lang="en-US" sz="4000" dirty="0"/>
          </a:p>
        </p:txBody>
      </p:sp>
      <p:sp>
        <p:nvSpPr>
          <p:cNvPr id="4" name="Text 2"/>
          <p:cNvSpPr/>
          <p:nvPr/>
        </p:nvSpPr>
        <p:spPr>
          <a:xfrm>
            <a:off x="566928" y="4206240"/>
            <a:ext cx="6309360" cy="822960"/>
          </a:xfrm>
          <a:prstGeom prst="rect">
            <a:avLst/>
          </a:prstGeom>
          <a:noFill/>
          <a:ln/>
        </p:spPr>
        <p:txBody>
          <a:bodyPr wrap="square" lIns="0" tIns="0" rIns="0" bIns="0" rtlCol="0" anchor="t"/>
          <a:lstStyle/>
          <a:p>
            <a:pPr indent="0" marL="0">
              <a:lnSpc>
                <a:spcPts val="2200"/>
              </a:lnSpc>
              <a:buNone/>
            </a:pPr>
            <a:r>
              <a:rPr lang="en-US" sz="1450" dirty="0">
                <a:solidFill>
                  <a:srgbClr val="A9B3C0"/>
                </a:solidFill>
                <a:latin typeface="Calibri" pitchFamily="34" charset="0"/>
                <a:ea typeface="Calibri" pitchFamily="34" charset="-122"/>
                <a:cs typeface="Calibri" pitchFamily="34" charset="-120"/>
              </a:rPr>
              <a:t>The tool was never the hard part. Choosing which block carries which idea — that is the craft, and you have started it.</a:t>
            </a:r>
            <a:endParaRPr lang="en-US" sz="1450" dirty="0"/>
          </a:p>
        </p:txBody>
      </p:sp>
      <p:sp>
        <p:nvSpPr>
          <p:cNvPr id="5" name="Shape 3"/>
          <p:cNvSpPr/>
          <p:nvPr/>
        </p:nvSpPr>
        <p:spPr>
          <a:xfrm>
            <a:off x="8515807" y="2286000"/>
            <a:ext cx="3108960" cy="566928"/>
          </a:xfrm>
          <a:prstGeom prst="roundRect">
            <a:avLst>
              <a:gd name="adj" fmla="val 12903"/>
            </a:avLst>
          </a:prstGeom>
          <a:solidFill>
            <a:srgbClr val="1C2230"/>
          </a:solidFill>
          <a:ln w="12700">
            <a:solidFill>
              <a:srgbClr val="2A3242"/>
            </a:solidFill>
            <a:prstDash val="solid"/>
          </a:ln>
        </p:spPr>
      </p:sp>
      <p:sp>
        <p:nvSpPr>
          <p:cNvPr id="6" name="Shape 4"/>
          <p:cNvSpPr/>
          <p:nvPr/>
        </p:nvSpPr>
        <p:spPr>
          <a:xfrm>
            <a:off x="8643823" y="3054096"/>
            <a:ext cx="3108960" cy="566928"/>
          </a:xfrm>
          <a:prstGeom prst="roundRect">
            <a:avLst>
              <a:gd name="adj" fmla="val 12903"/>
            </a:avLst>
          </a:prstGeom>
          <a:solidFill>
            <a:srgbClr val="1C2230"/>
          </a:solidFill>
          <a:ln w="12700">
            <a:solidFill>
              <a:srgbClr val="2A3242"/>
            </a:solidFill>
            <a:prstDash val="solid"/>
          </a:ln>
        </p:spPr>
      </p:sp>
      <p:sp>
        <p:nvSpPr>
          <p:cNvPr id="7" name="Shape 5"/>
          <p:cNvSpPr/>
          <p:nvPr/>
        </p:nvSpPr>
        <p:spPr>
          <a:xfrm>
            <a:off x="8771839" y="3822192"/>
            <a:ext cx="3108960" cy="566928"/>
          </a:xfrm>
          <a:prstGeom prst="roundRect">
            <a:avLst>
              <a:gd name="adj" fmla="val 12903"/>
            </a:avLst>
          </a:prstGeom>
          <a:solidFill>
            <a:srgbClr val="ED6A2A"/>
          </a:solidFill>
          <a:ln w="12700">
            <a:solidFill>
              <a:srgbClr val="ED6A2A"/>
            </a:solidFill>
            <a:prstDash val="solid"/>
          </a:ln>
        </p:spPr>
      </p:sp>
      <p:sp>
        <p:nvSpPr>
          <p:cNvPr id="8" name="Text 6"/>
          <p:cNvSpPr/>
          <p:nvPr/>
        </p:nvSpPr>
        <p:spPr>
          <a:xfrm>
            <a:off x="8515807" y="4626864"/>
            <a:ext cx="3108960" cy="274320"/>
          </a:xfrm>
          <a:prstGeom prst="rect">
            <a:avLst/>
          </a:prstGeom>
          <a:noFill/>
          <a:ln/>
        </p:spPr>
        <p:txBody>
          <a:bodyPr wrap="square" lIns="0" tIns="0" rIns="0" bIns="0" rtlCol="0" anchor="ctr"/>
          <a:lstStyle/>
          <a:p>
            <a:pPr algn="ctr" indent="0" marL="0">
              <a:buNone/>
            </a:pPr>
            <a:r>
              <a:rPr lang="en-US" sz="1200" i="1" dirty="0">
                <a:solidFill>
                  <a:srgbClr val="A9B3C0"/>
                </a:solidFill>
                <a:latin typeface="Calibri" pitchFamily="34" charset="0"/>
                <a:ea typeface="Calibri" pitchFamily="34" charset="-122"/>
                <a:cs typeface="Calibri" pitchFamily="34" charset="-120"/>
              </a:rPr>
              <a:t>Day 3  ›  Interactive blocks</a:t>
            </a:r>
            <a:endParaRPr lang="en-US" sz="1200" dirty="0"/>
          </a:p>
        </p:txBody>
      </p:sp>
      <p:sp>
        <p:nvSpPr>
          <p:cNvPr id="9" name="Text 7"/>
          <p:cNvSpPr/>
          <p:nvPr/>
        </p:nvSpPr>
        <p:spPr>
          <a:xfrm>
            <a:off x="566928" y="6382512"/>
            <a:ext cx="7740487" cy="256032"/>
          </a:xfrm>
          <a:prstGeom prst="rect">
            <a:avLst/>
          </a:prstGeom>
          <a:noFill/>
          <a:ln/>
        </p:spPr>
        <p:txBody>
          <a:bodyPr wrap="square" lIns="0" tIns="0" rIns="0" bIns="0" rtlCol="0" anchor="ctr"/>
          <a:lstStyle/>
          <a:p>
            <a:pPr indent="0" marL="0">
              <a:buNone/>
            </a:pPr>
            <a:r>
              <a:rPr lang="en-US" sz="950" dirty="0">
                <a:solidFill>
                  <a:srgbClr val="A9B3C0"/>
                </a:solidFill>
                <a:latin typeface="Calibri" pitchFamily="34" charset="0"/>
                <a:ea typeface="Calibri" pitchFamily="34" charset="-122"/>
                <a:cs typeface="Calibri" pitchFamily="34" charset="-120"/>
              </a:rPr>
              <a:t>Rise 360  ·  Day 2  ·  Blocks that carry your content</a:t>
            </a:r>
            <a:endParaRPr lang="en-US" sz="950" dirty="0"/>
          </a:p>
        </p:txBody>
      </p:sp>
      <p:sp>
        <p:nvSpPr>
          <p:cNvPr id="10" name="Text 8"/>
          <p:cNvSpPr/>
          <p:nvPr/>
        </p:nvSpPr>
        <p:spPr>
          <a:xfrm>
            <a:off x="10527487" y="6382512"/>
            <a:ext cx="1097280" cy="256032"/>
          </a:xfrm>
          <a:prstGeom prst="rect">
            <a:avLst/>
          </a:prstGeom>
          <a:noFill/>
          <a:ln/>
        </p:spPr>
        <p:txBody>
          <a:bodyPr wrap="square" lIns="0" tIns="0" rIns="0" bIns="0" rtlCol="0" anchor="ctr"/>
          <a:lstStyle/>
          <a:p>
            <a:pPr algn="r" indent="0" marL="0">
              <a:buNone/>
            </a:pPr>
            <a:r>
              <a:rPr lang="en-US" sz="950" dirty="0">
                <a:solidFill>
                  <a:srgbClr val="A9B3C0"/>
                </a:solidFill>
                <a:latin typeface="Calibri" pitchFamily="34" charset="0"/>
                <a:ea typeface="Calibri" pitchFamily="34" charset="-122"/>
                <a:cs typeface="Calibri" pitchFamily="34" charset="-120"/>
              </a:rPr>
              <a:t>29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Rise 360 Day 2 — Blocks that carry your content</dc:title>
  <dc:subject>PptxGenJS Presentation</dc:subject>
  <dc:creator>Rise 360 curriculum</dc:creator>
  <cp:lastModifiedBy>Rise 360 curriculum</cp:lastModifiedBy>
  <cp:revision>1</cp:revision>
  <dcterms:created xsi:type="dcterms:W3CDTF">2026-08-04T02:42:38Z</dcterms:created>
  <dcterms:modified xsi:type="dcterms:W3CDTF">2026-08-04T02:42:38Z</dcterms:modified>
</cp:coreProperties>
</file>