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Welcome. This session covers one idea — parallel structure — and four places you need it.
SAY: The material is adapted from Iffat Jahan Suchona's presentation on parallelism; every example you'll see comes from that source.
DO: set the expectation early — this is a working session, not a lecture. There are two before-and-after examples on almost every slide and I'll ask you to correct some of them out loud.
IF THE ROOM IS QUIET: ask who has had a sentence returned by a reviewer marked 'awkward' with no further explanation. Most hands go up; that is usually parallelism.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 is the shape of the next forty minutes. Definition first, then one sentence taken apart, then four contexts.
DO: point out that the four contexts in the middle are the operational part — that's what people take back to their desks.
SAY: Every page number on this slide is clickable, so ask me to jump back at any point.
IF TIME IS SHORT: the four context slides and the summary are the core; the worked example can be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put this up and ask the room what the word parallelism makes them think of. You will get geometry and railway lines.
SAY: Hold on to the railway picture — it is exactly right. Two rails, the same shape, the same distance apart, for as long as the track runs.
SAY: In a sentence, the rails are the items doing the same job. When one of them changes shape, the reader feels the bump even if they can't name it.
IF THE ROOM STALLS: ask whether they have ever read a sentence twice without knowing why. That bump is usually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Read the definition slowly. The key phrase is 'the same grammatical structure' — not the same words, the same structure.
SAY: You will also meet it as parallel structure or parallel construction. Same thing, three names.
DO: point at the balance. Both pans carry the same pattern of words. If one side changes form, the sentence tips.
EXPECT: someone asks whether this is a rule or a preference. Answer: with conjunctions and comparisons it is a rule of grammar; in lists and headings it is a rule of clarity.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read the first version aloud, then stop at 'and'. Ask what kind of word sincerely is, and what with passion is.
SAY: One is an adverb, the other a prepositional phrase. Both answer the same question — how did she speak? — so the reader expects them to look alike.
SAY: The repair is a single word: passionately. Nothing was added, nothing was cut, and the sentence now reads in one movement.
EXPECT: someone says the first version sounds fine. Agree that it is understandable, and point out that understandable and well-formed are different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work down the rows one at a time, covering the right-hand column until the room has offered a fix.
ROW 1: a gerund beside an infinitive — jogging and to read. ROW 2: an adjective beside a full clause. ROW 3: the correlative pair needs the verb repeated — wants money, wants fame. ROW 4: two prepositional phrases and a bare noun; under the sofa restores the pattern.
SAY: Notice that three of the four repairs are shorter or the same length. Parallelism is not padding.
IF THE ROOM IS CONFIDENT: skip straight to row four, which is the one people most often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Parallelism is not required everywhere — it is required wherever elements are joined. These are the four joins.
DO: read the four out loud with their signal words: and, not only…but also, than, and the comma series. Those signal words are what people should learn to notice.
SAY: The next four slides take one context each, with the same layout every time: the rule, then a not-parallel and a parallel version.
DO: the four cards are clickable if anyone wants to jump straight to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most common context — two things joined by and, but or or.
DO: read the not-parallel version aloud, then ask what kind of word each half is. Dancing is a gerund; to a show is a prepositional phrase.
SAY: The fix isn't longer, it's matched: to a dance and a show.
IF THE ROOM STALLS: cover the second half and ask them to finish the sentence themselves — most people produce the parallel version naturally.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Correlative conjunctions come in pairs, and the pair sets an expectation the reader hears.
DO: point at where the pair sits. In the broken version, not only lands before likes, so the two halves can never match. Moving likes in front of not only fixes the frame.
SAY: The test is simple — whatever follows the first half must be the same kind of thing that follows the second.
EXPECT: this is the one people get wrong most often in writing. Flag it as the highest-value slide of the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comparison sets up two things that must be the same kind of thing.
DO: read the broken version literally — it compares paying with financial aid, which are not the same category. Adding the verb receive restores the match.
SAY: Watch for than and as. They are quiet, and they carry a grammatical obligation.
IF THE ROOM STALLS: ask what exactly is being compared with what. Saying it out loud exposes the mismatch.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Lists are where a reader most expects a pattern, so a break is most audible here.
DO: read the broken version and let the room hear the third item change shape. Two nouns, then a whole clause.
SAY: The verb is already there — he made. Every item can hang from it, so nothing needs repeating.
SAY: This applies to bulleted lists in documents and slides exactly as it does to a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If you keep one page from today, keep this one.
DO: read the rule, then name the four contexts, then the test. Thirty seconds, no examples — this is the recall version.
DO: ask each person for one place in their own writing where they will apply the test this week. Say it out loud, keep it short.
IF TIME ALLOWS: take a sentence from the room and run the test on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sources sit behind this material, and all three are worth ten minutes each.
DO: point at the Evergreen handout in particular — it is a one-page reference people can keep on a desk.
SAY: The links are live in the file, so take the deck rather than photographing the slide.
DO: credit the source presentation explicitly when you re-use this deck internally.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One line to leave with — same job, same form. If two elements do the same work in a sentence, write them the same way.
DO: invite questions here rather than earlier; most people surface their own examples at this point, which is the best possible ending.
DO: share the deck and point at the summary slide and the Evergreen handout as the two things to keep.
IF NO ONE ASKS: offer one of your own — read out a broken sentence from a real document and repair 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7" Type="http://schemas.openxmlformats.org/officeDocument/2006/relationships/slide" Target="slide2.xml"/><Relationship Id="rId8" Type="http://schemas.openxmlformats.org/officeDocument/2006/relationships/slide" Target="slide1.xml"/><Relationship Id="rId9" Type="http://schemas.openxmlformats.org/officeDocument/2006/relationships/slide" Target="slide3.xm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2.xml"/><Relationship Id="rId4" Type="http://schemas.openxmlformats.org/officeDocument/2006/relationships/slide" Target="slide4.xml"/><Relationship Id="rId1" Type="http://schemas.openxmlformats.org/officeDocument/2006/relationships/image" Target="../media/image-3-1.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5.xml"/><Relationship Id="rId1" Type="http://schemas.openxmlformats.org/officeDocument/2006/relationships/image" Target="../media/image-4-1.png"/><Relationship Id="rId2" Type="http://schemas.openxmlformats.org/officeDocument/2006/relationships/image" Target="../media/image-4-2.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slide" Target="slide8.xml"/><Relationship Id="rId4" Type="http://schemas.openxmlformats.org/officeDocument/2006/relationships/slide" Target="slide9.xml"/><Relationship Id="rId6" Type="http://schemas.openxmlformats.org/officeDocument/2006/relationships/slide" Target="slide10.xml"/><Relationship Id="rId8" Type="http://schemas.openxmlformats.org/officeDocument/2006/relationships/slide" Target="slide11.xml"/><Relationship Id="rId10" Type="http://schemas.openxmlformats.org/officeDocument/2006/relationships/slide" Target="slide2.xml"/><Relationship Id="rId11" Type="http://schemas.openxmlformats.org/officeDocument/2006/relationships/slide" Target="slide6.xml"/><Relationship Id="rId12" Type="http://schemas.openxmlformats.org/officeDocument/2006/relationships/slide" Target="slide8.xml"/><Relationship Id="rId1" Type="http://schemas.openxmlformats.org/officeDocument/2006/relationships/image" Target="../media/image-7-1.png"/><Relationship Id="rId3" Type="http://schemas.openxmlformats.org/officeDocument/2006/relationships/image" Target="../media/image-7-2.png"/><Relationship Id="rId5" Type="http://schemas.openxmlformats.org/officeDocument/2006/relationships/image" Target="../media/image-7-3.png"/><Relationship Id="rId7" Type="http://schemas.openxmlformats.org/officeDocument/2006/relationships/image" Target="../media/image-7-4.png"/><Relationship Id="rId9" Type="http://schemas.openxmlformats.org/officeDocument/2006/relationships/image" Target="../media/image-7-5.png"/><Relationship Id="rId13" Type="http://schemas.openxmlformats.org/officeDocument/2006/relationships/slideLayout" Target="../slideLayouts/slideLayout1.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slide" Target="slide8.xml"/><Relationship Id="rId4" Type="http://schemas.openxmlformats.org/officeDocument/2006/relationships/slide" Target="slide9.xml"/><Relationship Id="rId6"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2.xml"/><Relationship Id="rId10" Type="http://schemas.openxmlformats.org/officeDocument/2006/relationships/slide" Target="slide7.xml"/><Relationship Id="rId11" Type="http://schemas.openxmlformats.org/officeDocument/2006/relationships/slide" Target="slide9.xml"/><Relationship Id="rId1" Type="http://schemas.openxmlformats.org/officeDocument/2006/relationships/image" Target="../media/image-8-1.png"/><Relationship Id="rId3" Type="http://schemas.openxmlformats.org/officeDocument/2006/relationships/image" Target="../media/image-8-2.png"/><Relationship Id="rId5" Type="http://schemas.openxmlformats.org/officeDocument/2006/relationships/image" Target="../media/image-8-3.png"/><Relationship Id="rId7" Type="http://schemas.openxmlformats.org/officeDocument/2006/relationships/image" Target="../media/image-8-4.png"/><Relationship Id="rId12" Type="http://schemas.openxmlformats.org/officeDocument/2006/relationships/slideLayout" Target="../slideLayouts/slideLayout1.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slide" Target="slide8.xml"/><Relationship Id="rId4" Type="http://schemas.openxmlformats.org/officeDocument/2006/relationships/slide" Target="slide9.xml"/><Relationship Id="rId6"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2.xml"/><Relationship Id="rId10" Type="http://schemas.openxmlformats.org/officeDocument/2006/relationships/slide" Target="slide8.xml"/><Relationship Id="rId11" Type="http://schemas.openxmlformats.org/officeDocument/2006/relationships/slide" Target="slide10.xml"/><Relationship Id="rId1" Type="http://schemas.openxmlformats.org/officeDocument/2006/relationships/image" Target="../media/image-9-1.png"/><Relationship Id="rId3" Type="http://schemas.openxmlformats.org/officeDocument/2006/relationships/image" Target="../media/image-9-2.png"/><Relationship Id="rId5" Type="http://schemas.openxmlformats.org/officeDocument/2006/relationships/image" Target="../media/image-9-3.png"/><Relationship Id="rId7" Type="http://schemas.openxmlformats.org/officeDocument/2006/relationships/image" Target="../media/image-9-4.png"/><Relationship Id="rId12" Type="http://schemas.openxmlformats.org/officeDocument/2006/relationships/slideLayout" Target="../slideLayouts/slideLayout1.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slide" Target="slide8.xml"/><Relationship Id="rId4" Type="http://schemas.openxmlformats.org/officeDocument/2006/relationships/slide" Target="slide9.xml"/><Relationship Id="rId6"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2.xml"/><Relationship Id="rId10" Type="http://schemas.openxmlformats.org/officeDocument/2006/relationships/slide" Target="slide9.xml"/><Relationship Id="rId11" Type="http://schemas.openxmlformats.org/officeDocument/2006/relationships/slide" Target="slide11.xml"/><Relationship Id="rId1" Type="http://schemas.openxmlformats.org/officeDocument/2006/relationships/image" Target="../media/image-10-1.png"/><Relationship Id="rId3" Type="http://schemas.openxmlformats.org/officeDocument/2006/relationships/image" Target="../media/image-10-2.png"/><Relationship Id="rId5" Type="http://schemas.openxmlformats.org/officeDocument/2006/relationships/image" Target="../media/image-10-3.png"/><Relationship Id="rId7" Type="http://schemas.openxmlformats.org/officeDocument/2006/relationships/image" Target="../media/image-10-4.png"/><Relationship Id="rId12" Type="http://schemas.openxmlformats.org/officeDocument/2006/relationships/slideLayout" Target="../slideLayouts/slideLayout1.xml"/><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slide" Target="slide8.xml"/><Relationship Id="rId4" Type="http://schemas.openxmlformats.org/officeDocument/2006/relationships/slide" Target="slide9.xml"/><Relationship Id="rId6"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2.xml"/><Relationship Id="rId10" Type="http://schemas.openxmlformats.org/officeDocument/2006/relationships/slide" Target="slide10.xml"/><Relationship Id="rId11" Type="http://schemas.openxmlformats.org/officeDocument/2006/relationships/slide" Target="slide12.xml"/><Relationship Id="rId1" Type="http://schemas.openxmlformats.org/officeDocument/2006/relationships/image" Target="../media/image-11-1.png"/><Relationship Id="rId3" Type="http://schemas.openxmlformats.org/officeDocument/2006/relationships/image" Target="../media/image-11-2.png"/><Relationship Id="rId5" Type="http://schemas.openxmlformats.org/officeDocument/2006/relationships/image" Target="../media/image-11-3.png"/><Relationship Id="rId7" Type="http://schemas.openxmlformats.org/officeDocument/2006/relationships/image" Target="../media/image-11-4.png"/><Relationship Id="rId12" Type="http://schemas.openxmlformats.org/officeDocument/2006/relationships/slideLayout" Target="../slideLayouts/slideLayout1.xml"/><Relationship Id="rId1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slide" Target="slide8.xml"/><Relationship Id="rId4" Type="http://schemas.openxmlformats.org/officeDocument/2006/relationships/slide" Target="slide9.xml"/><Relationship Id="rId6" Type="http://schemas.openxmlformats.org/officeDocument/2006/relationships/slide" Target="slide10.xml"/><Relationship Id="rId8" Type="http://schemas.openxmlformats.org/officeDocument/2006/relationships/slide" Target="slide11.xml"/><Relationship Id="rId9" Type="http://schemas.openxmlformats.org/officeDocument/2006/relationships/slide" Target="slide2.xml"/><Relationship Id="rId10" Type="http://schemas.openxmlformats.org/officeDocument/2006/relationships/slide" Target="slide11.xml"/><Relationship Id="rId11" Type="http://schemas.openxmlformats.org/officeDocument/2006/relationships/slide" Target="slide13.xml"/><Relationship Id="rId1" Type="http://schemas.openxmlformats.org/officeDocument/2006/relationships/image" Target="../media/image-12-1.png"/><Relationship Id="rId3" Type="http://schemas.openxmlformats.org/officeDocument/2006/relationships/image" Target="../media/image-12-2.png"/><Relationship Id="rId5" Type="http://schemas.openxmlformats.org/officeDocument/2006/relationships/image" Target="../media/image-12-3.png"/><Relationship Id="rId7" Type="http://schemas.openxmlformats.org/officeDocument/2006/relationships/image" Target="../media/image-12-4.png"/><Relationship Id="rId12" Type="http://schemas.openxmlformats.org/officeDocument/2006/relationships/slideLayout" Target="../slideLayouts/slideLayout1.xml"/><Relationship Id="rId1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www.grammarly.com/blog/parallelism/" TargetMode="External"/><Relationship Id="rId2" Type="http://schemas.openxmlformats.org/officeDocument/2006/relationships/hyperlink" Target="https://www.youtube.com/watch?v=qvDNvS2M3QA" TargetMode="External"/><Relationship Id="rId3" Type="http://schemas.openxmlformats.org/officeDocument/2006/relationships/hyperlink" Target="https://www.evergreen.edu/sites/default/files/writingcenter/handouts/grammar/parallel.pdf" TargetMode="External"/><Relationship Id="rId4" Type="http://schemas.openxmlformats.org/officeDocument/2006/relationships/slide" Target="slide2.xml"/><Relationship Id="rId5" Type="http://schemas.openxmlformats.org/officeDocument/2006/relationships/slide" Target="slide12.xml"/><Relationship Id="rId6" Type="http://schemas.openxmlformats.org/officeDocument/2006/relationships/slide" Target="slide14.xml"/><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A"/>
        </a:solidFill>
      </p:bgPr>
    </p:bg>
    <p:spTree>
      <p:nvGrpSpPr>
        <p:cNvPr id="1" name=""/>
        <p:cNvGrpSpPr/>
        <p:nvPr/>
      </p:nvGrpSpPr>
      <p:grpSpPr>
        <a:xfrm>
          <a:off x="0" y="0"/>
          <a:ext cx="0" cy="0"/>
          <a:chOff x="0" y="0"/>
          <a:chExt cx="0" cy="0"/>
        </a:xfrm>
      </p:grpSpPr>
      <p:sp>
        <p:nvSpPr>
          <p:cNvPr id="2" name="s1 Text 0"/>
          <p:cNvSpPr/>
          <p:nvPr/>
        </p:nvSpPr>
        <p:spPr>
          <a:xfrm>
            <a:off x="640080" y="1371600"/>
            <a:ext cx="6035040" cy="274320"/>
          </a:xfrm>
          <a:prstGeom prst="rect">
            <a:avLst/>
          </a:prstGeom>
          <a:noFill/>
          <a:ln/>
        </p:spPr>
        <p:txBody>
          <a:bodyPr wrap="square" lIns="0" tIns="0" rIns="0" bIns="0" rtlCol="0" anchor="ctr"/>
          <a:lstStyle/>
          <a:p>
            <a:pPr indent="0" marL="0">
              <a:buNone/>
            </a:pPr>
            <a:r>
              <a:rPr lang="en-US" sz="1150" b="1" spc="340" kern="0" dirty="0">
                <a:solidFill>
                  <a:srgbClr val="B4832B"/>
                </a:solidFill>
                <a:latin typeface="Calibri" pitchFamily="34" charset="0"/>
                <a:ea typeface="Calibri" pitchFamily="34" charset="-122"/>
                <a:cs typeface="Calibri" pitchFamily="34" charset="-120"/>
              </a:rPr>
              <a:t>TRAINING SESSION</a:t>
            </a:r>
            <a:endParaRPr lang="en-US" sz="1150" dirty="0"/>
          </a:p>
        </p:txBody>
      </p:sp>
      <p:sp>
        <p:nvSpPr>
          <p:cNvPr id="3" name="s1 Text 1"/>
          <p:cNvSpPr/>
          <p:nvPr/>
        </p:nvSpPr>
        <p:spPr>
          <a:xfrm>
            <a:off x="640080" y="1755648"/>
            <a:ext cx="6400800" cy="9144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Parallelism</a:t>
            </a:r>
            <a:endParaRPr lang="en-US" sz="6000" dirty="0"/>
          </a:p>
        </p:txBody>
      </p:sp>
      <p:sp>
        <p:nvSpPr>
          <p:cNvPr id="4" name="s1 Text 2"/>
          <p:cNvSpPr/>
          <p:nvPr/>
        </p:nvSpPr>
        <p:spPr>
          <a:xfrm>
            <a:off x="640080" y="2670048"/>
            <a:ext cx="6400800" cy="640080"/>
          </a:xfrm>
          <a:prstGeom prst="rect">
            <a:avLst/>
          </a:prstGeom>
          <a:noFill/>
          <a:ln/>
        </p:spPr>
        <p:txBody>
          <a:bodyPr wrap="square" lIns="0" tIns="0" rIns="0" bIns="0" rtlCol="0" anchor="ctr"/>
          <a:lstStyle/>
          <a:p>
            <a:pPr indent="0" marL="0">
              <a:buNone/>
            </a:pPr>
            <a:r>
              <a:rPr lang="en-US" sz="3400" i="1" dirty="0">
                <a:solidFill>
                  <a:srgbClr val="B4832B"/>
                </a:solidFill>
                <a:latin typeface="Cambria" pitchFamily="34" charset="0"/>
                <a:ea typeface="Cambria" pitchFamily="34" charset="-122"/>
                <a:cs typeface="Cambria" pitchFamily="34" charset="-120"/>
              </a:rPr>
              <a:t>(in Grammar)</a:t>
            </a:r>
            <a:endParaRPr lang="en-US" sz="3400" dirty="0"/>
          </a:p>
        </p:txBody>
      </p:sp>
      <p:sp>
        <p:nvSpPr>
          <p:cNvPr id="5" name="s1 Text 3"/>
          <p:cNvSpPr/>
          <p:nvPr/>
        </p:nvSpPr>
        <p:spPr>
          <a:xfrm>
            <a:off x="640080" y="3456432"/>
            <a:ext cx="5943600" cy="640080"/>
          </a:xfrm>
          <a:prstGeom prst="rect">
            <a:avLst/>
          </a:prstGeom>
          <a:noFill/>
          <a:ln/>
        </p:spPr>
        <p:txBody>
          <a:bodyPr wrap="square" lIns="0" tIns="0" rIns="0" bIns="0" rtlCol="0" anchor="ctr"/>
          <a:lstStyle/>
          <a:p>
            <a:pPr indent="0" marL="0">
              <a:lnSpc>
                <a:spcPts val="2200"/>
              </a:lnSpc>
              <a:buNone/>
            </a:pPr>
            <a:r>
              <a:rPr lang="en-US" sz="1500" dirty="0">
                <a:solidFill>
                  <a:srgbClr val="C7CFDD"/>
                </a:solidFill>
                <a:latin typeface="Calibri" pitchFamily="34" charset="0"/>
                <a:ea typeface="Calibri" pitchFamily="34" charset="-122"/>
                <a:cs typeface="Calibri" pitchFamily="34" charset="-120"/>
              </a:rPr>
              <a:t>The same grammatical structure within one or more sentences of similar phrases or clauses.</a:t>
            </a:r>
            <a:endParaRPr lang="en-US" sz="1500" dirty="0"/>
          </a:p>
        </p:txBody>
      </p:sp>
      <p:sp>
        <p:nvSpPr>
          <p:cNvPr id="6" name="s1 Shape 4"/>
          <p:cNvSpPr/>
          <p:nvPr/>
        </p:nvSpPr>
        <p:spPr>
          <a:xfrm>
            <a:off x="640080" y="4206240"/>
            <a:ext cx="5943600" cy="1865376"/>
          </a:xfrm>
          <a:prstGeom prst="roundRect">
            <a:avLst>
              <a:gd name="adj" fmla="val 4902"/>
            </a:avLst>
          </a:prstGeom>
          <a:solidFill>
            <a:srgbClr val="16233A"/>
          </a:solidFill>
          <a:ln w="12700">
            <a:solidFill>
              <a:srgbClr val="2A3C5E"/>
            </a:solidFill>
            <a:prstDash val="solid"/>
          </a:ln>
        </p:spPr>
      </p:sp>
      <p:sp>
        <p:nvSpPr>
          <p:cNvPr id="7" name="s1 Text 5"/>
          <p:cNvSpPr/>
          <p:nvPr/>
        </p:nvSpPr>
        <p:spPr>
          <a:xfrm>
            <a:off x="969264" y="4425696"/>
            <a:ext cx="5120640" cy="237744"/>
          </a:xfrm>
          <a:prstGeom prst="rect">
            <a:avLst/>
          </a:prstGeom>
          <a:noFill/>
          <a:ln/>
        </p:spPr>
        <p:txBody>
          <a:bodyPr wrap="square" lIns="0" tIns="0" rIns="0" bIns="0" rtlCol="0" anchor="ctr"/>
          <a:lstStyle/>
          <a:p>
            <a:pPr indent="0" marL="0">
              <a:buNone/>
            </a:pPr>
            <a:r>
              <a:rPr lang="en-US" sz="950" b="1" spc="260" kern="0" dirty="0">
                <a:solidFill>
                  <a:srgbClr val="B4832B"/>
                </a:solidFill>
                <a:latin typeface="Calibri" pitchFamily="34" charset="0"/>
                <a:ea typeface="Calibri" pitchFamily="34" charset="-122"/>
                <a:cs typeface="Calibri" pitchFamily="34" charset="-120"/>
              </a:rPr>
              <a:t>PRESENTED BY</a:t>
            </a:r>
            <a:endParaRPr lang="en-US" sz="950" dirty="0"/>
          </a:p>
        </p:txBody>
      </p:sp>
      <p:sp>
        <p:nvSpPr>
          <p:cNvPr id="8" name="s1 Text 6"/>
          <p:cNvSpPr/>
          <p:nvPr/>
        </p:nvSpPr>
        <p:spPr>
          <a:xfrm>
            <a:off x="969264" y="4700016"/>
            <a:ext cx="5303520" cy="329184"/>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Iffat Jahan Suchona</a:t>
            </a:r>
            <a:endParaRPr lang="en-US" sz="2000" dirty="0"/>
          </a:p>
        </p:txBody>
      </p:sp>
      <p:sp>
        <p:nvSpPr>
          <p:cNvPr id="9" name="s1 Text 7"/>
          <p:cNvSpPr/>
          <p:nvPr/>
        </p:nvSpPr>
        <p:spPr>
          <a:xfrm>
            <a:off x="969264" y="5084064"/>
            <a:ext cx="5303520" cy="548640"/>
          </a:xfrm>
          <a:prstGeom prst="rect">
            <a:avLst/>
          </a:prstGeom>
          <a:noFill/>
          <a:ln/>
        </p:spPr>
        <p:txBody>
          <a:bodyPr wrap="square" lIns="0" tIns="0" rIns="0" bIns="0" rtlCol="0" anchor="ctr"/>
          <a:lstStyle/>
          <a:p>
            <a:pPr indent="0" marL="0">
              <a:lnSpc>
                <a:spcPts val="1800"/>
              </a:lnSpc>
              <a:buNone/>
            </a:pPr>
            <a:r>
              <a:rPr lang="en-US" sz="1250" dirty="0">
                <a:solidFill>
                  <a:srgbClr val="AEB9CC"/>
                </a:solidFill>
                <a:latin typeface="Calibri" pitchFamily="34" charset="0"/>
                <a:ea typeface="Calibri" pitchFamily="34" charset="-122"/>
                <a:cs typeface="Calibri" pitchFamily="34" charset="-120"/>
              </a:rPr>
              <a:t>B.A (Honours) · M.A (Applied Linguistics and E.L.T)</a:t>
            </a:r>
            <a:endParaRPr lang="en-US" sz="1250" dirty="0"/>
          </a:p>
          <a:p>
            <a:pPr indent="0" marL="0">
              <a:lnSpc>
                <a:spcPts val="1800"/>
              </a:lnSpc>
              <a:buNone/>
            </a:pPr>
            <a:r>
              <a:rPr lang="en-US" sz="1250" dirty="0">
                <a:solidFill>
                  <a:srgbClr val="AEB9CC"/>
                </a:solidFill>
                <a:latin typeface="Calibri" pitchFamily="34" charset="0"/>
                <a:ea typeface="Calibri" pitchFamily="34" charset="-122"/>
                <a:cs typeface="Calibri" pitchFamily="34" charset="-120"/>
              </a:rPr>
              <a:t>Department of English, University of Dhaka</a:t>
            </a:r>
            <a:endParaRPr lang="en-US" sz="1250" dirty="0"/>
          </a:p>
        </p:txBody>
      </p:sp>
      <p:sp>
        <p:nvSpPr>
          <p:cNvPr id="10" name="s1 Text 8"/>
          <p:cNvSpPr/>
          <p:nvPr/>
        </p:nvSpPr>
        <p:spPr>
          <a:xfrm>
            <a:off x="969264" y="5614416"/>
            <a:ext cx="5303520" cy="274320"/>
          </a:xfrm>
          <a:prstGeom prst="rect">
            <a:avLst/>
          </a:prstGeom>
          <a:noFill/>
          <a:ln/>
        </p:spPr>
        <p:txBody>
          <a:bodyPr wrap="square" lIns="0" tIns="0" rIns="0" bIns="0" rtlCol="0" anchor="ctr"/>
          <a:lstStyle/>
          <a:p>
            <a:pPr indent="0" marL="0">
              <a:buNone/>
            </a:pPr>
            <a:r>
              <a:rPr lang="en-US" sz="1200" dirty="0">
                <a:solidFill>
                  <a:srgbClr val="B4832B"/>
                </a:solidFill>
                <a:latin typeface="Calibri" pitchFamily="34" charset="0"/>
                <a:ea typeface="Calibri" pitchFamily="34" charset="-122"/>
                <a:cs typeface="Calibri" pitchFamily="34" charset="-120"/>
              </a:rPr>
              <a:t>Contact: 01681444197  ·  iffatsuchona@gmail.com</a:t>
            </a:r>
            <a:endParaRPr lang="en-US" sz="1200" dirty="0"/>
          </a:p>
        </p:txBody>
      </p:sp>
      <p:pic>
        <p:nvPicPr>
          <p:cNvPr id="11" name="s1 Image 0" descr="preencoded.png">    </p:cNvPr>
          <p:cNvPicPr>
            <a:picLocks noChangeAspect="1"/>
          </p:cNvPicPr>
          <p:nvPr/>
        </p:nvPicPr>
        <p:blipFill>
          <a:blip r:embed="rId1"/>
          <a:stretch>
            <a:fillRect/>
          </a:stretch>
        </p:blipFill>
        <p:spPr>
          <a:xfrm>
            <a:off x="6876288" y="2249424"/>
            <a:ext cx="4736592" cy="2048256"/>
          </a:xfrm>
          <a:prstGeom prst="rect">
            <a:avLst/>
          </a:prstGeom>
        </p:spPr>
      </p:pic>
      <p:sp>
        <p:nvSpPr>
          <p:cNvPr id="12" name="s1 Text 9"/>
          <p:cNvSpPr/>
          <p:nvPr/>
        </p:nvSpPr>
        <p:spPr>
          <a:xfrm>
            <a:off x="6876288" y="4517136"/>
            <a:ext cx="4736592" cy="274320"/>
          </a:xfrm>
          <a:prstGeom prst="rect">
            <a:avLst/>
          </a:prstGeom>
          <a:noFill/>
          <a:ln/>
        </p:spPr>
        <p:txBody>
          <a:bodyPr wrap="square" lIns="0" tIns="0" rIns="0" bIns="0" rtlCol="0" anchor="ctr"/>
          <a:lstStyle/>
          <a:p>
            <a:pPr algn="r" indent="0" marL="0">
              <a:buNone/>
            </a:pPr>
            <a:r>
              <a:rPr lang="en-US" sz="1100" spc="80" kern="0" dirty="0">
                <a:solidFill>
                  <a:srgbClr val="8794AB"/>
                </a:solidFill>
                <a:latin typeface="Calibri" pitchFamily="34" charset="0"/>
                <a:ea typeface="Calibri" pitchFamily="34" charset="-122"/>
                <a:cs typeface="Calibri" pitchFamily="34" charset="-120"/>
              </a:rPr>
              <a:t>A 14-slide working session on parallel structure</a:t>
            </a:r>
            <a:endParaRPr lang="en-US" sz="1100" dirty="0"/>
          </a:p>
        </p:txBody>
      </p:sp>
    </p:spTree>
  </p:cSld>
  <p:clrMapOvr>
    <a:masterClrMapping/>
  </p:clrMapOvr>
  <p:transition xmlns:p14="http://schemas.microsoft.com/office/powerpoint/2010/main" spd="med" p14:dur="500">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eyebrow"/>
          <p:cNvSpPr/>
          <p:nvPr/>
        </p:nvSpPr>
        <p:spPr>
          <a:xfrm>
            <a:off x="640080" y="457200"/>
            <a:ext cx="10911535" cy="237744"/>
          </a:xfrm>
          <a:prstGeom prst="rect">
            <a:avLst/>
          </a:prstGeom>
          <a:noFill/>
          <a:ln/>
        </p:spPr>
        <p:txBody>
          <a:bodyPr wrap="square" lIns="0" tIns="0" rIns="0" bIns="0" rtlCol="0" anchor="ctr"/>
          <a:lstStyle/>
          <a:p>
            <a:pPr indent="0" marL="0">
              <a:buNone/>
            </a:pPr>
            <a:r>
              <a:rPr lang="en-US" sz="1100" b="1" spc="320" kern="0" dirty="0">
                <a:solidFill>
                  <a:srgbClr val="B4832B"/>
                </a:solidFill>
                <a:latin typeface="Calibri" pitchFamily="34" charset="0"/>
                <a:ea typeface="Calibri" pitchFamily="34" charset="-122"/>
                <a:cs typeface="Calibri" pitchFamily="34" charset="-120"/>
              </a:rPr>
              <a:t>CONTENTS</a:t>
            </a:r>
            <a:endParaRPr lang="en-US" sz="1100" dirty="0"/>
          </a:p>
        </p:txBody>
      </p:sp>
      <p:sp>
        <p:nvSpPr>
          <p:cNvPr id="3" name="heading"/>
          <p:cNvSpPr/>
          <p:nvPr/>
        </p:nvSpPr>
        <p:spPr>
          <a:xfrm>
            <a:off x="640080" y="731520"/>
            <a:ext cx="10911535" cy="566928"/>
          </a:xfrm>
          <a:prstGeom prst="rect">
            <a:avLst/>
          </a:prstGeom>
          <a:noFill/>
          <a:ln/>
        </p:spPr>
        <p:txBody>
          <a:bodyPr wrap="square" lIns="0" tIns="0" rIns="0" bIns="0" rtlCol="0" anchor="t"/>
          <a:lstStyle/>
          <a:p>
            <a:pPr indent="0" marL="0">
              <a:buNone/>
            </a:pPr>
            <a:r>
              <a:rPr lang="en-US" sz="3200" b="1" dirty="0">
                <a:solidFill>
                  <a:srgbClr val="16233A"/>
                </a:solidFill>
                <a:latin typeface="Cambria" pitchFamily="34" charset="0"/>
                <a:ea typeface="Cambria" pitchFamily="34" charset="-122"/>
                <a:cs typeface="Cambria" pitchFamily="34" charset="-120"/>
              </a:rPr>
              <a:t>What this session covers</a:t>
            </a:r>
            <a:endParaRPr lang="en-US" sz="3200" dirty="0"/>
          </a:p>
        </p:txBody>
      </p:sp>
      <p:sp>
        <p:nvSpPr>
          <p:cNvPr id="4" name="standfirst"/>
          <p:cNvSpPr/>
          <p:nvPr/>
        </p:nvSpPr>
        <p:spPr>
          <a:xfrm>
            <a:off x="640080" y="1335024"/>
            <a:ext cx="10911535" cy="329184"/>
          </a:xfrm>
          <a:prstGeom prst="rect">
            <a:avLst/>
          </a:prstGeom>
          <a:noFill/>
          <a:ln/>
        </p:spPr>
        <p:txBody>
          <a:bodyPr wrap="square" lIns="0" tIns="0" rIns="0" bIns="0" rtlCol="0" anchor="ctr"/>
          <a:lstStyle/>
          <a:p>
            <a:pPr indent="0" marL="0">
              <a:buNone/>
            </a:pPr>
            <a:r>
              <a:rPr lang="en-US" sz="1500" dirty="0">
                <a:solidFill>
                  <a:srgbClr val="77839A"/>
                </a:solidFill>
                <a:latin typeface="Calibri" pitchFamily="34" charset="0"/>
                <a:ea typeface="Calibri" pitchFamily="34" charset="-122"/>
                <a:cs typeface="Calibri" pitchFamily="34" charset="-120"/>
              </a:rPr>
              <a:t>One definition, one worked example, four contexts, and the references behind them.</a:t>
            </a:r>
            <a:endParaRPr lang="en-US" sz="1500" dirty="0"/>
          </a:p>
        </p:txBody>
      </p:sp>
      <p:sp>
        <p:nvSpPr>
          <p:cNvPr id="5" name="s2 Shape 3"/>
          <p:cNvSpPr/>
          <p:nvPr/>
        </p:nvSpPr>
        <p:spPr>
          <a:xfrm>
            <a:off x="640080" y="1883664"/>
            <a:ext cx="5272888" cy="1170432"/>
          </a:xfrm>
          <a:prstGeom prst="roundRect">
            <a:avLst>
              <a:gd name="adj" fmla="val 7031"/>
            </a:avLst>
          </a:prstGeom>
          <a:solidFill>
            <a:srgbClr val="FFFFFF"/>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6" name="s2 Shape 4"/>
          <p:cNvSpPr/>
          <p:nvPr/>
        </p:nvSpPr>
        <p:spPr>
          <a:xfrm>
            <a:off x="950976" y="2194560"/>
            <a:ext cx="548640" cy="548640"/>
          </a:xfrm>
          <a:prstGeom prst="ellipse">
            <a:avLst/>
          </a:prstGeom>
          <a:solidFill>
            <a:srgbClr val="FBF4E6"/>
          </a:solidFill>
          <a:ln w="12700">
            <a:solidFill>
              <a:srgbClr val="B4832B"/>
            </a:solidFill>
            <a:prstDash val="solid"/>
          </a:ln>
        </p:spPr>
      </p:sp>
      <p:pic>
        <p:nvPicPr>
          <p:cNvPr id="7" name="s2 Image 0" descr="preencoded.png">    </p:cNvPr>
          <p:cNvPicPr>
            <a:picLocks noChangeAspect="1"/>
          </p:cNvPicPr>
          <p:nvPr/>
        </p:nvPicPr>
        <p:blipFill>
          <a:blip r:embed="rId1"/>
          <a:stretch>
            <a:fillRect/>
          </a:stretch>
        </p:blipFill>
        <p:spPr>
          <a:xfrm>
            <a:off x="1078992" y="2322576"/>
            <a:ext cx="292608" cy="292608"/>
          </a:xfrm>
          <a:prstGeom prst="rect">
            <a:avLst/>
          </a:prstGeom>
        </p:spPr>
      </p:pic>
      <p:sp>
        <p:nvSpPr>
          <p:cNvPr id="8" name="s2 Text 5"/>
          <p:cNvSpPr/>
          <p:nvPr/>
        </p:nvSpPr>
        <p:spPr>
          <a:xfrm>
            <a:off x="1682496" y="2157984"/>
            <a:ext cx="3261208" cy="329184"/>
          </a:xfrm>
          <a:prstGeom prst="rect">
            <a:avLst/>
          </a:prstGeom>
          <a:noFill/>
          <a:ln/>
        </p:spPr>
        <p:txBody>
          <a:bodyPr wrap="square" lIns="0" tIns="0" rIns="0" bIns="0" rtlCol="0" anchor="ctr"/>
          <a:lstStyle/>
          <a:p>
            <a:pPr indent="0" marL="0">
              <a:buNone/>
            </a:pPr>
            <a:r>
              <a:rPr lang="en-US" sz="1800" b="1" dirty="0">
                <a:solidFill>
                  <a:srgbClr val="16233A"/>
                </a:solidFill>
                <a:latin typeface="Cambria" pitchFamily="34" charset="0"/>
                <a:ea typeface="Cambria" pitchFamily="34" charset="-122"/>
                <a:cs typeface="Cambria" pitchFamily="34" charset="-120"/>
              </a:rPr>
              <a:t>Parallelism is…</a:t>
            </a:r>
            <a:endParaRPr lang="en-US" sz="1800" dirty="0"/>
          </a:p>
        </p:txBody>
      </p:sp>
      <p:sp>
        <p:nvSpPr>
          <p:cNvPr id="9" name="s2 Text 6"/>
          <p:cNvSpPr/>
          <p:nvPr/>
        </p:nvSpPr>
        <p:spPr>
          <a:xfrm>
            <a:off x="1682496" y="2523744"/>
            <a:ext cx="3444088" cy="310896"/>
          </a:xfrm>
          <a:prstGeom prst="rect">
            <a:avLst/>
          </a:prstGeom>
          <a:noFill/>
          <a:ln/>
        </p:spPr>
        <p:txBody>
          <a:bodyPr wrap="square" lIns="0" tIns="0" rIns="0" bIns="0" rtlCol="0" anchor="ctr"/>
          <a:lstStyle/>
          <a:p>
            <a:pPr indent="0" marL="0">
              <a:buNone/>
            </a:pPr>
            <a:r>
              <a:rPr lang="en-US" sz="1250" dirty="0">
                <a:solidFill>
                  <a:srgbClr val="77839A"/>
                </a:solidFill>
                <a:latin typeface="Calibri" pitchFamily="34" charset="0"/>
                <a:ea typeface="Calibri" pitchFamily="34" charset="-122"/>
                <a:cs typeface="Calibri" pitchFamily="34" charset="-120"/>
              </a:rPr>
              <a:t>The definition, and the balance it describes</a:t>
            </a:r>
            <a:endParaRPr lang="en-US" sz="1250" dirty="0"/>
          </a:p>
        </p:txBody>
      </p:sp>
      <p:sp>
        <p:nvSpPr>
          <p:cNvPr id="10" name="s2 Text 7"/>
          <p:cNvSpPr/>
          <p:nvPr/>
        </p:nvSpPr>
        <p:spPr>
          <a:xfrm>
            <a:off x="4998568" y="2157984"/>
            <a:ext cx="640080" cy="310896"/>
          </a:xfrm>
          <a:prstGeom prst="rect">
            <a:avLst/>
          </a:prstGeom>
          <a:noFill/>
          <a:ln/>
        </p:spPr>
        <p:txBody>
          <a:bodyPr wrap="square" lIns="0" tIns="0" rIns="0" bIns="0" rtlCol="0" anchor="ctr"/>
          <a:lstStyle/>
          <a:p>
            <a:pPr algn="r" indent="0" marL="0">
              <a:buNone/>
            </a:pPr>
            <a:r>
              <a:rPr lang="en-US" sz="1200" b="1" dirty="0">
                <a:solidFill>
                  <a:srgbClr val="B4832B"/>
                </a:solidFill>
                <a:latin typeface="Calibri" pitchFamily="34" charset="0"/>
                <a:ea typeface="Calibri" pitchFamily="34" charset="-122"/>
                <a:cs typeface="Calibri" pitchFamily="34" charset="-120"/>
              </a:rPr>
              <a:t>03 – 04</a:t>
            </a:r>
            <a:endParaRPr lang="en-US" sz="1200" dirty="0"/>
          </a:p>
        </p:txBody>
      </p:sp>
      <p:sp>
        <p:nvSpPr>
          <p:cNvPr id="11" name="s2 Shape 8"/>
          <p:cNvSpPr/>
          <p:nvPr/>
        </p:nvSpPr>
        <p:spPr>
          <a:xfrm>
            <a:off x="6278728" y="1883664"/>
            <a:ext cx="5272888" cy="1170432"/>
          </a:xfrm>
          <a:prstGeom prst="roundRect">
            <a:avLst>
              <a:gd name="adj" fmla="val 7031"/>
            </a:avLst>
          </a:prstGeom>
          <a:solidFill>
            <a:srgbClr val="F6F8FB"/>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12" name="s2 Shape 9"/>
          <p:cNvSpPr/>
          <p:nvPr/>
        </p:nvSpPr>
        <p:spPr>
          <a:xfrm>
            <a:off x="6589624" y="2194560"/>
            <a:ext cx="548640" cy="548640"/>
          </a:xfrm>
          <a:prstGeom prst="ellipse">
            <a:avLst/>
          </a:prstGeom>
          <a:solidFill>
            <a:srgbClr val="FBF4E6"/>
          </a:solidFill>
          <a:ln w="12700">
            <a:solidFill>
              <a:srgbClr val="B4832B"/>
            </a:solidFill>
            <a:prstDash val="solid"/>
          </a:ln>
        </p:spPr>
      </p:sp>
      <p:pic>
        <p:nvPicPr>
          <p:cNvPr id="13" name="s2 Image 1" descr="preencoded.png">    </p:cNvPr>
          <p:cNvPicPr>
            <a:picLocks noChangeAspect="1"/>
          </p:cNvPicPr>
          <p:nvPr/>
        </p:nvPicPr>
        <p:blipFill>
          <a:blip r:embed="rId2"/>
          <a:stretch>
            <a:fillRect/>
          </a:stretch>
        </p:blipFill>
        <p:spPr>
          <a:xfrm>
            <a:off x="6717640" y="2322576"/>
            <a:ext cx="292608" cy="292608"/>
          </a:xfrm>
          <a:prstGeom prst="rect">
            <a:avLst/>
          </a:prstGeom>
        </p:spPr>
      </p:pic>
      <p:sp>
        <p:nvSpPr>
          <p:cNvPr id="14" name="s2 Text 10"/>
          <p:cNvSpPr/>
          <p:nvPr/>
        </p:nvSpPr>
        <p:spPr>
          <a:xfrm>
            <a:off x="7321144" y="2157984"/>
            <a:ext cx="3261208" cy="329184"/>
          </a:xfrm>
          <a:prstGeom prst="rect">
            <a:avLst/>
          </a:prstGeom>
          <a:noFill/>
          <a:ln/>
        </p:spPr>
        <p:txBody>
          <a:bodyPr wrap="square" lIns="0" tIns="0" rIns="0" bIns="0" rtlCol="0" anchor="ctr"/>
          <a:lstStyle/>
          <a:p>
            <a:pPr indent="0" marL="0">
              <a:buNone/>
            </a:pPr>
            <a:r>
              <a:rPr lang="en-US" sz="1800" b="1" dirty="0">
                <a:solidFill>
                  <a:srgbClr val="16233A"/>
                </a:solidFill>
                <a:latin typeface="Cambria" pitchFamily="34" charset="0"/>
                <a:ea typeface="Cambria" pitchFamily="34" charset="-122"/>
                <a:cs typeface="Cambria" pitchFamily="34" charset="-120"/>
              </a:rPr>
              <a:t>A worked example</a:t>
            </a:r>
            <a:endParaRPr lang="en-US" sz="1800" dirty="0"/>
          </a:p>
        </p:txBody>
      </p:sp>
      <p:sp>
        <p:nvSpPr>
          <p:cNvPr id="15" name="s2 Text 11"/>
          <p:cNvSpPr/>
          <p:nvPr/>
        </p:nvSpPr>
        <p:spPr>
          <a:xfrm>
            <a:off x="7321144" y="2523744"/>
            <a:ext cx="3444088" cy="310896"/>
          </a:xfrm>
          <a:prstGeom prst="rect">
            <a:avLst/>
          </a:prstGeom>
          <a:noFill/>
          <a:ln/>
        </p:spPr>
        <p:txBody>
          <a:bodyPr wrap="square" lIns="0" tIns="0" rIns="0" bIns="0" rtlCol="0" anchor="ctr"/>
          <a:lstStyle/>
          <a:p>
            <a:pPr indent="0" marL="0">
              <a:buNone/>
            </a:pPr>
            <a:r>
              <a:rPr lang="en-US" sz="1250" dirty="0">
                <a:solidFill>
                  <a:srgbClr val="77839A"/>
                </a:solidFill>
                <a:latin typeface="Calibri" pitchFamily="34" charset="0"/>
                <a:ea typeface="Calibri" pitchFamily="34" charset="-122"/>
                <a:cs typeface="Calibri" pitchFamily="34" charset="-120"/>
              </a:rPr>
              <a:t>One sentence, taken apart and repaired</a:t>
            </a:r>
            <a:endParaRPr lang="en-US" sz="1250" dirty="0"/>
          </a:p>
        </p:txBody>
      </p:sp>
      <p:sp>
        <p:nvSpPr>
          <p:cNvPr id="16" name="s2 Text 12"/>
          <p:cNvSpPr/>
          <p:nvPr/>
        </p:nvSpPr>
        <p:spPr>
          <a:xfrm>
            <a:off x="10637215" y="2157984"/>
            <a:ext cx="640080" cy="310896"/>
          </a:xfrm>
          <a:prstGeom prst="rect">
            <a:avLst/>
          </a:prstGeom>
          <a:noFill/>
          <a:ln/>
        </p:spPr>
        <p:txBody>
          <a:bodyPr wrap="square" lIns="0" tIns="0" rIns="0" bIns="0" rtlCol="0" anchor="ctr"/>
          <a:lstStyle/>
          <a:p>
            <a:pPr algn="r" indent="0" marL="0">
              <a:buNone/>
            </a:pPr>
            <a:r>
              <a:rPr lang="en-US" sz="1200" b="1" dirty="0">
                <a:solidFill>
                  <a:srgbClr val="B4832B"/>
                </a:solidFill>
                <a:latin typeface="Calibri" pitchFamily="34" charset="0"/>
                <a:ea typeface="Calibri" pitchFamily="34" charset="-122"/>
                <a:cs typeface="Calibri" pitchFamily="34" charset="-120"/>
              </a:rPr>
              <a:t>05</a:t>
            </a:r>
            <a:endParaRPr lang="en-US" sz="1200" dirty="0"/>
          </a:p>
        </p:txBody>
      </p:sp>
      <p:sp>
        <p:nvSpPr>
          <p:cNvPr id="17" name="s2 Shape 13"/>
          <p:cNvSpPr/>
          <p:nvPr/>
        </p:nvSpPr>
        <p:spPr>
          <a:xfrm>
            <a:off x="640080" y="3255264"/>
            <a:ext cx="5272888" cy="1170432"/>
          </a:xfrm>
          <a:prstGeom prst="roundRect">
            <a:avLst>
              <a:gd name="adj" fmla="val 7031"/>
            </a:avLst>
          </a:prstGeom>
          <a:solidFill>
            <a:srgbClr val="FFFFFF"/>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18" name="s2 Shape 14"/>
          <p:cNvSpPr/>
          <p:nvPr/>
        </p:nvSpPr>
        <p:spPr>
          <a:xfrm>
            <a:off x="950976" y="3566160"/>
            <a:ext cx="548640" cy="548640"/>
          </a:xfrm>
          <a:prstGeom prst="ellipse">
            <a:avLst/>
          </a:prstGeom>
          <a:solidFill>
            <a:srgbClr val="FBF4E6"/>
          </a:solidFill>
          <a:ln w="12700">
            <a:solidFill>
              <a:srgbClr val="B4832B"/>
            </a:solidFill>
            <a:prstDash val="solid"/>
          </a:ln>
        </p:spPr>
      </p:sp>
      <p:pic>
        <p:nvPicPr>
          <p:cNvPr id="19" name="s2 Image 2" descr="preencoded.png">    </p:cNvPr>
          <p:cNvPicPr>
            <a:picLocks noChangeAspect="1"/>
          </p:cNvPicPr>
          <p:nvPr/>
        </p:nvPicPr>
        <p:blipFill>
          <a:blip r:embed="rId3"/>
          <a:stretch>
            <a:fillRect/>
          </a:stretch>
        </p:blipFill>
        <p:spPr>
          <a:xfrm>
            <a:off x="1078992" y="3694176"/>
            <a:ext cx="292608" cy="292608"/>
          </a:xfrm>
          <a:prstGeom prst="rect">
            <a:avLst/>
          </a:prstGeom>
        </p:spPr>
      </p:pic>
      <p:sp>
        <p:nvSpPr>
          <p:cNvPr id="20" name="s2 Text 15"/>
          <p:cNvSpPr/>
          <p:nvPr/>
        </p:nvSpPr>
        <p:spPr>
          <a:xfrm>
            <a:off x="1682496" y="3529584"/>
            <a:ext cx="3261208" cy="329184"/>
          </a:xfrm>
          <a:prstGeom prst="rect">
            <a:avLst/>
          </a:prstGeom>
          <a:noFill/>
          <a:ln/>
        </p:spPr>
        <p:txBody>
          <a:bodyPr wrap="square" lIns="0" tIns="0" rIns="0" bIns="0" rtlCol="0" anchor="ctr"/>
          <a:lstStyle/>
          <a:p>
            <a:pPr indent="0" marL="0">
              <a:buNone/>
            </a:pPr>
            <a:r>
              <a:rPr lang="en-US" sz="1800" b="1" dirty="0">
                <a:solidFill>
                  <a:srgbClr val="16233A"/>
                </a:solidFill>
                <a:latin typeface="Cambria" pitchFamily="34" charset="0"/>
                <a:ea typeface="Cambria" pitchFamily="34" charset="-122"/>
                <a:cs typeface="Cambria" pitchFamily="34" charset="-120"/>
              </a:rPr>
              <a:t>Not parallel vs parallel</a:t>
            </a:r>
            <a:endParaRPr lang="en-US" sz="1800" dirty="0"/>
          </a:p>
        </p:txBody>
      </p:sp>
      <p:sp>
        <p:nvSpPr>
          <p:cNvPr id="21" name="s2 Text 16"/>
          <p:cNvSpPr/>
          <p:nvPr/>
        </p:nvSpPr>
        <p:spPr>
          <a:xfrm>
            <a:off x="1682496" y="3895344"/>
            <a:ext cx="3444088" cy="310896"/>
          </a:xfrm>
          <a:prstGeom prst="rect">
            <a:avLst/>
          </a:prstGeom>
          <a:noFill/>
          <a:ln/>
        </p:spPr>
        <p:txBody>
          <a:bodyPr wrap="square" lIns="0" tIns="0" rIns="0" bIns="0" rtlCol="0" anchor="ctr"/>
          <a:lstStyle/>
          <a:p>
            <a:pPr indent="0" marL="0">
              <a:buNone/>
            </a:pPr>
            <a:r>
              <a:rPr lang="en-US" sz="1250" dirty="0">
                <a:solidFill>
                  <a:srgbClr val="77839A"/>
                </a:solidFill>
                <a:latin typeface="Calibri" pitchFamily="34" charset="0"/>
                <a:ea typeface="Calibri" pitchFamily="34" charset="-122"/>
                <a:cs typeface="Calibri" pitchFamily="34" charset="-120"/>
              </a:rPr>
              <a:t>Four short pairs, side by side</a:t>
            </a:r>
            <a:endParaRPr lang="en-US" sz="1250" dirty="0"/>
          </a:p>
        </p:txBody>
      </p:sp>
      <p:sp>
        <p:nvSpPr>
          <p:cNvPr id="22" name="s2 Text 17"/>
          <p:cNvSpPr/>
          <p:nvPr/>
        </p:nvSpPr>
        <p:spPr>
          <a:xfrm>
            <a:off x="4998568" y="3529584"/>
            <a:ext cx="640080" cy="310896"/>
          </a:xfrm>
          <a:prstGeom prst="rect">
            <a:avLst/>
          </a:prstGeom>
          <a:noFill/>
          <a:ln/>
        </p:spPr>
        <p:txBody>
          <a:bodyPr wrap="square" lIns="0" tIns="0" rIns="0" bIns="0" rtlCol="0" anchor="ctr"/>
          <a:lstStyle/>
          <a:p>
            <a:pPr algn="r" indent="0" marL="0">
              <a:buNone/>
            </a:pPr>
            <a:r>
              <a:rPr lang="en-US" sz="1200" b="1" dirty="0">
                <a:solidFill>
                  <a:srgbClr val="B4832B"/>
                </a:solidFill>
                <a:latin typeface="Calibri" pitchFamily="34" charset="0"/>
                <a:ea typeface="Calibri" pitchFamily="34" charset="-122"/>
                <a:cs typeface="Calibri" pitchFamily="34" charset="-120"/>
              </a:rPr>
              <a:t>06</a:t>
            </a:r>
            <a:endParaRPr lang="en-US" sz="1200" dirty="0"/>
          </a:p>
        </p:txBody>
      </p:sp>
      <p:sp>
        <p:nvSpPr>
          <p:cNvPr id="23" name="s2 Shape 18"/>
          <p:cNvSpPr/>
          <p:nvPr/>
        </p:nvSpPr>
        <p:spPr>
          <a:xfrm>
            <a:off x="6278728" y="3255264"/>
            <a:ext cx="5272888" cy="1170432"/>
          </a:xfrm>
          <a:prstGeom prst="roundRect">
            <a:avLst>
              <a:gd name="adj" fmla="val 7031"/>
            </a:avLst>
          </a:prstGeom>
          <a:solidFill>
            <a:srgbClr val="F6F8FB"/>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24" name="s2 Shape 19"/>
          <p:cNvSpPr/>
          <p:nvPr/>
        </p:nvSpPr>
        <p:spPr>
          <a:xfrm>
            <a:off x="6589624" y="3566160"/>
            <a:ext cx="548640" cy="548640"/>
          </a:xfrm>
          <a:prstGeom prst="ellipse">
            <a:avLst/>
          </a:prstGeom>
          <a:solidFill>
            <a:srgbClr val="FBF4E6"/>
          </a:solidFill>
          <a:ln w="12700">
            <a:solidFill>
              <a:srgbClr val="B4832B"/>
            </a:solidFill>
            <a:prstDash val="solid"/>
          </a:ln>
        </p:spPr>
      </p:sp>
      <p:pic>
        <p:nvPicPr>
          <p:cNvPr id="25" name="s2 Image 3" descr="preencoded.png">    </p:cNvPr>
          <p:cNvPicPr>
            <a:picLocks noChangeAspect="1"/>
          </p:cNvPicPr>
          <p:nvPr/>
        </p:nvPicPr>
        <p:blipFill>
          <a:blip r:embed="rId4"/>
          <a:stretch>
            <a:fillRect/>
          </a:stretch>
        </p:blipFill>
        <p:spPr>
          <a:xfrm>
            <a:off x="6717640" y="3694176"/>
            <a:ext cx="292608" cy="292608"/>
          </a:xfrm>
          <a:prstGeom prst="rect">
            <a:avLst/>
          </a:prstGeom>
        </p:spPr>
      </p:pic>
      <p:sp>
        <p:nvSpPr>
          <p:cNvPr id="26" name="s2 Text 20"/>
          <p:cNvSpPr/>
          <p:nvPr/>
        </p:nvSpPr>
        <p:spPr>
          <a:xfrm>
            <a:off x="7321144" y="3529584"/>
            <a:ext cx="3261208" cy="329184"/>
          </a:xfrm>
          <a:prstGeom prst="rect">
            <a:avLst/>
          </a:prstGeom>
          <a:noFill/>
          <a:ln/>
        </p:spPr>
        <p:txBody>
          <a:bodyPr wrap="square" lIns="0" tIns="0" rIns="0" bIns="0" rtlCol="0" anchor="ctr"/>
          <a:lstStyle/>
          <a:p>
            <a:pPr indent="0" marL="0">
              <a:buNone/>
            </a:pPr>
            <a:r>
              <a:rPr lang="en-US" sz="1800" b="1" dirty="0">
                <a:solidFill>
                  <a:srgbClr val="16233A"/>
                </a:solidFill>
                <a:latin typeface="Cambria" pitchFamily="34" charset="0"/>
                <a:ea typeface="Cambria" pitchFamily="34" charset="-122"/>
                <a:cs typeface="Cambria" pitchFamily="34" charset="-120"/>
              </a:rPr>
              <a:t>Using parallel structure</a:t>
            </a:r>
            <a:endParaRPr lang="en-US" sz="1800" dirty="0"/>
          </a:p>
        </p:txBody>
      </p:sp>
      <p:sp>
        <p:nvSpPr>
          <p:cNvPr id="27" name="s2 Text 21"/>
          <p:cNvSpPr/>
          <p:nvPr/>
        </p:nvSpPr>
        <p:spPr>
          <a:xfrm>
            <a:off x="7321144" y="3895344"/>
            <a:ext cx="3444088" cy="310896"/>
          </a:xfrm>
          <a:prstGeom prst="rect">
            <a:avLst/>
          </a:prstGeom>
          <a:noFill/>
          <a:ln/>
        </p:spPr>
        <p:txBody>
          <a:bodyPr wrap="square" lIns="0" tIns="0" rIns="0" bIns="0" rtlCol="0" anchor="ctr"/>
          <a:lstStyle/>
          <a:p>
            <a:pPr indent="0" marL="0">
              <a:buNone/>
            </a:pPr>
            <a:r>
              <a:rPr lang="en-US" sz="1250" dirty="0">
                <a:solidFill>
                  <a:srgbClr val="77839A"/>
                </a:solidFill>
                <a:latin typeface="Calibri" pitchFamily="34" charset="0"/>
                <a:ea typeface="Calibri" pitchFamily="34" charset="-122"/>
                <a:cs typeface="Calibri" pitchFamily="34" charset="-120"/>
              </a:rPr>
              <a:t>The four contexts that demand it</a:t>
            </a:r>
            <a:endParaRPr lang="en-US" sz="1250" dirty="0"/>
          </a:p>
        </p:txBody>
      </p:sp>
      <p:sp>
        <p:nvSpPr>
          <p:cNvPr id="28" name="s2 Text 22"/>
          <p:cNvSpPr/>
          <p:nvPr/>
        </p:nvSpPr>
        <p:spPr>
          <a:xfrm>
            <a:off x="10637215" y="3529584"/>
            <a:ext cx="640080" cy="310896"/>
          </a:xfrm>
          <a:prstGeom prst="rect">
            <a:avLst/>
          </a:prstGeom>
          <a:noFill/>
          <a:ln/>
        </p:spPr>
        <p:txBody>
          <a:bodyPr wrap="square" lIns="0" tIns="0" rIns="0" bIns="0" rtlCol="0" anchor="ctr"/>
          <a:lstStyle/>
          <a:p>
            <a:pPr algn="r" indent="0" marL="0">
              <a:buNone/>
            </a:pPr>
            <a:r>
              <a:rPr lang="en-US" sz="1200" b="1" dirty="0">
                <a:solidFill>
                  <a:srgbClr val="B4832B"/>
                </a:solidFill>
                <a:latin typeface="Calibri" pitchFamily="34" charset="0"/>
                <a:ea typeface="Calibri" pitchFamily="34" charset="-122"/>
                <a:cs typeface="Calibri" pitchFamily="34" charset="-120"/>
              </a:rPr>
              <a:t>07 – 11</a:t>
            </a:r>
            <a:endParaRPr lang="en-US" sz="1200" dirty="0"/>
          </a:p>
        </p:txBody>
      </p:sp>
      <p:sp>
        <p:nvSpPr>
          <p:cNvPr id="29" name="s2 Shape 23"/>
          <p:cNvSpPr/>
          <p:nvPr/>
        </p:nvSpPr>
        <p:spPr>
          <a:xfrm>
            <a:off x="640080" y="4626864"/>
            <a:ext cx="5272888" cy="1170432"/>
          </a:xfrm>
          <a:prstGeom prst="roundRect">
            <a:avLst>
              <a:gd name="adj" fmla="val 7031"/>
            </a:avLst>
          </a:prstGeom>
          <a:solidFill>
            <a:srgbClr val="FFFFFF"/>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30" name="s2 Shape 24"/>
          <p:cNvSpPr/>
          <p:nvPr/>
        </p:nvSpPr>
        <p:spPr>
          <a:xfrm>
            <a:off x="950976" y="4937760"/>
            <a:ext cx="548640" cy="548640"/>
          </a:xfrm>
          <a:prstGeom prst="ellipse">
            <a:avLst/>
          </a:prstGeom>
          <a:solidFill>
            <a:srgbClr val="FBF4E6"/>
          </a:solidFill>
          <a:ln w="12700">
            <a:solidFill>
              <a:srgbClr val="B4832B"/>
            </a:solidFill>
            <a:prstDash val="solid"/>
          </a:ln>
        </p:spPr>
      </p:sp>
      <p:pic>
        <p:nvPicPr>
          <p:cNvPr id="31" name="s2 Image 4" descr="preencoded.png">    </p:cNvPr>
          <p:cNvPicPr>
            <a:picLocks noChangeAspect="1"/>
          </p:cNvPicPr>
          <p:nvPr/>
        </p:nvPicPr>
        <p:blipFill>
          <a:blip r:embed="rId5"/>
          <a:stretch>
            <a:fillRect/>
          </a:stretch>
        </p:blipFill>
        <p:spPr>
          <a:xfrm>
            <a:off x="1078992" y="5065776"/>
            <a:ext cx="292608" cy="292608"/>
          </a:xfrm>
          <a:prstGeom prst="rect">
            <a:avLst/>
          </a:prstGeom>
        </p:spPr>
      </p:pic>
      <p:sp>
        <p:nvSpPr>
          <p:cNvPr id="32" name="s2 Text 25"/>
          <p:cNvSpPr/>
          <p:nvPr/>
        </p:nvSpPr>
        <p:spPr>
          <a:xfrm>
            <a:off x="1682496" y="4901184"/>
            <a:ext cx="3261208" cy="329184"/>
          </a:xfrm>
          <a:prstGeom prst="rect">
            <a:avLst/>
          </a:prstGeom>
          <a:noFill/>
          <a:ln/>
        </p:spPr>
        <p:txBody>
          <a:bodyPr wrap="square" lIns="0" tIns="0" rIns="0" bIns="0" rtlCol="0" anchor="ctr"/>
          <a:lstStyle/>
          <a:p>
            <a:pPr indent="0" marL="0">
              <a:buNone/>
            </a:pPr>
            <a:r>
              <a:rPr lang="en-US" sz="1800" b="1" dirty="0">
                <a:solidFill>
                  <a:srgbClr val="16233A"/>
                </a:solidFill>
                <a:latin typeface="Cambria" pitchFamily="34" charset="0"/>
                <a:ea typeface="Cambria" pitchFamily="34" charset="-122"/>
                <a:cs typeface="Cambria" pitchFamily="34" charset="-120"/>
              </a:rPr>
              <a:t>Summary</a:t>
            </a:r>
            <a:endParaRPr lang="en-US" sz="1800" dirty="0"/>
          </a:p>
        </p:txBody>
      </p:sp>
      <p:sp>
        <p:nvSpPr>
          <p:cNvPr id="33" name="s2 Text 26"/>
          <p:cNvSpPr/>
          <p:nvPr/>
        </p:nvSpPr>
        <p:spPr>
          <a:xfrm>
            <a:off x="1682496" y="5266944"/>
            <a:ext cx="3444088" cy="310896"/>
          </a:xfrm>
          <a:prstGeom prst="rect">
            <a:avLst/>
          </a:prstGeom>
          <a:noFill/>
          <a:ln/>
        </p:spPr>
        <p:txBody>
          <a:bodyPr wrap="square" lIns="0" tIns="0" rIns="0" bIns="0" rtlCol="0" anchor="ctr"/>
          <a:lstStyle/>
          <a:p>
            <a:pPr indent="0" marL="0">
              <a:buNone/>
            </a:pPr>
            <a:r>
              <a:rPr lang="en-US" sz="1250" dirty="0">
                <a:solidFill>
                  <a:srgbClr val="77839A"/>
                </a:solidFill>
                <a:latin typeface="Calibri" pitchFamily="34" charset="0"/>
                <a:ea typeface="Calibri" pitchFamily="34" charset="-122"/>
                <a:cs typeface="Calibri" pitchFamily="34" charset="-120"/>
              </a:rPr>
              <a:t>The rule, the four contexts, the test</a:t>
            </a:r>
            <a:endParaRPr lang="en-US" sz="1250" dirty="0"/>
          </a:p>
        </p:txBody>
      </p:sp>
      <p:sp>
        <p:nvSpPr>
          <p:cNvPr id="34" name="s2 Text 27"/>
          <p:cNvSpPr/>
          <p:nvPr/>
        </p:nvSpPr>
        <p:spPr>
          <a:xfrm>
            <a:off x="4998568" y="4901184"/>
            <a:ext cx="640080" cy="310896"/>
          </a:xfrm>
          <a:prstGeom prst="rect">
            <a:avLst/>
          </a:prstGeom>
          <a:noFill/>
          <a:ln/>
        </p:spPr>
        <p:txBody>
          <a:bodyPr wrap="square" lIns="0" tIns="0" rIns="0" bIns="0" rtlCol="0" anchor="ctr"/>
          <a:lstStyle/>
          <a:p>
            <a:pPr algn="r" indent="0" marL="0">
              <a:buNone/>
            </a:pPr>
            <a:r>
              <a:rPr lang="en-US" sz="1200" b="1" dirty="0">
                <a:solidFill>
                  <a:srgbClr val="B4832B"/>
                </a:solidFill>
                <a:latin typeface="Calibri" pitchFamily="34" charset="0"/>
                <a:ea typeface="Calibri" pitchFamily="34" charset="-122"/>
                <a:cs typeface="Calibri" pitchFamily="34" charset="-120"/>
              </a:rPr>
              <a:t>12</a:t>
            </a:r>
            <a:endParaRPr lang="en-US" sz="1200" dirty="0"/>
          </a:p>
        </p:txBody>
      </p:sp>
      <p:sp>
        <p:nvSpPr>
          <p:cNvPr id="35" name="s2 Shape 28"/>
          <p:cNvSpPr/>
          <p:nvPr/>
        </p:nvSpPr>
        <p:spPr>
          <a:xfrm>
            <a:off x="6278728" y="4626864"/>
            <a:ext cx="5272888" cy="1170432"/>
          </a:xfrm>
          <a:prstGeom prst="roundRect">
            <a:avLst>
              <a:gd name="adj" fmla="val 7031"/>
            </a:avLst>
          </a:prstGeom>
          <a:solidFill>
            <a:srgbClr val="F6F8FB"/>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36" name="s2 Shape 29"/>
          <p:cNvSpPr/>
          <p:nvPr/>
        </p:nvSpPr>
        <p:spPr>
          <a:xfrm>
            <a:off x="6589624" y="4937760"/>
            <a:ext cx="548640" cy="548640"/>
          </a:xfrm>
          <a:prstGeom prst="ellipse">
            <a:avLst/>
          </a:prstGeom>
          <a:solidFill>
            <a:srgbClr val="FBF4E6"/>
          </a:solidFill>
          <a:ln w="12700">
            <a:solidFill>
              <a:srgbClr val="B4832B"/>
            </a:solidFill>
            <a:prstDash val="solid"/>
          </a:ln>
        </p:spPr>
      </p:sp>
      <p:pic>
        <p:nvPicPr>
          <p:cNvPr id="37" name="s2 Image 5" descr="preencoded.png">    </p:cNvPr>
          <p:cNvPicPr>
            <a:picLocks noChangeAspect="1"/>
          </p:cNvPicPr>
          <p:nvPr/>
        </p:nvPicPr>
        <p:blipFill>
          <a:blip r:embed="rId6"/>
          <a:stretch>
            <a:fillRect/>
          </a:stretch>
        </p:blipFill>
        <p:spPr>
          <a:xfrm>
            <a:off x="6717640" y="5065776"/>
            <a:ext cx="292608" cy="292608"/>
          </a:xfrm>
          <a:prstGeom prst="rect">
            <a:avLst/>
          </a:prstGeom>
        </p:spPr>
      </p:pic>
      <p:sp>
        <p:nvSpPr>
          <p:cNvPr id="38" name="s2 Text 30"/>
          <p:cNvSpPr/>
          <p:nvPr/>
        </p:nvSpPr>
        <p:spPr>
          <a:xfrm>
            <a:off x="7321144" y="4901184"/>
            <a:ext cx="3261208" cy="329184"/>
          </a:xfrm>
          <a:prstGeom prst="rect">
            <a:avLst/>
          </a:prstGeom>
          <a:noFill/>
          <a:ln/>
        </p:spPr>
        <p:txBody>
          <a:bodyPr wrap="square" lIns="0" tIns="0" rIns="0" bIns="0" rtlCol="0" anchor="ctr"/>
          <a:lstStyle/>
          <a:p>
            <a:pPr indent="0" marL="0">
              <a:buNone/>
            </a:pPr>
            <a:r>
              <a:rPr lang="en-US" sz="1800" b="1" dirty="0">
                <a:solidFill>
                  <a:srgbClr val="16233A"/>
                </a:solidFill>
                <a:latin typeface="Cambria" pitchFamily="34" charset="0"/>
                <a:ea typeface="Cambria" pitchFamily="34" charset="-122"/>
                <a:cs typeface="Cambria" pitchFamily="34" charset="-120"/>
              </a:rPr>
              <a:t>References</a:t>
            </a:r>
            <a:endParaRPr lang="en-US" sz="1800" dirty="0"/>
          </a:p>
        </p:txBody>
      </p:sp>
      <p:sp>
        <p:nvSpPr>
          <p:cNvPr id="39" name="s2 Text 31"/>
          <p:cNvSpPr/>
          <p:nvPr/>
        </p:nvSpPr>
        <p:spPr>
          <a:xfrm>
            <a:off x="7321144" y="5266944"/>
            <a:ext cx="3444088" cy="310896"/>
          </a:xfrm>
          <a:prstGeom prst="rect">
            <a:avLst/>
          </a:prstGeom>
          <a:noFill/>
          <a:ln/>
        </p:spPr>
        <p:txBody>
          <a:bodyPr wrap="square" lIns="0" tIns="0" rIns="0" bIns="0" rtlCol="0" anchor="ctr"/>
          <a:lstStyle/>
          <a:p>
            <a:pPr indent="0" marL="0">
              <a:buNone/>
            </a:pPr>
            <a:r>
              <a:rPr lang="en-US" sz="1250" dirty="0">
                <a:solidFill>
                  <a:srgbClr val="77839A"/>
                </a:solidFill>
                <a:latin typeface="Calibri" pitchFamily="34" charset="0"/>
                <a:ea typeface="Calibri" pitchFamily="34" charset="-122"/>
                <a:cs typeface="Calibri" pitchFamily="34" charset="-120"/>
              </a:rPr>
              <a:t>Where the material comes from</a:t>
            </a:r>
            <a:endParaRPr lang="en-US" sz="1250" dirty="0"/>
          </a:p>
        </p:txBody>
      </p:sp>
      <p:sp>
        <p:nvSpPr>
          <p:cNvPr id="40" name="s2 Text 32"/>
          <p:cNvSpPr/>
          <p:nvPr/>
        </p:nvSpPr>
        <p:spPr>
          <a:xfrm>
            <a:off x="10637215" y="4901184"/>
            <a:ext cx="640080" cy="310896"/>
          </a:xfrm>
          <a:prstGeom prst="rect">
            <a:avLst/>
          </a:prstGeom>
          <a:noFill/>
          <a:ln/>
        </p:spPr>
        <p:txBody>
          <a:bodyPr wrap="square" lIns="0" tIns="0" rIns="0" bIns="0" rtlCol="0" anchor="ctr"/>
          <a:lstStyle/>
          <a:p>
            <a:pPr algn="r" indent="0" marL="0">
              <a:buNone/>
            </a:pPr>
            <a:r>
              <a:rPr lang="en-US" sz="1200" b="1" dirty="0">
                <a:solidFill>
                  <a:srgbClr val="B4832B"/>
                </a:solidFill>
                <a:latin typeface="Calibri" pitchFamily="34" charset="0"/>
                <a:ea typeface="Calibri" pitchFamily="34" charset="-122"/>
                <a:cs typeface="Calibri" pitchFamily="34" charset="-120"/>
              </a:rPr>
              <a:t>13</a:t>
            </a:r>
            <a:endParaRPr lang="en-US" sz="1200" dirty="0"/>
          </a:p>
        </p:txBody>
      </p:sp>
      <p:sp>
        <p:nvSpPr>
          <p:cNvPr id="41" name="footDeck"/>
          <p:cNvSpPr/>
          <p:nvPr/>
        </p:nvSpPr>
        <p:spPr>
          <a:xfrm>
            <a:off x="640080" y="6345936"/>
            <a:ext cx="4023360" cy="256032"/>
          </a:xfrm>
          <a:prstGeom prst="rect">
            <a:avLst/>
          </a:prstGeom>
          <a:noFill/>
          <a:ln/>
        </p:spPr>
        <p:txBody>
          <a:bodyPr wrap="square" lIns="0" tIns="0" rIns="0" bIns="0" rtlCol="0" anchor="ctr"/>
          <a:lstStyle/>
          <a:p>
            <a:pPr indent="0" marL="0">
              <a:buNone/>
            </a:pPr>
            <a:r>
              <a:rPr lang="en-US" sz="950" spc="60" kern="0" dirty="0">
                <a:solidFill>
                  <a:srgbClr val="77839A"/>
                </a:solidFill>
                <a:latin typeface="Calibri" pitchFamily="34" charset="0"/>
                <a:ea typeface="Calibri" pitchFamily="34" charset="-122"/>
                <a:cs typeface="Calibri" pitchFamily="34" charset="-120"/>
              </a:rPr>
              <a:t>Parallelism (in Grammar)</a:t>
            </a:r>
            <a:endParaRPr lang="en-US" sz="950" dirty="0"/>
          </a:p>
        </p:txBody>
      </p:sp>
      <p:sp>
        <p:nvSpPr>
          <p:cNvPr id="42" name="footNav"/>
          <p:cNvSpPr/>
          <p:nvPr/>
        </p:nvSpPr>
        <p:spPr>
          <a:xfrm>
            <a:off x="7528255" y="6345936"/>
            <a:ext cx="4023360" cy="256032"/>
          </a:xfrm>
          <a:prstGeom prst="rect">
            <a:avLst/>
          </a:prstGeom>
          <a:noFill/>
          <a:ln/>
        </p:spPr>
        <p:txBody>
          <a:bodyPr wrap="square" lIns="0" tIns="0" rIns="0" bIns="0" rtlCol="0" anchor="ctr"/>
          <a:lstStyle/>
          <a:p>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7" action="ppaction://hlinksldjump" tooltip="">
                  <a:extLst>
                    <a:ext uri="{A12FA001-AC4F-418D-AE19-62706E023703}">
                      <ahyp:hlinkClr xmlns:ahyp="http://schemas.microsoft.com/office/drawing/2018/hyperlinkcolor" val="tx"/>
                    </a:ext>
                  </a:extLst>
                </a:hlinkClick>
              </a:rPr>
              <a:t>CONTENTS</a:t>
            </a:r>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8" action="ppaction://hlinksldjump" tooltip="">
                  <a:extLst>
                    <a:ext uri="{A12FA001-AC4F-418D-AE19-62706E023703}">
                      <ahyp:hlinkClr xmlns:ahyp="http://schemas.microsoft.com/office/drawing/2018/hyperlinkcolor" val="tx"/>
                    </a:ext>
                  </a:extLst>
                </a:hlinkClick>
              </a:rPr>
              <a:t>     ‹ </a:t>
            </a:r>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9" action="ppaction://hlinksldjump" tooltip="">
                  <a:extLst>
                    <a:ext uri="{A12FA001-AC4F-418D-AE19-62706E023703}">
                      <ahyp:hlinkClr xmlns:ahyp="http://schemas.microsoft.com/office/drawing/2018/hyperlinkcolor" val="tx"/>
                    </a:ext>
                  </a:extLst>
                </a:hlinkClick>
              </a:rPr>
              <a:t> › </a:t>
            </a:r>
            <a:pPr algn="r" indent="0" marL="0">
              <a:buNone/>
            </a:pPr>
            <a:r>
              <a:rPr lang="en-US" sz="950" b="1" spc="80" kern="0" dirty="0">
                <a:solidFill>
                  <a:srgbClr val="16233A"/>
                </a:solidFill>
                <a:latin typeface="Calibri" pitchFamily="34" charset="0"/>
                <a:ea typeface="Calibri" pitchFamily="34" charset="-122"/>
                <a:cs typeface="Calibri" pitchFamily="34" charset="-120"/>
              </a:rPr>
              <a:t>    02 / 14</a:t>
            </a:r>
            <a:endParaRPr lang="en-US" sz="950" dirty="0"/>
          </a:p>
        </p:txBody>
      </p:sp>
    </p:spTree>
  </p:cSld>
  <p:clrMapOvr>
    <a:masterClrMapping/>
  </p:clrMapOvr>
  <p:transition xmlns:p14="http://schemas.microsoft.com/office/powerpoint/2010/main" spd="med" p14:dur="500">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eyebrow"/>
          <p:cNvSpPr/>
          <p:nvPr/>
        </p:nvSpPr>
        <p:spPr>
          <a:xfrm>
            <a:off x="640080" y="457200"/>
            <a:ext cx="10911535" cy="237744"/>
          </a:xfrm>
          <a:prstGeom prst="rect">
            <a:avLst/>
          </a:prstGeom>
          <a:noFill/>
          <a:ln/>
        </p:spPr>
        <p:txBody>
          <a:bodyPr wrap="square" lIns="0" tIns="0" rIns="0" bIns="0" rtlCol="0" anchor="ctr"/>
          <a:lstStyle/>
          <a:p>
            <a:pPr indent="0" marL="0">
              <a:buNone/>
            </a:pPr>
            <a:r>
              <a:rPr lang="en-US" sz="1100" b="1" spc="320" kern="0" dirty="0">
                <a:solidFill>
                  <a:srgbClr val="B4832B"/>
                </a:solidFill>
                <a:latin typeface="Calibri" pitchFamily="34" charset="0"/>
                <a:ea typeface="Calibri" pitchFamily="34" charset="-122"/>
                <a:cs typeface="Calibri" pitchFamily="34" charset="-120"/>
              </a:rPr>
              <a:t>STARTING POINT</a:t>
            </a:r>
            <a:endParaRPr lang="en-US" sz="1100" dirty="0"/>
          </a:p>
        </p:txBody>
      </p:sp>
      <p:sp>
        <p:nvSpPr>
          <p:cNvPr id="3" name="heading"/>
          <p:cNvSpPr/>
          <p:nvPr/>
        </p:nvSpPr>
        <p:spPr>
          <a:xfrm>
            <a:off x="640080" y="731520"/>
            <a:ext cx="10911535" cy="566928"/>
          </a:xfrm>
          <a:prstGeom prst="rect">
            <a:avLst/>
          </a:prstGeom>
          <a:noFill/>
          <a:ln/>
        </p:spPr>
        <p:txBody>
          <a:bodyPr wrap="square" lIns="0" tIns="0" rIns="0" bIns="0" rtlCol="0" anchor="t"/>
          <a:lstStyle/>
          <a:p>
            <a:pPr indent="0" marL="0">
              <a:buNone/>
            </a:pPr>
            <a:r>
              <a:rPr lang="en-US" sz="3200" b="1" dirty="0">
                <a:solidFill>
                  <a:srgbClr val="16233A"/>
                </a:solidFill>
                <a:latin typeface="Cambria" pitchFamily="34" charset="0"/>
                <a:ea typeface="Cambria" pitchFamily="34" charset="-122"/>
                <a:cs typeface="Cambria" pitchFamily="34" charset="-120"/>
              </a:rPr>
              <a:t>“Parallelism… in grammar?”</a:t>
            </a:r>
            <a:endParaRPr lang="en-US" sz="3200" dirty="0"/>
          </a:p>
        </p:txBody>
      </p:sp>
      <p:sp>
        <p:nvSpPr>
          <p:cNvPr id="4" name="standfirst"/>
          <p:cNvSpPr/>
          <p:nvPr/>
        </p:nvSpPr>
        <p:spPr>
          <a:xfrm>
            <a:off x="640080" y="1335024"/>
            <a:ext cx="10911535" cy="329184"/>
          </a:xfrm>
          <a:prstGeom prst="rect">
            <a:avLst/>
          </a:prstGeom>
          <a:noFill/>
          <a:ln/>
        </p:spPr>
        <p:txBody>
          <a:bodyPr wrap="square" lIns="0" tIns="0" rIns="0" bIns="0" rtlCol="0" anchor="ctr"/>
          <a:lstStyle/>
          <a:p>
            <a:pPr indent="0" marL="0">
              <a:buNone/>
            </a:pPr>
            <a:r>
              <a:rPr lang="en-US" sz="1500" dirty="0">
                <a:solidFill>
                  <a:srgbClr val="77839A"/>
                </a:solidFill>
                <a:latin typeface="Calibri" pitchFamily="34" charset="0"/>
                <a:ea typeface="Calibri" pitchFamily="34" charset="-122"/>
                <a:cs typeface="Calibri" pitchFamily="34" charset="-120"/>
              </a:rPr>
              <a:t>The word comes from the railway: two rails, the same distance apart, all the way along.</a:t>
            </a:r>
            <a:endParaRPr lang="en-US" sz="1500" dirty="0"/>
          </a:p>
        </p:txBody>
      </p:sp>
      <p:pic>
        <p:nvPicPr>
          <p:cNvPr id="5" name="s3 Image 0" descr="preencoded.png">    </p:cNvPr>
          <p:cNvPicPr>
            <a:picLocks noChangeAspect="1"/>
          </p:cNvPicPr>
          <p:nvPr/>
        </p:nvPicPr>
        <p:blipFill>
          <a:blip r:embed="rId1"/>
          <a:stretch>
            <a:fillRect/>
          </a:stretch>
        </p:blipFill>
        <p:spPr>
          <a:xfrm>
            <a:off x="640080" y="1975104"/>
            <a:ext cx="6766560" cy="2935224"/>
          </a:xfrm>
          <a:prstGeom prst="rect">
            <a:avLst/>
          </a:prstGeom>
        </p:spPr>
      </p:pic>
      <p:sp>
        <p:nvSpPr>
          <p:cNvPr id="6" name="s3 Shape 3"/>
          <p:cNvSpPr/>
          <p:nvPr/>
        </p:nvSpPr>
        <p:spPr>
          <a:xfrm>
            <a:off x="7680960" y="1975104"/>
            <a:ext cx="3870655" cy="2935224"/>
          </a:xfrm>
          <a:prstGeom prst="roundRect">
            <a:avLst>
              <a:gd name="adj" fmla="val 2804"/>
            </a:avLst>
          </a:prstGeom>
          <a:solidFill>
            <a:srgbClr val="F6F8FB"/>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7" name="s3 Text 4"/>
          <p:cNvSpPr/>
          <p:nvPr/>
        </p:nvSpPr>
        <p:spPr>
          <a:xfrm>
            <a:off x="7991856" y="2286000"/>
            <a:ext cx="3291840" cy="329184"/>
          </a:xfrm>
          <a:prstGeom prst="rect">
            <a:avLst/>
          </a:prstGeom>
          <a:noFill/>
          <a:ln/>
        </p:spPr>
        <p:txBody>
          <a:bodyPr wrap="square" lIns="0" tIns="0" rIns="0" bIns="0" rtlCol="0" anchor="ctr"/>
          <a:lstStyle/>
          <a:p>
            <a:pPr indent="0" marL="0">
              <a:buNone/>
            </a:pPr>
            <a:r>
              <a:rPr lang="en-US" sz="1900" b="1" dirty="0">
                <a:solidFill>
                  <a:srgbClr val="16233A"/>
                </a:solidFill>
                <a:latin typeface="Cambria" pitchFamily="34" charset="0"/>
                <a:ea typeface="Cambria" pitchFamily="34" charset="-122"/>
                <a:cs typeface="Cambria" pitchFamily="34" charset="-120"/>
              </a:rPr>
              <a:t>What people expect</a:t>
            </a:r>
            <a:endParaRPr lang="en-US" sz="1900" dirty="0"/>
          </a:p>
        </p:txBody>
      </p:sp>
      <p:sp>
        <p:nvSpPr>
          <p:cNvPr id="8" name="s3 Text 5"/>
          <p:cNvSpPr/>
          <p:nvPr/>
        </p:nvSpPr>
        <p:spPr>
          <a:xfrm>
            <a:off x="7991856" y="2670048"/>
            <a:ext cx="3310128" cy="566928"/>
          </a:xfrm>
          <a:prstGeom prst="rect">
            <a:avLst/>
          </a:prstGeom>
          <a:noFill/>
          <a:ln/>
        </p:spPr>
        <p:txBody>
          <a:bodyPr wrap="square" lIns="0" tIns="0" rIns="0" bIns="0" rtlCol="0" anchor="ctr"/>
          <a:lstStyle/>
          <a:p>
            <a:pPr indent="0" marL="0">
              <a:lnSpc>
                <a:spcPts val="1900"/>
              </a:lnSpc>
              <a:buNone/>
            </a:pPr>
            <a:r>
              <a:rPr lang="en-US" sz="1350" dirty="0">
                <a:solidFill>
                  <a:srgbClr val="3B455C"/>
                </a:solidFill>
                <a:latin typeface="Calibri" pitchFamily="34" charset="0"/>
                <a:ea typeface="Calibri" pitchFamily="34" charset="-122"/>
                <a:cs typeface="Calibri" pitchFamily="34" charset="-120"/>
              </a:rPr>
              <a:t>Something mathematical, or something about train tracks.</a:t>
            </a:r>
            <a:endParaRPr lang="en-US" sz="1350" dirty="0"/>
          </a:p>
        </p:txBody>
      </p:sp>
      <p:sp>
        <p:nvSpPr>
          <p:cNvPr id="9" name="s3 Text 6"/>
          <p:cNvSpPr/>
          <p:nvPr/>
        </p:nvSpPr>
        <p:spPr>
          <a:xfrm>
            <a:off x="7991856" y="3419856"/>
            <a:ext cx="3291840" cy="329184"/>
          </a:xfrm>
          <a:prstGeom prst="rect">
            <a:avLst/>
          </a:prstGeom>
          <a:noFill/>
          <a:ln/>
        </p:spPr>
        <p:txBody>
          <a:bodyPr wrap="square" lIns="0" tIns="0" rIns="0" bIns="0" rtlCol="0" anchor="ctr"/>
          <a:lstStyle/>
          <a:p>
            <a:pPr indent="0" marL="0">
              <a:buNone/>
            </a:pPr>
            <a:r>
              <a:rPr lang="en-US" sz="1900" b="1" dirty="0">
                <a:solidFill>
                  <a:srgbClr val="16233A"/>
                </a:solidFill>
                <a:latin typeface="Cambria" pitchFamily="34" charset="0"/>
                <a:ea typeface="Cambria" pitchFamily="34" charset="-122"/>
                <a:cs typeface="Cambria" pitchFamily="34" charset="-120"/>
              </a:rPr>
              <a:t>What it actually is</a:t>
            </a:r>
            <a:endParaRPr lang="en-US" sz="1900" dirty="0"/>
          </a:p>
        </p:txBody>
      </p:sp>
      <p:sp>
        <p:nvSpPr>
          <p:cNvPr id="10" name="s3 Text 7"/>
          <p:cNvSpPr/>
          <p:nvPr/>
        </p:nvSpPr>
        <p:spPr>
          <a:xfrm>
            <a:off x="7991856" y="3803904"/>
            <a:ext cx="3310128" cy="914400"/>
          </a:xfrm>
          <a:prstGeom prst="rect">
            <a:avLst/>
          </a:prstGeom>
          <a:noFill/>
          <a:ln/>
        </p:spPr>
        <p:txBody>
          <a:bodyPr wrap="square" lIns="0" tIns="0" rIns="0" bIns="0" rtlCol="0" anchor="ctr"/>
          <a:lstStyle/>
          <a:p>
            <a:pPr indent="0" marL="0">
              <a:lnSpc>
                <a:spcPts val="1900"/>
              </a:lnSpc>
              <a:buNone/>
            </a:pPr>
            <a:r>
              <a:rPr lang="en-US" sz="1350" dirty="0">
                <a:solidFill>
                  <a:srgbClr val="3B455C"/>
                </a:solidFill>
                <a:latin typeface="Calibri" pitchFamily="34" charset="0"/>
                <a:ea typeface="Calibri" pitchFamily="34" charset="-122"/>
                <a:cs typeface="Calibri" pitchFamily="34" charset="-120"/>
              </a:rPr>
              <a:t>A balance inside the sentence. Items doing the same job are written in the same form — and the reader feels it immediately.</a:t>
            </a:r>
            <a:endParaRPr lang="en-US" sz="1350" dirty="0"/>
          </a:p>
        </p:txBody>
      </p:sp>
      <p:sp>
        <p:nvSpPr>
          <p:cNvPr id="11" name="s3 Shape 8"/>
          <p:cNvSpPr/>
          <p:nvPr/>
        </p:nvSpPr>
        <p:spPr>
          <a:xfrm>
            <a:off x="640080" y="5248656"/>
            <a:ext cx="10911535" cy="786384"/>
          </a:xfrm>
          <a:prstGeom prst="roundRect">
            <a:avLst>
              <a:gd name="adj" fmla="val 10465"/>
            </a:avLst>
          </a:prstGeom>
          <a:solidFill>
            <a:srgbClr val="F6F8FB"/>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12" name="s3 Text 9"/>
          <p:cNvSpPr/>
          <p:nvPr/>
        </p:nvSpPr>
        <p:spPr>
          <a:xfrm>
            <a:off x="1005840" y="5248656"/>
            <a:ext cx="10180015" cy="786384"/>
          </a:xfrm>
          <a:prstGeom prst="rect">
            <a:avLst/>
          </a:prstGeom>
          <a:noFill/>
          <a:ln/>
        </p:spPr>
        <p:txBody>
          <a:bodyPr wrap="square" lIns="0" tIns="0" rIns="0" bIns="0" rtlCol="0" anchor="ctr"/>
          <a:lstStyle/>
          <a:p>
            <a:pPr indent="0" marL="0">
              <a:buNone/>
            </a:pPr>
            <a:r>
              <a:rPr lang="en-US" sz="1400" dirty="0">
                <a:solidFill>
                  <a:srgbClr val="3B455C"/>
                </a:solidFill>
                <a:latin typeface="Calibri" pitchFamily="34" charset="0"/>
                <a:ea typeface="Calibri" pitchFamily="34" charset="-122"/>
                <a:cs typeface="Calibri" pitchFamily="34" charset="-120"/>
              </a:rPr>
              <a:t>The source deck opens on exactly this question:  </a:t>
            </a:r>
            <a:pPr indent="0" marL="0">
              <a:buNone/>
            </a:pPr>
            <a:r>
              <a:rPr lang="en-US" sz="1400" b="1" i="1" dirty="0">
                <a:solidFill>
                  <a:srgbClr val="16233A"/>
                </a:solidFill>
                <a:latin typeface="Calibri" pitchFamily="34" charset="0"/>
                <a:ea typeface="Calibri" pitchFamily="34" charset="-122"/>
                <a:cs typeface="Calibri" pitchFamily="34" charset="-120"/>
              </a:rPr>
              <a:t>“umm… Parallelism in Grammar????”</a:t>
            </a:r>
            <a:endParaRPr lang="en-US" sz="1400" dirty="0"/>
          </a:p>
        </p:txBody>
      </p:sp>
      <p:sp>
        <p:nvSpPr>
          <p:cNvPr id="13" name="footDeck"/>
          <p:cNvSpPr/>
          <p:nvPr/>
        </p:nvSpPr>
        <p:spPr>
          <a:xfrm>
            <a:off x="640080" y="6345936"/>
            <a:ext cx="4023360" cy="256032"/>
          </a:xfrm>
          <a:prstGeom prst="rect">
            <a:avLst/>
          </a:prstGeom>
          <a:noFill/>
          <a:ln/>
        </p:spPr>
        <p:txBody>
          <a:bodyPr wrap="square" lIns="0" tIns="0" rIns="0" bIns="0" rtlCol="0" anchor="ctr"/>
          <a:lstStyle/>
          <a:p>
            <a:pPr indent="0" marL="0">
              <a:buNone/>
            </a:pPr>
            <a:r>
              <a:rPr lang="en-US" sz="950" spc="60" kern="0" dirty="0">
                <a:solidFill>
                  <a:srgbClr val="77839A"/>
                </a:solidFill>
                <a:latin typeface="Calibri" pitchFamily="34" charset="0"/>
                <a:ea typeface="Calibri" pitchFamily="34" charset="-122"/>
                <a:cs typeface="Calibri" pitchFamily="34" charset="-120"/>
              </a:rPr>
              <a:t>Parallelism (in Grammar)</a:t>
            </a:r>
            <a:endParaRPr lang="en-US" sz="950" dirty="0"/>
          </a:p>
        </p:txBody>
      </p:sp>
      <p:sp>
        <p:nvSpPr>
          <p:cNvPr id="14" name="footNav"/>
          <p:cNvSpPr/>
          <p:nvPr/>
        </p:nvSpPr>
        <p:spPr>
          <a:xfrm>
            <a:off x="7528255" y="6345936"/>
            <a:ext cx="4023360" cy="256032"/>
          </a:xfrm>
          <a:prstGeom prst="rect">
            <a:avLst/>
          </a:prstGeom>
          <a:noFill/>
          <a:ln/>
        </p:spPr>
        <p:txBody>
          <a:bodyPr wrap="square" lIns="0" tIns="0" rIns="0" bIns="0" rtlCol="0" anchor="ctr"/>
          <a:lstStyle/>
          <a:p>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CONTENTS</a:t>
            </a:r>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3" action="ppaction://hlinksldjump" tooltip="">
                  <a:extLst>
                    <a:ext uri="{A12FA001-AC4F-418D-AE19-62706E023703}">
                      <ahyp:hlinkClr xmlns:ahyp="http://schemas.microsoft.com/office/drawing/2018/hyperlinkcolor" val="tx"/>
                    </a:ext>
                  </a:extLst>
                </a:hlinkClick>
              </a:rPr>
              <a:t>     ‹ </a:t>
            </a:r>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4" action="ppaction://hlinksldjump" tooltip="">
                  <a:extLst>
                    <a:ext uri="{A12FA001-AC4F-418D-AE19-62706E023703}">
                      <ahyp:hlinkClr xmlns:ahyp="http://schemas.microsoft.com/office/drawing/2018/hyperlinkcolor" val="tx"/>
                    </a:ext>
                  </a:extLst>
                </a:hlinkClick>
              </a:rPr>
              <a:t> › </a:t>
            </a:r>
            <a:pPr algn="r" indent="0" marL="0">
              <a:buNone/>
            </a:pPr>
            <a:r>
              <a:rPr lang="en-US" sz="950" b="1" spc="80" kern="0" dirty="0">
                <a:solidFill>
                  <a:srgbClr val="16233A"/>
                </a:solidFill>
                <a:latin typeface="Calibri" pitchFamily="34" charset="0"/>
                <a:ea typeface="Calibri" pitchFamily="34" charset="-122"/>
                <a:cs typeface="Calibri" pitchFamily="34" charset="-120"/>
              </a:rPr>
              <a:t>    03 / 14</a:t>
            </a:r>
            <a:endParaRPr lang="en-US" sz="950" dirty="0"/>
          </a:p>
        </p:txBody>
      </p:sp>
    </p:spTree>
  </p:cSld>
  <p:clrMapOvr>
    <a:masterClrMapping/>
  </p:clrMapOvr>
  <p:transition xmlns:p14="http://schemas.microsoft.com/office/powerpoint/2010/main" spd="med" p14:dur="500">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eyebrow"/>
          <p:cNvSpPr/>
          <p:nvPr/>
        </p:nvSpPr>
        <p:spPr>
          <a:xfrm>
            <a:off x="640080" y="457200"/>
            <a:ext cx="10911535" cy="237744"/>
          </a:xfrm>
          <a:prstGeom prst="rect">
            <a:avLst/>
          </a:prstGeom>
          <a:noFill/>
          <a:ln/>
        </p:spPr>
        <p:txBody>
          <a:bodyPr wrap="square" lIns="0" tIns="0" rIns="0" bIns="0" rtlCol="0" anchor="ctr"/>
          <a:lstStyle/>
          <a:p>
            <a:pPr indent="0" marL="0">
              <a:buNone/>
            </a:pPr>
            <a:r>
              <a:rPr lang="en-US" sz="1100" b="1" spc="320" kern="0" dirty="0">
                <a:solidFill>
                  <a:srgbClr val="B4832B"/>
                </a:solidFill>
                <a:latin typeface="Calibri" pitchFamily="34" charset="0"/>
                <a:ea typeface="Calibri" pitchFamily="34" charset="-122"/>
                <a:cs typeface="Calibri" pitchFamily="34" charset="-120"/>
              </a:rPr>
              <a:t>DEFINITION</a:t>
            </a:r>
            <a:endParaRPr lang="en-US" sz="1100" dirty="0"/>
          </a:p>
        </p:txBody>
      </p:sp>
      <p:sp>
        <p:nvSpPr>
          <p:cNvPr id="3" name="heading"/>
          <p:cNvSpPr/>
          <p:nvPr/>
        </p:nvSpPr>
        <p:spPr>
          <a:xfrm>
            <a:off x="640080" y="731520"/>
            <a:ext cx="10911535" cy="566928"/>
          </a:xfrm>
          <a:prstGeom prst="rect">
            <a:avLst/>
          </a:prstGeom>
          <a:noFill/>
          <a:ln/>
        </p:spPr>
        <p:txBody>
          <a:bodyPr wrap="square" lIns="0" tIns="0" rIns="0" bIns="0" rtlCol="0" anchor="t"/>
          <a:lstStyle/>
          <a:p>
            <a:pPr indent="0" marL="0">
              <a:buNone/>
            </a:pPr>
            <a:r>
              <a:rPr lang="en-US" sz="3200" b="1" dirty="0">
                <a:solidFill>
                  <a:srgbClr val="16233A"/>
                </a:solidFill>
                <a:latin typeface="Cambria" pitchFamily="34" charset="0"/>
                <a:ea typeface="Cambria" pitchFamily="34" charset="-122"/>
                <a:cs typeface="Cambria" pitchFamily="34" charset="-120"/>
              </a:rPr>
              <a:t>Parallelism is…</a:t>
            </a:r>
            <a:endParaRPr lang="en-US" sz="3200" dirty="0"/>
          </a:p>
        </p:txBody>
      </p:sp>
      <p:sp>
        <p:nvSpPr>
          <p:cNvPr id="4" name="s4 Shape 2"/>
          <p:cNvSpPr/>
          <p:nvPr/>
        </p:nvSpPr>
        <p:spPr>
          <a:xfrm>
            <a:off x="640080" y="1700784"/>
            <a:ext cx="5577840" cy="3200400"/>
          </a:xfrm>
          <a:prstGeom prst="roundRect">
            <a:avLst>
              <a:gd name="adj" fmla="val 2571"/>
            </a:avLst>
          </a:prstGeom>
          <a:solidFill>
            <a:srgbClr val="FFFFFF"/>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5" name="s4 Shape 3"/>
          <p:cNvSpPr/>
          <p:nvPr/>
        </p:nvSpPr>
        <p:spPr>
          <a:xfrm>
            <a:off x="1005840" y="2121408"/>
            <a:ext cx="310896" cy="310896"/>
          </a:xfrm>
          <a:prstGeom prst="ellipse">
            <a:avLst/>
          </a:prstGeom>
          <a:solidFill>
            <a:srgbClr val="16233A"/>
          </a:solidFill>
          <a:ln w="12700">
            <a:solidFill>
              <a:srgbClr val="16233A"/>
            </a:solidFill>
            <a:prstDash val="solid"/>
          </a:ln>
        </p:spPr>
      </p:sp>
      <p:sp>
        <p:nvSpPr>
          <p:cNvPr id="6" name="s4 Text 4"/>
          <p:cNvSpPr/>
          <p:nvPr/>
        </p:nvSpPr>
        <p:spPr>
          <a:xfrm>
            <a:off x="1005840" y="21214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s4 Text 5"/>
          <p:cNvSpPr/>
          <p:nvPr/>
        </p:nvSpPr>
        <p:spPr>
          <a:xfrm>
            <a:off x="1517904" y="2048256"/>
            <a:ext cx="4443984" cy="1005840"/>
          </a:xfrm>
          <a:prstGeom prst="rect">
            <a:avLst/>
          </a:prstGeom>
          <a:noFill/>
          <a:ln/>
        </p:spPr>
        <p:txBody>
          <a:bodyPr wrap="square" lIns="0" tIns="0" rIns="0" bIns="0" rtlCol="0" anchor="ctr"/>
          <a:lstStyle/>
          <a:p>
            <a:pPr indent="0" marL="0">
              <a:lnSpc>
                <a:spcPts val="2500"/>
              </a:lnSpc>
              <a:buNone/>
            </a:pPr>
            <a:r>
              <a:rPr lang="en-US" sz="1650" dirty="0">
                <a:solidFill>
                  <a:srgbClr val="16233A"/>
                </a:solidFill>
                <a:latin typeface="Calibri" pitchFamily="34" charset="0"/>
                <a:ea typeface="Calibri" pitchFamily="34" charset="-122"/>
                <a:cs typeface="Calibri" pitchFamily="34" charset="-120"/>
              </a:rPr>
              <a:t>having the same grammatical structure within one or more sentences of similar phrases or clauses</a:t>
            </a:r>
            <a:endParaRPr lang="en-US" sz="1650" dirty="0"/>
          </a:p>
        </p:txBody>
      </p:sp>
      <p:sp>
        <p:nvSpPr>
          <p:cNvPr id="8" name="s4 Shape 6"/>
          <p:cNvSpPr/>
          <p:nvPr/>
        </p:nvSpPr>
        <p:spPr>
          <a:xfrm>
            <a:off x="1005840" y="3438144"/>
            <a:ext cx="310896" cy="310896"/>
          </a:xfrm>
          <a:prstGeom prst="ellipse">
            <a:avLst/>
          </a:prstGeom>
          <a:solidFill>
            <a:srgbClr val="16233A"/>
          </a:solidFill>
          <a:ln w="12700">
            <a:solidFill>
              <a:srgbClr val="16233A"/>
            </a:solidFill>
            <a:prstDash val="solid"/>
          </a:ln>
        </p:spPr>
      </p:sp>
      <p:sp>
        <p:nvSpPr>
          <p:cNvPr id="9" name="s4 Text 7"/>
          <p:cNvSpPr/>
          <p:nvPr/>
        </p:nvSpPr>
        <p:spPr>
          <a:xfrm>
            <a:off x="1005840" y="343814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s4 Text 8"/>
          <p:cNvSpPr/>
          <p:nvPr/>
        </p:nvSpPr>
        <p:spPr>
          <a:xfrm>
            <a:off x="1517904" y="3364992"/>
            <a:ext cx="4443984" cy="1005840"/>
          </a:xfrm>
          <a:prstGeom prst="rect">
            <a:avLst/>
          </a:prstGeom>
          <a:noFill/>
          <a:ln/>
        </p:spPr>
        <p:txBody>
          <a:bodyPr wrap="square" lIns="0" tIns="0" rIns="0" bIns="0" rtlCol="0" anchor="ctr"/>
          <a:lstStyle/>
          <a:p>
            <a:pPr indent="0" marL="0">
              <a:lnSpc>
                <a:spcPts val="2500"/>
              </a:lnSpc>
              <a:buNone/>
            </a:pPr>
            <a:r>
              <a:rPr lang="en-US" sz="1650" dirty="0">
                <a:solidFill>
                  <a:srgbClr val="16233A"/>
                </a:solidFill>
                <a:latin typeface="Calibri" pitchFamily="34" charset="0"/>
                <a:ea typeface="Calibri" pitchFamily="34" charset="-122"/>
                <a:cs typeface="Calibri" pitchFamily="34" charset="-120"/>
              </a:rPr>
              <a:t>also known as parallel structure or parallel construction</a:t>
            </a:r>
            <a:endParaRPr lang="en-US" sz="1650" dirty="0"/>
          </a:p>
        </p:txBody>
      </p:sp>
      <p:sp>
        <p:nvSpPr>
          <p:cNvPr id="11" name="s4 Shape 9"/>
          <p:cNvSpPr/>
          <p:nvPr/>
        </p:nvSpPr>
        <p:spPr>
          <a:xfrm>
            <a:off x="640080" y="5102352"/>
            <a:ext cx="5577840" cy="841248"/>
          </a:xfrm>
          <a:prstGeom prst="roundRect">
            <a:avLst>
              <a:gd name="adj" fmla="val 9783"/>
            </a:avLst>
          </a:prstGeom>
          <a:solidFill>
            <a:srgbClr val="EAF4EF"/>
          </a:solidFill>
          <a:ln w="12700">
            <a:solidFill>
              <a:srgbClr val="BFDCCB"/>
            </a:solidFill>
            <a:prstDash val="solid"/>
          </a:ln>
          <a:effectLst>
            <a:outerShdw sx="100000" sy="100000" kx="0" ky="0" algn="bl" rotWithShape="0" blurRad="177800" dist="38100" dir="5400000">
              <a:srgbClr val="9AA7BC">
                <a:alpha val="28000"/>
              </a:srgbClr>
            </a:outerShdw>
          </a:effectLst>
        </p:spPr>
      </p:sp>
      <p:pic>
        <p:nvPicPr>
          <p:cNvPr id="12" name="s4 Image 0" descr="preencoded.png">    </p:cNvPr>
          <p:cNvPicPr>
            <a:picLocks noChangeAspect="1"/>
          </p:cNvPicPr>
          <p:nvPr/>
        </p:nvPicPr>
        <p:blipFill>
          <a:blip r:embed="rId1"/>
          <a:stretch>
            <a:fillRect/>
          </a:stretch>
        </p:blipFill>
        <p:spPr>
          <a:xfrm>
            <a:off x="932688" y="5358384"/>
            <a:ext cx="310896" cy="310896"/>
          </a:xfrm>
          <a:prstGeom prst="rect">
            <a:avLst/>
          </a:prstGeom>
        </p:spPr>
      </p:pic>
      <p:sp>
        <p:nvSpPr>
          <p:cNvPr id="13" name="s4 Text 10"/>
          <p:cNvSpPr/>
          <p:nvPr/>
        </p:nvSpPr>
        <p:spPr>
          <a:xfrm>
            <a:off x="1408176" y="5102352"/>
            <a:ext cx="4572000" cy="841248"/>
          </a:xfrm>
          <a:prstGeom prst="rect">
            <a:avLst/>
          </a:prstGeom>
          <a:noFill/>
          <a:ln/>
        </p:spPr>
        <p:txBody>
          <a:bodyPr wrap="square" lIns="0" tIns="0" rIns="0" bIns="0" rtlCol="0" anchor="ctr"/>
          <a:lstStyle/>
          <a:p>
            <a:pPr indent="0" marL="0">
              <a:buNone/>
            </a:pPr>
            <a:r>
              <a:rPr lang="en-US" sz="1400" b="1" dirty="0">
                <a:solidFill>
                  <a:srgbClr val="1E7A4F"/>
                </a:solidFill>
                <a:latin typeface="Calibri" pitchFamily="34" charset="0"/>
                <a:ea typeface="Calibri" pitchFamily="34" charset="-122"/>
                <a:cs typeface="Calibri" pitchFamily="34" charset="-120"/>
              </a:rPr>
              <a:t>Similar phrases or clauses, written in the same pattern of words.</a:t>
            </a:r>
            <a:endParaRPr lang="en-US" sz="1400" dirty="0"/>
          </a:p>
        </p:txBody>
      </p:sp>
      <p:pic>
        <p:nvPicPr>
          <p:cNvPr id="14" name="s4 Image 1" descr="preencoded.png">    </p:cNvPr>
          <p:cNvPicPr>
            <a:picLocks noChangeAspect="1"/>
          </p:cNvPicPr>
          <p:nvPr/>
        </p:nvPicPr>
        <p:blipFill>
          <a:blip r:embed="rId2"/>
          <a:stretch>
            <a:fillRect/>
          </a:stretch>
        </p:blipFill>
        <p:spPr>
          <a:xfrm>
            <a:off x="6675120" y="1755648"/>
            <a:ext cx="4754880" cy="3136392"/>
          </a:xfrm>
          <a:prstGeom prst="rect">
            <a:avLst/>
          </a:prstGeom>
        </p:spPr>
      </p:pic>
      <p:sp>
        <p:nvSpPr>
          <p:cNvPr id="15" name="s4 Text 11"/>
          <p:cNvSpPr/>
          <p:nvPr/>
        </p:nvSpPr>
        <p:spPr>
          <a:xfrm>
            <a:off x="6675120" y="5047488"/>
            <a:ext cx="4754880" cy="603504"/>
          </a:xfrm>
          <a:prstGeom prst="rect">
            <a:avLst/>
          </a:prstGeom>
          <a:noFill/>
          <a:ln/>
        </p:spPr>
        <p:txBody>
          <a:bodyPr wrap="square" lIns="0" tIns="0" rIns="0" bIns="0" rtlCol="0" anchor="ctr"/>
          <a:lstStyle/>
          <a:p>
            <a:pPr algn="ctr" indent="0" marL="0">
              <a:lnSpc>
                <a:spcPts val="1900"/>
              </a:lnSpc>
              <a:buNone/>
            </a:pPr>
            <a:r>
              <a:rPr lang="en-US" sz="1300" i="1" dirty="0">
                <a:solidFill>
                  <a:srgbClr val="77839A"/>
                </a:solidFill>
                <a:latin typeface="Calibri" pitchFamily="34" charset="0"/>
                <a:ea typeface="Calibri" pitchFamily="34" charset="-122"/>
                <a:cs typeface="Calibri" pitchFamily="34" charset="-120"/>
              </a:rPr>
              <a:t>Both sides of the sentence carry the same pattern of words — that equality is the whole idea.</a:t>
            </a:r>
            <a:endParaRPr lang="en-US" sz="1300" dirty="0"/>
          </a:p>
        </p:txBody>
      </p:sp>
      <p:sp>
        <p:nvSpPr>
          <p:cNvPr id="16" name="footDeck"/>
          <p:cNvSpPr/>
          <p:nvPr/>
        </p:nvSpPr>
        <p:spPr>
          <a:xfrm>
            <a:off x="640080" y="6345936"/>
            <a:ext cx="4023360" cy="256032"/>
          </a:xfrm>
          <a:prstGeom prst="rect">
            <a:avLst/>
          </a:prstGeom>
          <a:noFill/>
          <a:ln/>
        </p:spPr>
        <p:txBody>
          <a:bodyPr wrap="square" lIns="0" tIns="0" rIns="0" bIns="0" rtlCol="0" anchor="ctr"/>
          <a:lstStyle/>
          <a:p>
            <a:pPr indent="0" marL="0">
              <a:buNone/>
            </a:pPr>
            <a:r>
              <a:rPr lang="en-US" sz="950" spc="60" kern="0" dirty="0">
                <a:solidFill>
                  <a:srgbClr val="77839A"/>
                </a:solidFill>
                <a:latin typeface="Calibri" pitchFamily="34" charset="0"/>
                <a:ea typeface="Calibri" pitchFamily="34" charset="-122"/>
                <a:cs typeface="Calibri" pitchFamily="34" charset="-120"/>
              </a:rPr>
              <a:t>Parallelism (in Grammar)</a:t>
            </a:r>
            <a:endParaRPr lang="en-US" sz="950" dirty="0"/>
          </a:p>
        </p:txBody>
      </p:sp>
      <p:sp>
        <p:nvSpPr>
          <p:cNvPr id="17" name="footNav"/>
          <p:cNvSpPr/>
          <p:nvPr/>
        </p:nvSpPr>
        <p:spPr>
          <a:xfrm>
            <a:off x="7528255" y="6345936"/>
            <a:ext cx="4023360" cy="256032"/>
          </a:xfrm>
          <a:prstGeom prst="rect">
            <a:avLst/>
          </a:prstGeom>
          <a:noFill/>
          <a:ln/>
        </p:spPr>
        <p:txBody>
          <a:bodyPr wrap="square" lIns="0" tIns="0" rIns="0" bIns="0" rtlCol="0" anchor="ctr"/>
          <a:lstStyle/>
          <a:p>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3" action="ppaction://hlinksldjump" tooltip="">
                  <a:extLst>
                    <a:ext uri="{A12FA001-AC4F-418D-AE19-62706E023703}">
                      <ahyp:hlinkClr xmlns:ahyp="http://schemas.microsoft.com/office/drawing/2018/hyperlinkcolor" val="tx"/>
                    </a:ext>
                  </a:extLst>
                </a:hlinkClick>
              </a:rPr>
              <a:t>CONTENTS</a:t>
            </a:r>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4" action="ppaction://hlinksldjump" tooltip="">
                  <a:extLst>
                    <a:ext uri="{A12FA001-AC4F-418D-AE19-62706E023703}">
                      <ahyp:hlinkClr xmlns:ahyp="http://schemas.microsoft.com/office/drawing/2018/hyperlinkcolor" val="tx"/>
                    </a:ext>
                  </a:extLst>
                </a:hlinkClick>
              </a:rPr>
              <a:t>     ‹ </a:t>
            </a:r>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5" action="ppaction://hlinksldjump" tooltip="">
                  <a:extLst>
                    <a:ext uri="{A12FA001-AC4F-418D-AE19-62706E023703}">
                      <ahyp:hlinkClr xmlns:ahyp="http://schemas.microsoft.com/office/drawing/2018/hyperlinkcolor" val="tx"/>
                    </a:ext>
                  </a:extLst>
                </a:hlinkClick>
              </a:rPr>
              <a:t> › </a:t>
            </a:r>
            <a:pPr algn="r" indent="0" marL="0">
              <a:buNone/>
            </a:pPr>
            <a:r>
              <a:rPr lang="en-US" sz="950" b="1" spc="80" kern="0" dirty="0">
                <a:solidFill>
                  <a:srgbClr val="16233A"/>
                </a:solidFill>
                <a:latin typeface="Calibri" pitchFamily="34" charset="0"/>
                <a:ea typeface="Calibri" pitchFamily="34" charset="-122"/>
                <a:cs typeface="Calibri" pitchFamily="34" charset="-120"/>
              </a:rPr>
              <a:t>    04 / 14</a:t>
            </a:r>
            <a:endParaRPr lang="en-US" sz="950" dirty="0"/>
          </a:p>
        </p:txBody>
      </p:sp>
    </p:spTree>
  </p:cSld>
  <p:clrMapOvr>
    <a:masterClrMapping/>
  </p:clrMapOvr>
  <p:transition xmlns:p14="http://schemas.microsoft.com/office/powerpoint/2010/main" spd="med" p14:dur="500">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eyebrow"/>
          <p:cNvSpPr/>
          <p:nvPr/>
        </p:nvSpPr>
        <p:spPr>
          <a:xfrm>
            <a:off x="640080" y="457200"/>
            <a:ext cx="10911535" cy="237744"/>
          </a:xfrm>
          <a:prstGeom prst="rect">
            <a:avLst/>
          </a:prstGeom>
          <a:noFill/>
          <a:ln/>
        </p:spPr>
        <p:txBody>
          <a:bodyPr wrap="square" lIns="0" tIns="0" rIns="0" bIns="0" rtlCol="0" anchor="ctr"/>
          <a:lstStyle/>
          <a:p>
            <a:pPr indent="0" marL="0">
              <a:buNone/>
            </a:pPr>
            <a:r>
              <a:rPr lang="en-US" sz="1100" b="1" spc="320" kern="0" dirty="0">
                <a:solidFill>
                  <a:srgbClr val="B4832B"/>
                </a:solidFill>
                <a:latin typeface="Calibri" pitchFamily="34" charset="0"/>
                <a:ea typeface="Calibri" pitchFamily="34" charset="-122"/>
                <a:cs typeface="Calibri" pitchFamily="34" charset="-120"/>
              </a:rPr>
              <a:t>WORKED EXAMPLE</a:t>
            </a:r>
            <a:endParaRPr lang="en-US" sz="1100" dirty="0"/>
          </a:p>
        </p:txBody>
      </p:sp>
      <p:sp>
        <p:nvSpPr>
          <p:cNvPr id="3" name="heading"/>
          <p:cNvSpPr/>
          <p:nvPr/>
        </p:nvSpPr>
        <p:spPr>
          <a:xfrm>
            <a:off x="640080" y="731520"/>
            <a:ext cx="10911535" cy="566928"/>
          </a:xfrm>
          <a:prstGeom prst="rect">
            <a:avLst/>
          </a:prstGeom>
          <a:noFill/>
          <a:ln/>
        </p:spPr>
        <p:txBody>
          <a:bodyPr wrap="square" lIns="0" tIns="0" rIns="0" bIns="0" rtlCol="0" anchor="t"/>
          <a:lstStyle/>
          <a:p>
            <a:pPr indent="0" marL="0">
              <a:buNone/>
            </a:pPr>
            <a:r>
              <a:rPr lang="en-US" sz="3200" b="1" dirty="0">
                <a:solidFill>
                  <a:srgbClr val="16233A"/>
                </a:solidFill>
                <a:latin typeface="Cambria" pitchFamily="34" charset="0"/>
                <a:ea typeface="Cambria" pitchFamily="34" charset="-122"/>
                <a:cs typeface="Cambria" pitchFamily="34" charset="-120"/>
              </a:rPr>
              <a:t>One sentence, taken apart</a:t>
            </a:r>
            <a:endParaRPr lang="en-US" sz="3200" dirty="0"/>
          </a:p>
        </p:txBody>
      </p:sp>
      <p:sp>
        <p:nvSpPr>
          <p:cNvPr id="4" name="standfirst"/>
          <p:cNvSpPr/>
          <p:nvPr/>
        </p:nvSpPr>
        <p:spPr>
          <a:xfrm>
            <a:off x="640080" y="1335024"/>
            <a:ext cx="10911535" cy="329184"/>
          </a:xfrm>
          <a:prstGeom prst="rect">
            <a:avLst/>
          </a:prstGeom>
          <a:noFill/>
          <a:ln/>
        </p:spPr>
        <p:txBody>
          <a:bodyPr wrap="square" lIns="0" tIns="0" rIns="0" bIns="0" rtlCol="0" anchor="ctr"/>
          <a:lstStyle/>
          <a:p>
            <a:pPr indent="0" marL="0">
              <a:buNone/>
            </a:pPr>
            <a:r>
              <a:rPr lang="en-US" sz="1500" dirty="0">
                <a:solidFill>
                  <a:srgbClr val="77839A"/>
                </a:solidFill>
                <a:latin typeface="Calibri" pitchFamily="34" charset="0"/>
                <a:ea typeface="Calibri" pitchFamily="34" charset="-122"/>
                <a:cs typeface="Calibri" pitchFamily="34" charset="-120"/>
              </a:rPr>
              <a:t>Both halves answer “how did she speak?” — so both halves must take the same form.</a:t>
            </a:r>
            <a:endParaRPr lang="en-US" sz="1500" dirty="0"/>
          </a:p>
        </p:txBody>
      </p:sp>
      <p:sp>
        <p:nvSpPr>
          <p:cNvPr id="5" name="s5 Shape 3"/>
          <p:cNvSpPr/>
          <p:nvPr/>
        </p:nvSpPr>
        <p:spPr>
          <a:xfrm>
            <a:off x="640080" y="1883664"/>
            <a:ext cx="10911535" cy="1773936"/>
          </a:xfrm>
          <a:prstGeom prst="roundRect">
            <a:avLst>
              <a:gd name="adj" fmla="val 4639"/>
            </a:avLst>
          </a:prstGeom>
          <a:solidFill>
            <a:srgbClr val="FBEDEB"/>
          </a:solidFill>
          <a:ln w="12700">
            <a:solidFill>
              <a:srgbClr val="E7C3BF"/>
            </a:solidFill>
            <a:prstDash val="solid"/>
          </a:ln>
          <a:effectLst>
            <a:outerShdw sx="100000" sy="100000" kx="0" ky="0" algn="bl" rotWithShape="0" blurRad="177800" dist="38100" dir="5400000">
              <a:srgbClr val="9AA7BC">
                <a:alpha val="28000"/>
              </a:srgbClr>
            </a:outerShdw>
          </a:effectLst>
        </p:spPr>
      </p:sp>
      <p:sp>
        <p:nvSpPr>
          <p:cNvPr id="6" name="s5 Shape 4"/>
          <p:cNvSpPr/>
          <p:nvPr/>
        </p:nvSpPr>
        <p:spPr>
          <a:xfrm>
            <a:off x="950976" y="2103120"/>
            <a:ext cx="1481328" cy="292608"/>
          </a:xfrm>
          <a:prstGeom prst="roundRect">
            <a:avLst>
              <a:gd name="adj" fmla="val 50000"/>
            </a:avLst>
          </a:prstGeom>
          <a:solidFill>
            <a:srgbClr val="B3261E"/>
          </a:solidFill>
          <a:ln w="12700">
            <a:solidFill>
              <a:srgbClr val="B3261E"/>
            </a:solidFill>
            <a:prstDash val="solid"/>
          </a:ln>
        </p:spPr>
      </p:sp>
      <p:sp>
        <p:nvSpPr>
          <p:cNvPr id="7" name="s5 Text 5"/>
          <p:cNvSpPr/>
          <p:nvPr/>
        </p:nvSpPr>
        <p:spPr>
          <a:xfrm>
            <a:off x="950976" y="2103120"/>
            <a:ext cx="1481328" cy="292608"/>
          </a:xfrm>
          <a:prstGeom prst="rect">
            <a:avLst/>
          </a:prstGeom>
          <a:noFill/>
          <a:ln/>
        </p:spPr>
        <p:txBody>
          <a:bodyPr wrap="square" lIns="0" tIns="0" rIns="0" bIns="0" rtlCol="0" anchor="ctr"/>
          <a:lstStyle/>
          <a:p>
            <a:pPr algn="ctr" indent="0" marL="0">
              <a:buNone/>
            </a:pPr>
            <a:r>
              <a:rPr lang="en-US" sz="950" b="1" spc="140" kern="0" dirty="0">
                <a:solidFill>
                  <a:srgbClr val="FFFFFF"/>
                </a:solidFill>
                <a:latin typeface="Calibri" pitchFamily="34" charset="0"/>
                <a:ea typeface="Calibri" pitchFamily="34" charset="-122"/>
                <a:cs typeface="Calibri" pitchFamily="34" charset="-120"/>
              </a:rPr>
              <a:t>NOT PARALLEL</a:t>
            </a:r>
            <a:endParaRPr lang="en-US" sz="950" dirty="0"/>
          </a:p>
        </p:txBody>
      </p:sp>
      <p:sp>
        <p:nvSpPr>
          <p:cNvPr id="8" name="s5 Text 6"/>
          <p:cNvSpPr/>
          <p:nvPr/>
        </p:nvSpPr>
        <p:spPr>
          <a:xfrm>
            <a:off x="950976" y="2487168"/>
            <a:ext cx="10289743" cy="457200"/>
          </a:xfrm>
          <a:prstGeom prst="rect">
            <a:avLst/>
          </a:prstGeom>
          <a:noFill/>
          <a:ln/>
        </p:spPr>
        <p:txBody>
          <a:bodyPr wrap="square" lIns="0" tIns="0" rIns="0" bIns="0" rtlCol="0" anchor="ctr"/>
          <a:lstStyle/>
          <a:p>
            <a:pPr indent="0" marL="0">
              <a:buNone/>
            </a:pPr>
            <a:r>
              <a:rPr lang="en-US" sz="2100" dirty="0">
                <a:solidFill>
                  <a:srgbClr val="16233A"/>
                </a:solidFill>
                <a:latin typeface="Calibri" pitchFamily="34" charset="0"/>
                <a:ea typeface="Calibri" pitchFamily="34" charset="-122"/>
                <a:cs typeface="Calibri" pitchFamily="34" charset="-120"/>
              </a:rPr>
              <a:t>When talking to the group, she spoke </a:t>
            </a:r>
            <a:pPr indent="0" marL="0">
              <a:buNone/>
            </a:pPr>
            <a:r>
              <a:rPr lang="en-US" sz="2100" b="1" dirty="0">
                <a:solidFill>
                  <a:srgbClr val="B3261E"/>
                </a:solidFill>
                <a:latin typeface="Calibri" pitchFamily="34" charset="0"/>
                <a:ea typeface="Calibri" pitchFamily="34" charset="-122"/>
                <a:cs typeface="Calibri" pitchFamily="34" charset="-120"/>
              </a:rPr>
              <a:t>sincerely</a:t>
            </a:r>
            <a:pPr indent="0" marL="0">
              <a:buNone/>
            </a:pPr>
            <a:r>
              <a:rPr lang="en-US" sz="2100" dirty="0">
                <a:solidFill>
                  <a:srgbClr val="16233A"/>
                </a:solidFill>
                <a:latin typeface="Calibri" pitchFamily="34" charset="0"/>
                <a:ea typeface="Calibri" pitchFamily="34" charset="-122"/>
                <a:cs typeface="Calibri" pitchFamily="34" charset="-120"/>
              </a:rPr>
              <a:t> and </a:t>
            </a:r>
            <a:pPr indent="0" marL="0">
              <a:buNone/>
            </a:pPr>
            <a:r>
              <a:rPr lang="en-US" sz="2100" b="1" dirty="0">
                <a:solidFill>
                  <a:srgbClr val="B3261E"/>
                </a:solidFill>
                <a:latin typeface="Calibri" pitchFamily="34" charset="0"/>
                <a:ea typeface="Calibri" pitchFamily="34" charset="-122"/>
                <a:cs typeface="Calibri" pitchFamily="34" charset="-120"/>
              </a:rPr>
              <a:t>with passion</a:t>
            </a:r>
            <a:endParaRPr lang="en-US" sz="2100" dirty="0"/>
          </a:p>
        </p:txBody>
      </p:sp>
      <p:sp>
        <p:nvSpPr>
          <p:cNvPr id="9" name="s5 Shape 7"/>
          <p:cNvSpPr/>
          <p:nvPr/>
        </p:nvSpPr>
        <p:spPr>
          <a:xfrm>
            <a:off x="6693408" y="2926080"/>
            <a:ext cx="0" cy="237744"/>
          </a:xfrm>
          <a:prstGeom prst="line">
            <a:avLst/>
          </a:prstGeom>
          <a:noFill/>
          <a:ln w="15875">
            <a:solidFill>
              <a:srgbClr val="B3261E"/>
            </a:solidFill>
            <a:prstDash val="dash"/>
          </a:ln>
        </p:spPr>
      </p:sp>
      <p:sp>
        <p:nvSpPr>
          <p:cNvPr id="10" name="s5 Shape 8"/>
          <p:cNvSpPr/>
          <p:nvPr/>
        </p:nvSpPr>
        <p:spPr>
          <a:xfrm>
            <a:off x="6126480" y="3163824"/>
            <a:ext cx="1133856" cy="310896"/>
          </a:xfrm>
          <a:prstGeom prst="roundRect">
            <a:avLst>
              <a:gd name="adj" fmla="val 50000"/>
            </a:avLst>
          </a:prstGeom>
          <a:solidFill>
            <a:srgbClr val="FFFFFF"/>
          </a:solidFill>
          <a:ln w="12700">
            <a:solidFill>
              <a:srgbClr val="E7C3BF"/>
            </a:solidFill>
            <a:prstDash val="solid"/>
          </a:ln>
        </p:spPr>
      </p:sp>
      <p:sp>
        <p:nvSpPr>
          <p:cNvPr id="11" name="s5 Text 9"/>
          <p:cNvSpPr/>
          <p:nvPr/>
        </p:nvSpPr>
        <p:spPr>
          <a:xfrm>
            <a:off x="6126480" y="3163824"/>
            <a:ext cx="1133856" cy="310896"/>
          </a:xfrm>
          <a:prstGeom prst="rect">
            <a:avLst/>
          </a:prstGeom>
          <a:noFill/>
          <a:ln/>
        </p:spPr>
        <p:txBody>
          <a:bodyPr wrap="square" lIns="0" tIns="0" rIns="0" bIns="0" rtlCol="0" anchor="ctr"/>
          <a:lstStyle/>
          <a:p>
            <a:pPr algn="ctr" indent="0" marL="0">
              <a:buNone/>
            </a:pPr>
            <a:r>
              <a:rPr lang="en-US" sz="1050" b="1" dirty="0">
                <a:solidFill>
                  <a:srgbClr val="B3261E"/>
                </a:solidFill>
                <a:latin typeface="Calibri" pitchFamily="34" charset="0"/>
                <a:ea typeface="Calibri" pitchFamily="34" charset="-122"/>
                <a:cs typeface="Calibri" pitchFamily="34" charset="-120"/>
              </a:rPr>
              <a:t>adverb</a:t>
            </a:r>
            <a:endParaRPr lang="en-US" sz="1050" dirty="0"/>
          </a:p>
        </p:txBody>
      </p:sp>
      <p:sp>
        <p:nvSpPr>
          <p:cNvPr id="12" name="s5 Shape 10"/>
          <p:cNvSpPr/>
          <p:nvPr/>
        </p:nvSpPr>
        <p:spPr>
          <a:xfrm>
            <a:off x="8997696" y="2926080"/>
            <a:ext cx="0" cy="237744"/>
          </a:xfrm>
          <a:prstGeom prst="line">
            <a:avLst/>
          </a:prstGeom>
          <a:noFill/>
          <a:ln w="15875">
            <a:solidFill>
              <a:srgbClr val="B3261E"/>
            </a:solidFill>
            <a:prstDash val="dash"/>
          </a:ln>
        </p:spPr>
      </p:sp>
      <p:sp>
        <p:nvSpPr>
          <p:cNvPr id="13" name="s5 Shape 11"/>
          <p:cNvSpPr/>
          <p:nvPr/>
        </p:nvSpPr>
        <p:spPr>
          <a:xfrm>
            <a:off x="8037576" y="3163824"/>
            <a:ext cx="1920240" cy="310896"/>
          </a:xfrm>
          <a:prstGeom prst="roundRect">
            <a:avLst>
              <a:gd name="adj" fmla="val 50000"/>
            </a:avLst>
          </a:prstGeom>
          <a:solidFill>
            <a:srgbClr val="FFFFFF"/>
          </a:solidFill>
          <a:ln w="12700">
            <a:solidFill>
              <a:srgbClr val="E7C3BF"/>
            </a:solidFill>
            <a:prstDash val="solid"/>
          </a:ln>
        </p:spPr>
      </p:sp>
      <p:sp>
        <p:nvSpPr>
          <p:cNvPr id="14" name="s5 Text 12"/>
          <p:cNvSpPr/>
          <p:nvPr/>
        </p:nvSpPr>
        <p:spPr>
          <a:xfrm>
            <a:off x="8037576" y="3163824"/>
            <a:ext cx="1920240" cy="310896"/>
          </a:xfrm>
          <a:prstGeom prst="rect">
            <a:avLst/>
          </a:prstGeom>
          <a:noFill/>
          <a:ln/>
        </p:spPr>
        <p:txBody>
          <a:bodyPr wrap="square" lIns="0" tIns="0" rIns="0" bIns="0" rtlCol="0" anchor="ctr"/>
          <a:lstStyle/>
          <a:p>
            <a:pPr algn="ctr" indent="0" marL="0">
              <a:buNone/>
            </a:pPr>
            <a:r>
              <a:rPr lang="en-US" sz="1050" b="1" dirty="0">
                <a:solidFill>
                  <a:srgbClr val="B3261E"/>
                </a:solidFill>
                <a:latin typeface="Calibri" pitchFamily="34" charset="0"/>
                <a:ea typeface="Calibri" pitchFamily="34" charset="-122"/>
                <a:cs typeface="Calibri" pitchFamily="34" charset="-120"/>
              </a:rPr>
              <a:t>prepositional phrase</a:t>
            </a:r>
            <a:endParaRPr lang="en-US" sz="1050" dirty="0"/>
          </a:p>
        </p:txBody>
      </p:sp>
      <p:sp>
        <p:nvSpPr>
          <p:cNvPr id="15" name="s5 Shape 13"/>
          <p:cNvSpPr/>
          <p:nvPr/>
        </p:nvSpPr>
        <p:spPr>
          <a:xfrm>
            <a:off x="640080" y="3913632"/>
            <a:ext cx="10911535" cy="1773936"/>
          </a:xfrm>
          <a:prstGeom prst="roundRect">
            <a:avLst>
              <a:gd name="adj" fmla="val 4639"/>
            </a:avLst>
          </a:prstGeom>
          <a:solidFill>
            <a:srgbClr val="EAF4EF"/>
          </a:solidFill>
          <a:ln w="12700">
            <a:solidFill>
              <a:srgbClr val="BFDCCB"/>
            </a:solidFill>
            <a:prstDash val="solid"/>
          </a:ln>
          <a:effectLst>
            <a:outerShdw sx="100000" sy="100000" kx="0" ky="0" algn="bl" rotWithShape="0" blurRad="177800" dist="38100" dir="5400000">
              <a:srgbClr val="9AA7BC">
                <a:alpha val="28000"/>
              </a:srgbClr>
            </a:outerShdw>
          </a:effectLst>
        </p:spPr>
      </p:sp>
      <p:sp>
        <p:nvSpPr>
          <p:cNvPr id="16" name="s5 Shape 14"/>
          <p:cNvSpPr/>
          <p:nvPr/>
        </p:nvSpPr>
        <p:spPr>
          <a:xfrm>
            <a:off x="950976" y="4133088"/>
            <a:ext cx="1225296" cy="292608"/>
          </a:xfrm>
          <a:prstGeom prst="roundRect">
            <a:avLst>
              <a:gd name="adj" fmla="val 50000"/>
            </a:avLst>
          </a:prstGeom>
          <a:solidFill>
            <a:srgbClr val="1E7A4F"/>
          </a:solidFill>
          <a:ln w="12700">
            <a:solidFill>
              <a:srgbClr val="1E7A4F"/>
            </a:solidFill>
            <a:prstDash val="solid"/>
          </a:ln>
        </p:spPr>
      </p:sp>
      <p:sp>
        <p:nvSpPr>
          <p:cNvPr id="17" name="s5 Text 15"/>
          <p:cNvSpPr/>
          <p:nvPr/>
        </p:nvSpPr>
        <p:spPr>
          <a:xfrm>
            <a:off x="950976" y="4133088"/>
            <a:ext cx="1225296" cy="292608"/>
          </a:xfrm>
          <a:prstGeom prst="rect">
            <a:avLst/>
          </a:prstGeom>
          <a:noFill/>
          <a:ln/>
        </p:spPr>
        <p:txBody>
          <a:bodyPr wrap="square" lIns="0" tIns="0" rIns="0" bIns="0" rtlCol="0" anchor="ctr"/>
          <a:lstStyle/>
          <a:p>
            <a:pPr algn="ctr" indent="0" marL="0">
              <a:buNone/>
            </a:pPr>
            <a:r>
              <a:rPr lang="en-US" sz="950" b="1" spc="140" kern="0" dirty="0">
                <a:solidFill>
                  <a:srgbClr val="FFFFFF"/>
                </a:solidFill>
                <a:latin typeface="Calibri" pitchFamily="34" charset="0"/>
                <a:ea typeface="Calibri" pitchFamily="34" charset="-122"/>
                <a:cs typeface="Calibri" pitchFamily="34" charset="-120"/>
              </a:rPr>
              <a:t>PARALLEL</a:t>
            </a:r>
            <a:endParaRPr lang="en-US" sz="950" dirty="0"/>
          </a:p>
        </p:txBody>
      </p:sp>
      <p:sp>
        <p:nvSpPr>
          <p:cNvPr id="18" name="s5 Text 16"/>
          <p:cNvSpPr/>
          <p:nvPr/>
        </p:nvSpPr>
        <p:spPr>
          <a:xfrm>
            <a:off x="950976" y="4517136"/>
            <a:ext cx="10289743" cy="457200"/>
          </a:xfrm>
          <a:prstGeom prst="rect">
            <a:avLst/>
          </a:prstGeom>
          <a:noFill/>
          <a:ln/>
        </p:spPr>
        <p:txBody>
          <a:bodyPr wrap="square" lIns="0" tIns="0" rIns="0" bIns="0" rtlCol="0" anchor="ctr"/>
          <a:lstStyle/>
          <a:p>
            <a:pPr indent="0" marL="0">
              <a:buNone/>
            </a:pPr>
            <a:r>
              <a:rPr lang="en-US" sz="2100" dirty="0">
                <a:solidFill>
                  <a:srgbClr val="16233A"/>
                </a:solidFill>
                <a:latin typeface="Calibri" pitchFamily="34" charset="0"/>
                <a:ea typeface="Calibri" pitchFamily="34" charset="-122"/>
                <a:cs typeface="Calibri" pitchFamily="34" charset="-120"/>
              </a:rPr>
              <a:t>When talking to the group, she spoke </a:t>
            </a:r>
            <a:pPr indent="0" marL="0">
              <a:buNone/>
            </a:pPr>
            <a:r>
              <a:rPr lang="en-US" sz="2100" b="1" dirty="0">
                <a:solidFill>
                  <a:srgbClr val="1E7A4F"/>
                </a:solidFill>
                <a:latin typeface="Calibri" pitchFamily="34" charset="0"/>
                <a:ea typeface="Calibri" pitchFamily="34" charset="-122"/>
                <a:cs typeface="Calibri" pitchFamily="34" charset="-120"/>
              </a:rPr>
              <a:t>sincerely</a:t>
            </a:r>
            <a:pPr indent="0" marL="0">
              <a:buNone/>
            </a:pPr>
            <a:r>
              <a:rPr lang="en-US" sz="2100" dirty="0">
                <a:solidFill>
                  <a:srgbClr val="16233A"/>
                </a:solidFill>
                <a:latin typeface="Calibri" pitchFamily="34" charset="0"/>
                <a:ea typeface="Calibri" pitchFamily="34" charset="-122"/>
                <a:cs typeface="Calibri" pitchFamily="34" charset="-120"/>
              </a:rPr>
              <a:t> and </a:t>
            </a:r>
            <a:pPr indent="0" marL="0">
              <a:buNone/>
            </a:pPr>
            <a:r>
              <a:rPr lang="en-US" sz="2100" b="1" dirty="0">
                <a:solidFill>
                  <a:srgbClr val="1E7A4F"/>
                </a:solidFill>
                <a:latin typeface="Calibri" pitchFamily="34" charset="0"/>
                <a:ea typeface="Calibri" pitchFamily="34" charset="-122"/>
                <a:cs typeface="Calibri" pitchFamily="34" charset="-120"/>
              </a:rPr>
              <a:t>passionately</a:t>
            </a:r>
            <a:endParaRPr lang="en-US" sz="2100" dirty="0"/>
          </a:p>
        </p:txBody>
      </p:sp>
      <p:sp>
        <p:nvSpPr>
          <p:cNvPr id="19" name="s5 Shape 17"/>
          <p:cNvSpPr/>
          <p:nvPr/>
        </p:nvSpPr>
        <p:spPr>
          <a:xfrm>
            <a:off x="6702552" y="4956048"/>
            <a:ext cx="0" cy="201168"/>
          </a:xfrm>
          <a:prstGeom prst="line">
            <a:avLst/>
          </a:prstGeom>
          <a:noFill/>
          <a:ln w="15875">
            <a:solidFill>
              <a:srgbClr val="1E7A4F"/>
            </a:solidFill>
            <a:prstDash val="dash"/>
          </a:ln>
        </p:spPr>
      </p:sp>
      <p:sp>
        <p:nvSpPr>
          <p:cNvPr id="20" name="s5 Shape 18"/>
          <p:cNvSpPr/>
          <p:nvPr/>
        </p:nvSpPr>
        <p:spPr>
          <a:xfrm>
            <a:off x="9006840" y="4956048"/>
            <a:ext cx="0" cy="201168"/>
          </a:xfrm>
          <a:prstGeom prst="line">
            <a:avLst/>
          </a:prstGeom>
          <a:noFill/>
          <a:ln w="15875">
            <a:solidFill>
              <a:srgbClr val="1E7A4F"/>
            </a:solidFill>
            <a:prstDash val="dash"/>
          </a:ln>
        </p:spPr>
      </p:sp>
      <p:sp>
        <p:nvSpPr>
          <p:cNvPr id="21" name="s5 Shape 19"/>
          <p:cNvSpPr/>
          <p:nvPr/>
        </p:nvSpPr>
        <p:spPr>
          <a:xfrm>
            <a:off x="6702552" y="5157216"/>
            <a:ext cx="2304288" cy="0"/>
          </a:xfrm>
          <a:prstGeom prst="line">
            <a:avLst/>
          </a:prstGeom>
          <a:noFill/>
          <a:ln w="15875">
            <a:solidFill>
              <a:srgbClr val="1E7A4F"/>
            </a:solidFill>
            <a:prstDash val="dash"/>
          </a:ln>
        </p:spPr>
      </p:sp>
      <p:sp>
        <p:nvSpPr>
          <p:cNvPr id="22" name="s5 Shape 20"/>
          <p:cNvSpPr/>
          <p:nvPr/>
        </p:nvSpPr>
        <p:spPr>
          <a:xfrm>
            <a:off x="6986016" y="5248656"/>
            <a:ext cx="1737360" cy="310896"/>
          </a:xfrm>
          <a:prstGeom prst="roundRect">
            <a:avLst>
              <a:gd name="adj" fmla="val 50000"/>
            </a:avLst>
          </a:prstGeom>
          <a:solidFill>
            <a:srgbClr val="FFFFFF"/>
          </a:solidFill>
          <a:ln w="12700">
            <a:solidFill>
              <a:srgbClr val="BFDCCB"/>
            </a:solidFill>
            <a:prstDash val="solid"/>
          </a:ln>
        </p:spPr>
      </p:sp>
      <p:sp>
        <p:nvSpPr>
          <p:cNvPr id="23" name="s5 Text 21"/>
          <p:cNvSpPr/>
          <p:nvPr/>
        </p:nvSpPr>
        <p:spPr>
          <a:xfrm>
            <a:off x="6986016" y="5248656"/>
            <a:ext cx="1737360" cy="310896"/>
          </a:xfrm>
          <a:prstGeom prst="rect">
            <a:avLst/>
          </a:prstGeom>
          <a:noFill/>
          <a:ln/>
        </p:spPr>
        <p:txBody>
          <a:bodyPr wrap="square" lIns="0" tIns="0" rIns="0" bIns="0" rtlCol="0" anchor="ctr"/>
          <a:lstStyle/>
          <a:p>
            <a:pPr algn="ctr" indent="0" marL="0">
              <a:buNone/>
            </a:pPr>
            <a:r>
              <a:rPr lang="en-US" sz="1050" b="1" dirty="0">
                <a:solidFill>
                  <a:srgbClr val="1E7A4F"/>
                </a:solidFill>
                <a:latin typeface="Calibri" pitchFamily="34" charset="0"/>
                <a:ea typeface="Calibri" pitchFamily="34" charset="-122"/>
                <a:cs typeface="Calibri" pitchFamily="34" charset="-120"/>
              </a:rPr>
              <a:t>two adverbs</a:t>
            </a:r>
            <a:endParaRPr lang="en-US" sz="1050" dirty="0"/>
          </a:p>
        </p:txBody>
      </p:sp>
      <p:sp>
        <p:nvSpPr>
          <p:cNvPr id="24" name="footDeck"/>
          <p:cNvSpPr/>
          <p:nvPr/>
        </p:nvSpPr>
        <p:spPr>
          <a:xfrm>
            <a:off x="640080" y="6345936"/>
            <a:ext cx="4023360" cy="256032"/>
          </a:xfrm>
          <a:prstGeom prst="rect">
            <a:avLst/>
          </a:prstGeom>
          <a:noFill/>
          <a:ln/>
        </p:spPr>
        <p:txBody>
          <a:bodyPr wrap="square" lIns="0" tIns="0" rIns="0" bIns="0" rtlCol="0" anchor="ctr"/>
          <a:lstStyle/>
          <a:p>
            <a:pPr indent="0" marL="0">
              <a:buNone/>
            </a:pPr>
            <a:r>
              <a:rPr lang="en-US" sz="950" spc="60" kern="0" dirty="0">
                <a:solidFill>
                  <a:srgbClr val="77839A"/>
                </a:solidFill>
                <a:latin typeface="Calibri" pitchFamily="34" charset="0"/>
                <a:ea typeface="Calibri" pitchFamily="34" charset="-122"/>
                <a:cs typeface="Calibri" pitchFamily="34" charset="-120"/>
              </a:rPr>
              <a:t>Parallelism (in Grammar)</a:t>
            </a:r>
            <a:endParaRPr lang="en-US" sz="950" dirty="0"/>
          </a:p>
        </p:txBody>
      </p:sp>
      <p:sp>
        <p:nvSpPr>
          <p:cNvPr id="25" name="footNav"/>
          <p:cNvSpPr/>
          <p:nvPr/>
        </p:nvSpPr>
        <p:spPr>
          <a:xfrm>
            <a:off x="7528255" y="6345936"/>
            <a:ext cx="4023360" cy="256032"/>
          </a:xfrm>
          <a:prstGeom prst="rect">
            <a:avLst/>
          </a:prstGeom>
          <a:noFill/>
          <a:ln/>
        </p:spPr>
        <p:txBody>
          <a:bodyPr wrap="square" lIns="0" tIns="0" rIns="0" bIns="0" rtlCol="0" anchor="ctr"/>
          <a:lstStyle/>
          <a:p>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1" action="ppaction://hlinksldjump" tooltip="">
                  <a:extLst>
                    <a:ext uri="{A12FA001-AC4F-418D-AE19-62706E023703}">
                      <ahyp:hlinkClr xmlns:ahyp="http://schemas.microsoft.com/office/drawing/2018/hyperlinkcolor" val="tx"/>
                    </a:ext>
                  </a:extLst>
                </a:hlinkClick>
              </a:rPr>
              <a:t>CONTENTS</a:t>
            </a:r>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     ‹ </a:t>
            </a:r>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3" action="ppaction://hlinksldjump" tooltip="">
                  <a:extLst>
                    <a:ext uri="{A12FA001-AC4F-418D-AE19-62706E023703}">
                      <ahyp:hlinkClr xmlns:ahyp="http://schemas.microsoft.com/office/drawing/2018/hyperlinkcolor" val="tx"/>
                    </a:ext>
                  </a:extLst>
                </a:hlinkClick>
              </a:rPr>
              <a:t> › </a:t>
            </a:r>
            <a:pPr algn="r" indent="0" marL="0">
              <a:buNone/>
            </a:pPr>
            <a:r>
              <a:rPr lang="en-US" sz="950" b="1" spc="80" kern="0" dirty="0">
                <a:solidFill>
                  <a:srgbClr val="16233A"/>
                </a:solidFill>
                <a:latin typeface="Calibri" pitchFamily="34" charset="0"/>
                <a:ea typeface="Calibri" pitchFamily="34" charset="-122"/>
                <a:cs typeface="Calibri" pitchFamily="34" charset="-120"/>
              </a:rPr>
              <a:t>    05 / 14</a:t>
            </a:r>
            <a:endParaRPr lang="en-US" sz="950" dirty="0"/>
          </a:p>
        </p:txBody>
      </p:sp>
    </p:spTree>
  </p:cSld>
  <p:clrMapOvr>
    <a:masterClrMapping/>
  </p:clrMapOvr>
  <p:transition xmlns:p14="http://schemas.microsoft.com/office/powerpoint/2010/main" spd="med" p14:dur="500">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eyebrow"/>
          <p:cNvSpPr/>
          <p:nvPr/>
        </p:nvSpPr>
        <p:spPr>
          <a:xfrm>
            <a:off x="640080" y="457200"/>
            <a:ext cx="10911535" cy="237744"/>
          </a:xfrm>
          <a:prstGeom prst="rect">
            <a:avLst/>
          </a:prstGeom>
          <a:noFill/>
          <a:ln/>
        </p:spPr>
        <p:txBody>
          <a:bodyPr wrap="square" lIns="0" tIns="0" rIns="0" bIns="0" rtlCol="0" anchor="ctr"/>
          <a:lstStyle/>
          <a:p>
            <a:pPr indent="0" marL="0">
              <a:buNone/>
            </a:pPr>
            <a:r>
              <a:rPr lang="en-US" sz="1100" b="1" spc="320" kern="0" dirty="0">
                <a:solidFill>
                  <a:srgbClr val="B4832B"/>
                </a:solidFill>
                <a:latin typeface="Calibri" pitchFamily="34" charset="0"/>
                <a:ea typeface="Calibri" pitchFamily="34" charset="-122"/>
                <a:cs typeface="Calibri" pitchFamily="34" charset="-120"/>
              </a:rPr>
              <a:t>MORE EXAMPLES</a:t>
            </a:r>
            <a:endParaRPr lang="en-US" sz="1100" dirty="0"/>
          </a:p>
        </p:txBody>
      </p:sp>
      <p:sp>
        <p:nvSpPr>
          <p:cNvPr id="3" name="heading"/>
          <p:cNvSpPr/>
          <p:nvPr/>
        </p:nvSpPr>
        <p:spPr>
          <a:xfrm>
            <a:off x="640080" y="731520"/>
            <a:ext cx="10911535" cy="566928"/>
          </a:xfrm>
          <a:prstGeom prst="rect">
            <a:avLst/>
          </a:prstGeom>
          <a:noFill/>
          <a:ln/>
        </p:spPr>
        <p:txBody>
          <a:bodyPr wrap="square" lIns="0" tIns="0" rIns="0" bIns="0" rtlCol="0" anchor="t"/>
          <a:lstStyle/>
          <a:p>
            <a:pPr indent="0" marL="0">
              <a:buNone/>
            </a:pPr>
            <a:r>
              <a:rPr lang="en-US" sz="3200" b="1" dirty="0">
                <a:solidFill>
                  <a:srgbClr val="16233A"/>
                </a:solidFill>
                <a:latin typeface="Cambria" pitchFamily="34" charset="0"/>
                <a:ea typeface="Cambria" pitchFamily="34" charset="-122"/>
                <a:cs typeface="Cambria" pitchFamily="34" charset="-120"/>
              </a:rPr>
              <a:t>Not parallel, then parallel</a:t>
            </a:r>
            <a:endParaRPr lang="en-US" sz="3200" dirty="0"/>
          </a:p>
        </p:txBody>
      </p:sp>
      <p:sp>
        <p:nvSpPr>
          <p:cNvPr id="4" name="standfirst"/>
          <p:cNvSpPr/>
          <p:nvPr/>
        </p:nvSpPr>
        <p:spPr>
          <a:xfrm>
            <a:off x="640080" y="1335024"/>
            <a:ext cx="10911535" cy="329184"/>
          </a:xfrm>
          <a:prstGeom prst="rect">
            <a:avLst/>
          </a:prstGeom>
          <a:noFill/>
          <a:ln/>
        </p:spPr>
        <p:txBody>
          <a:bodyPr wrap="square" lIns="0" tIns="0" rIns="0" bIns="0" rtlCol="0" anchor="ctr"/>
          <a:lstStyle/>
          <a:p>
            <a:pPr indent="0" marL="0">
              <a:buNone/>
            </a:pPr>
            <a:r>
              <a:rPr lang="en-US" sz="1500" dirty="0">
                <a:solidFill>
                  <a:srgbClr val="77839A"/>
                </a:solidFill>
                <a:latin typeface="Calibri" pitchFamily="34" charset="0"/>
                <a:ea typeface="Calibri" pitchFamily="34" charset="-122"/>
                <a:cs typeface="Calibri" pitchFamily="34" charset="-120"/>
              </a:rPr>
              <a:t>Four sentences from the source, each broken in a different way.</a:t>
            </a:r>
            <a:endParaRPr lang="en-US" sz="1500" dirty="0"/>
          </a:p>
        </p:txBody>
      </p:sp>
      <p:sp>
        <p:nvSpPr>
          <p:cNvPr id="5" name="s6 Shape 3"/>
          <p:cNvSpPr/>
          <p:nvPr/>
        </p:nvSpPr>
        <p:spPr>
          <a:xfrm>
            <a:off x="640080" y="1792224"/>
            <a:ext cx="1572768" cy="310896"/>
          </a:xfrm>
          <a:prstGeom prst="roundRect">
            <a:avLst>
              <a:gd name="adj" fmla="val 50000"/>
            </a:avLst>
          </a:prstGeom>
          <a:solidFill>
            <a:srgbClr val="B3261E"/>
          </a:solidFill>
          <a:ln w="12700">
            <a:solidFill>
              <a:srgbClr val="B3261E"/>
            </a:solidFill>
            <a:prstDash val="solid"/>
          </a:ln>
        </p:spPr>
      </p:sp>
      <p:sp>
        <p:nvSpPr>
          <p:cNvPr id="6" name="s6 Text 4"/>
          <p:cNvSpPr/>
          <p:nvPr/>
        </p:nvSpPr>
        <p:spPr>
          <a:xfrm>
            <a:off x="640080" y="1792224"/>
            <a:ext cx="1572768" cy="310896"/>
          </a:xfrm>
          <a:prstGeom prst="rect">
            <a:avLst/>
          </a:prstGeom>
          <a:noFill/>
          <a:ln/>
        </p:spPr>
        <p:txBody>
          <a:bodyPr wrap="square" lIns="0" tIns="0" rIns="0" bIns="0" rtlCol="0" anchor="ctr"/>
          <a:lstStyle/>
          <a:p>
            <a:pPr algn="ctr" indent="0" marL="0">
              <a:buNone/>
            </a:pPr>
            <a:r>
              <a:rPr lang="en-US" sz="1000" b="1" spc="140" kern="0" dirty="0">
                <a:solidFill>
                  <a:srgbClr val="FFFFFF"/>
                </a:solidFill>
                <a:latin typeface="Calibri" pitchFamily="34" charset="0"/>
                <a:ea typeface="Calibri" pitchFamily="34" charset="-122"/>
                <a:cs typeface="Calibri" pitchFamily="34" charset="-120"/>
              </a:rPr>
              <a:t>NOT PARALLEL</a:t>
            </a:r>
            <a:endParaRPr lang="en-US" sz="1000" dirty="0"/>
          </a:p>
        </p:txBody>
      </p:sp>
      <p:sp>
        <p:nvSpPr>
          <p:cNvPr id="7" name="s6 Shape 5"/>
          <p:cNvSpPr/>
          <p:nvPr/>
        </p:nvSpPr>
        <p:spPr>
          <a:xfrm>
            <a:off x="6251296" y="1792224"/>
            <a:ext cx="1316736" cy="310896"/>
          </a:xfrm>
          <a:prstGeom prst="roundRect">
            <a:avLst>
              <a:gd name="adj" fmla="val 50000"/>
            </a:avLst>
          </a:prstGeom>
          <a:solidFill>
            <a:srgbClr val="1E7A4F"/>
          </a:solidFill>
          <a:ln w="12700">
            <a:solidFill>
              <a:srgbClr val="1E7A4F"/>
            </a:solidFill>
            <a:prstDash val="solid"/>
          </a:ln>
        </p:spPr>
      </p:sp>
      <p:sp>
        <p:nvSpPr>
          <p:cNvPr id="8" name="s6 Text 6"/>
          <p:cNvSpPr/>
          <p:nvPr/>
        </p:nvSpPr>
        <p:spPr>
          <a:xfrm>
            <a:off x="6251296" y="1792224"/>
            <a:ext cx="1316736" cy="310896"/>
          </a:xfrm>
          <a:prstGeom prst="rect">
            <a:avLst/>
          </a:prstGeom>
          <a:noFill/>
          <a:ln/>
        </p:spPr>
        <p:txBody>
          <a:bodyPr wrap="square" lIns="0" tIns="0" rIns="0" bIns="0" rtlCol="0" anchor="ctr"/>
          <a:lstStyle/>
          <a:p>
            <a:pPr algn="ctr" indent="0" marL="0">
              <a:buNone/>
            </a:pPr>
            <a:r>
              <a:rPr lang="en-US" sz="1000" b="1" spc="140" kern="0" dirty="0">
                <a:solidFill>
                  <a:srgbClr val="FFFFFF"/>
                </a:solidFill>
                <a:latin typeface="Calibri" pitchFamily="34" charset="0"/>
                <a:ea typeface="Calibri" pitchFamily="34" charset="-122"/>
                <a:cs typeface="Calibri" pitchFamily="34" charset="-120"/>
              </a:rPr>
              <a:t>PARALLEL</a:t>
            </a:r>
            <a:endParaRPr lang="en-US" sz="1000" dirty="0"/>
          </a:p>
        </p:txBody>
      </p:sp>
      <p:sp>
        <p:nvSpPr>
          <p:cNvPr id="9" name="s6 Shape 7"/>
          <p:cNvSpPr/>
          <p:nvPr/>
        </p:nvSpPr>
        <p:spPr>
          <a:xfrm>
            <a:off x="640080" y="2231136"/>
            <a:ext cx="5300320" cy="786384"/>
          </a:xfrm>
          <a:prstGeom prst="roundRect">
            <a:avLst>
              <a:gd name="adj" fmla="val 9302"/>
            </a:avLst>
          </a:prstGeom>
          <a:solidFill>
            <a:srgbClr val="FBEDEB"/>
          </a:solidFill>
          <a:ln w="12700">
            <a:solidFill>
              <a:srgbClr val="E7C3BF"/>
            </a:solidFill>
            <a:prstDash val="solid"/>
          </a:ln>
        </p:spPr>
      </p:sp>
      <p:sp>
        <p:nvSpPr>
          <p:cNvPr id="10" name="s6 Shape 8"/>
          <p:cNvSpPr/>
          <p:nvPr/>
        </p:nvSpPr>
        <p:spPr>
          <a:xfrm>
            <a:off x="6251296" y="2231136"/>
            <a:ext cx="5300320" cy="786384"/>
          </a:xfrm>
          <a:prstGeom prst="roundRect">
            <a:avLst>
              <a:gd name="adj" fmla="val 9302"/>
            </a:avLst>
          </a:prstGeom>
          <a:solidFill>
            <a:srgbClr val="EAF4EF"/>
          </a:solidFill>
          <a:ln w="12700">
            <a:solidFill>
              <a:srgbClr val="BFDCCB"/>
            </a:solidFill>
            <a:prstDash val="solid"/>
          </a:ln>
        </p:spPr>
      </p:sp>
      <p:sp>
        <p:nvSpPr>
          <p:cNvPr id="11" name="s6 Text 9"/>
          <p:cNvSpPr/>
          <p:nvPr/>
        </p:nvSpPr>
        <p:spPr>
          <a:xfrm>
            <a:off x="896112" y="2359152"/>
            <a:ext cx="4788256" cy="530352"/>
          </a:xfrm>
          <a:prstGeom prst="rect">
            <a:avLst/>
          </a:prstGeom>
          <a:noFill/>
          <a:ln/>
        </p:spPr>
        <p:txBody>
          <a:bodyPr wrap="square" lIns="0" tIns="0" rIns="0" bIns="0" rtlCol="0" anchor="ctr"/>
          <a:lstStyle/>
          <a:p>
            <a:pPr indent="0" marL="0">
              <a:lnSpc>
                <a:spcPts val="1900"/>
              </a:lnSpc>
              <a:buNone/>
            </a:pPr>
            <a:r>
              <a:rPr lang="en-US" sz="1350" dirty="0">
                <a:solidFill>
                  <a:srgbClr val="16233A"/>
                </a:solidFill>
                <a:latin typeface="Calibri" pitchFamily="34" charset="0"/>
                <a:ea typeface="Calibri" pitchFamily="34" charset="-122"/>
                <a:cs typeface="Calibri" pitchFamily="34" charset="-120"/>
              </a:rPr>
              <a:t>She likes jogging, and to read</a:t>
            </a:r>
            <a:endParaRPr lang="en-US" sz="1350" dirty="0"/>
          </a:p>
        </p:txBody>
      </p:sp>
      <p:sp>
        <p:nvSpPr>
          <p:cNvPr id="12" name="s6 Text 10"/>
          <p:cNvSpPr/>
          <p:nvPr/>
        </p:nvSpPr>
        <p:spPr>
          <a:xfrm>
            <a:off x="6507328" y="2359152"/>
            <a:ext cx="4788256" cy="530352"/>
          </a:xfrm>
          <a:prstGeom prst="rect">
            <a:avLst/>
          </a:prstGeom>
          <a:noFill/>
          <a:ln/>
        </p:spPr>
        <p:txBody>
          <a:bodyPr wrap="square" lIns="0" tIns="0" rIns="0" bIns="0" rtlCol="0" anchor="ctr"/>
          <a:lstStyle/>
          <a:p>
            <a:pPr indent="0" marL="0">
              <a:lnSpc>
                <a:spcPts val="1900"/>
              </a:lnSpc>
              <a:buNone/>
            </a:pPr>
            <a:r>
              <a:rPr lang="en-US" sz="1350" dirty="0">
                <a:solidFill>
                  <a:srgbClr val="16233A"/>
                </a:solidFill>
                <a:latin typeface="Calibri" pitchFamily="34" charset="0"/>
                <a:ea typeface="Calibri" pitchFamily="34" charset="-122"/>
                <a:cs typeface="Calibri" pitchFamily="34" charset="-120"/>
              </a:rPr>
              <a:t>She likes jogging and reading.</a:t>
            </a:r>
            <a:endParaRPr lang="en-US" sz="1350" dirty="0"/>
          </a:p>
        </p:txBody>
      </p:sp>
      <p:sp>
        <p:nvSpPr>
          <p:cNvPr id="13" name="s6 Shape 11"/>
          <p:cNvSpPr/>
          <p:nvPr/>
        </p:nvSpPr>
        <p:spPr>
          <a:xfrm>
            <a:off x="640080" y="3136392"/>
            <a:ext cx="5300320" cy="786384"/>
          </a:xfrm>
          <a:prstGeom prst="roundRect">
            <a:avLst>
              <a:gd name="adj" fmla="val 9302"/>
            </a:avLst>
          </a:prstGeom>
          <a:solidFill>
            <a:srgbClr val="FBEDEB"/>
          </a:solidFill>
          <a:ln w="12700">
            <a:solidFill>
              <a:srgbClr val="E7C3BF"/>
            </a:solidFill>
            <a:prstDash val="solid"/>
          </a:ln>
        </p:spPr>
      </p:sp>
      <p:sp>
        <p:nvSpPr>
          <p:cNvPr id="14" name="s6 Shape 12"/>
          <p:cNvSpPr/>
          <p:nvPr/>
        </p:nvSpPr>
        <p:spPr>
          <a:xfrm>
            <a:off x="6251296" y="3136392"/>
            <a:ext cx="5300320" cy="786384"/>
          </a:xfrm>
          <a:prstGeom prst="roundRect">
            <a:avLst>
              <a:gd name="adj" fmla="val 9302"/>
            </a:avLst>
          </a:prstGeom>
          <a:solidFill>
            <a:srgbClr val="EAF4EF"/>
          </a:solidFill>
          <a:ln w="12700">
            <a:solidFill>
              <a:srgbClr val="BFDCCB"/>
            </a:solidFill>
            <a:prstDash val="solid"/>
          </a:ln>
        </p:spPr>
      </p:sp>
      <p:sp>
        <p:nvSpPr>
          <p:cNvPr id="15" name="s6 Text 13"/>
          <p:cNvSpPr/>
          <p:nvPr/>
        </p:nvSpPr>
        <p:spPr>
          <a:xfrm>
            <a:off x="896112" y="3264408"/>
            <a:ext cx="4788256" cy="530352"/>
          </a:xfrm>
          <a:prstGeom prst="rect">
            <a:avLst/>
          </a:prstGeom>
          <a:noFill/>
          <a:ln/>
        </p:spPr>
        <p:txBody>
          <a:bodyPr wrap="square" lIns="0" tIns="0" rIns="0" bIns="0" rtlCol="0" anchor="ctr"/>
          <a:lstStyle/>
          <a:p>
            <a:pPr indent="0" marL="0">
              <a:lnSpc>
                <a:spcPts val="1900"/>
              </a:lnSpc>
              <a:buNone/>
            </a:pPr>
            <a:r>
              <a:rPr lang="en-US" sz="1350" dirty="0">
                <a:solidFill>
                  <a:srgbClr val="16233A"/>
                </a:solidFill>
                <a:latin typeface="Calibri" pitchFamily="34" charset="0"/>
                <a:ea typeface="Calibri" pitchFamily="34" charset="-122"/>
                <a:cs typeface="Calibri" pitchFamily="34" charset="-120"/>
              </a:rPr>
              <a:t>The show is both enjoyable and it is educational</a:t>
            </a:r>
            <a:endParaRPr lang="en-US" sz="1350" dirty="0"/>
          </a:p>
        </p:txBody>
      </p:sp>
      <p:sp>
        <p:nvSpPr>
          <p:cNvPr id="16" name="s6 Text 14"/>
          <p:cNvSpPr/>
          <p:nvPr/>
        </p:nvSpPr>
        <p:spPr>
          <a:xfrm>
            <a:off x="6507328" y="3264408"/>
            <a:ext cx="4788256" cy="530352"/>
          </a:xfrm>
          <a:prstGeom prst="rect">
            <a:avLst/>
          </a:prstGeom>
          <a:noFill/>
          <a:ln/>
        </p:spPr>
        <p:txBody>
          <a:bodyPr wrap="square" lIns="0" tIns="0" rIns="0" bIns="0" rtlCol="0" anchor="ctr"/>
          <a:lstStyle/>
          <a:p>
            <a:pPr indent="0" marL="0">
              <a:lnSpc>
                <a:spcPts val="1900"/>
              </a:lnSpc>
              <a:buNone/>
            </a:pPr>
            <a:r>
              <a:rPr lang="en-US" sz="1350" dirty="0">
                <a:solidFill>
                  <a:srgbClr val="16233A"/>
                </a:solidFill>
                <a:latin typeface="Calibri" pitchFamily="34" charset="0"/>
                <a:ea typeface="Calibri" pitchFamily="34" charset="-122"/>
                <a:cs typeface="Calibri" pitchFamily="34" charset="-120"/>
              </a:rPr>
              <a:t>The show is both enjoyable and educational</a:t>
            </a:r>
            <a:endParaRPr lang="en-US" sz="1350" dirty="0"/>
          </a:p>
        </p:txBody>
      </p:sp>
      <p:sp>
        <p:nvSpPr>
          <p:cNvPr id="17" name="s6 Shape 15"/>
          <p:cNvSpPr/>
          <p:nvPr/>
        </p:nvSpPr>
        <p:spPr>
          <a:xfrm>
            <a:off x="640080" y="4041648"/>
            <a:ext cx="5300320" cy="786384"/>
          </a:xfrm>
          <a:prstGeom prst="roundRect">
            <a:avLst>
              <a:gd name="adj" fmla="val 9302"/>
            </a:avLst>
          </a:prstGeom>
          <a:solidFill>
            <a:srgbClr val="FBEDEB"/>
          </a:solidFill>
          <a:ln w="12700">
            <a:solidFill>
              <a:srgbClr val="E7C3BF"/>
            </a:solidFill>
            <a:prstDash val="solid"/>
          </a:ln>
        </p:spPr>
      </p:sp>
      <p:sp>
        <p:nvSpPr>
          <p:cNvPr id="18" name="s6 Shape 16"/>
          <p:cNvSpPr/>
          <p:nvPr/>
        </p:nvSpPr>
        <p:spPr>
          <a:xfrm>
            <a:off x="6251296" y="4041648"/>
            <a:ext cx="5300320" cy="786384"/>
          </a:xfrm>
          <a:prstGeom prst="roundRect">
            <a:avLst>
              <a:gd name="adj" fmla="val 9302"/>
            </a:avLst>
          </a:prstGeom>
          <a:solidFill>
            <a:srgbClr val="EAF4EF"/>
          </a:solidFill>
          <a:ln w="12700">
            <a:solidFill>
              <a:srgbClr val="BFDCCB"/>
            </a:solidFill>
            <a:prstDash val="solid"/>
          </a:ln>
        </p:spPr>
      </p:sp>
      <p:sp>
        <p:nvSpPr>
          <p:cNvPr id="19" name="s6 Text 17"/>
          <p:cNvSpPr/>
          <p:nvPr/>
        </p:nvSpPr>
        <p:spPr>
          <a:xfrm>
            <a:off x="896112" y="4169664"/>
            <a:ext cx="4788256" cy="530352"/>
          </a:xfrm>
          <a:prstGeom prst="rect">
            <a:avLst/>
          </a:prstGeom>
          <a:noFill/>
          <a:ln/>
        </p:spPr>
        <p:txBody>
          <a:bodyPr wrap="square" lIns="0" tIns="0" rIns="0" bIns="0" rtlCol="0" anchor="ctr"/>
          <a:lstStyle/>
          <a:p>
            <a:pPr indent="0" marL="0">
              <a:lnSpc>
                <a:spcPts val="1900"/>
              </a:lnSpc>
              <a:buNone/>
            </a:pPr>
            <a:r>
              <a:rPr lang="en-US" sz="1350" dirty="0">
                <a:solidFill>
                  <a:srgbClr val="16233A"/>
                </a:solidFill>
                <a:latin typeface="Calibri" pitchFamily="34" charset="0"/>
                <a:ea typeface="Calibri" pitchFamily="34" charset="-122"/>
                <a:cs typeface="Calibri" pitchFamily="34" charset="-120"/>
              </a:rPr>
              <a:t>He not only wants money but also fame</a:t>
            </a:r>
            <a:endParaRPr lang="en-US" sz="1350" dirty="0"/>
          </a:p>
        </p:txBody>
      </p:sp>
      <p:sp>
        <p:nvSpPr>
          <p:cNvPr id="20" name="s6 Text 18"/>
          <p:cNvSpPr/>
          <p:nvPr/>
        </p:nvSpPr>
        <p:spPr>
          <a:xfrm>
            <a:off x="6507328" y="4169664"/>
            <a:ext cx="4788256" cy="530352"/>
          </a:xfrm>
          <a:prstGeom prst="rect">
            <a:avLst/>
          </a:prstGeom>
          <a:noFill/>
          <a:ln/>
        </p:spPr>
        <p:txBody>
          <a:bodyPr wrap="square" lIns="0" tIns="0" rIns="0" bIns="0" rtlCol="0" anchor="ctr"/>
          <a:lstStyle/>
          <a:p>
            <a:pPr indent="0" marL="0">
              <a:lnSpc>
                <a:spcPts val="1900"/>
              </a:lnSpc>
              <a:buNone/>
            </a:pPr>
            <a:r>
              <a:rPr lang="en-US" sz="1350" dirty="0">
                <a:solidFill>
                  <a:srgbClr val="16233A"/>
                </a:solidFill>
                <a:latin typeface="Calibri" pitchFamily="34" charset="0"/>
                <a:ea typeface="Calibri" pitchFamily="34" charset="-122"/>
                <a:cs typeface="Calibri" pitchFamily="34" charset="-120"/>
              </a:rPr>
              <a:t>He not only wants money but also wants fame</a:t>
            </a:r>
            <a:endParaRPr lang="en-US" sz="1350" dirty="0"/>
          </a:p>
        </p:txBody>
      </p:sp>
      <p:sp>
        <p:nvSpPr>
          <p:cNvPr id="21" name="s6 Shape 19"/>
          <p:cNvSpPr/>
          <p:nvPr/>
        </p:nvSpPr>
        <p:spPr>
          <a:xfrm>
            <a:off x="640080" y="4946904"/>
            <a:ext cx="5300320" cy="1005840"/>
          </a:xfrm>
          <a:prstGeom prst="roundRect">
            <a:avLst>
              <a:gd name="adj" fmla="val 7273"/>
            </a:avLst>
          </a:prstGeom>
          <a:solidFill>
            <a:srgbClr val="FBEDEB"/>
          </a:solidFill>
          <a:ln w="12700">
            <a:solidFill>
              <a:srgbClr val="E7C3BF"/>
            </a:solidFill>
            <a:prstDash val="solid"/>
          </a:ln>
        </p:spPr>
      </p:sp>
      <p:sp>
        <p:nvSpPr>
          <p:cNvPr id="22" name="s6 Shape 20"/>
          <p:cNvSpPr/>
          <p:nvPr/>
        </p:nvSpPr>
        <p:spPr>
          <a:xfrm>
            <a:off x="6251296" y="4946904"/>
            <a:ext cx="5300320" cy="1005840"/>
          </a:xfrm>
          <a:prstGeom prst="roundRect">
            <a:avLst>
              <a:gd name="adj" fmla="val 7273"/>
            </a:avLst>
          </a:prstGeom>
          <a:solidFill>
            <a:srgbClr val="EAF4EF"/>
          </a:solidFill>
          <a:ln w="12700">
            <a:solidFill>
              <a:srgbClr val="BFDCCB"/>
            </a:solidFill>
            <a:prstDash val="solid"/>
          </a:ln>
        </p:spPr>
      </p:sp>
      <p:sp>
        <p:nvSpPr>
          <p:cNvPr id="23" name="s6 Text 21"/>
          <p:cNvSpPr/>
          <p:nvPr/>
        </p:nvSpPr>
        <p:spPr>
          <a:xfrm>
            <a:off x="896112" y="5074920"/>
            <a:ext cx="4788256" cy="749808"/>
          </a:xfrm>
          <a:prstGeom prst="rect">
            <a:avLst/>
          </a:prstGeom>
          <a:noFill/>
          <a:ln/>
        </p:spPr>
        <p:txBody>
          <a:bodyPr wrap="square" lIns="0" tIns="0" rIns="0" bIns="0" rtlCol="0" anchor="ctr"/>
          <a:lstStyle/>
          <a:p>
            <a:pPr indent="0" marL="0">
              <a:lnSpc>
                <a:spcPts val="1900"/>
              </a:lnSpc>
              <a:buNone/>
            </a:pPr>
            <a:r>
              <a:rPr lang="en-US" sz="1350" dirty="0">
                <a:solidFill>
                  <a:srgbClr val="16233A"/>
                </a:solidFill>
                <a:latin typeface="Calibri" pitchFamily="34" charset="0"/>
                <a:ea typeface="Calibri" pitchFamily="34" charset="-122"/>
                <a:cs typeface="Calibri" pitchFamily="34" charset="-120"/>
              </a:rPr>
              <a:t>Trying desperately to find his keys, he looked in his bedroom, the sofa and on the kitchen counter.</a:t>
            </a:r>
            <a:endParaRPr lang="en-US" sz="1350" dirty="0"/>
          </a:p>
        </p:txBody>
      </p:sp>
      <p:sp>
        <p:nvSpPr>
          <p:cNvPr id="24" name="s6 Text 22"/>
          <p:cNvSpPr/>
          <p:nvPr/>
        </p:nvSpPr>
        <p:spPr>
          <a:xfrm>
            <a:off x="6507328" y="5074920"/>
            <a:ext cx="4788256" cy="749808"/>
          </a:xfrm>
          <a:prstGeom prst="rect">
            <a:avLst/>
          </a:prstGeom>
          <a:noFill/>
          <a:ln/>
        </p:spPr>
        <p:txBody>
          <a:bodyPr wrap="square" lIns="0" tIns="0" rIns="0" bIns="0" rtlCol="0" anchor="ctr"/>
          <a:lstStyle/>
          <a:p>
            <a:pPr indent="0" marL="0">
              <a:lnSpc>
                <a:spcPts val="1900"/>
              </a:lnSpc>
              <a:buNone/>
            </a:pPr>
            <a:r>
              <a:rPr lang="en-US" sz="1350" dirty="0">
                <a:solidFill>
                  <a:srgbClr val="16233A"/>
                </a:solidFill>
                <a:latin typeface="Calibri" pitchFamily="34" charset="0"/>
                <a:ea typeface="Calibri" pitchFamily="34" charset="-122"/>
                <a:cs typeface="Calibri" pitchFamily="34" charset="-120"/>
              </a:rPr>
              <a:t>Trying desperately to find his keys, he looked in his bedroom, under the sofa and on the kitchen counter.</a:t>
            </a:r>
            <a:endParaRPr lang="en-US" sz="1350" dirty="0"/>
          </a:p>
        </p:txBody>
      </p:sp>
      <p:sp>
        <p:nvSpPr>
          <p:cNvPr id="25" name="footDeck"/>
          <p:cNvSpPr/>
          <p:nvPr/>
        </p:nvSpPr>
        <p:spPr>
          <a:xfrm>
            <a:off x="640080" y="6345936"/>
            <a:ext cx="4023360" cy="256032"/>
          </a:xfrm>
          <a:prstGeom prst="rect">
            <a:avLst/>
          </a:prstGeom>
          <a:noFill/>
          <a:ln/>
        </p:spPr>
        <p:txBody>
          <a:bodyPr wrap="square" lIns="0" tIns="0" rIns="0" bIns="0" rtlCol="0" anchor="ctr"/>
          <a:lstStyle/>
          <a:p>
            <a:pPr indent="0" marL="0">
              <a:buNone/>
            </a:pPr>
            <a:r>
              <a:rPr lang="en-US" sz="950" spc="60" kern="0" dirty="0">
                <a:solidFill>
                  <a:srgbClr val="77839A"/>
                </a:solidFill>
                <a:latin typeface="Calibri" pitchFamily="34" charset="0"/>
                <a:ea typeface="Calibri" pitchFamily="34" charset="-122"/>
                <a:cs typeface="Calibri" pitchFamily="34" charset="-120"/>
              </a:rPr>
              <a:t>Parallelism (in Grammar)</a:t>
            </a:r>
            <a:endParaRPr lang="en-US" sz="950" dirty="0"/>
          </a:p>
        </p:txBody>
      </p:sp>
      <p:sp>
        <p:nvSpPr>
          <p:cNvPr id="26" name="footNav"/>
          <p:cNvSpPr/>
          <p:nvPr/>
        </p:nvSpPr>
        <p:spPr>
          <a:xfrm>
            <a:off x="7528255" y="6345936"/>
            <a:ext cx="4023360" cy="256032"/>
          </a:xfrm>
          <a:prstGeom prst="rect">
            <a:avLst/>
          </a:prstGeom>
          <a:noFill/>
          <a:ln/>
        </p:spPr>
        <p:txBody>
          <a:bodyPr wrap="square" lIns="0" tIns="0" rIns="0" bIns="0" rtlCol="0" anchor="ctr"/>
          <a:lstStyle/>
          <a:p>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1" action="ppaction://hlinksldjump" tooltip="">
                  <a:extLst>
                    <a:ext uri="{A12FA001-AC4F-418D-AE19-62706E023703}">
                      <ahyp:hlinkClr xmlns:ahyp="http://schemas.microsoft.com/office/drawing/2018/hyperlinkcolor" val="tx"/>
                    </a:ext>
                  </a:extLst>
                </a:hlinkClick>
              </a:rPr>
              <a:t>CONTENTS</a:t>
            </a:r>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     ‹ </a:t>
            </a:r>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3" action="ppaction://hlinksldjump" tooltip="">
                  <a:extLst>
                    <a:ext uri="{A12FA001-AC4F-418D-AE19-62706E023703}">
                      <ahyp:hlinkClr xmlns:ahyp="http://schemas.microsoft.com/office/drawing/2018/hyperlinkcolor" val="tx"/>
                    </a:ext>
                  </a:extLst>
                </a:hlinkClick>
              </a:rPr>
              <a:t> › </a:t>
            </a:r>
            <a:pPr algn="r" indent="0" marL="0">
              <a:buNone/>
            </a:pPr>
            <a:r>
              <a:rPr lang="en-US" sz="950" b="1" spc="80" kern="0" dirty="0">
                <a:solidFill>
                  <a:srgbClr val="16233A"/>
                </a:solidFill>
                <a:latin typeface="Calibri" pitchFamily="34" charset="0"/>
                <a:ea typeface="Calibri" pitchFamily="34" charset="-122"/>
                <a:cs typeface="Calibri" pitchFamily="34" charset="-120"/>
              </a:rPr>
              <a:t>    06 / 14</a:t>
            </a:r>
            <a:endParaRPr lang="en-US" sz="950" dirty="0"/>
          </a:p>
        </p:txBody>
      </p:sp>
    </p:spTree>
  </p:cSld>
  <p:clrMapOvr>
    <a:masterClrMapping/>
  </p:clrMapOvr>
  <p:transition xmlns:p14="http://schemas.microsoft.com/office/powerpoint/2010/main" spd="med" p14:dur="500">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eyebrow"/>
          <p:cNvSpPr/>
          <p:nvPr/>
        </p:nvSpPr>
        <p:spPr>
          <a:xfrm>
            <a:off x="640080" y="457200"/>
            <a:ext cx="10911535" cy="237744"/>
          </a:xfrm>
          <a:prstGeom prst="rect">
            <a:avLst/>
          </a:prstGeom>
          <a:noFill/>
          <a:ln/>
        </p:spPr>
        <p:txBody>
          <a:bodyPr wrap="square" lIns="0" tIns="0" rIns="0" bIns="0" rtlCol="0" anchor="ctr"/>
          <a:lstStyle/>
          <a:p>
            <a:pPr indent="0" marL="0">
              <a:buNone/>
            </a:pPr>
            <a:r>
              <a:rPr lang="en-US" sz="1100" b="1" spc="320" kern="0" dirty="0">
                <a:solidFill>
                  <a:srgbClr val="B4832B"/>
                </a:solidFill>
                <a:latin typeface="Calibri" pitchFamily="34" charset="0"/>
                <a:ea typeface="Calibri" pitchFamily="34" charset="-122"/>
                <a:cs typeface="Calibri" pitchFamily="34" charset="-120"/>
              </a:rPr>
              <a:t>USING PARALLEL STRUCTURE</a:t>
            </a:r>
            <a:endParaRPr lang="en-US" sz="1100" dirty="0"/>
          </a:p>
        </p:txBody>
      </p:sp>
      <p:sp>
        <p:nvSpPr>
          <p:cNvPr id="3" name="heading"/>
          <p:cNvSpPr/>
          <p:nvPr/>
        </p:nvSpPr>
        <p:spPr>
          <a:xfrm>
            <a:off x="640080" y="731520"/>
            <a:ext cx="10911535" cy="566928"/>
          </a:xfrm>
          <a:prstGeom prst="rect">
            <a:avLst/>
          </a:prstGeom>
          <a:noFill/>
          <a:ln/>
        </p:spPr>
        <p:txBody>
          <a:bodyPr wrap="square" lIns="0" tIns="0" rIns="0" bIns="0" rtlCol="0" anchor="t"/>
          <a:lstStyle/>
          <a:p>
            <a:pPr indent="0" marL="0">
              <a:buNone/>
            </a:pPr>
            <a:r>
              <a:rPr lang="en-US" sz="3200" b="1" dirty="0">
                <a:solidFill>
                  <a:srgbClr val="16233A"/>
                </a:solidFill>
                <a:latin typeface="Cambria" pitchFamily="34" charset="0"/>
                <a:ea typeface="Cambria" pitchFamily="34" charset="-122"/>
                <a:cs typeface="Cambria" pitchFamily="34" charset="-120"/>
              </a:rPr>
              <a:t>Four contexts that demand it</a:t>
            </a:r>
            <a:endParaRPr lang="en-US" sz="3200" dirty="0"/>
          </a:p>
        </p:txBody>
      </p:sp>
      <p:sp>
        <p:nvSpPr>
          <p:cNvPr id="4" name="standfirst"/>
          <p:cNvSpPr/>
          <p:nvPr/>
        </p:nvSpPr>
        <p:spPr>
          <a:xfrm>
            <a:off x="640080" y="1335024"/>
            <a:ext cx="10911535" cy="329184"/>
          </a:xfrm>
          <a:prstGeom prst="rect">
            <a:avLst/>
          </a:prstGeom>
          <a:noFill/>
          <a:ln/>
        </p:spPr>
        <p:txBody>
          <a:bodyPr wrap="square" lIns="0" tIns="0" rIns="0" bIns="0" rtlCol="0" anchor="ctr"/>
          <a:lstStyle/>
          <a:p>
            <a:pPr indent="0" marL="0">
              <a:buNone/>
            </a:pPr>
            <a:r>
              <a:rPr lang="en-US" sz="1500" dirty="0">
                <a:solidFill>
                  <a:srgbClr val="77839A"/>
                </a:solidFill>
                <a:latin typeface="Calibri" pitchFamily="34" charset="0"/>
                <a:ea typeface="Calibri" pitchFamily="34" charset="-122"/>
                <a:cs typeface="Calibri" pitchFamily="34" charset="-120"/>
              </a:rPr>
              <a:t>Whenever two or more elements are joined, the join sets an expectation about their form.</a:t>
            </a:r>
            <a:endParaRPr lang="en-US" sz="1500" dirty="0"/>
          </a:p>
        </p:txBody>
      </p:sp>
      <p:sp>
        <p:nvSpPr>
          <p:cNvPr id="5" name="ctxCard1"/>
          <p:cNvSpPr/>
          <p:nvPr/>
        </p:nvSpPr>
        <p:spPr>
          <a:xfrm>
            <a:off x="640080" y="1883664"/>
            <a:ext cx="2596896" cy="2286000"/>
          </a:xfrm>
          <a:prstGeom prst="roundRect">
            <a:avLst>
              <a:gd name="adj" fmla="val 3600"/>
            </a:avLst>
          </a:prstGeom>
          <a:solidFill>
            <a:srgbClr val="FFFFFF"/>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6" name="ctxDisc1"/>
          <p:cNvSpPr/>
          <p:nvPr/>
        </p:nvSpPr>
        <p:spPr>
          <a:xfrm>
            <a:off x="914400" y="2176272"/>
            <a:ext cx="566928" cy="566928"/>
          </a:xfrm>
          <a:prstGeom prst="ellipse">
            <a:avLst/>
          </a:prstGeom>
          <a:solidFill>
            <a:srgbClr val="16233A"/>
          </a:solidFill>
          <a:ln w="12700">
            <a:solidFill>
              <a:srgbClr val="16233A"/>
            </a:solidFill>
            <a:prstDash val="solid"/>
          </a:ln>
        </p:spPr>
      </p:sp>
      <p:pic>
        <p:nvPicPr>
          <p:cNvPr id="7" name="ctxIcon1" descr="preencoded.png">    </p:cNvPr>
          <p:cNvPicPr>
            <a:picLocks noChangeAspect="1"/>
          </p:cNvPicPr>
          <p:nvPr/>
        </p:nvPicPr>
        <p:blipFill>
          <a:blip r:embed="rId1"/>
          <a:stretch>
            <a:fillRect/>
          </a:stretch>
        </p:blipFill>
        <p:spPr>
          <a:xfrm>
            <a:off x="1051560" y="2313432"/>
            <a:ext cx="292608" cy="292608"/>
          </a:xfrm>
          <a:prstGeom prst="rect">
            <a:avLst/>
          </a:prstGeom>
        </p:spPr>
      </p:pic>
      <p:sp>
        <p:nvSpPr>
          <p:cNvPr id="8" name="ctxNum1"/>
          <p:cNvSpPr/>
          <p:nvPr/>
        </p:nvSpPr>
        <p:spPr>
          <a:xfrm>
            <a:off x="2395728" y="2194560"/>
            <a:ext cx="566928" cy="292608"/>
          </a:xfrm>
          <a:prstGeom prst="rect">
            <a:avLst/>
          </a:prstGeom>
          <a:noFill/>
          <a:ln/>
        </p:spPr>
        <p:txBody>
          <a:bodyPr wrap="square" lIns="0" tIns="0" rIns="0" bIns="0" rtlCol="0" anchor="ctr"/>
          <a:lstStyle/>
          <a:p>
            <a:pPr algn="r" indent="0" marL="0">
              <a:buNone/>
            </a:pPr>
            <a:r>
              <a:rPr lang="en-US" sz="1300" b="1" dirty="0">
                <a:solidFill>
                  <a:srgbClr val="B4832B"/>
                </a:solidFill>
                <a:latin typeface="Calibri" pitchFamily="34" charset="0"/>
                <a:ea typeface="Calibri" pitchFamily="34" charset="-122"/>
                <a:cs typeface="Calibri" pitchFamily="34" charset="-120"/>
              </a:rPr>
              <a:t>01</a:t>
            </a:r>
            <a:endParaRPr lang="en-US" sz="1300" dirty="0"/>
          </a:p>
        </p:txBody>
      </p:sp>
      <p:sp>
        <p:nvSpPr>
          <p:cNvPr id="9" name="ctxName1">
            <a:hlinkClick r:id="rId2" tooltip="" action="ppaction://hlinksldjump"/>
          </p:cNvPr>
          <p:cNvSpPr/>
          <p:nvPr/>
        </p:nvSpPr>
        <p:spPr>
          <a:xfrm>
            <a:off x="914400" y="2852928"/>
            <a:ext cx="2212848" cy="731520"/>
          </a:xfrm>
          <a:prstGeom prst="rect">
            <a:avLst/>
          </a:prstGeom>
          <a:noFill/>
          <a:ln/>
        </p:spPr>
        <p:txBody>
          <a:bodyPr wrap="square" lIns="0" tIns="0" rIns="0" bIns="0" rtlCol="0" anchor="ctr"/>
          <a:lstStyle/>
          <a:p>
            <a:pPr indent="0" marL="0">
              <a:lnSpc>
                <a:spcPts val="2100"/>
              </a:lnSpc>
              <a:buNone/>
            </a:pPr>
            <a:r>
              <a:rPr lang="en-US" sz="1550" b="1" u="none" dirty="0">
                <a:solidFill>
                  <a:srgbClr val="16233A"/>
                </a:solidFill>
                <a:latin typeface="Cambria" pitchFamily="34" charset="0"/>
                <a:ea typeface="Cambria" pitchFamily="34" charset="-122"/>
                <a:cs typeface="Cambria" pitchFamily="34" charset="-120"/>
                <a:hlinkClick r:id="rId2" action="ppaction://hlinksldjump" tooltip="">
                  <a:extLst>
                    <a:ext uri="{A12FA001-AC4F-418D-AE19-62706E023703}">
                      <ahyp:hlinkClr xmlns:ahyp="http://schemas.microsoft.com/office/drawing/2018/hyperlinkcolor" val="tx"/>
                    </a:ext>
                  </a:extLst>
                </a:hlinkClick>
              </a:rPr>
              <a:t>Coordinating</a:t>
            </a:r>
            <a:endParaRPr lang="en-US" sz="1550" dirty="0"/>
          </a:p>
          <a:p>
            <a:pPr indent="0" marL="0">
              <a:lnSpc>
                <a:spcPts val="2100"/>
              </a:lnSpc>
              <a:buNone/>
            </a:pPr>
            <a:r>
              <a:rPr lang="en-US" sz="1550" b="1" u="none" dirty="0">
                <a:solidFill>
                  <a:srgbClr val="16233A"/>
                </a:solidFill>
                <a:latin typeface="Cambria" pitchFamily="34" charset="0"/>
                <a:ea typeface="Cambria" pitchFamily="34" charset="-122"/>
                <a:cs typeface="Cambria" pitchFamily="34" charset="-120"/>
                <a:hlinkClick r:id="rId2" action="ppaction://hlinksldjump" tooltip="">
                  <a:extLst>
                    <a:ext uri="{A12FA001-AC4F-418D-AE19-62706E023703}">
                      <ahyp:hlinkClr xmlns:ahyp="http://schemas.microsoft.com/office/drawing/2018/hyperlinkcolor" val="tx"/>
                    </a:ext>
                  </a:extLst>
                </a:hlinkClick>
              </a:rPr>
              <a:t>conjunctions</a:t>
            </a:r>
            <a:endParaRPr lang="en-US" sz="1550" dirty="0"/>
          </a:p>
        </p:txBody>
      </p:sp>
      <p:sp>
        <p:nvSpPr>
          <p:cNvPr id="10" name="ctxCue1"/>
          <p:cNvSpPr/>
          <p:nvPr/>
        </p:nvSpPr>
        <p:spPr>
          <a:xfrm>
            <a:off x="914400" y="3639312"/>
            <a:ext cx="2048256" cy="402336"/>
          </a:xfrm>
          <a:prstGeom prst="rect">
            <a:avLst/>
          </a:prstGeom>
          <a:noFill/>
          <a:ln/>
        </p:spPr>
        <p:txBody>
          <a:bodyPr wrap="square" lIns="0" tIns="0" rIns="0" bIns="0" rtlCol="0" anchor="ctr"/>
          <a:lstStyle/>
          <a:p>
            <a:pPr indent="0" marL="0">
              <a:lnSpc>
                <a:spcPts val="1500"/>
              </a:lnSpc>
              <a:buNone/>
            </a:pPr>
            <a:r>
              <a:rPr lang="en-US" sz="1150" i="1" dirty="0">
                <a:solidFill>
                  <a:srgbClr val="77839A"/>
                </a:solidFill>
                <a:latin typeface="Calibri" pitchFamily="34" charset="0"/>
                <a:ea typeface="Calibri" pitchFamily="34" charset="-122"/>
                <a:cs typeface="Calibri" pitchFamily="34" charset="-120"/>
              </a:rPr>
              <a:t>for, and, but, or, yet</a:t>
            </a:r>
            <a:endParaRPr lang="en-US" sz="1150" dirty="0"/>
          </a:p>
        </p:txBody>
      </p:sp>
      <p:sp>
        <p:nvSpPr>
          <p:cNvPr id="11" name="ctxCard2"/>
          <p:cNvSpPr/>
          <p:nvPr/>
        </p:nvSpPr>
        <p:spPr>
          <a:xfrm>
            <a:off x="3410712" y="1883664"/>
            <a:ext cx="2596896" cy="2286000"/>
          </a:xfrm>
          <a:prstGeom prst="roundRect">
            <a:avLst>
              <a:gd name="adj" fmla="val 3600"/>
            </a:avLst>
          </a:prstGeom>
          <a:solidFill>
            <a:srgbClr val="FFFFFF"/>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12" name="ctxDisc2"/>
          <p:cNvSpPr/>
          <p:nvPr/>
        </p:nvSpPr>
        <p:spPr>
          <a:xfrm>
            <a:off x="3685032" y="2176272"/>
            <a:ext cx="566928" cy="566928"/>
          </a:xfrm>
          <a:prstGeom prst="ellipse">
            <a:avLst/>
          </a:prstGeom>
          <a:solidFill>
            <a:srgbClr val="16233A"/>
          </a:solidFill>
          <a:ln w="12700">
            <a:solidFill>
              <a:srgbClr val="16233A"/>
            </a:solidFill>
            <a:prstDash val="solid"/>
          </a:ln>
        </p:spPr>
      </p:sp>
      <p:pic>
        <p:nvPicPr>
          <p:cNvPr id="13" name="ctxIcon2" descr="preencoded.png">    </p:cNvPr>
          <p:cNvPicPr>
            <a:picLocks noChangeAspect="1"/>
          </p:cNvPicPr>
          <p:nvPr/>
        </p:nvPicPr>
        <p:blipFill>
          <a:blip r:embed="rId3"/>
          <a:stretch>
            <a:fillRect/>
          </a:stretch>
        </p:blipFill>
        <p:spPr>
          <a:xfrm>
            <a:off x="3822192" y="2313432"/>
            <a:ext cx="292608" cy="292608"/>
          </a:xfrm>
          <a:prstGeom prst="rect">
            <a:avLst/>
          </a:prstGeom>
        </p:spPr>
      </p:pic>
      <p:sp>
        <p:nvSpPr>
          <p:cNvPr id="14" name="ctxNum2"/>
          <p:cNvSpPr/>
          <p:nvPr/>
        </p:nvSpPr>
        <p:spPr>
          <a:xfrm>
            <a:off x="5166360" y="2194560"/>
            <a:ext cx="566928" cy="292608"/>
          </a:xfrm>
          <a:prstGeom prst="rect">
            <a:avLst/>
          </a:prstGeom>
          <a:noFill/>
          <a:ln/>
        </p:spPr>
        <p:txBody>
          <a:bodyPr wrap="square" lIns="0" tIns="0" rIns="0" bIns="0" rtlCol="0" anchor="ctr"/>
          <a:lstStyle/>
          <a:p>
            <a:pPr algn="r" indent="0" marL="0">
              <a:buNone/>
            </a:pPr>
            <a:r>
              <a:rPr lang="en-US" sz="1300" b="1" dirty="0">
                <a:solidFill>
                  <a:srgbClr val="B4832B"/>
                </a:solidFill>
                <a:latin typeface="Calibri" pitchFamily="34" charset="0"/>
                <a:ea typeface="Calibri" pitchFamily="34" charset="-122"/>
                <a:cs typeface="Calibri" pitchFamily="34" charset="-120"/>
              </a:rPr>
              <a:t>02</a:t>
            </a:r>
            <a:endParaRPr lang="en-US" sz="1300" dirty="0"/>
          </a:p>
        </p:txBody>
      </p:sp>
      <p:sp>
        <p:nvSpPr>
          <p:cNvPr id="15" name="ctxName2">
            <a:hlinkClick r:id="rId4" tooltip="" action="ppaction://hlinksldjump"/>
          </p:cNvPr>
          <p:cNvSpPr/>
          <p:nvPr/>
        </p:nvSpPr>
        <p:spPr>
          <a:xfrm>
            <a:off x="3685032" y="2852928"/>
            <a:ext cx="2212848" cy="731520"/>
          </a:xfrm>
          <a:prstGeom prst="rect">
            <a:avLst/>
          </a:prstGeom>
          <a:noFill/>
          <a:ln/>
        </p:spPr>
        <p:txBody>
          <a:bodyPr wrap="square" lIns="0" tIns="0" rIns="0" bIns="0" rtlCol="0" anchor="ctr"/>
          <a:lstStyle/>
          <a:p>
            <a:pPr indent="0" marL="0">
              <a:lnSpc>
                <a:spcPts val="2100"/>
              </a:lnSpc>
              <a:buNone/>
            </a:pPr>
            <a:r>
              <a:rPr lang="en-US" sz="1550" b="1" u="none" dirty="0">
                <a:solidFill>
                  <a:srgbClr val="16233A"/>
                </a:solidFill>
                <a:latin typeface="Cambria" pitchFamily="34" charset="0"/>
                <a:ea typeface="Cambria" pitchFamily="34" charset="-122"/>
                <a:cs typeface="Cambria" pitchFamily="34" charset="-120"/>
                <a:hlinkClick r:id="rId4" action="ppaction://hlinksldjump" tooltip="">
                  <a:extLst>
                    <a:ext uri="{A12FA001-AC4F-418D-AE19-62706E023703}">
                      <ahyp:hlinkClr xmlns:ahyp="http://schemas.microsoft.com/office/drawing/2018/hyperlinkcolor" val="tx"/>
                    </a:ext>
                  </a:extLst>
                </a:hlinkClick>
              </a:rPr>
              <a:t>Correlative</a:t>
            </a:r>
            <a:endParaRPr lang="en-US" sz="1550" dirty="0"/>
          </a:p>
          <a:p>
            <a:pPr indent="0" marL="0">
              <a:lnSpc>
                <a:spcPts val="2100"/>
              </a:lnSpc>
              <a:buNone/>
            </a:pPr>
            <a:r>
              <a:rPr lang="en-US" sz="1550" b="1" u="none" dirty="0">
                <a:solidFill>
                  <a:srgbClr val="16233A"/>
                </a:solidFill>
                <a:latin typeface="Cambria" pitchFamily="34" charset="0"/>
                <a:ea typeface="Cambria" pitchFamily="34" charset="-122"/>
                <a:cs typeface="Cambria" pitchFamily="34" charset="-120"/>
                <a:hlinkClick r:id="rId4" action="ppaction://hlinksldjump" tooltip="">
                  <a:extLst>
                    <a:ext uri="{A12FA001-AC4F-418D-AE19-62706E023703}">
                      <ahyp:hlinkClr xmlns:ahyp="http://schemas.microsoft.com/office/drawing/2018/hyperlinkcolor" val="tx"/>
                    </a:ext>
                  </a:extLst>
                </a:hlinkClick>
              </a:rPr>
              <a:t>conjunctions</a:t>
            </a:r>
            <a:endParaRPr lang="en-US" sz="1550" dirty="0"/>
          </a:p>
        </p:txBody>
      </p:sp>
      <p:sp>
        <p:nvSpPr>
          <p:cNvPr id="16" name="ctxCue2"/>
          <p:cNvSpPr/>
          <p:nvPr/>
        </p:nvSpPr>
        <p:spPr>
          <a:xfrm>
            <a:off x="3685032" y="3639312"/>
            <a:ext cx="2048256" cy="402336"/>
          </a:xfrm>
          <a:prstGeom prst="rect">
            <a:avLst/>
          </a:prstGeom>
          <a:noFill/>
          <a:ln/>
        </p:spPr>
        <p:txBody>
          <a:bodyPr wrap="square" lIns="0" tIns="0" rIns="0" bIns="0" rtlCol="0" anchor="ctr"/>
          <a:lstStyle/>
          <a:p>
            <a:pPr indent="0" marL="0">
              <a:lnSpc>
                <a:spcPts val="1500"/>
              </a:lnSpc>
              <a:buNone/>
            </a:pPr>
            <a:r>
              <a:rPr lang="en-US" sz="1150" i="1" dirty="0">
                <a:solidFill>
                  <a:srgbClr val="77839A"/>
                </a:solidFill>
                <a:latin typeface="Calibri" pitchFamily="34" charset="0"/>
                <a:ea typeface="Calibri" pitchFamily="34" charset="-122"/>
                <a:cs typeface="Calibri" pitchFamily="34" charset="-120"/>
              </a:rPr>
              <a:t>not only…but also, either…or, neither…nor, if…then</a:t>
            </a:r>
            <a:endParaRPr lang="en-US" sz="1150" dirty="0"/>
          </a:p>
        </p:txBody>
      </p:sp>
      <p:sp>
        <p:nvSpPr>
          <p:cNvPr id="17" name="ctxCard3"/>
          <p:cNvSpPr/>
          <p:nvPr/>
        </p:nvSpPr>
        <p:spPr>
          <a:xfrm>
            <a:off x="6181344" y="1883664"/>
            <a:ext cx="2596896" cy="2286000"/>
          </a:xfrm>
          <a:prstGeom prst="roundRect">
            <a:avLst>
              <a:gd name="adj" fmla="val 3600"/>
            </a:avLst>
          </a:prstGeom>
          <a:solidFill>
            <a:srgbClr val="FFFFFF"/>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18" name="ctxDisc3"/>
          <p:cNvSpPr/>
          <p:nvPr/>
        </p:nvSpPr>
        <p:spPr>
          <a:xfrm>
            <a:off x="6455664" y="2176272"/>
            <a:ext cx="566928" cy="566928"/>
          </a:xfrm>
          <a:prstGeom prst="ellipse">
            <a:avLst/>
          </a:prstGeom>
          <a:solidFill>
            <a:srgbClr val="16233A"/>
          </a:solidFill>
          <a:ln w="12700">
            <a:solidFill>
              <a:srgbClr val="16233A"/>
            </a:solidFill>
            <a:prstDash val="solid"/>
          </a:ln>
        </p:spPr>
      </p:sp>
      <p:pic>
        <p:nvPicPr>
          <p:cNvPr id="19" name="ctxIcon3" descr="preencoded.png">    </p:cNvPr>
          <p:cNvPicPr>
            <a:picLocks noChangeAspect="1"/>
          </p:cNvPicPr>
          <p:nvPr/>
        </p:nvPicPr>
        <p:blipFill>
          <a:blip r:embed="rId5"/>
          <a:stretch>
            <a:fillRect/>
          </a:stretch>
        </p:blipFill>
        <p:spPr>
          <a:xfrm>
            <a:off x="6592824" y="2313432"/>
            <a:ext cx="292608" cy="292608"/>
          </a:xfrm>
          <a:prstGeom prst="rect">
            <a:avLst/>
          </a:prstGeom>
        </p:spPr>
      </p:pic>
      <p:sp>
        <p:nvSpPr>
          <p:cNvPr id="20" name="ctxNum3"/>
          <p:cNvSpPr/>
          <p:nvPr/>
        </p:nvSpPr>
        <p:spPr>
          <a:xfrm>
            <a:off x="7936992" y="2194560"/>
            <a:ext cx="566928" cy="292608"/>
          </a:xfrm>
          <a:prstGeom prst="rect">
            <a:avLst/>
          </a:prstGeom>
          <a:noFill/>
          <a:ln/>
        </p:spPr>
        <p:txBody>
          <a:bodyPr wrap="square" lIns="0" tIns="0" rIns="0" bIns="0" rtlCol="0" anchor="ctr"/>
          <a:lstStyle/>
          <a:p>
            <a:pPr algn="r" indent="0" marL="0">
              <a:buNone/>
            </a:pPr>
            <a:r>
              <a:rPr lang="en-US" sz="1300" b="1" dirty="0">
                <a:solidFill>
                  <a:srgbClr val="B4832B"/>
                </a:solidFill>
                <a:latin typeface="Calibri" pitchFamily="34" charset="0"/>
                <a:ea typeface="Calibri" pitchFamily="34" charset="-122"/>
                <a:cs typeface="Calibri" pitchFamily="34" charset="-120"/>
              </a:rPr>
              <a:t>03</a:t>
            </a:r>
            <a:endParaRPr lang="en-US" sz="1300" dirty="0"/>
          </a:p>
        </p:txBody>
      </p:sp>
      <p:sp>
        <p:nvSpPr>
          <p:cNvPr id="21" name="ctxName3">
            <a:hlinkClick r:id="rId6" tooltip="" action="ppaction://hlinksldjump"/>
          </p:cNvPr>
          <p:cNvSpPr/>
          <p:nvPr/>
        </p:nvSpPr>
        <p:spPr>
          <a:xfrm>
            <a:off x="6455664" y="2852928"/>
            <a:ext cx="2212848" cy="731520"/>
          </a:xfrm>
          <a:prstGeom prst="rect">
            <a:avLst/>
          </a:prstGeom>
          <a:noFill/>
          <a:ln/>
        </p:spPr>
        <p:txBody>
          <a:bodyPr wrap="square" lIns="0" tIns="0" rIns="0" bIns="0" rtlCol="0" anchor="ctr"/>
          <a:lstStyle/>
          <a:p>
            <a:pPr indent="0" marL="0">
              <a:lnSpc>
                <a:spcPts val="2100"/>
              </a:lnSpc>
              <a:buNone/>
            </a:pPr>
            <a:r>
              <a:rPr lang="en-US" sz="1550" b="1" u="none" dirty="0">
                <a:solidFill>
                  <a:srgbClr val="16233A"/>
                </a:solidFill>
                <a:latin typeface="Cambria" pitchFamily="34" charset="0"/>
                <a:ea typeface="Cambria" pitchFamily="34" charset="-122"/>
                <a:cs typeface="Cambria" pitchFamily="34" charset="-120"/>
                <a:hlinkClick r:id="rId6" action="ppaction://hlinksldjump" tooltip="">
                  <a:extLst>
                    <a:ext uri="{A12FA001-AC4F-418D-AE19-62706E023703}">
                      <ahyp:hlinkClr xmlns:ahyp="http://schemas.microsoft.com/office/drawing/2018/hyperlinkcolor" val="tx"/>
                    </a:ext>
                  </a:extLst>
                </a:hlinkClick>
              </a:rPr>
              <a:t>Phrases or clauses</a:t>
            </a:r>
            <a:endParaRPr lang="en-US" sz="1550" dirty="0"/>
          </a:p>
          <a:p>
            <a:pPr indent="0" marL="0">
              <a:lnSpc>
                <a:spcPts val="2100"/>
              </a:lnSpc>
              <a:buNone/>
            </a:pPr>
            <a:r>
              <a:rPr lang="en-US" sz="1550" b="1" u="none" dirty="0">
                <a:solidFill>
                  <a:srgbClr val="16233A"/>
                </a:solidFill>
                <a:latin typeface="Cambria" pitchFamily="34" charset="0"/>
                <a:ea typeface="Cambria" pitchFamily="34" charset="-122"/>
                <a:cs typeface="Cambria" pitchFamily="34" charset="-120"/>
                <a:hlinkClick r:id="rId6" action="ppaction://hlinksldjump" tooltip="">
                  <a:extLst>
                    <a:ext uri="{A12FA001-AC4F-418D-AE19-62706E023703}">
                      <ahyp:hlinkClr xmlns:ahyp="http://schemas.microsoft.com/office/drawing/2018/hyperlinkcolor" val="tx"/>
                    </a:ext>
                  </a:extLst>
                </a:hlinkClick>
              </a:rPr>
              <a:t>of comparison</a:t>
            </a:r>
            <a:endParaRPr lang="en-US" sz="1550" dirty="0"/>
          </a:p>
        </p:txBody>
      </p:sp>
      <p:sp>
        <p:nvSpPr>
          <p:cNvPr id="22" name="ctxCue3"/>
          <p:cNvSpPr/>
          <p:nvPr/>
        </p:nvSpPr>
        <p:spPr>
          <a:xfrm>
            <a:off x="6455664" y="3639312"/>
            <a:ext cx="2048256" cy="402336"/>
          </a:xfrm>
          <a:prstGeom prst="rect">
            <a:avLst/>
          </a:prstGeom>
          <a:noFill/>
          <a:ln/>
        </p:spPr>
        <p:txBody>
          <a:bodyPr wrap="square" lIns="0" tIns="0" rIns="0" bIns="0" rtlCol="0" anchor="ctr"/>
          <a:lstStyle/>
          <a:p>
            <a:pPr indent="0" marL="0">
              <a:lnSpc>
                <a:spcPts val="1500"/>
              </a:lnSpc>
              <a:buNone/>
            </a:pPr>
            <a:r>
              <a:rPr lang="en-US" sz="1150" i="1" dirty="0">
                <a:solidFill>
                  <a:srgbClr val="77839A"/>
                </a:solidFill>
                <a:latin typeface="Calibri" pitchFamily="34" charset="0"/>
                <a:ea typeface="Calibri" pitchFamily="34" charset="-122"/>
                <a:cs typeface="Calibri" pitchFamily="34" charset="-120"/>
              </a:rPr>
              <a:t>than, as</a:t>
            </a:r>
            <a:endParaRPr lang="en-US" sz="1150" dirty="0"/>
          </a:p>
        </p:txBody>
      </p:sp>
      <p:sp>
        <p:nvSpPr>
          <p:cNvPr id="23" name="ctxCard4"/>
          <p:cNvSpPr/>
          <p:nvPr/>
        </p:nvSpPr>
        <p:spPr>
          <a:xfrm>
            <a:off x="8951976" y="1883664"/>
            <a:ext cx="2596896" cy="2286000"/>
          </a:xfrm>
          <a:prstGeom prst="roundRect">
            <a:avLst>
              <a:gd name="adj" fmla="val 3600"/>
            </a:avLst>
          </a:prstGeom>
          <a:solidFill>
            <a:srgbClr val="FFFFFF"/>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24" name="ctxDisc4"/>
          <p:cNvSpPr/>
          <p:nvPr/>
        </p:nvSpPr>
        <p:spPr>
          <a:xfrm>
            <a:off x="9226296" y="2176272"/>
            <a:ext cx="566928" cy="566928"/>
          </a:xfrm>
          <a:prstGeom prst="ellipse">
            <a:avLst/>
          </a:prstGeom>
          <a:solidFill>
            <a:srgbClr val="16233A"/>
          </a:solidFill>
          <a:ln w="12700">
            <a:solidFill>
              <a:srgbClr val="16233A"/>
            </a:solidFill>
            <a:prstDash val="solid"/>
          </a:ln>
        </p:spPr>
      </p:sp>
      <p:pic>
        <p:nvPicPr>
          <p:cNvPr id="25" name="ctxIcon4" descr="preencoded.png">    </p:cNvPr>
          <p:cNvPicPr>
            <a:picLocks noChangeAspect="1"/>
          </p:cNvPicPr>
          <p:nvPr/>
        </p:nvPicPr>
        <p:blipFill>
          <a:blip r:embed="rId7"/>
          <a:stretch>
            <a:fillRect/>
          </a:stretch>
        </p:blipFill>
        <p:spPr>
          <a:xfrm>
            <a:off x="9363456" y="2313432"/>
            <a:ext cx="292608" cy="292608"/>
          </a:xfrm>
          <a:prstGeom prst="rect">
            <a:avLst/>
          </a:prstGeom>
        </p:spPr>
      </p:pic>
      <p:sp>
        <p:nvSpPr>
          <p:cNvPr id="26" name="ctxNum4"/>
          <p:cNvSpPr/>
          <p:nvPr/>
        </p:nvSpPr>
        <p:spPr>
          <a:xfrm>
            <a:off x="10707624" y="2194560"/>
            <a:ext cx="566928" cy="292608"/>
          </a:xfrm>
          <a:prstGeom prst="rect">
            <a:avLst/>
          </a:prstGeom>
          <a:noFill/>
          <a:ln/>
        </p:spPr>
        <p:txBody>
          <a:bodyPr wrap="square" lIns="0" tIns="0" rIns="0" bIns="0" rtlCol="0" anchor="ctr"/>
          <a:lstStyle/>
          <a:p>
            <a:pPr algn="r" indent="0" marL="0">
              <a:buNone/>
            </a:pPr>
            <a:r>
              <a:rPr lang="en-US" sz="1300" b="1" dirty="0">
                <a:solidFill>
                  <a:srgbClr val="B4832B"/>
                </a:solidFill>
                <a:latin typeface="Calibri" pitchFamily="34" charset="0"/>
                <a:ea typeface="Calibri" pitchFamily="34" charset="-122"/>
                <a:cs typeface="Calibri" pitchFamily="34" charset="-120"/>
              </a:rPr>
              <a:t>04</a:t>
            </a:r>
            <a:endParaRPr lang="en-US" sz="1300" dirty="0"/>
          </a:p>
        </p:txBody>
      </p:sp>
      <p:sp>
        <p:nvSpPr>
          <p:cNvPr id="27" name="ctxName4">
            <a:hlinkClick r:id="rId8" tooltip="" action="ppaction://hlinksldjump"/>
          </p:cNvPr>
          <p:cNvSpPr/>
          <p:nvPr/>
        </p:nvSpPr>
        <p:spPr>
          <a:xfrm>
            <a:off x="9226296" y="2852928"/>
            <a:ext cx="2212848" cy="731520"/>
          </a:xfrm>
          <a:prstGeom prst="rect">
            <a:avLst/>
          </a:prstGeom>
          <a:noFill/>
          <a:ln/>
        </p:spPr>
        <p:txBody>
          <a:bodyPr wrap="square" lIns="0" tIns="0" rIns="0" bIns="0" rtlCol="0" anchor="ctr"/>
          <a:lstStyle/>
          <a:p>
            <a:pPr indent="0" marL="0">
              <a:lnSpc>
                <a:spcPts val="2100"/>
              </a:lnSpc>
              <a:buNone/>
            </a:pPr>
            <a:r>
              <a:rPr lang="en-US" sz="1550" b="1" u="none" dirty="0">
                <a:solidFill>
                  <a:srgbClr val="16233A"/>
                </a:solidFill>
                <a:latin typeface="Cambria" pitchFamily="34" charset="0"/>
                <a:ea typeface="Cambria" pitchFamily="34" charset="-122"/>
                <a:cs typeface="Cambria" pitchFamily="34" charset="-120"/>
                <a:hlinkClick r:id="rId8" action="ppaction://hlinksldjump" tooltip="">
                  <a:extLst>
                    <a:ext uri="{A12FA001-AC4F-418D-AE19-62706E023703}">
                      <ahyp:hlinkClr xmlns:ahyp="http://schemas.microsoft.com/office/drawing/2018/hyperlinkcolor" val="tx"/>
                    </a:ext>
                  </a:extLst>
                </a:hlinkClick>
              </a:rPr>
              <a:t>Lists</a:t>
            </a:r>
            <a:endParaRPr lang="en-US" sz="1550" dirty="0"/>
          </a:p>
        </p:txBody>
      </p:sp>
      <p:sp>
        <p:nvSpPr>
          <p:cNvPr id="28" name="ctxCue4"/>
          <p:cNvSpPr/>
          <p:nvPr/>
        </p:nvSpPr>
        <p:spPr>
          <a:xfrm>
            <a:off x="9226296" y="3639312"/>
            <a:ext cx="2048256" cy="402336"/>
          </a:xfrm>
          <a:prstGeom prst="rect">
            <a:avLst/>
          </a:prstGeom>
          <a:noFill/>
          <a:ln/>
        </p:spPr>
        <p:txBody>
          <a:bodyPr wrap="square" lIns="0" tIns="0" rIns="0" bIns="0" rtlCol="0" anchor="ctr"/>
          <a:lstStyle/>
          <a:p>
            <a:pPr indent="0" marL="0">
              <a:lnSpc>
                <a:spcPts val="1500"/>
              </a:lnSpc>
              <a:buNone/>
            </a:pPr>
            <a:r>
              <a:rPr lang="en-US" sz="1150" i="1" dirty="0">
                <a:solidFill>
                  <a:srgbClr val="77839A"/>
                </a:solidFill>
                <a:latin typeface="Calibri" pitchFamily="34" charset="0"/>
                <a:ea typeface="Calibri" pitchFamily="34" charset="-122"/>
                <a:cs typeface="Calibri" pitchFamily="34" charset="-120"/>
              </a:rPr>
              <a:t>items in a series</a:t>
            </a:r>
            <a:endParaRPr lang="en-US" sz="1150" dirty="0"/>
          </a:p>
        </p:txBody>
      </p:sp>
      <p:pic>
        <p:nvPicPr>
          <p:cNvPr id="29" name="s7 Image 4" descr="preencoded.png">    </p:cNvPr>
          <p:cNvPicPr>
            <a:picLocks noChangeAspect="1"/>
          </p:cNvPicPr>
          <p:nvPr/>
        </p:nvPicPr>
        <p:blipFill>
          <a:blip r:embed="rId9"/>
          <a:stretch>
            <a:fillRect/>
          </a:stretch>
        </p:blipFill>
        <p:spPr>
          <a:xfrm>
            <a:off x="2898648" y="4590288"/>
            <a:ext cx="6400800" cy="1600200"/>
          </a:xfrm>
          <a:prstGeom prst="rect">
            <a:avLst/>
          </a:prstGeom>
        </p:spPr>
      </p:pic>
      <p:sp>
        <p:nvSpPr>
          <p:cNvPr id="30" name="footDeck"/>
          <p:cNvSpPr/>
          <p:nvPr/>
        </p:nvSpPr>
        <p:spPr>
          <a:xfrm>
            <a:off x="640080" y="6345936"/>
            <a:ext cx="4023360" cy="256032"/>
          </a:xfrm>
          <a:prstGeom prst="rect">
            <a:avLst/>
          </a:prstGeom>
          <a:noFill/>
          <a:ln/>
        </p:spPr>
        <p:txBody>
          <a:bodyPr wrap="square" lIns="0" tIns="0" rIns="0" bIns="0" rtlCol="0" anchor="ctr"/>
          <a:lstStyle/>
          <a:p>
            <a:pPr indent="0" marL="0">
              <a:buNone/>
            </a:pPr>
            <a:r>
              <a:rPr lang="en-US" sz="950" spc="60" kern="0" dirty="0">
                <a:solidFill>
                  <a:srgbClr val="77839A"/>
                </a:solidFill>
                <a:latin typeface="Calibri" pitchFamily="34" charset="0"/>
                <a:ea typeface="Calibri" pitchFamily="34" charset="-122"/>
                <a:cs typeface="Calibri" pitchFamily="34" charset="-120"/>
              </a:rPr>
              <a:t>Parallelism (in Grammar)</a:t>
            </a:r>
            <a:endParaRPr lang="en-US" sz="950" dirty="0"/>
          </a:p>
        </p:txBody>
      </p:sp>
      <p:sp>
        <p:nvSpPr>
          <p:cNvPr id="31" name="footNav"/>
          <p:cNvSpPr/>
          <p:nvPr/>
        </p:nvSpPr>
        <p:spPr>
          <a:xfrm>
            <a:off x="7528255" y="6345936"/>
            <a:ext cx="4023360" cy="256032"/>
          </a:xfrm>
          <a:prstGeom prst="rect">
            <a:avLst/>
          </a:prstGeom>
          <a:noFill/>
          <a:ln/>
        </p:spPr>
        <p:txBody>
          <a:bodyPr wrap="square" lIns="0" tIns="0" rIns="0" bIns="0" rtlCol="0" anchor="ctr"/>
          <a:lstStyle/>
          <a:p>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10" action="ppaction://hlinksldjump" tooltip="">
                  <a:extLst>
                    <a:ext uri="{A12FA001-AC4F-418D-AE19-62706E023703}">
                      <ahyp:hlinkClr xmlns:ahyp="http://schemas.microsoft.com/office/drawing/2018/hyperlinkcolor" val="tx"/>
                    </a:ext>
                  </a:extLst>
                </a:hlinkClick>
              </a:rPr>
              <a:t>CONTENTS</a:t>
            </a:r>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11" action="ppaction://hlinksldjump" tooltip="">
                  <a:extLst>
                    <a:ext uri="{A12FA001-AC4F-418D-AE19-62706E023703}">
                      <ahyp:hlinkClr xmlns:ahyp="http://schemas.microsoft.com/office/drawing/2018/hyperlinkcolor" val="tx"/>
                    </a:ext>
                  </a:extLst>
                </a:hlinkClick>
              </a:rPr>
              <a:t>     ‹ </a:t>
            </a:r>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12" action="ppaction://hlinksldjump" tooltip="">
                  <a:extLst>
                    <a:ext uri="{A12FA001-AC4F-418D-AE19-62706E023703}">
                      <ahyp:hlinkClr xmlns:ahyp="http://schemas.microsoft.com/office/drawing/2018/hyperlinkcolor" val="tx"/>
                    </a:ext>
                  </a:extLst>
                </a:hlinkClick>
              </a:rPr>
              <a:t> › </a:t>
            </a:r>
            <a:pPr algn="r" indent="0" marL="0">
              <a:buNone/>
            </a:pPr>
            <a:r>
              <a:rPr lang="en-US" sz="950" b="1" spc="80" kern="0" dirty="0">
                <a:solidFill>
                  <a:srgbClr val="16233A"/>
                </a:solidFill>
                <a:latin typeface="Calibri" pitchFamily="34" charset="0"/>
                <a:ea typeface="Calibri" pitchFamily="34" charset="-122"/>
                <a:cs typeface="Calibri" pitchFamily="34" charset="-120"/>
              </a:rPr>
              <a:t>    07 / 14</a:t>
            </a:r>
            <a:endParaRPr lang="en-US" sz="950" dirty="0"/>
          </a:p>
        </p:txBody>
      </p:sp>
    </p:spTree>
  </p:cSld>
  <p:clrMapOvr>
    <a:masterClrMapping/>
  </p:clrMapOvr>
  <p:transition xmlns:p14="http://schemas.microsoft.com/office/powerpoint/2010/main" spd="med" p14:dur="500">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eyebrow"/>
          <p:cNvSpPr/>
          <p:nvPr/>
        </p:nvSpPr>
        <p:spPr>
          <a:xfrm>
            <a:off x="640080" y="457200"/>
            <a:ext cx="10911535" cy="237744"/>
          </a:xfrm>
          <a:prstGeom prst="rect">
            <a:avLst/>
          </a:prstGeom>
          <a:noFill/>
          <a:ln/>
        </p:spPr>
        <p:txBody>
          <a:bodyPr wrap="square" lIns="0" tIns="0" rIns="0" bIns="0" rtlCol="0" anchor="ctr"/>
          <a:lstStyle/>
          <a:p>
            <a:pPr indent="0" marL="0">
              <a:buNone/>
            </a:pPr>
            <a:r>
              <a:rPr lang="en-US" sz="1100" b="1" spc="320" kern="0" dirty="0">
                <a:solidFill>
                  <a:srgbClr val="B4832B"/>
                </a:solidFill>
                <a:latin typeface="Calibri" pitchFamily="34" charset="0"/>
                <a:ea typeface="Calibri" pitchFamily="34" charset="-122"/>
                <a:cs typeface="Calibri" pitchFamily="34" charset="-120"/>
              </a:rPr>
              <a:t>USING PARALLEL STRUCTURE  ·  01 OF 04</a:t>
            </a:r>
            <a:endParaRPr lang="en-US" sz="1100" dirty="0"/>
          </a:p>
        </p:txBody>
      </p:sp>
      <p:sp>
        <p:nvSpPr>
          <p:cNvPr id="3" name="heading"/>
          <p:cNvSpPr/>
          <p:nvPr/>
        </p:nvSpPr>
        <p:spPr>
          <a:xfrm>
            <a:off x="640080" y="731520"/>
            <a:ext cx="10911535" cy="566928"/>
          </a:xfrm>
          <a:prstGeom prst="rect">
            <a:avLst/>
          </a:prstGeom>
          <a:noFill/>
          <a:ln/>
        </p:spPr>
        <p:txBody>
          <a:bodyPr wrap="square" lIns="0" tIns="0" rIns="0" bIns="0" rtlCol="0" anchor="t"/>
          <a:lstStyle/>
          <a:p>
            <a:pPr indent="0" marL="0">
              <a:buNone/>
            </a:pPr>
            <a:r>
              <a:rPr lang="en-US" sz="3200" b="1" dirty="0">
                <a:solidFill>
                  <a:srgbClr val="16233A"/>
                </a:solidFill>
                <a:latin typeface="Cambria" pitchFamily="34" charset="0"/>
                <a:ea typeface="Cambria" pitchFamily="34" charset="-122"/>
                <a:cs typeface="Cambria" pitchFamily="34" charset="-120"/>
              </a:rPr>
              <a:t>Coordinating conjunctions</a:t>
            </a:r>
            <a:endParaRPr lang="en-US" sz="3200" dirty="0"/>
          </a:p>
        </p:txBody>
      </p:sp>
      <p:sp>
        <p:nvSpPr>
          <p:cNvPr id="4" name="ctxCard1"/>
          <p:cNvSpPr/>
          <p:nvPr/>
        </p:nvSpPr>
        <p:spPr>
          <a:xfrm>
            <a:off x="640080" y="1828800"/>
            <a:ext cx="3035808" cy="877824"/>
          </a:xfrm>
          <a:prstGeom prst="roundRect">
            <a:avLst>
              <a:gd name="adj" fmla="val 8333"/>
            </a:avLst>
          </a:prstGeom>
          <a:solidFill>
            <a:srgbClr val="16233A"/>
          </a:solidFill>
          <a:ln w="12700">
            <a:solidFill>
              <a:srgbClr val="2A3C5E"/>
            </a:solidFill>
            <a:prstDash val="solid"/>
          </a:ln>
          <a:effectLst>
            <a:outerShdw sx="100000" sy="100000" kx="0" ky="0" algn="bl" rotWithShape="0" blurRad="177800" dist="38100" dir="5400000">
              <a:srgbClr val="9AA7BC">
                <a:alpha val="28000"/>
              </a:srgbClr>
            </a:outerShdw>
          </a:effectLst>
        </p:spPr>
      </p:sp>
      <p:sp>
        <p:nvSpPr>
          <p:cNvPr id="5" name="ctxDisc1"/>
          <p:cNvSpPr/>
          <p:nvPr/>
        </p:nvSpPr>
        <p:spPr>
          <a:xfrm>
            <a:off x="877824" y="2066544"/>
            <a:ext cx="402336" cy="402336"/>
          </a:xfrm>
          <a:prstGeom prst="ellipse">
            <a:avLst/>
          </a:prstGeom>
          <a:solidFill>
            <a:srgbClr val="B4832B"/>
          </a:solidFill>
          <a:ln w="12700">
            <a:solidFill>
              <a:srgbClr val="B4832B"/>
            </a:solidFill>
            <a:prstDash val="solid"/>
          </a:ln>
        </p:spPr>
      </p:sp>
      <p:pic>
        <p:nvPicPr>
          <p:cNvPr id="6" name="ctxIcon1" descr="preencoded.png">    </p:cNvPr>
          <p:cNvPicPr>
            <a:picLocks noChangeAspect="1"/>
          </p:cNvPicPr>
          <p:nvPr/>
        </p:nvPicPr>
        <p:blipFill>
          <a:blip r:embed="rId1"/>
          <a:stretch>
            <a:fillRect/>
          </a:stretch>
        </p:blipFill>
        <p:spPr>
          <a:xfrm>
            <a:off x="969264" y="2157984"/>
            <a:ext cx="219456" cy="219456"/>
          </a:xfrm>
          <a:prstGeom prst="rect">
            <a:avLst/>
          </a:prstGeom>
        </p:spPr>
      </p:pic>
      <p:sp>
        <p:nvSpPr>
          <p:cNvPr id="7" name="ctxNum1"/>
          <p:cNvSpPr/>
          <p:nvPr/>
        </p:nvSpPr>
        <p:spPr>
          <a:xfrm>
            <a:off x="3017520" y="2121408"/>
            <a:ext cx="402336" cy="274320"/>
          </a:xfrm>
          <a:prstGeom prst="rect">
            <a:avLst/>
          </a:prstGeom>
          <a:noFill/>
          <a:ln/>
        </p:spPr>
        <p:txBody>
          <a:bodyPr wrap="square" lIns="0" tIns="0" rIns="0" bIns="0" rtlCol="0" anchor="ctr"/>
          <a:lstStyle/>
          <a:p>
            <a:pPr algn="r" indent="0" marL="0">
              <a:buNone/>
            </a:pPr>
            <a:r>
              <a:rPr lang="en-US" sz="1100" b="1" dirty="0">
                <a:solidFill>
                  <a:srgbClr val="B4832B"/>
                </a:solidFill>
                <a:latin typeface="Calibri" pitchFamily="34" charset="0"/>
                <a:ea typeface="Calibri" pitchFamily="34" charset="-122"/>
                <a:cs typeface="Calibri" pitchFamily="34" charset="-120"/>
              </a:rPr>
              <a:t>01</a:t>
            </a:r>
            <a:endParaRPr lang="en-US" sz="1100" dirty="0"/>
          </a:p>
        </p:txBody>
      </p:sp>
      <p:sp>
        <p:nvSpPr>
          <p:cNvPr id="8" name="ctxName1">
            <a:hlinkClick r:id="rId2" tooltip="" action="ppaction://hlinksldjump"/>
          </p:cNvPr>
          <p:cNvSpPr/>
          <p:nvPr/>
        </p:nvSpPr>
        <p:spPr>
          <a:xfrm>
            <a:off x="1408176" y="2103120"/>
            <a:ext cx="1664208" cy="365760"/>
          </a:xfrm>
          <a:prstGeom prst="rect">
            <a:avLst/>
          </a:prstGeom>
          <a:noFill/>
          <a:ln/>
        </p:spPr>
        <p:txBody>
          <a:bodyPr wrap="square" lIns="0" tIns="0" rIns="0" bIns="0" rtlCol="0" anchor="ctr"/>
          <a:lstStyle/>
          <a:p>
            <a:pPr indent="0" marL="0">
              <a:buNone/>
            </a:pPr>
            <a:r>
              <a:rPr lang="en-US" sz="1300" b="1" u="none" dirty="0">
                <a:solidFill>
                  <a:srgbClr val="FFFFFF"/>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Coordinating</a:t>
            </a:r>
            <a:endParaRPr lang="en-US" sz="1300" dirty="0"/>
          </a:p>
        </p:txBody>
      </p:sp>
      <p:sp>
        <p:nvSpPr>
          <p:cNvPr id="9" name="ctxCard2"/>
          <p:cNvSpPr/>
          <p:nvPr/>
        </p:nvSpPr>
        <p:spPr>
          <a:xfrm>
            <a:off x="640080" y="2852928"/>
            <a:ext cx="3035808" cy="877824"/>
          </a:xfrm>
          <a:prstGeom prst="roundRect">
            <a:avLst>
              <a:gd name="adj" fmla="val 8333"/>
            </a:avLst>
          </a:prstGeom>
          <a:solidFill>
            <a:srgbClr val="F6F8FB"/>
          </a:solidFill>
          <a:ln w="12700">
            <a:solidFill>
              <a:srgbClr val="DFE5EE"/>
            </a:solidFill>
            <a:prstDash val="solid"/>
          </a:ln>
        </p:spPr>
      </p:sp>
      <p:sp>
        <p:nvSpPr>
          <p:cNvPr id="10" name="ctxDisc2"/>
          <p:cNvSpPr/>
          <p:nvPr/>
        </p:nvSpPr>
        <p:spPr>
          <a:xfrm>
            <a:off x="877824" y="3090672"/>
            <a:ext cx="402336" cy="402336"/>
          </a:xfrm>
          <a:prstGeom prst="ellipse">
            <a:avLst/>
          </a:prstGeom>
          <a:solidFill>
            <a:srgbClr val="DFE5EE"/>
          </a:solidFill>
          <a:ln w="12700">
            <a:solidFill>
              <a:srgbClr val="DFE5EE"/>
            </a:solidFill>
            <a:prstDash val="solid"/>
          </a:ln>
        </p:spPr>
      </p:sp>
      <p:pic>
        <p:nvPicPr>
          <p:cNvPr id="11" name="ctxIcon2" descr="preencoded.png">    </p:cNvPr>
          <p:cNvPicPr>
            <a:picLocks noChangeAspect="1"/>
          </p:cNvPicPr>
          <p:nvPr/>
        </p:nvPicPr>
        <p:blipFill>
          <a:blip r:embed="rId3">
            <a:alphaModFix amt="45000"/>
          </a:blip>
          <a:stretch>
            <a:fillRect/>
          </a:stretch>
        </p:blipFill>
        <p:spPr>
          <a:xfrm>
            <a:off x="969264" y="3182112"/>
            <a:ext cx="219456" cy="219456"/>
          </a:xfrm>
          <a:prstGeom prst="rect">
            <a:avLst/>
          </a:prstGeom>
        </p:spPr>
      </p:pic>
      <p:sp>
        <p:nvSpPr>
          <p:cNvPr id="12" name="ctxNum2"/>
          <p:cNvSpPr/>
          <p:nvPr/>
        </p:nvSpPr>
        <p:spPr>
          <a:xfrm>
            <a:off x="3017520" y="3145536"/>
            <a:ext cx="402336" cy="274320"/>
          </a:xfrm>
          <a:prstGeom prst="rect">
            <a:avLst/>
          </a:prstGeom>
          <a:noFill/>
          <a:ln/>
        </p:spPr>
        <p:txBody>
          <a:bodyPr wrap="square" lIns="0" tIns="0" rIns="0" bIns="0" rtlCol="0" anchor="ctr"/>
          <a:lstStyle/>
          <a:p>
            <a:pPr algn="r" indent="0" marL="0">
              <a:buNone/>
            </a:pPr>
            <a:r>
              <a:rPr lang="en-US" sz="1100" b="1" dirty="0">
                <a:solidFill>
                  <a:srgbClr val="77839A"/>
                </a:solidFill>
                <a:latin typeface="Calibri" pitchFamily="34" charset="0"/>
                <a:ea typeface="Calibri" pitchFamily="34" charset="-122"/>
                <a:cs typeface="Calibri" pitchFamily="34" charset="-120"/>
              </a:rPr>
              <a:t>02</a:t>
            </a:r>
            <a:endParaRPr lang="en-US" sz="1100" dirty="0"/>
          </a:p>
        </p:txBody>
      </p:sp>
      <p:sp>
        <p:nvSpPr>
          <p:cNvPr id="13" name="ctxName2">
            <a:hlinkClick r:id="rId4" tooltip="" action="ppaction://hlinksldjump"/>
          </p:cNvPr>
          <p:cNvSpPr/>
          <p:nvPr/>
        </p:nvSpPr>
        <p:spPr>
          <a:xfrm>
            <a:off x="1408176" y="3127248"/>
            <a:ext cx="1664208" cy="365760"/>
          </a:xfrm>
          <a:prstGeom prst="rect">
            <a:avLst/>
          </a:prstGeom>
          <a:noFill/>
          <a:ln/>
        </p:spPr>
        <p:txBody>
          <a:bodyPr wrap="square" lIns="0" tIns="0" rIns="0" bIns="0" rtlCol="0" anchor="ctr"/>
          <a:lstStyle/>
          <a:p>
            <a:pPr indent="0" marL="0">
              <a:buNone/>
            </a:pPr>
            <a:r>
              <a:rPr lang="en-US" sz="1300" u="none" dirty="0">
                <a:solidFill>
                  <a:srgbClr val="3B455C"/>
                </a:solidFill>
                <a:latin typeface="Calibri" pitchFamily="34" charset="0"/>
                <a:ea typeface="Calibri" pitchFamily="34" charset="-122"/>
                <a:cs typeface="Calibri" pitchFamily="34" charset="-120"/>
                <a:hlinkClick r:id="rId4" action="ppaction://hlinksldjump" tooltip="">
                  <a:extLst>
                    <a:ext uri="{A12FA001-AC4F-418D-AE19-62706E023703}">
                      <ahyp:hlinkClr xmlns:ahyp="http://schemas.microsoft.com/office/drawing/2018/hyperlinkcolor" val="tx"/>
                    </a:ext>
                  </a:extLst>
                </a:hlinkClick>
              </a:rPr>
              <a:t>Correlative</a:t>
            </a:r>
            <a:endParaRPr lang="en-US" sz="1300" dirty="0"/>
          </a:p>
        </p:txBody>
      </p:sp>
      <p:sp>
        <p:nvSpPr>
          <p:cNvPr id="14" name="ctxCard3"/>
          <p:cNvSpPr/>
          <p:nvPr/>
        </p:nvSpPr>
        <p:spPr>
          <a:xfrm>
            <a:off x="640080" y="3877056"/>
            <a:ext cx="3035808" cy="877824"/>
          </a:xfrm>
          <a:prstGeom prst="roundRect">
            <a:avLst>
              <a:gd name="adj" fmla="val 8333"/>
            </a:avLst>
          </a:prstGeom>
          <a:solidFill>
            <a:srgbClr val="F6F8FB"/>
          </a:solidFill>
          <a:ln w="12700">
            <a:solidFill>
              <a:srgbClr val="DFE5EE"/>
            </a:solidFill>
            <a:prstDash val="solid"/>
          </a:ln>
        </p:spPr>
      </p:sp>
      <p:sp>
        <p:nvSpPr>
          <p:cNvPr id="15" name="ctxDisc3"/>
          <p:cNvSpPr/>
          <p:nvPr/>
        </p:nvSpPr>
        <p:spPr>
          <a:xfrm>
            <a:off x="877824" y="4114800"/>
            <a:ext cx="402336" cy="402336"/>
          </a:xfrm>
          <a:prstGeom prst="ellipse">
            <a:avLst/>
          </a:prstGeom>
          <a:solidFill>
            <a:srgbClr val="DFE5EE"/>
          </a:solidFill>
          <a:ln w="12700">
            <a:solidFill>
              <a:srgbClr val="DFE5EE"/>
            </a:solidFill>
            <a:prstDash val="solid"/>
          </a:ln>
        </p:spPr>
      </p:sp>
      <p:pic>
        <p:nvPicPr>
          <p:cNvPr id="16" name="ctxIcon3" descr="preencoded.png">    </p:cNvPr>
          <p:cNvPicPr>
            <a:picLocks noChangeAspect="1"/>
          </p:cNvPicPr>
          <p:nvPr/>
        </p:nvPicPr>
        <p:blipFill>
          <a:blip r:embed="rId5">
            <a:alphaModFix amt="45000"/>
          </a:blip>
          <a:stretch>
            <a:fillRect/>
          </a:stretch>
        </p:blipFill>
        <p:spPr>
          <a:xfrm>
            <a:off x="969264" y="4206240"/>
            <a:ext cx="219456" cy="219456"/>
          </a:xfrm>
          <a:prstGeom prst="rect">
            <a:avLst/>
          </a:prstGeom>
        </p:spPr>
      </p:pic>
      <p:sp>
        <p:nvSpPr>
          <p:cNvPr id="17" name="ctxNum3"/>
          <p:cNvSpPr/>
          <p:nvPr/>
        </p:nvSpPr>
        <p:spPr>
          <a:xfrm>
            <a:off x="3017520" y="4169664"/>
            <a:ext cx="402336" cy="274320"/>
          </a:xfrm>
          <a:prstGeom prst="rect">
            <a:avLst/>
          </a:prstGeom>
          <a:noFill/>
          <a:ln/>
        </p:spPr>
        <p:txBody>
          <a:bodyPr wrap="square" lIns="0" tIns="0" rIns="0" bIns="0" rtlCol="0" anchor="ctr"/>
          <a:lstStyle/>
          <a:p>
            <a:pPr algn="r" indent="0" marL="0">
              <a:buNone/>
            </a:pPr>
            <a:r>
              <a:rPr lang="en-US" sz="1100" b="1" dirty="0">
                <a:solidFill>
                  <a:srgbClr val="77839A"/>
                </a:solidFill>
                <a:latin typeface="Calibri" pitchFamily="34" charset="0"/>
                <a:ea typeface="Calibri" pitchFamily="34" charset="-122"/>
                <a:cs typeface="Calibri" pitchFamily="34" charset="-120"/>
              </a:rPr>
              <a:t>03</a:t>
            </a:r>
            <a:endParaRPr lang="en-US" sz="1100" dirty="0"/>
          </a:p>
        </p:txBody>
      </p:sp>
      <p:sp>
        <p:nvSpPr>
          <p:cNvPr id="18" name="ctxName3">
            <a:hlinkClick r:id="rId6" tooltip="" action="ppaction://hlinksldjump"/>
          </p:cNvPr>
          <p:cNvSpPr/>
          <p:nvPr/>
        </p:nvSpPr>
        <p:spPr>
          <a:xfrm>
            <a:off x="1408176" y="4151376"/>
            <a:ext cx="1664208" cy="365760"/>
          </a:xfrm>
          <a:prstGeom prst="rect">
            <a:avLst/>
          </a:prstGeom>
          <a:noFill/>
          <a:ln/>
        </p:spPr>
        <p:txBody>
          <a:bodyPr wrap="square" lIns="0" tIns="0" rIns="0" bIns="0" rtlCol="0" anchor="ctr"/>
          <a:lstStyle/>
          <a:p>
            <a:pPr indent="0" marL="0">
              <a:buNone/>
            </a:pPr>
            <a:r>
              <a:rPr lang="en-US" sz="1300" u="none" dirty="0">
                <a:solidFill>
                  <a:srgbClr val="3B455C"/>
                </a:solidFill>
                <a:latin typeface="Calibri" pitchFamily="34" charset="0"/>
                <a:ea typeface="Calibri" pitchFamily="34" charset="-122"/>
                <a:cs typeface="Calibri" pitchFamily="34" charset="-120"/>
                <a:hlinkClick r:id="rId6" action="ppaction://hlinksldjump" tooltip="">
                  <a:extLst>
                    <a:ext uri="{A12FA001-AC4F-418D-AE19-62706E023703}">
                      <ahyp:hlinkClr xmlns:ahyp="http://schemas.microsoft.com/office/drawing/2018/hyperlinkcolor" val="tx"/>
                    </a:ext>
                  </a:extLst>
                </a:hlinkClick>
              </a:rPr>
              <a:t>Comparison</a:t>
            </a:r>
            <a:endParaRPr lang="en-US" sz="1300" dirty="0"/>
          </a:p>
        </p:txBody>
      </p:sp>
      <p:sp>
        <p:nvSpPr>
          <p:cNvPr id="19" name="ctxCard4"/>
          <p:cNvSpPr/>
          <p:nvPr/>
        </p:nvSpPr>
        <p:spPr>
          <a:xfrm>
            <a:off x="640080" y="4901184"/>
            <a:ext cx="3035808" cy="877824"/>
          </a:xfrm>
          <a:prstGeom prst="roundRect">
            <a:avLst>
              <a:gd name="adj" fmla="val 8333"/>
            </a:avLst>
          </a:prstGeom>
          <a:solidFill>
            <a:srgbClr val="F6F8FB"/>
          </a:solidFill>
          <a:ln w="12700">
            <a:solidFill>
              <a:srgbClr val="DFE5EE"/>
            </a:solidFill>
            <a:prstDash val="solid"/>
          </a:ln>
        </p:spPr>
      </p:sp>
      <p:sp>
        <p:nvSpPr>
          <p:cNvPr id="20" name="ctxDisc4"/>
          <p:cNvSpPr/>
          <p:nvPr/>
        </p:nvSpPr>
        <p:spPr>
          <a:xfrm>
            <a:off x="877824" y="5138928"/>
            <a:ext cx="402336" cy="402336"/>
          </a:xfrm>
          <a:prstGeom prst="ellipse">
            <a:avLst/>
          </a:prstGeom>
          <a:solidFill>
            <a:srgbClr val="DFE5EE"/>
          </a:solidFill>
          <a:ln w="12700">
            <a:solidFill>
              <a:srgbClr val="DFE5EE"/>
            </a:solidFill>
            <a:prstDash val="solid"/>
          </a:ln>
        </p:spPr>
      </p:sp>
      <p:pic>
        <p:nvPicPr>
          <p:cNvPr id="21" name="ctxIcon4" descr="preencoded.png">    </p:cNvPr>
          <p:cNvPicPr>
            <a:picLocks noChangeAspect="1"/>
          </p:cNvPicPr>
          <p:nvPr/>
        </p:nvPicPr>
        <p:blipFill>
          <a:blip r:embed="rId7">
            <a:alphaModFix amt="45000"/>
          </a:blip>
          <a:stretch>
            <a:fillRect/>
          </a:stretch>
        </p:blipFill>
        <p:spPr>
          <a:xfrm>
            <a:off x="969264" y="5230368"/>
            <a:ext cx="219456" cy="219456"/>
          </a:xfrm>
          <a:prstGeom prst="rect">
            <a:avLst/>
          </a:prstGeom>
        </p:spPr>
      </p:pic>
      <p:sp>
        <p:nvSpPr>
          <p:cNvPr id="22" name="ctxNum4"/>
          <p:cNvSpPr/>
          <p:nvPr/>
        </p:nvSpPr>
        <p:spPr>
          <a:xfrm>
            <a:off x="3017520" y="5193792"/>
            <a:ext cx="402336" cy="274320"/>
          </a:xfrm>
          <a:prstGeom prst="rect">
            <a:avLst/>
          </a:prstGeom>
          <a:noFill/>
          <a:ln/>
        </p:spPr>
        <p:txBody>
          <a:bodyPr wrap="square" lIns="0" tIns="0" rIns="0" bIns="0" rtlCol="0" anchor="ctr"/>
          <a:lstStyle/>
          <a:p>
            <a:pPr algn="r" indent="0" marL="0">
              <a:buNone/>
            </a:pPr>
            <a:r>
              <a:rPr lang="en-US" sz="1100" b="1" dirty="0">
                <a:solidFill>
                  <a:srgbClr val="77839A"/>
                </a:solidFill>
                <a:latin typeface="Calibri" pitchFamily="34" charset="0"/>
                <a:ea typeface="Calibri" pitchFamily="34" charset="-122"/>
                <a:cs typeface="Calibri" pitchFamily="34" charset="-120"/>
              </a:rPr>
              <a:t>04</a:t>
            </a:r>
            <a:endParaRPr lang="en-US" sz="1100" dirty="0"/>
          </a:p>
        </p:txBody>
      </p:sp>
      <p:sp>
        <p:nvSpPr>
          <p:cNvPr id="23" name="ctxName4">
            <a:hlinkClick r:id="rId8" tooltip="" action="ppaction://hlinksldjump"/>
          </p:cNvPr>
          <p:cNvSpPr/>
          <p:nvPr/>
        </p:nvSpPr>
        <p:spPr>
          <a:xfrm>
            <a:off x="1408176" y="5175504"/>
            <a:ext cx="1664208" cy="365760"/>
          </a:xfrm>
          <a:prstGeom prst="rect">
            <a:avLst/>
          </a:prstGeom>
          <a:noFill/>
          <a:ln/>
        </p:spPr>
        <p:txBody>
          <a:bodyPr wrap="square" lIns="0" tIns="0" rIns="0" bIns="0" rtlCol="0" anchor="ctr"/>
          <a:lstStyle/>
          <a:p>
            <a:pPr indent="0" marL="0">
              <a:buNone/>
            </a:pPr>
            <a:r>
              <a:rPr lang="en-US" sz="1300" u="none" dirty="0">
                <a:solidFill>
                  <a:srgbClr val="3B455C"/>
                </a:solidFill>
                <a:latin typeface="Calibri" pitchFamily="34" charset="0"/>
                <a:ea typeface="Calibri" pitchFamily="34" charset="-122"/>
                <a:cs typeface="Calibri" pitchFamily="34" charset="-120"/>
                <a:hlinkClick r:id="rId8" action="ppaction://hlinksldjump" tooltip="">
                  <a:extLst>
                    <a:ext uri="{A12FA001-AC4F-418D-AE19-62706E023703}">
                      <ahyp:hlinkClr xmlns:ahyp="http://schemas.microsoft.com/office/drawing/2018/hyperlinkcolor" val="tx"/>
                    </a:ext>
                  </a:extLst>
                </a:hlinkClick>
              </a:rPr>
              <a:t>Lists</a:t>
            </a:r>
            <a:endParaRPr lang="en-US" sz="1300" dirty="0"/>
          </a:p>
        </p:txBody>
      </p:sp>
      <p:sp>
        <p:nvSpPr>
          <p:cNvPr id="24" name="s8 Shape 18"/>
          <p:cNvSpPr/>
          <p:nvPr/>
        </p:nvSpPr>
        <p:spPr>
          <a:xfrm>
            <a:off x="4059936" y="1316736"/>
            <a:ext cx="7491679" cy="1060704"/>
          </a:xfrm>
          <a:prstGeom prst="roundRect">
            <a:avLst>
              <a:gd name="adj" fmla="val 7759"/>
            </a:avLst>
          </a:prstGeom>
          <a:solidFill>
            <a:srgbClr val="F6F8FB"/>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25" name="s8 Text 19"/>
          <p:cNvSpPr/>
          <p:nvPr/>
        </p:nvSpPr>
        <p:spPr>
          <a:xfrm>
            <a:off x="4370832" y="1481328"/>
            <a:ext cx="1828800" cy="237744"/>
          </a:xfrm>
          <a:prstGeom prst="rect">
            <a:avLst/>
          </a:prstGeom>
          <a:noFill/>
          <a:ln/>
        </p:spPr>
        <p:txBody>
          <a:bodyPr wrap="square" lIns="0" tIns="0" rIns="0" bIns="0" rtlCol="0" anchor="ctr"/>
          <a:lstStyle/>
          <a:p>
            <a:pPr indent="0" marL="0">
              <a:buNone/>
            </a:pPr>
            <a:r>
              <a:rPr lang="en-US" sz="950" b="1" spc="240" kern="0" dirty="0">
                <a:solidFill>
                  <a:srgbClr val="B4832B"/>
                </a:solidFill>
                <a:latin typeface="Calibri" pitchFamily="34" charset="0"/>
                <a:ea typeface="Calibri" pitchFamily="34" charset="-122"/>
                <a:cs typeface="Calibri" pitchFamily="34" charset="-120"/>
              </a:rPr>
              <a:t>THE RULE</a:t>
            </a:r>
            <a:endParaRPr lang="en-US" sz="950" dirty="0"/>
          </a:p>
        </p:txBody>
      </p:sp>
      <p:sp>
        <p:nvSpPr>
          <p:cNvPr id="26" name="s8 Text 20"/>
          <p:cNvSpPr/>
          <p:nvPr/>
        </p:nvSpPr>
        <p:spPr>
          <a:xfrm>
            <a:off x="4370832" y="1737360"/>
            <a:ext cx="6869887" cy="548640"/>
          </a:xfrm>
          <a:prstGeom prst="rect">
            <a:avLst/>
          </a:prstGeom>
          <a:noFill/>
          <a:ln/>
        </p:spPr>
        <p:txBody>
          <a:bodyPr wrap="square" lIns="0" tIns="0" rIns="0" bIns="0" rtlCol="0" anchor="ctr"/>
          <a:lstStyle/>
          <a:p>
            <a:pPr indent="0" marL="0">
              <a:lnSpc>
                <a:spcPts val="2100"/>
              </a:lnSpc>
              <a:buNone/>
            </a:pPr>
            <a:r>
              <a:rPr lang="en-US" sz="1450" dirty="0">
                <a:solidFill>
                  <a:srgbClr val="16233A"/>
                </a:solidFill>
                <a:latin typeface="Calibri" pitchFamily="34" charset="0"/>
                <a:ea typeface="Calibri" pitchFamily="34" charset="-122"/>
                <a:cs typeface="Calibri" pitchFamily="34" charset="-120"/>
              </a:rPr>
              <a:t>While adding two or more clauses or phrases with a coordinating conjunction (for, and, but, or, yet).</a:t>
            </a:r>
            <a:endParaRPr lang="en-US" sz="1450" dirty="0"/>
          </a:p>
        </p:txBody>
      </p:sp>
      <p:sp>
        <p:nvSpPr>
          <p:cNvPr id="27" name="s8 Shape 21"/>
          <p:cNvSpPr/>
          <p:nvPr/>
        </p:nvSpPr>
        <p:spPr>
          <a:xfrm>
            <a:off x="4059936" y="2615184"/>
            <a:ext cx="7491679" cy="1188720"/>
          </a:xfrm>
          <a:prstGeom prst="roundRect">
            <a:avLst>
              <a:gd name="adj" fmla="val 7692"/>
            </a:avLst>
          </a:prstGeom>
          <a:solidFill>
            <a:srgbClr val="FBEDEB"/>
          </a:solidFill>
          <a:ln w="12700">
            <a:solidFill>
              <a:srgbClr val="E7C3BF"/>
            </a:solidFill>
            <a:prstDash val="solid"/>
          </a:ln>
          <a:effectLst>
            <a:outerShdw sx="100000" sy="100000" kx="0" ky="0" algn="bl" rotWithShape="0" blurRad="177800" dist="38100" dir="5400000">
              <a:srgbClr val="9AA7BC">
                <a:alpha val="28000"/>
              </a:srgbClr>
            </a:outerShdw>
          </a:effectLst>
        </p:spPr>
      </p:sp>
      <p:sp>
        <p:nvSpPr>
          <p:cNvPr id="28" name="s8 Shape 22"/>
          <p:cNvSpPr/>
          <p:nvPr/>
        </p:nvSpPr>
        <p:spPr>
          <a:xfrm>
            <a:off x="4334256" y="2834640"/>
            <a:ext cx="1481328" cy="292608"/>
          </a:xfrm>
          <a:prstGeom prst="roundRect">
            <a:avLst>
              <a:gd name="adj" fmla="val 50000"/>
            </a:avLst>
          </a:prstGeom>
          <a:solidFill>
            <a:srgbClr val="B3261E"/>
          </a:solidFill>
          <a:ln w="12700">
            <a:solidFill>
              <a:srgbClr val="B3261E"/>
            </a:solidFill>
            <a:prstDash val="solid"/>
          </a:ln>
        </p:spPr>
      </p:sp>
      <p:sp>
        <p:nvSpPr>
          <p:cNvPr id="29" name="s8 Text 23"/>
          <p:cNvSpPr/>
          <p:nvPr/>
        </p:nvSpPr>
        <p:spPr>
          <a:xfrm>
            <a:off x="4334256" y="2834640"/>
            <a:ext cx="1481328" cy="292608"/>
          </a:xfrm>
          <a:prstGeom prst="rect">
            <a:avLst/>
          </a:prstGeom>
          <a:noFill/>
          <a:ln/>
        </p:spPr>
        <p:txBody>
          <a:bodyPr wrap="square" lIns="0" tIns="0" rIns="0" bIns="0" rtlCol="0" anchor="ctr"/>
          <a:lstStyle/>
          <a:p>
            <a:pPr algn="ctr" indent="0" marL="0">
              <a:buNone/>
            </a:pPr>
            <a:r>
              <a:rPr lang="en-US" sz="950" b="1" spc="140" kern="0" dirty="0">
                <a:solidFill>
                  <a:srgbClr val="FFFFFF"/>
                </a:solidFill>
                <a:latin typeface="Calibri" pitchFamily="34" charset="0"/>
                <a:ea typeface="Calibri" pitchFamily="34" charset="-122"/>
                <a:cs typeface="Calibri" pitchFamily="34" charset="-120"/>
              </a:rPr>
              <a:t>NOT PARALLEL</a:t>
            </a:r>
            <a:endParaRPr lang="en-US" sz="950" dirty="0"/>
          </a:p>
        </p:txBody>
      </p:sp>
      <p:sp>
        <p:nvSpPr>
          <p:cNvPr id="30" name="s8 Text 24"/>
          <p:cNvSpPr/>
          <p:nvPr/>
        </p:nvSpPr>
        <p:spPr>
          <a:xfrm>
            <a:off x="4334256" y="3182112"/>
            <a:ext cx="6943039" cy="475488"/>
          </a:xfrm>
          <a:prstGeom prst="rect">
            <a:avLst/>
          </a:prstGeom>
          <a:noFill/>
          <a:ln/>
        </p:spPr>
        <p:txBody>
          <a:bodyPr wrap="square" lIns="0" tIns="0" rIns="0" bIns="0" rtlCol="0" anchor="t"/>
          <a:lstStyle/>
          <a:p>
            <a:pPr indent="0" marL="0">
              <a:lnSpc>
                <a:spcPts val="2300"/>
              </a:lnSpc>
              <a:buNone/>
            </a:pPr>
            <a:r>
              <a:rPr lang="en-US" sz="1650" dirty="0">
                <a:solidFill>
                  <a:srgbClr val="16233A"/>
                </a:solidFill>
                <a:latin typeface="Calibri" pitchFamily="34" charset="0"/>
                <a:ea typeface="Calibri" pitchFamily="34" charset="-122"/>
                <a:cs typeface="Calibri" pitchFamily="34" charset="-120"/>
              </a:rPr>
              <a:t>My friend took me dancing and to a show.</a:t>
            </a:r>
            <a:endParaRPr lang="en-US" sz="1650" dirty="0"/>
          </a:p>
        </p:txBody>
      </p:sp>
      <p:sp>
        <p:nvSpPr>
          <p:cNvPr id="31" name="s8 Shape 25"/>
          <p:cNvSpPr/>
          <p:nvPr/>
        </p:nvSpPr>
        <p:spPr>
          <a:xfrm>
            <a:off x="4059936" y="4023360"/>
            <a:ext cx="7491679" cy="1188720"/>
          </a:xfrm>
          <a:prstGeom prst="roundRect">
            <a:avLst>
              <a:gd name="adj" fmla="val 7692"/>
            </a:avLst>
          </a:prstGeom>
          <a:solidFill>
            <a:srgbClr val="EAF4EF"/>
          </a:solidFill>
          <a:ln w="12700">
            <a:solidFill>
              <a:srgbClr val="BFDCCB"/>
            </a:solidFill>
            <a:prstDash val="solid"/>
          </a:ln>
          <a:effectLst>
            <a:outerShdw sx="100000" sy="100000" kx="0" ky="0" algn="bl" rotWithShape="0" blurRad="177800" dist="38100" dir="5400000">
              <a:srgbClr val="9AA7BC">
                <a:alpha val="28000"/>
              </a:srgbClr>
            </a:outerShdw>
          </a:effectLst>
        </p:spPr>
      </p:sp>
      <p:sp>
        <p:nvSpPr>
          <p:cNvPr id="32" name="s8 Shape 26"/>
          <p:cNvSpPr/>
          <p:nvPr/>
        </p:nvSpPr>
        <p:spPr>
          <a:xfrm>
            <a:off x="4334256" y="4242816"/>
            <a:ext cx="1481328" cy="292608"/>
          </a:xfrm>
          <a:prstGeom prst="roundRect">
            <a:avLst>
              <a:gd name="adj" fmla="val 50000"/>
            </a:avLst>
          </a:prstGeom>
          <a:solidFill>
            <a:srgbClr val="1E7A4F"/>
          </a:solidFill>
          <a:ln w="12700">
            <a:solidFill>
              <a:srgbClr val="1E7A4F"/>
            </a:solidFill>
            <a:prstDash val="solid"/>
          </a:ln>
        </p:spPr>
      </p:sp>
      <p:sp>
        <p:nvSpPr>
          <p:cNvPr id="33" name="s8 Text 27"/>
          <p:cNvSpPr/>
          <p:nvPr/>
        </p:nvSpPr>
        <p:spPr>
          <a:xfrm>
            <a:off x="4334256" y="4242816"/>
            <a:ext cx="1481328" cy="292608"/>
          </a:xfrm>
          <a:prstGeom prst="rect">
            <a:avLst/>
          </a:prstGeom>
          <a:noFill/>
          <a:ln/>
        </p:spPr>
        <p:txBody>
          <a:bodyPr wrap="square" lIns="0" tIns="0" rIns="0" bIns="0" rtlCol="0" anchor="ctr"/>
          <a:lstStyle/>
          <a:p>
            <a:pPr algn="ctr" indent="0" marL="0">
              <a:buNone/>
            </a:pPr>
            <a:r>
              <a:rPr lang="en-US" sz="950" b="1" spc="140" kern="0" dirty="0">
                <a:solidFill>
                  <a:srgbClr val="FFFFFF"/>
                </a:solidFill>
                <a:latin typeface="Calibri" pitchFamily="34" charset="0"/>
                <a:ea typeface="Calibri" pitchFamily="34" charset="-122"/>
                <a:cs typeface="Calibri" pitchFamily="34" charset="-120"/>
              </a:rPr>
              <a:t>PARALLEL</a:t>
            </a:r>
            <a:endParaRPr lang="en-US" sz="950" dirty="0"/>
          </a:p>
        </p:txBody>
      </p:sp>
      <p:sp>
        <p:nvSpPr>
          <p:cNvPr id="34" name="s8 Text 28"/>
          <p:cNvSpPr/>
          <p:nvPr/>
        </p:nvSpPr>
        <p:spPr>
          <a:xfrm>
            <a:off x="4334256" y="4590288"/>
            <a:ext cx="6943039" cy="475488"/>
          </a:xfrm>
          <a:prstGeom prst="rect">
            <a:avLst/>
          </a:prstGeom>
          <a:noFill/>
          <a:ln/>
        </p:spPr>
        <p:txBody>
          <a:bodyPr wrap="square" lIns="0" tIns="0" rIns="0" bIns="0" rtlCol="0" anchor="t"/>
          <a:lstStyle/>
          <a:p>
            <a:pPr indent="0" marL="0">
              <a:lnSpc>
                <a:spcPts val="2300"/>
              </a:lnSpc>
              <a:buNone/>
            </a:pPr>
            <a:r>
              <a:rPr lang="en-US" sz="1650" dirty="0">
                <a:solidFill>
                  <a:srgbClr val="16233A"/>
                </a:solidFill>
                <a:latin typeface="Calibri" pitchFamily="34" charset="0"/>
                <a:ea typeface="Calibri" pitchFamily="34" charset="-122"/>
                <a:cs typeface="Calibri" pitchFamily="34" charset="-120"/>
              </a:rPr>
              <a:t>My friend took me to a dance and a show.</a:t>
            </a:r>
            <a:endParaRPr lang="en-US" sz="1650" dirty="0"/>
          </a:p>
        </p:txBody>
      </p:sp>
      <p:sp>
        <p:nvSpPr>
          <p:cNvPr id="35" name="s8 Shape 29"/>
          <p:cNvSpPr/>
          <p:nvPr/>
        </p:nvSpPr>
        <p:spPr>
          <a:xfrm>
            <a:off x="4059936" y="5248656"/>
            <a:ext cx="7491679" cy="786384"/>
          </a:xfrm>
          <a:prstGeom prst="roundRect">
            <a:avLst>
              <a:gd name="adj" fmla="val 10465"/>
            </a:avLst>
          </a:prstGeom>
          <a:solidFill>
            <a:srgbClr val="FFFFFF"/>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36" name="s8 Text 30"/>
          <p:cNvSpPr/>
          <p:nvPr/>
        </p:nvSpPr>
        <p:spPr>
          <a:xfrm>
            <a:off x="4370832" y="5248656"/>
            <a:ext cx="548640" cy="786384"/>
          </a:xfrm>
          <a:prstGeom prst="rect">
            <a:avLst/>
          </a:prstGeom>
          <a:noFill/>
          <a:ln/>
        </p:spPr>
        <p:txBody>
          <a:bodyPr wrap="square" lIns="0" tIns="0" rIns="0" bIns="0" rtlCol="0" anchor="ctr"/>
          <a:lstStyle/>
          <a:p>
            <a:pPr indent="0" marL="0">
              <a:buNone/>
            </a:pPr>
            <a:r>
              <a:rPr lang="en-US" sz="1400" b="1" dirty="0">
                <a:solidFill>
                  <a:srgbClr val="B4832B"/>
                </a:solidFill>
                <a:latin typeface="Cambria" pitchFamily="34" charset="0"/>
                <a:ea typeface="Cambria" pitchFamily="34" charset="-122"/>
                <a:cs typeface="Cambria" pitchFamily="34" charset="-120"/>
              </a:rPr>
              <a:t>Why</a:t>
            </a:r>
            <a:endParaRPr lang="en-US" sz="1400" dirty="0"/>
          </a:p>
        </p:txBody>
      </p:sp>
      <p:sp>
        <p:nvSpPr>
          <p:cNvPr id="37" name="s8 Text 31"/>
          <p:cNvSpPr/>
          <p:nvPr/>
        </p:nvSpPr>
        <p:spPr>
          <a:xfrm>
            <a:off x="4974336" y="5248656"/>
            <a:ext cx="6266383" cy="786384"/>
          </a:xfrm>
          <a:prstGeom prst="rect">
            <a:avLst/>
          </a:prstGeom>
          <a:noFill/>
          <a:ln/>
        </p:spPr>
        <p:txBody>
          <a:bodyPr wrap="square" lIns="0" tIns="0" rIns="0" bIns="0" rtlCol="0" anchor="ctr"/>
          <a:lstStyle/>
          <a:p>
            <a:pPr indent="0" marL="0">
              <a:lnSpc>
                <a:spcPts val="1700"/>
              </a:lnSpc>
              <a:buNone/>
            </a:pPr>
            <a:r>
              <a:rPr lang="en-US" sz="1250" dirty="0">
                <a:solidFill>
                  <a:srgbClr val="3B455C"/>
                </a:solidFill>
                <a:latin typeface="Calibri" pitchFamily="34" charset="0"/>
                <a:ea typeface="Calibri" pitchFamily="34" charset="-122"/>
                <a:cs typeface="Calibri" pitchFamily="34" charset="-120"/>
              </a:rPr>
              <a:t>“Dancing” is a gerund, “to a show” a prepositional phrase. The repair makes both noun phrases after one preposition.</a:t>
            </a:r>
            <a:endParaRPr lang="en-US" sz="1250" dirty="0"/>
          </a:p>
        </p:txBody>
      </p:sp>
      <p:sp>
        <p:nvSpPr>
          <p:cNvPr id="38" name="footDeck"/>
          <p:cNvSpPr/>
          <p:nvPr/>
        </p:nvSpPr>
        <p:spPr>
          <a:xfrm>
            <a:off x="640080" y="6345936"/>
            <a:ext cx="4023360" cy="256032"/>
          </a:xfrm>
          <a:prstGeom prst="rect">
            <a:avLst/>
          </a:prstGeom>
          <a:noFill/>
          <a:ln/>
        </p:spPr>
        <p:txBody>
          <a:bodyPr wrap="square" lIns="0" tIns="0" rIns="0" bIns="0" rtlCol="0" anchor="ctr"/>
          <a:lstStyle/>
          <a:p>
            <a:pPr indent="0" marL="0">
              <a:buNone/>
            </a:pPr>
            <a:r>
              <a:rPr lang="en-US" sz="950" spc="60" kern="0" dirty="0">
                <a:solidFill>
                  <a:srgbClr val="77839A"/>
                </a:solidFill>
                <a:latin typeface="Calibri" pitchFamily="34" charset="0"/>
                <a:ea typeface="Calibri" pitchFamily="34" charset="-122"/>
                <a:cs typeface="Calibri" pitchFamily="34" charset="-120"/>
              </a:rPr>
              <a:t>Parallelism (in Grammar)</a:t>
            </a:r>
            <a:endParaRPr lang="en-US" sz="950" dirty="0"/>
          </a:p>
        </p:txBody>
      </p:sp>
      <p:sp>
        <p:nvSpPr>
          <p:cNvPr id="39" name="footNav"/>
          <p:cNvSpPr/>
          <p:nvPr/>
        </p:nvSpPr>
        <p:spPr>
          <a:xfrm>
            <a:off x="7528255" y="6345936"/>
            <a:ext cx="4023360" cy="256032"/>
          </a:xfrm>
          <a:prstGeom prst="rect">
            <a:avLst/>
          </a:prstGeom>
          <a:noFill/>
          <a:ln/>
        </p:spPr>
        <p:txBody>
          <a:bodyPr wrap="square" lIns="0" tIns="0" rIns="0" bIns="0" rtlCol="0" anchor="ctr"/>
          <a:lstStyle/>
          <a:p>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9" action="ppaction://hlinksldjump" tooltip="">
                  <a:extLst>
                    <a:ext uri="{A12FA001-AC4F-418D-AE19-62706E023703}">
                      <ahyp:hlinkClr xmlns:ahyp="http://schemas.microsoft.com/office/drawing/2018/hyperlinkcolor" val="tx"/>
                    </a:ext>
                  </a:extLst>
                </a:hlinkClick>
              </a:rPr>
              <a:t>CONTENTS</a:t>
            </a:r>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10" action="ppaction://hlinksldjump" tooltip="">
                  <a:extLst>
                    <a:ext uri="{A12FA001-AC4F-418D-AE19-62706E023703}">
                      <ahyp:hlinkClr xmlns:ahyp="http://schemas.microsoft.com/office/drawing/2018/hyperlinkcolor" val="tx"/>
                    </a:ext>
                  </a:extLst>
                </a:hlinkClick>
              </a:rPr>
              <a:t>     ‹ </a:t>
            </a:r>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11" action="ppaction://hlinksldjump" tooltip="">
                  <a:extLst>
                    <a:ext uri="{A12FA001-AC4F-418D-AE19-62706E023703}">
                      <ahyp:hlinkClr xmlns:ahyp="http://schemas.microsoft.com/office/drawing/2018/hyperlinkcolor" val="tx"/>
                    </a:ext>
                  </a:extLst>
                </a:hlinkClick>
              </a:rPr>
              <a:t> › </a:t>
            </a:r>
            <a:pPr algn="r" indent="0" marL="0">
              <a:buNone/>
            </a:pPr>
            <a:r>
              <a:rPr lang="en-US" sz="950" b="1" spc="80" kern="0" dirty="0">
                <a:solidFill>
                  <a:srgbClr val="16233A"/>
                </a:solidFill>
                <a:latin typeface="Calibri" pitchFamily="34" charset="0"/>
                <a:ea typeface="Calibri" pitchFamily="34" charset="-122"/>
                <a:cs typeface="Calibri" pitchFamily="34" charset="-120"/>
              </a:rPr>
              <a:t>    08 / 14</a:t>
            </a:r>
            <a:endParaRPr lang="en-US" sz="950" dirty="0"/>
          </a:p>
        </p:txBody>
      </p:sp>
    </p:spTree>
  </p:cSld>
  <p:clrMapOvr>
    <a:masterClrMapping/>
  </p:clrMapOvr>
  <mc:AlternateContent xmlns:mc="http://schemas.openxmlformats.org/markup-compatibility/2006">
    <mc:Choice xmlns:p159="http://schemas.microsoft.com/office/powerpoint/2015/main" Requires="p159">
      <p:transition xmlns:p14="http://schemas.microsoft.com/office/powerpoint/2010/main" spd="med" p14:dur="900">
        <p159:morph option="byObject"/>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eyebrow"/>
          <p:cNvSpPr/>
          <p:nvPr/>
        </p:nvSpPr>
        <p:spPr>
          <a:xfrm>
            <a:off x="640080" y="457200"/>
            <a:ext cx="10911535" cy="237744"/>
          </a:xfrm>
          <a:prstGeom prst="rect">
            <a:avLst/>
          </a:prstGeom>
          <a:noFill/>
          <a:ln/>
        </p:spPr>
        <p:txBody>
          <a:bodyPr wrap="square" lIns="0" tIns="0" rIns="0" bIns="0" rtlCol="0" anchor="ctr"/>
          <a:lstStyle/>
          <a:p>
            <a:pPr indent="0" marL="0">
              <a:buNone/>
            </a:pPr>
            <a:r>
              <a:rPr lang="en-US" sz="1100" b="1" spc="320" kern="0" dirty="0">
                <a:solidFill>
                  <a:srgbClr val="B4832B"/>
                </a:solidFill>
                <a:latin typeface="Calibri" pitchFamily="34" charset="0"/>
                <a:ea typeface="Calibri" pitchFamily="34" charset="-122"/>
                <a:cs typeface="Calibri" pitchFamily="34" charset="-120"/>
              </a:rPr>
              <a:t>USING PARALLEL STRUCTURE  ·  02 OF 04</a:t>
            </a:r>
            <a:endParaRPr lang="en-US" sz="1100" dirty="0"/>
          </a:p>
        </p:txBody>
      </p:sp>
      <p:sp>
        <p:nvSpPr>
          <p:cNvPr id="3" name="heading"/>
          <p:cNvSpPr/>
          <p:nvPr/>
        </p:nvSpPr>
        <p:spPr>
          <a:xfrm>
            <a:off x="640080" y="731520"/>
            <a:ext cx="10911535" cy="566928"/>
          </a:xfrm>
          <a:prstGeom prst="rect">
            <a:avLst/>
          </a:prstGeom>
          <a:noFill/>
          <a:ln/>
        </p:spPr>
        <p:txBody>
          <a:bodyPr wrap="square" lIns="0" tIns="0" rIns="0" bIns="0" rtlCol="0" anchor="t"/>
          <a:lstStyle/>
          <a:p>
            <a:pPr indent="0" marL="0">
              <a:buNone/>
            </a:pPr>
            <a:r>
              <a:rPr lang="en-US" sz="3200" b="1" dirty="0">
                <a:solidFill>
                  <a:srgbClr val="16233A"/>
                </a:solidFill>
                <a:latin typeface="Cambria" pitchFamily="34" charset="0"/>
                <a:ea typeface="Cambria" pitchFamily="34" charset="-122"/>
                <a:cs typeface="Cambria" pitchFamily="34" charset="-120"/>
              </a:rPr>
              <a:t>Correlative conjunctions</a:t>
            </a:r>
            <a:endParaRPr lang="en-US" sz="3200" dirty="0"/>
          </a:p>
        </p:txBody>
      </p:sp>
      <p:sp>
        <p:nvSpPr>
          <p:cNvPr id="4" name="ctxCard1"/>
          <p:cNvSpPr/>
          <p:nvPr/>
        </p:nvSpPr>
        <p:spPr>
          <a:xfrm>
            <a:off x="640080" y="1828800"/>
            <a:ext cx="3035808" cy="877824"/>
          </a:xfrm>
          <a:prstGeom prst="roundRect">
            <a:avLst>
              <a:gd name="adj" fmla="val 8333"/>
            </a:avLst>
          </a:prstGeom>
          <a:solidFill>
            <a:srgbClr val="F6F8FB"/>
          </a:solidFill>
          <a:ln w="12700">
            <a:solidFill>
              <a:srgbClr val="DFE5EE"/>
            </a:solidFill>
            <a:prstDash val="solid"/>
          </a:ln>
        </p:spPr>
      </p:sp>
      <p:sp>
        <p:nvSpPr>
          <p:cNvPr id="5" name="ctxDisc1"/>
          <p:cNvSpPr/>
          <p:nvPr/>
        </p:nvSpPr>
        <p:spPr>
          <a:xfrm>
            <a:off x="877824" y="2066544"/>
            <a:ext cx="402336" cy="402336"/>
          </a:xfrm>
          <a:prstGeom prst="ellipse">
            <a:avLst/>
          </a:prstGeom>
          <a:solidFill>
            <a:srgbClr val="DFE5EE"/>
          </a:solidFill>
          <a:ln w="12700">
            <a:solidFill>
              <a:srgbClr val="DFE5EE"/>
            </a:solidFill>
            <a:prstDash val="solid"/>
          </a:ln>
        </p:spPr>
      </p:sp>
      <p:pic>
        <p:nvPicPr>
          <p:cNvPr id="6" name="ctxIcon1" descr="preencoded.png">    </p:cNvPr>
          <p:cNvPicPr>
            <a:picLocks noChangeAspect="1"/>
          </p:cNvPicPr>
          <p:nvPr/>
        </p:nvPicPr>
        <p:blipFill>
          <a:blip r:embed="rId1">
            <a:alphaModFix amt="45000"/>
          </a:blip>
          <a:stretch>
            <a:fillRect/>
          </a:stretch>
        </p:blipFill>
        <p:spPr>
          <a:xfrm>
            <a:off x="969264" y="2157984"/>
            <a:ext cx="219456" cy="219456"/>
          </a:xfrm>
          <a:prstGeom prst="rect">
            <a:avLst/>
          </a:prstGeom>
        </p:spPr>
      </p:pic>
      <p:sp>
        <p:nvSpPr>
          <p:cNvPr id="7" name="ctxNum1"/>
          <p:cNvSpPr/>
          <p:nvPr/>
        </p:nvSpPr>
        <p:spPr>
          <a:xfrm>
            <a:off x="3017520" y="2121408"/>
            <a:ext cx="402336" cy="274320"/>
          </a:xfrm>
          <a:prstGeom prst="rect">
            <a:avLst/>
          </a:prstGeom>
          <a:noFill/>
          <a:ln/>
        </p:spPr>
        <p:txBody>
          <a:bodyPr wrap="square" lIns="0" tIns="0" rIns="0" bIns="0" rtlCol="0" anchor="ctr"/>
          <a:lstStyle/>
          <a:p>
            <a:pPr algn="r" indent="0" marL="0">
              <a:buNone/>
            </a:pPr>
            <a:r>
              <a:rPr lang="en-US" sz="1100" b="1" dirty="0">
                <a:solidFill>
                  <a:srgbClr val="77839A"/>
                </a:solidFill>
                <a:latin typeface="Calibri" pitchFamily="34" charset="0"/>
                <a:ea typeface="Calibri" pitchFamily="34" charset="-122"/>
                <a:cs typeface="Calibri" pitchFamily="34" charset="-120"/>
              </a:rPr>
              <a:t>01</a:t>
            </a:r>
            <a:endParaRPr lang="en-US" sz="1100" dirty="0"/>
          </a:p>
        </p:txBody>
      </p:sp>
      <p:sp>
        <p:nvSpPr>
          <p:cNvPr id="8" name="ctxName1">
            <a:hlinkClick r:id="rId2" tooltip="" action="ppaction://hlinksldjump"/>
          </p:cNvPr>
          <p:cNvSpPr/>
          <p:nvPr/>
        </p:nvSpPr>
        <p:spPr>
          <a:xfrm>
            <a:off x="1408176" y="2103120"/>
            <a:ext cx="1664208" cy="365760"/>
          </a:xfrm>
          <a:prstGeom prst="rect">
            <a:avLst/>
          </a:prstGeom>
          <a:noFill/>
          <a:ln/>
        </p:spPr>
        <p:txBody>
          <a:bodyPr wrap="square" lIns="0" tIns="0" rIns="0" bIns="0" rtlCol="0" anchor="ctr"/>
          <a:lstStyle/>
          <a:p>
            <a:pPr indent="0" marL="0">
              <a:buNone/>
            </a:pPr>
            <a:r>
              <a:rPr lang="en-US" sz="1300" u="none" dirty="0">
                <a:solidFill>
                  <a:srgbClr val="3B455C"/>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Coordinating</a:t>
            </a:r>
            <a:endParaRPr lang="en-US" sz="1300" dirty="0"/>
          </a:p>
        </p:txBody>
      </p:sp>
      <p:sp>
        <p:nvSpPr>
          <p:cNvPr id="9" name="ctxCard2"/>
          <p:cNvSpPr/>
          <p:nvPr/>
        </p:nvSpPr>
        <p:spPr>
          <a:xfrm>
            <a:off x="640080" y="2852928"/>
            <a:ext cx="3035808" cy="877824"/>
          </a:xfrm>
          <a:prstGeom prst="roundRect">
            <a:avLst>
              <a:gd name="adj" fmla="val 8333"/>
            </a:avLst>
          </a:prstGeom>
          <a:solidFill>
            <a:srgbClr val="16233A"/>
          </a:solidFill>
          <a:ln w="12700">
            <a:solidFill>
              <a:srgbClr val="2A3C5E"/>
            </a:solidFill>
            <a:prstDash val="solid"/>
          </a:ln>
          <a:effectLst>
            <a:outerShdw sx="100000" sy="100000" kx="0" ky="0" algn="bl" rotWithShape="0" blurRad="177800" dist="38100" dir="5400000">
              <a:srgbClr val="9AA7BC">
                <a:alpha val="28000"/>
              </a:srgbClr>
            </a:outerShdw>
          </a:effectLst>
        </p:spPr>
      </p:sp>
      <p:sp>
        <p:nvSpPr>
          <p:cNvPr id="10" name="ctxDisc2"/>
          <p:cNvSpPr/>
          <p:nvPr/>
        </p:nvSpPr>
        <p:spPr>
          <a:xfrm>
            <a:off x="877824" y="3090672"/>
            <a:ext cx="402336" cy="402336"/>
          </a:xfrm>
          <a:prstGeom prst="ellipse">
            <a:avLst/>
          </a:prstGeom>
          <a:solidFill>
            <a:srgbClr val="B4832B"/>
          </a:solidFill>
          <a:ln w="12700">
            <a:solidFill>
              <a:srgbClr val="B4832B"/>
            </a:solidFill>
            <a:prstDash val="solid"/>
          </a:ln>
        </p:spPr>
      </p:sp>
      <p:pic>
        <p:nvPicPr>
          <p:cNvPr id="11" name="ctxIcon2" descr="preencoded.png">    </p:cNvPr>
          <p:cNvPicPr>
            <a:picLocks noChangeAspect="1"/>
          </p:cNvPicPr>
          <p:nvPr/>
        </p:nvPicPr>
        <p:blipFill>
          <a:blip r:embed="rId3"/>
          <a:stretch>
            <a:fillRect/>
          </a:stretch>
        </p:blipFill>
        <p:spPr>
          <a:xfrm>
            <a:off x="969264" y="3182112"/>
            <a:ext cx="219456" cy="219456"/>
          </a:xfrm>
          <a:prstGeom prst="rect">
            <a:avLst/>
          </a:prstGeom>
        </p:spPr>
      </p:pic>
      <p:sp>
        <p:nvSpPr>
          <p:cNvPr id="12" name="ctxNum2"/>
          <p:cNvSpPr/>
          <p:nvPr/>
        </p:nvSpPr>
        <p:spPr>
          <a:xfrm>
            <a:off x="3017520" y="3145536"/>
            <a:ext cx="402336" cy="274320"/>
          </a:xfrm>
          <a:prstGeom prst="rect">
            <a:avLst/>
          </a:prstGeom>
          <a:noFill/>
          <a:ln/>
        </p:spPr>
        <p:txBody>
          <a:bodyPr wrap="square" lIns="0" tIns="0" rIns="0" bIns="0" rtlCol="0" anchor="ctr"/>
          <a:lstStyle/>
          <a:p>
            <a:pPr algn="r" indent="0" marL="0">
              <a:buNone/>
            </a:pPr>
            <a:r>
              <a:rPr lang="en-US" sz="1100" b="1" dirty="0">
                <a:solidFill>
                  <a:srgbClr val="B4832B"/>
                </a:solidFill>
                <a:latin typeface="Calibri" pitchFamily="34" charset="0"/>
                <a:ea typeface="Calibri" pitchFamily="34" charset="-122"/>
                <a:cs typeface="Calibri" pitchFamily="34" charset="-120"/>
              </a:rPr>
              <a:t>02</a:t>
            </a:r>
            <a:endParaRPr lang="en-US" sz="1100" dirty="0"/>
          </a:p>
        </p:txBody>
      </p:sp>
      <p:sp>
        <p:nvSpPr>
          <p:cNvPr id="13" name="ctxName2">
            <a:hlinkClick r:id="rId4" tooltip="" action="ppaction://hlinksldjump"/>
          </p:cNvPr>
          <p:cNvSpPr/>
          <p:nvPr/>
        </p:nvSpPr>
        <p:spPr>
          <a:xfrm>
            <a:off x="1408176" y="3127248"/>
            <a:ext cx="1664208" cy="365760"/>
          </a:xfrm>
          <a:prstGeom prst="rect">
            <a:avLst/>
          </a:prstGeom>
          <a:noFill/>
          <a:ln/>
        </p:spPr>
        <p:txBody>
          <a:bodyPr wrap="square" lIns="0" tIns="0" rIns="0" bIns="0" rtlCol="0" anchor="ctr"/>
          <a:lstStyle/>
          <a:p>
            <a:pPr indent="0" marL="0">
              <a:buNone/>
            </a:pPr>
            <a:r>
              <a:rPr lang="en-US" sz="1300" b="1" u="none" dirty="0">
                <a:solidFill>
                  <a:srgbClr val="FFFFFF"/>
                </a:solidFill>
                <a:latin typeface="Calibri" pitchFamily="34" charset="0"/>
                <a:ea typeface="Calibri" pitchFamily="34" charset="-122"/>
                <a:cs typeface="Calibri" pitchFamily="34" charset="-120"/>
                <a:hlinkClick r:id="rId4" action="ppaction://hlinksldjump" tooltip="">
                  <a:extLst>
                    <a:ext uri="{A12FA001-AC4F-418D-AE19-62706E023703}">
                      <ahyp:hlinkClr xmlns:ahyp="http://schemas.microsoft.com/office/drawing/2018/hyperlinkcolor" val="tx"/>
                    </a:ext>
                  </a:extLst>
                </a:hlinkClick>
              </a:rPr>
              <a:t>Correlative</a:t>
            </a:r>
            <a:endParaRPr lang="en-US" sz="1300" dirty="0"/>
          </a:p>
        </p:txBody>
      </p:sp>
      <p:sp>
        <p:nvSpPr>
          <p:cNvPr id="14" name="ctxCard3"/>
          <p:cNvSpPr/>
          <p:nvPr/>
        </p:nvSpPr>
        <p:spPr>
          <a:xfrm>
            <a:off x="640080" y="3877056"/>
            <a:ext cx="3035808" cy="877824"/>
          </a:xfrm>
          <a:prstGeom prst="roundRect">
            <a:avLst>
              <a:gd name="adj" fmla="val 8333"/>
            </a:avLst>
          </a:prstGeom>
          <a:solidFill>
            <a:srgbClr val="F6F8FB"/>
          </a:solidFill>
          <a:ln w="12700">
            <a:solidFill>
              <a:srgbClr val="DFE5EE"/>
            </a:solidFill>
            <a:prstDash val="solid"/>
          </a:ln>
        </p:spPr>
      </p:sp>
      <p:sp>
        <p:nvSpPr>
          <p:cNvPr id="15" name="ctxDisc3"/>
          <p:cNvSpPr/>
          <p:nvPr/>
        </p:nvSpPr>
        <p:spPr>
          <a:xfrm>
            <a:off x="877824" y="4114800"/>
            <a:ext cx="402336" cy="402336"/>
          </a:xfrm>
          <a:prstGeom prst="ellipse">
            <a:avLst/>
          </a:prstGeom>
          <a:solidFill>
            <a:srgbClr val="DFE5EE"/>
          </a:solidFill>
          <a:ln w="12700">
            <a:solidFill>
              <a:srgbClr val="DFE5EE"/>
            </a:solidFill>
            <a:prstDash val="solid"/>
          </a:ln>
        </p:spPr>
      </p:sp>
      <p:pic>
        <p:nvPicPr>
          <p:cNvPr id="16" name="ctxIcon3" descr="preencoded.png">    </p:cNvPr>
          <p:cNvPicPr>
            <a:picLocks noChangeAspect="1"/>
          </p:cNvPicPr>
          <p:nvPr/>
        </p:nvPicPr>
        <p:blipFill>
          <a:blip r:embed="rId5">
            <a:alphaModFix amt="45000"/>
          </a:blip>
          <a:stretch>
            <a:fillRect/>
          </a:stretch>
        </p:blipFill>
        <p:spPr>
          <a:xfrm>
            <a:off x="969264" y="4206240"/>
            <a:ext cx="219456" cy="219456"/>
          </a:xfrm>
          <a:prstGeom prst="rect">
            <a:avLst/>
          </a:prstGeom>
        </p:spPr>
      </p:pic>
      <p:sp>
        <p:nvSpPr>
          <p:cNvPr id="17" name="ctxNum3"/>
          <p:cNvSpPr/>
          <p:nvPr/>
        </p:nvSpPr>
        <p:spPr>
          <a:xfrm>
            <a:off x="3017520" y="4169664"/>
            <a:ext cx="402336" cy="274320"/>
          </a:xfrm>
          <a:prstGeom prst="rect">
            <a:avLst/>
          </a:prstGeom>
          <a:noFill/>
          <a:ln/>
        </p:spPr>
        <p:txBody>
          <a:bodyPr wrap="square" lIns="0" tIns="0" rIns="0" bIns="0" rtlCol="0" anchor="ctr"/>
          <a:lstStyle/>
          <a:p>
            <a:pPr algn="r" indent="0" marL="0">
              <a:buNone/>
            </a:pPr>
            <a:r>
              <a:rPr lang="en-US" sz="1100" b="1" dirty="0">
                <a:solidFill>
                  <a:srgbClr val="77839A"/>
                </a:solidFill>
                <a:latin typeface="Calibri" pitchFamily="34" charset="0"/>
                <a:ea typeface="Calibri" pitchFamily="34" charset="-122"/>
                <a:cs typeface="Calibri" pitchFamily="34" charset="-120"/>
              </a:rPr>
              <a:t>03</a:t>
            </a:r>
            <a:endParaRPr lang="en-US" sz="1100" dirty="0"/>
          </a:p>
        </p:txBody>
      </p:sp>
      <p:sp>
        <p:nvSpPr>
          <p:cNvPr id="18" name="ctxName3">
            <a:hlinkClick r:id="rId6" tooltip="" action="ppaction://hlinksldjump"/>
          </p:cNvPr>
          <p:cNvSpPr/>
          <p:nvPr/>
        </p:nvSpPr>
        <p:spPr>
          <a:xfrm>
            <a:off x="1408176" y="4151376"/>
            <a:ext cx="1664208" cy="365760"/>
          </a:xfrm>
          <a:prstGeom prst="rect">
            <a:avLst/>
          </a:prstGeom>
          <a:noFill/>
          <a:ln/>
        </p:spPr>
        <p:txBody>
          <a:bodyPr wrap="square" lIns="0" tIns="0" rIns="0" bIns="0" rtlCol="0" anchor="ctr"/>
          <a:lstStyle/>
          <a:p>
            <a:pPr indent="0" marL="0">
              <a:buNone/>
            </a:pPr>
            <a:r>
              <a:rPr lang="en-US" sz="1300" u="none" dirty="0">
                <a:solidFill>
                  <a:srgbClr val="3B455C"/>
                </a:solidFill>
                <a:latin typeface="Calibri" pitchFamily="34" charset="0"/>
                <a:ea typeface="Calibri" pitchFamily="34" charset="-122"/>
                <a:cs typeface="Calibri" pitchFamily="34" charset="-120"/>
                <a:hlinkClick r:id="rId6" action="ppaction://hlinksldjump" tooltip="">
                  <a:extLst>
                    <a:ext uri="{A12FA001-AC4F-418D-AE19-62706E023703}">
                      <ahyp:hlinkClr xmlns:ahyp="http://schemas.microsoft.com/office/drawing/2018/hyperlinkcolor" val="tx"/>
                    </a:ext>
                  </a:extLst>
                </a:hlinkClick>
              </a:rPr>
              <a:t>Comparison</a:t>
            </a:r>
            <a:endParaRPr lang="en-US" sz="1300" dirty="0"/>
          </a:p>
        </p:txBody>
      </p:sp>
      <p:sp>
        <p:nvSpPr>
          <p:cNvPr id="19" name="ctxCard4"/>
          <p:cNvSpPr/>
          <p:nvPr/>
        </p:nvSpPr>
        <p:spPr>
          <a:xfrm>
            <a:off x="640080" y="4901184"/>
            <a:ext cx="3035808" cy="877824"/>
          </a:xfrm>
          <a:prstGeom prst="roundRect">
            <a:avLst>
              <a:gd name="adj" fmla="val 8333"/>
            </a:avLst>
          </a:prstGeom>
          <a:solidFill>
            <a:srgbClr val="F6F8FB"/>
          </a:solidFill>
          <a:ln w="12700">
            <a:solidFill>
              <a:srgbClr val="DFE5EE"/>
            </a:solidFill>
            <a:prstDash val="solid"/>
          </a:ln>
        </p:spPr>
      </p:sp>
      <p:sp>
        <p:nvSpPr>
          <p:cNvPr id="20" name="ctxDisc4"/>
          <p:cNvSpPr/>
          <p:nvPr/>
        </p:nvSpPr>
        <p:spPr>
          <a:xfrm>
            <a:off x="877824" y="5138928"/>
            <a:ext cx="402336" cy="402336"/>
          </a:xfrm>
          <a:prstGeom prst="ellipse">
            <a:avLst/>
          </a:prstGeom>
          <a:solidFill>
            <a:srgbClr val="DFE5EE"/>
          </a:solidFill>
          <a:ln w="12700">
            <a:solidFill>
              <a:srgbClr val="DFE5EE"/>
            </a:solidFill>
            <a:prstDash val="solid"/>
          </a:ln>
        </p:spPr>
      </p:sp>
      <p:pic>
        <p:nvPicPr>
          <p:cNvPr id="21" name="ctxIcon4" descr="preencoded.png">    </p:cNvPr>
          <p:cNvPicPr>
            <a:picLocks noChangeAspect="1"/>
          </p:cNvPicPr>
          <p:nvPr/>
        </p:nvPicPr>
        <p:blipFill>
          <a:blip r:embed="rId7">
            <a:alphaModFix amt="45000"/>
          </a:blip>
          <a:stretch>
            <a:fillRect/>
          </a:stretch>
        </p:blipFill>
        <p:spPr>
          <a:xfrm>
            <a:off x="969264" y="5230368"/>
            <a:ext cx="219456" cy="219456"/>
          </a:xfrm>
          <a:prstGeom prst="rect">
            <a:avLst/>
          </a:prstGeom>
        </p:spPr>
      </p:pic>
      <p:sp>
        <p:nvSpPr>
          <p:cNvPr id="22" name="ctxNum4"/>
          <p:cNvSpPr/>
          <p:nvPr/>
        </p:nvSpPr>
        <p:spPr>
          <a:xfrm>
            <a:off x="3017520" y="5193792"/>
            <a:ext cx="402336" cy="274320"/>
          </a:xfrm>
          <a:prstGeom prst="rect">
            <a:avLst/>
          </a:prstGeom>
          <a:noFill/>
          <a:ln/>
        </p:spPr>
        <p:txBody>
          <a:bodyPr wrap="square" lIns="0" tIns="0" rIns="0" bIns="0" rtlCol="0" anchor="ctr"/>
          <a:lstStyle/>
          <a:p>
            <a:pPr algn="r" indent="0" marL="0">
              <a:buNone/>
            </a:pPr>
            <a:r>
              <a:rPr lang="en-US" sz="1100" b="1" dirty="0">
                <a:solidFill>
                  <a:srgbClr val="77839A"/>
                </a:solidFill>
                <a:latin typeface="Calibri" pitchFamily="34" charset="0"/>
                <a:ea typeface="Calibri" pitchFamily="34" charset="-122"/>
                <a:cs typeface="Calibri" pitchFamily="34" charset="-120"/>
              </a:rPr>
              <a:t>04</a:t>
            </a:r>
            <a:endParaRPr lang="en-US" sz="1100" dirty="0"/>
          </a:p>
        </p:txBody>
      </p:sp>
      <p:sp>
        <p:nvSpPr>
          <p:cNvPr id="23" name="ctxName4">
            <a:hlinkClick r:id="rId8" tooltip="" action="ppaction://hlinksldjump"/>
          </p:cNvPr>
          <p:cNvSpPr/>
          <p:nvPr/>
        </p:nvSpPr>
        <p:spPr>
          <a:xfrm>
            <a:off x="1408176" y="5175504"/>
            <a:ext cx="1664208" cy="365760"/>
          </a:xfrm>
          <a:prstGeom prst="rect">
            <a:avLst/>
          </a:prstGeom>
          <a:noFill/>
          <a:ln/>
        </p:spPr>
        <p:txBody>
          <a:bodyPr wrap="square" lIns="0" tIns="0" rIns="0" bIns="0" rtlCol="0" anchor="ctr"/>
          <a:lstStyle/>
          <a:p>
            <a:pPr indent="0" marL="0">
              <a:buNone/>
            </a:pPr>
            <a:r>
              <a:rPr lang="en-US" sz="1300" u="none" dirty="0">
                <a:solidFill>
                  <a:srgbClr val="3B455C"/>
                </a:solidFill>
                <a:latin typeface="Calibri" pitchFamily="34" charset="0"/>
                <a:ea typeface="Calibri" pitchFamily="34" charset="-122"/>
                <a:cs typeface="Calibri" pitchFamily="34" charset="-120"/>
                <a:hlinkClick r:id="rId8" action="ppaction://hlinksldjump" tooltip="">
                  <a:extLst>
                    <a:ext uri="{A12FA001-AC4F-418D-AE19-62706E023703}">
                      <ahyp:hlinkClr xmlns:ahyp="http://schemas.microsoft.com/office/drawing/2018/hyperlinkcolor" val="tx"/>
                    </a:ext>
                  </a:extLst>
                </a:hlinkClick>
              </a:rPr>
              <a:t>Lists</a:t>
            </a:r>
            <a:endParaRPr lang="en-US" sz="1300" dirty="0"/>
          </a:p>
        </p:txBody>
      </p:sp>
      <p:sp>
        <p:nvSpPr>
          <p:cNvPr id="24" name="s9 Shape 18"/>
          <p:cNvSpPr/>
          <p:nvPr/>
        </p:nvSpPr>
        <p:spPr>
          <a:xfrm>
            <a:off x="4059936" y="1316736"/>
            <a:ext cx="7491679" cy="1060704"/>
          </a:xfrm>
          <a:prstGeom prst="roundRect">
            <a:avLst>
              <a:gd name="adj" fmla="val 7759"/>
            </a:avLst>
          </a:prstGeom>
          <a:solidFill>
            <a:srgbClr val="F6F8FB"/>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25" name="s9 Text 19"/>
          <p:cNvSpPr/>
          <p:nvPr/>
        </p:nvSpPr>
        <p:spPr>
          <a:xfrm>
            <a:off x="4370832" y="1481328"/>
            <a:ext cx="1828800" cy="237744"/>
          </a:xfrm>
          <a:prstGeom prst="rect">
            <a:avLst/>
          </a:prstGeom>
          <a:noFill/>
          <a:ln/>
        </p:spPr>
        <p:txBody>
          <a:bodyPr wrap="square" lIns="0" tIns="0" rIns="0" bIns="0" rtlCol="0" anchor="ctr"/>
          <a:lstStyle/>
          <a:p>
            <a:pPr indent="0" marL="0">
              <a:buNone/>
            </a:pPr>
            <a:r>
              <a:rPr lang="en-US" sz="950" b="1" spc="240" kern="0" dirty="0">
                <a:solidFill>
                  <a:srgbClr val="B4832B"/>
                </a:solidFill>
                <a:latin typeface="Calibri" pitchFamily="34" charset="0"/>
                <a:ea typeface="Calibri" pitchFamily="34" charset="-122"/>
                <a:cs typeface="Calibri" pitchFamily="34" charset="-120"/>
              </a:rPr>
              <a:t>THE RULE</a:t>
            </a:r>
            <a:endParaRPr lang="en-US" sz="950" dirty="0"/>
          </a:p>
        </p:txBody>
      </p:sp>
      <p:sp>
        <p:nvSpPr>
          <p:cNvPr id="26" name="s9 Text 20"/>
          <p:cNvSpPr/>
          <p:nvPr/>
        </p:nvSpPr>
        <p:spPr>
          <a:xfrm>
            <a:off x="4370832" y="1737360"/>
            <a:ext cx="6869887" cy="548640"/>
          </a:xfrm>
          <a:prstGeom prst="rect">
            <a:avLst/>
          </a:prstGeom>
          <a:noFill/>
          <a:ln/>
        </p:spPr>
        <p:txBody>
          <a:bodyPr wrap="square" lIns="0" tIns="0" rIns="0" bIns="0" rtlCol="0" anchor="ctr"/>
          <a:lstStyle/>
          <a:p>
            <a:pPr indent="0" marL="0">
              <a:lnSpc>
                <a:spcPts val="2100"/>
              </a:lnSpc>
              <a:buNone/>
            </a:pPr>
            <a:r>
              <a:rPr lang="en-US" sz="1450" dirty="0">
                <a:solidFill>
                  <a:srgbClr val="16233A"/>
                </a:solidFill>
                <a:latin typeface="Calibri" pitchFamily="34" charset="0"/>
                <a:ea typeface="Calibri" pitchFamily="34" charset="-122"/>
                <a:cs typeface="Calibri" pitchFamily="34" charset="-120"/>
              </a:rPr>
              <a:t>While connecting two clauses or phrases with a correlative conjunction (not only…but also, either…or, neither…nor, if…then, etc.).</a:t>
            </a:r>
            <a:endParaRPr lang="en-US" sz="1450" dirty="0"/>
          </a:p>
        </p:txBody>
      </p:sp>
      <p:sp>
        <p:nvSpPr>
          <p:cNvPr id="27" name="s9 Shape 21"/>
          <p:cNvSpPr/>
          <p:nvPr/>
        </p:nvSpPr>
        <p:spPr>
          <a:xfrm>
            <a:off x="4059936" y="2615184"/>
            <a:ext cx="7491679" cy="1188720"/>
          </a:xfrm>
          <a:prstGeom prst="roundRect">
            <a:avLst>
              <a:gd name="adj" fmla="val 7692"/>
            </a:avLst>
          </a:prstGeom>
          <a:solidFill>
            <a:srgbClr val="FBEDEB"/>
          </a:solidFill>
          <a:ln w="12700">
            <a:solidFill>
              <a:srgbClr val="E7C3BF"/>
            </a:solidFill>
            <a:prstDash val="solid"/>
          </a:ln>
          <a:effectLst>
            <a:outerShdw sx="100000" sy="100000" kx="0" ky="0" algn="bl" rotWithShape="0" blurRad="177800" dist="38100" dir="5400000">
              <a:srgbClr val="9AA7BC">
                <a:alpha val="28000"/>
              </a:srgbClr>
            </a:outerShdw>
          </a:effectLst>
        </p:spPr>
      </p:sp>
      <p:sp>
        <p:nvSpPr>
          <p:cNvPr id="28" name="s9 Shape 22"/>
          <p:cNvSpPr/>
          <p:nvPr/>
        </p:nvSpPr>
        <p:spPr>
          <a:xfrm>
            <a:off x="4334256" y="2834640"/>
            <a:ext cx="1481328" cy="292608"/>
          </a:xfrm>
          <a:prstGeom prst="roundRect">
            <a:avLst>
              <a:gd name="adj" fmla="val 50000"/>
            </a:avLst>
          </a:prstGeom>
          <a:solidFill>
            <a:srgbClr val="B3261E"/>
          </a:solidFill>
          <a:ln w="12700">
            <a:solidFill>
              <a:srgbClr val="B3261E"/>
            </a:solidFill>
            <a:prstDash val="solid"/>
          </a:ln>
        </p:spPr>
      </p:sp>
      <p:sp>
        <p:nvSpPr>
          <p:cNvPr id="29" name="s9 Text 23"/>
          <p:cNvSpPr/>
          <p:nvPr/>
        </p:nvSpPr>
        <p:spPr>
          <a:xfrm>
            <a:off x="4334256" y="2834640"/>
            <a:ext cx="1481328" cy="292608"/>
          </a:xfrm>
          <a:prstGeom prst="rect">
            <a:avLst/>
          </a:prstGeom>
          <a:noFill/>
          <a:ln/>
        </p:spPr>
        <p:txBody>
          <a:bodyPr wrap="square" lIns="0" tIns="0" rIns="0" bIns="0" rtlCol="0" anchor="ctr"/>
          <a:lstStyle/>
          <a:p>
            <a:pPr algn="ctr" indent="0" marL="0">
              <a:buNone/>
            </a:pPr>
            <a:r>
              <a:rPr lang="en-US" sz="950" b="1" spc="140" kern="0" dirty="0">
                <a:solidFill>
                  <a:srgbClr val="FFFFFF"/>
                </a:solidFill>
                <a:latin typeface="Calibri" pitchFamily="34" charset="0"/>
                <a:ea typeface="Calibri" pitchFamily="34" charset="-122"/>
                <a:cs typeface="Calibri" pitchFamily="34" charset="-120"/>
              </a:rPr>
              <a:t>NOT PARALLEL</a:t>
            </a:r>
            <a:endParaRPr lang="en-US" sz="950" dirty="0"/>
          </a:p>
        </p:txBody>
      </p:sp>
      <p:sp>
        <p:nvSpPr>
          <p:cNvPr id="30" name="s9 Text 24"/>
          <p:cNvSpPr/>
          <p:nvPr/>
        </p:nvSpPr>
        <p:spPr>
          <a:xfrm>
            <a:off x="4334256" y="3182112"/>
            <a:ext cx="6943039" cy="475488"/>
          </a:xfrm>
          <a:prstGeom prst="rect">
            <a:avLst/>
          </a:prstGeom>
          <a:noFill/>
          <a:ln/>
        </p:spPr>
        <p:txBody>
          <a:bodyPr wrap="square" lIns="0" tIns="0" rIns="0" bIns="0" rtlCol="0" anchor="t"/>
          <a:lstStyle/>
          <a:p>
            <a:pPr indent="0" marL="0">
              <a:lnSpc>
                <a:spcPts val="2300"/>
              </a:lnSpc>
              <a:buNone/>
            </a:pPr>
            <a:r>
              <a:rPr lang="en-US" sz="1650" dirty="0">
                <a:solidFill>
                  <a:srgbClr val="16233A"/>
                </a:solidFill>
                <a:latin typeface="Calibri" pitchFamily="34" charset="0"/>
                <a:ea typeface="Calibri" pitchFamily="34" charset="-122"/>
                <a:cs typeface="Calibri" pitchFamily="34" charset="-120"/>
              </a:rPr>
              <a:t>The dog not only likes to play fetch, but also chase cars.</a:t>
            </a:r>
            <a:endParaRPr lang="en-US" sz="1650" dirty="0"/>
          </a:p>
        </p:txBody>
      </p:sp>
      <p:sp>
        <p:nvSpPr>
          <p:cNvPr id="31" name="s9 Shape 25"/>
          <p:cNvSpPr/>
          <p:nvPr/>
        </p:nvSpPr>
        <p:spPr>
          <a:xfrm>
            <a:off x="4059936" y="4023360"/>
            <a:ext cx="7491679" cy="1188720"/>
          </a:xfrm>
          <a:prstGeom prst="roundRect">
            <a:avLst>
              <a:gd name="adj" fmla="val 7692"/>
            </a:avLst>
          </a:prstGeom>
          <a:solidFill>
            <a:srgbClr val="EAF4EF"/>
          </a:solidFill>
          <a:ln w="12700">
            <a:solidFill>
              <a:srgbClr val="BFDCCB"/>
            </a:solidFill>
            <a:prstDash val="solid"/>
          </a:ln>
          <a:effectLst>
            <a:outerShdw sx="100000" sy="100000" kx="0" ky="0" algn="bl" rotWithShape="0" blurRad="177800" dist="38100" dir="5400000">
              <a:srgbClr val="9AA7BC">
                <a:alpha val="28000"/>
              </a:srgbClr>
            </a:outerShdw>
          </a:effectLst>
        </p:spPr>
      </p:sp>
      <p:sp>
        <p:nvSpPr>
          <p:cNvPr id="32" name="s9 Shape 26"/>
          <p:cNvSpPr/>
          <p:nvPr/>
        </p:nvSpPr>
        <p:spPr>
          <a:xfrm>
            <a:off x="4334256" y="4242816"/>
            <a:ext cx="1481328" cy="292608"/>
          </a:xfrm>
          <a:prstGeom prst="roundRect">
            <a:avLst>
              <a:gd name="adj" fmla="val 50000"/>
            </a:avLst>
          </a:prstGeom>
          <a:solidFill>
            <a:srgbClr val="1E7A4F"/>
          </a:solidFill>
          <a:ln w="12700">
            <a:solidFill>
              <a:srgbClr val="1E7A4F"/>
            </a:solidFill>
            <a:prstDash val="solid"/>
          </a:ln>
        </p:spPr>
      </p:sp>
      <p:sp>
        <p:nvSpPr>
          <p:cNvPr id="33" name="s9 Text 27"/>
          <p:cNvSpPr/>
          <p:nvPr/>
        </p:nvSpPr>
        <p:spPr>
          <a:xfrm>
            <a:off x="4334256" y="4242816"/>
            <a:ext cx="1481328" cy="292608"/>
          </a:xfrm>
          <a:prstGeom prst="rect">
            <a:avLst/>
          </a:prstGeom>
          <a:noFill/>
          <a:ln/>
        </p:spPr>
        <p:txBody>
          <a:bodyPr wrap="square" lIns="0" tIns="0" rIns="0" bIns="0" rtlCol="0" anchor="ctr"/>
          <a:lstStyle/>
          <a:p>
            <a:pPr algn="ctr" indent="0" marL="0">
              <a:buNone/>
            </a:pPr>
            <a:r>
              <a:rPr lang="en-US" sz="950" b="1" spc="140" kern="0" dirty="0">
                <a:solidFill>
                  <a:srgbClr val="FFFFFF"/>
                </a:solidFill>
                <a:latin typeface="Calibri" pitchFamily="34" charset="0"/>
                <a:ea typeface="Calibri" pitchFamily="34" charset="-122"/>
                <a:cs typeface="Calibri" pitchFamily="34" charset="-120"/>
              </a:rPr>
              <a:t>PARALLEL</a:t>
            </a:r>
            <a:endParaRPr lang="en-US" sz="950" dirty="0"/>
          </a:p>
        </p:txBody>
      </p:sp>
      <p:sp>
        <p:nvSpPr>
          <p:cNvPr id="34" name="s9 Text 28"/>
          <p:cNvSpPr/>
          <p:nvPr/>
        </p:nvSpPr>
        <p:spPr>
          <a:xfrm>
            <a:off x="4334256" y="4590288"/>
            <a:ext cx="6943039" cy="475488"/>
          </a:xfrm>
          <a:prstGeom prst="rect">
            <a:avLst/>
          </a:prstGeom>
          <a:noFill/>
          <a:ln/>
        </p:spPr>
        <p:txBody>
          <a:bodyPr wrap="square" lIns="0" tIns="0" rIns="0" bIns="0" rtlCol="0" anchor="t"/>
          <a:lstStyle/>
          <a:p>
            <a:pPr indent="0" marL="0">
              <a:lnSpc>
                <a:spcPts val="2300"/>
              </a:lnSpc>
              <a:buNone/>
            </a:pPr>
            <a:r>
              <a:rPr lang="en-US" sz="1650" dirty="0">
                <a:solidFill>
                  <a:srgbClr val="16233A"/>
                </a:solidFill>
                <a:latin typeface="Calibri" pitchFamily="34" charset="0"/>
                <a:ea typeface="Calibri" pitchFamily="34" charset="-122"/>
                <a:cs typeface="Calibri" pitchFamily="34" charset="-120"/>
              </a:rPr>
              <a:t>The dog likes not only to play fetch, but also to chase cars.</a:t>
            </a:r>
            <a:endParaRPr lang="en-US" sz="1650" dirty="0"/>
          </a:p>
        </p:txBody>
      </p:sp>
      <p:sp>
        <p:nvSpPr>
          <p:cNvPr id="35" name="s9 Shape 29"/>
          <p:cNvSpPr/>
          <p:nvPr/>
        </p:nvSpPr>
        <p:spPr>
          <a:xfrm>
            <a:off x="4059936" y="5248656"/>
            <a:ext cx="7491679" cy="786384"/>
          </a:xfrm>
          <a:prstGeom prst="roundRect">
            <a:avLst>
              <a:gd name="adj" fmla="val 10465"/>
            </a:avLst>
          </a:prstGeom>
          <a:solidFill>
            <a:srgbClr val="FFFFFF"/>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36" name="s9 Text 30"/>
          <p:cNvSpPr/>
          <p:nvPr/>
        </p:nvSpPr>
        <p:spPr>
          <a:xfrm>
            <a:off x="4370832" y="5248656"/>
            <a:ext cx="548640" cy="786384"/>
          </a:xfrm>
          <a:prstGeom prst="rect">
            <a:avLst/>
          </a:prstGeom>
          <a:noFill/>
          <a:ln/>
        </p:spPr>
        <p:txBody>
          <a:bodyPr wrap="square" lIns="0" tIns="0" rIns="0" bIns="0" rtlCol="0" anchor="ctr"/>
          <a:lstStyle/>
          <a:p>
            <a:pPr indent="0" marL="0">
              <a:buNone/>
            </a:pPr>
            <a:r>
              <a:rPr lang="en-US" sz="1400" b="1" dirty="0">
                <a:solidFill>
                  <a:srgbClr val="B4832B"/>
                </a:solidFill>
                <a:latin typeface="Cambria" pitchFamily="34" charset="0"/>
                <a:ea typeface="Cambria" pitchFamily="34" charset="-122"/>
                <a:cs typeface="Cambria" pitchFamily="34" charset="-120"/>
              </a:rPr>
              <a:t>Why</a:t>
            </a:r>
            <a:endParaRPr lang="en-US" sz="1400" dirty="0"/>
          </a:p>
        </p:txBody>
      </p:sp>
      <p:sp>
        <p:nvSpPr>
          <p:cNvPr id="37" name="s9 Text 31"/>
          <p:cNvSpPr/>
          <p:nvPr/>
        </p:nvSpPr>
        <p:spPr>
          <a:xfrm>
            <a:off x="4974336" y="5248656"/>
            <a:ext cx="6266383" cy="786384"/>
          </a:xfrm>
          <a:prstGeom prst="rect">
            <a:avLst/>
          </a:prstGeom>
          <a:noFill/>
          <a:ln/>
        </p:spPr>
        <p:txBody>
          <a:bodyPr wrap="square" lIns="0" tIns="0" rIns="0" bIns="0" rtlCol="0" anchor="ctr"/>
          <a:lstStyle/>
          <a:p>
            <a:pPr indent="0" marL="0">
              <a:lnSpc>
                <a:spcPts val="1700"/>
              </a:lnSpc>
              <a:buNone/>
            </a:pPr>
            <a:r>
              <a:rPr lang="en-US" sz="1250" dirty="0">
                <a:solidFill>
                  <a:srgbClr val="3B455C"/>
                </a:solidFill>
                <a:latin typeface="Calibri" pitchFamily="34" charset="0"/>
                <a:ea typeface="Calibri" pitchFamily="34" charset="-122"/>
                <a:cs typeface="Calibri" pitchFamily="34" charset="-120"/>
              </a:rPr>
              <a:t>Whatever follows the first half of the pair must match what follows the second: to play fetch / to chase cars.</a:t>
            </a:r>
            <a:endParaRPr lang="en-US" sz="1250" dirty="0"/>
          </a:p>
        </p:txBody>
      </p:sp>
      <p:sp>
        <p:nvSpPr>
          <p:cNvPr id="38" name="footDeck"/>
          <p:cNvSpPr/>
          <p:nvPr/>
        </p:nvSpPr>
        <p:spPr>
          <a:xfrm>
            <a:off x="640080" y="6345936"/>
            <a:ext cx="4023360" cy="256032"/>
          </a:xfrm>
          <a:prstGeom prst="rect">
            <a:avLst/>
          </a:prstGeom>
          <a:noFill/>
          <a:ln/>
        </p:spPr>
        <p:txBody>
          <a:bodyPr wrap="square" lIns="0" tIns="0" rIns="0" bIns="0" rtlCol="0" anchor="ctr"/>
          <a:lstStyle/>
          <a:p>
            <a:pPr indent="0" marL="0">
              <a:buNone/>
            </a:pPr>
            <a:r>
              <a:rPr lang="en-US" sz="950" spc="60" kern="0" dirty="0">
                <a:solidFill>
                  <a:srgbClr val="77839A"/>
                </a:solidFill>
                <a:latin typeface="Calibri" pitchFamily="34" charset="0"/>
                <a:ea typeface="Calibri" pitchFamily="34" charset="-122"/>
                <a:cs typeface="Calibri" pitchFamily="34" charset="-120"/>
              </a:rPr>
              <a:t>Parallelism (in Grammar)</a:t>
            </a:r>
            <a:endParaRPr lang="en-US" sz="950" dirty="0"/>
          </a:p>
        </p:txBody>
      </p:sp>
      <p:sp>
        <p:nvSpPr>
          <p:cNvPr id="39" name="footNav"/>
          <p:cNvSpPr/>
          <p:nvPr/>
        </p:nvSpPr>
        <p:spPr>
          <a:xfrm>
            <a:off x="7528255" y="6345936"/>
            <a:ext cx="4023360" cy="256032"/>
          </a:xfrm>
          <a:prstGeom prst="rect">
            <a:avLst/>
          </a:prstGeom>
          <a:noFill/>
          <a:ln/>
        </p:spPr>
        <p:txBody>
          <a:bodyPr wrap="square" lIns="0" tIns="0" rIns="0" bIns="0" rtlCol="0" anchor="ctr"/>
          <a:lstStyle/>
          <a:p>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9" action="ppaction://hlinksldjump" tooltip="">
                  <a:extLst>
                    <a:ext uri="{A12FA001-AC4F-418D-AE19-62706E023703}">
                      <ahyp:hlinkClr xmlns:ahyp="http://schemas.microsoft.com/office/drawing/2018/hyperlinkcolor" val="tx"/>
                    </a:ext>
                  </a:extLst>
                </a:hlinkClick>
              </a:rPr>
              <a:t>CONTENTS</a:t>
            </a:r>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10" action="ppaction://hlinksldjump" tooltip="">
                  <a:extLst>
                    <a:ext uri="{A12FA001-AC4F-418D-AE19-62706E023703}">
                      <ahyp:hlinkClr xmlns:ahyp="http://schemas.microsoft.com/office/drawing/2018/hyperlinkcolor" val="tx"/>
                    </a:ext>
                  </a:extLst>
                </a:hlinkClick>
              </a:rPr>
              <a:t>     ‹ </a:t>
            </a:r>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11" action="ppaction://hlinksldjump" tooltip="">
                  <a:extLst>
                    <a:ext uri="{A12FA001-AC4F-418D-AE19-62706E023703}">
                      <ahyp:hlinkClr xmlns:ahyp="http://schemas.microsoft.com/office/drawing/2018/hyperlinkcolor" val="tx"/>
                    </a:ext>
                  </a:extLst>
                </a:hlinkClick>
              </a:rPr>
              <a:t> › </a:t>
            </a:r>
            <a:pPr algn="r" indent="0" marL="0">
              <a:buNone/>
            </a:pPr>
            <a:r>
              <a:rPr lang="en-US" sz="950" b="1" spc="80" kern="0" dirty="0">
                <a:solidFill>
                  <a:srgbClr val="16233A"/>
                </a:solidFill>
                <a:latin typeface="Calibri" pitchFamily="34" charset="0"/>
                <a:ea typeface="Calibri" pitchFamily="34" charset="-122"/>
                <a:cs typeface="Calibri" pitchFamily="34" charset="-120"/>
              </a:rPr>
              <a:t>    09 / 14</a:t>
            </a:r>
            <a:endParaRPr lang="en-US" sz="950" dirty="0"/>
          </a:p>
        </p:txBody>
      </p:sp>
    </p:spTree>
  </p:cSld>
  <p:clrMapOvr>
    <a:masterClrMapping/>
  </p:clrMapOvr>
  <mc:AlternateContent xmlns:mc="http://schemas.openxmlformats.org/markup-compatibility/2006">
    <mc:Choice xmlns:p159="http://schemas.microsoft.com/office/powerpoint/2015/main" Requires="p159">
      <p:transition xmlns:p14="http://schemas.microsoft.com/office/powerpoint/2010/main" spd="med" p14:dur="900">
        <p159:morph option="byObject"/>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eyebrow"/>
          <p:cNvSpPr/>
          <p:nvPr/>
        </p:nvSpPr>
        <p:spPr>
          <a:xfrm>
            <a:off x="640080" y="457200"/>
            <a:ext cx="10911535" cy="237744"/>
          </a:xfrm>
          <a:prstGeom prst="rect">
            <a:avLst/>
          </a:prstGeom>
          <a:noFill/>
          <a:ln/>
        </p:spPr>
        <p:txBody>
          <a:bodyPr wrap="square" lIns="0" tIns="0" rIns="0" bIns="0" rtlCol="0" anchor="ctr"/>
          <a:lstStyle/>
          <a:p>
            <a:pPr indent="0" marL="0">
              <a:buNone/>
            </a:pPr>
            <a:r>
              <a:rPr lang="en-US" sz="1100" b="1" spc="320" kern="0" dirty="0">
                <a:solidFill>
                  <a:srgbClr val="B4832B"/>
                </a:solidFill>
                <a:latin typeface="Calibri" pitchFamily="34" charset="0"/>
                <a:ea typeface="Calibri" pitchFamily="34" charset="-122"/>
                <a:cs typeface="Calibri" pitchFamily="34" charset="-120"/>
              </a:rPr>
              <a:t>USING PARALLEL STRUCTURE  ·  03 OF 04</a:t>
            </a:r>
            <a:endParaRPr lang="en-US" sz="1100" dirty="0"/>
          </a:p>
        </p:txBody>
      </p:sp>
      <p:sp>
        <p:nvSpPr>
          <p:cNvPr id="3" name="heading"/>
          <p:cNvSpPr/>
          <p:nvPr/>
        </p:nvSpPr>
        <p:spPr>
          <a:xfrm>
            <a:off x="640080" y="731520"/>
            <a:ext cx="10911535" cy="566928"/>
          </a:xfrm>
          <a:prstGeom prst="rect">
            <a:avLst/>
          </a:prstGeom>
          <a:noFill/>
          <a:ln/>
        </p:spPr>
        <p:txBody>
          <a:bodyPr wrap="square" lIns="0" tIns="0" rIns="0" bIns="0" rtlCol="0" anchor="t"/>
          <a:lstStyle/>
          <a:p>
            <a:pPr indent="0" marL="0">
              <a:buNone/>
            </a:pPr>
            <a:r>
              <a:rPr lang="en-US" sz="3200" b="1" dirty="0">
                <a:solidFill>
                  <a:srgbClr val="16233A"/>
                </a:solidFill>
                <a:latin typeface="Cambria" pitchFamily="34" charset="0"/>
                <a:ea typeface="Cambria" pitchFamily="34" charset="-122"/>
                <a:cs typeface="Cambria" pitchFamily="34" charset="-120"/>
              </a:rPr>
              <a:t>Phrases or clauses of comparison</a:t>
            </a:r>
            <a:endParaRPr lang="en-US" sz="3200" dirty="0"/>
          </a:p>
        </p:txBody>
      </p:sp>
      <p:sp>
        <p:nvSpPr>
          <p:cNvPr id="4" name="ctxCard1"/>
          <p:cNvSpPr/>
          <p:nvPr/>
        </p:nvSpPr>
        <p:spPr>
          <a:xfrm>
            <a:off x="640080" y="1828800"/>
            <a:ext cx="3035808" cy="877824"/>
          </a:xfrm>
          <a:prstGeom prst="roundRect">
            <a:avLst>
              <a:gd name="adj" fmla="val 8333"/>
            </a:avLst>
          </a:prstGeom>
          <a:solidFill>
            <a:srgbClr val="F6F8FB"/>
          </a:solidFill>
          <a:ln w="12700">
            <a:solidFill>
              <a:srgbClr val="DFE5EE"/>
            </a:solidFill>
            <a:prstDash val="solid"/>
          </a:ln>
        </p:spPr>
      </p:sp>
      <p:sp>
        <p:nvSpPr>
          <p:cNvPr id="5" name="ctxDisc1"/>
          <p:cNvSpPr/>
          <p:nvPr/>
        </p:nvSpPr>
        <p:spPr>
          <a:xfrm>
            <a:off x="877824" y="2066544"/>
            <a:ext cx="402336" cy="402336"/>
          </a:xfrm>
          <a:prstGeom prst="ellipse">
            <a:avLst/>
          </a:prstGeom>
          <a:solidFill>
            <a:srgbClr val="DFE5EE"/>
          </a:solidFill>
          <a:ln w="12700">
            <a:solidFill>
              <a:srgbClr val="DFE5EE"/>
            </a:solidFill>
            <a:prstDash val="solid"/>
          </a:ln>
        </p:spPr>
      </p:sp>
      <p:pic>
        <p:nvPicPr>
          <p:cNvPr id="6" name="ctxIcon1" descr="preencoded.png">    </p:cNvPr>
          <p:cNvPicPr>
            <a:picLocks noChangeAspect="1"/>
          </p:cNvPicPr>
          <p:nvPr/>
        </p:nvPicPr>
        <p:blipFill>
          <a:blip r:embed="rId1">
            <a:alphaModFix amt="45000"/>
          </a:blip>
          <a:stretch>
            <a:fillRect/>
          </a:stretch>
        </p:blipFill>
        <p:spPr>
          <a:xfrm>
            <a:off x="969264" y="2157984"/>
            <a:ext cx="219456" cy="219456"/>
          </a:xfrm>
          <a:prstGeom prst="rect">
            <a:avLst/>
          </a:prstGeom>
        </p:spPr>
      </p:pic>
      <p:sp>
        <p:nvSpPr>
          <p:cNvPr id="7" name="ctxNum1"/>
          <p:cNvSpPr/>
          <p:nvPr/>
        </p:nvSpPr>
        <p:spPr>
          <a:xfrm>
            <a:off x="3017520" y="2121408"/>
            <a:ext cx="402336" cy="274320"/>
          </a:xfrm>
          <a:prstGeom prst="rect">
            <a:avLst/>
          </a:prstGeom>
          <a:noFill/>
          <a:ln/>
        </p:spPr>
        <p:txBody>
          <a:bodyPr wrap="square" lIns="0" tIns="0" rIns="0" bIns="0" rtlCol="0" anchor="ctr"/>
          <a:lstStyle/>
          <a:p>
            <a:pPr algn="r" indent="0" marL="0">
              <a:buNone/>
            </a:pPr>
            <a:r>
              <a:rPr lang="en-US" sz="1100" b="1" dirty="0">
                <a:solidFill>
                  <a:srgbClr val="77839A"/>
                </a:solidFill>
                <a:latin typeface="Calibri" pitchFamily="34" charset="0"/>
                <a:ea typeface="Calibri" pitchFamily="34" charset="-122"/>
                <a:cs typeface="Calibri" pitchFamily="34" charset="-120"/>
              </a:rPr>
              <a:t>01</a:t>
            </a:r>
            <a:endParaRPr lang="en-US" sz="1100" dirty="0"/>
          </a:p>
        </p:txBody>
      </p:sp>
      <p:sp>
        <p:nvSpPr>
          <p:cNvPr id="8" name="ctxName1">
            <a:hlinkClick r:id="rId2" tooltip="" action="ppaction://hlinksldjump"/>
          </p:cNvPr>
          <p:cNvSpPr/>
          <p:nvPr/>
        </p:nvSpPr>
        <p:spPr>
          <a:xfrm>
            <a:off x="1408176" y="2103120"/>
            <a:ext cx="1664208" cy="365760"/>
          </a:xfrm>
          <a:prstGeom prst="rect">
            <a:avLst/>
          </a:prstGeom>
          <a:noFill/>
          <a:ln/>
        </p:spPr>
        <p:txBody>
          <a:bodyPr wrap="square" lIns="0" tIns="0" rIns="0" bIns="0" rtlCol="0" anchor="ctr"/>
          <a:lstStyle/>
          <a:p>
            <a:pPr indent="0" marL="0">
              <a:buNone/>
            </a:pPr>
            <a:r>
              <a:rPr lang="en-US" sz="1300" u="none" dirty="0">
                <a:solidFill>
                  <a:srgbClr val="3B455C"/>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Coordinating</a:t>
            </a:r>
            <a:endParaRPr lang="en-US" sz="1300" dirty="0"/>
          </a:p>
        </p:txBody>
      </p:sp>
      <p:sp>
        <p:nvSpPr>
          <p:cNvPr id="9" name="ctxCard2"/>
          <p:cNvSpPr/>
          <p:nvPr/>
        </p:nvSpPr>
        <p:spPr>
          <a:xfrm>
            <a:off x="640080" y="2852928"/>
            <a:ext cx="3035808" cy="877824"/>
          </a:xfrm>
          <a:prstGeom prst="roundRect">
            <a:avLst>
              <a:gd name="adj" fmla="val 8333"/>
            </a:avLst>
          </a:prstGeom>
          <a:solidFill>
            <a:srgbClr val="F6F8FB"/>
          </a:solidFill>
          <a:ln w="12700">
            <a:solidFill>
              <a:srgbClr val="DFE5EE"/>
            </a:solidFill>
            <a:prstDash val="solid"/>
          </a:ln>
        </p:spPr>
      </p:sp>
      <p:sp>
        <p:nvSpPr>
          <p:cNvPr id="10" name="ctxDisc2"/>
          <p:cNvSpPr/>
          <p:nvPr/>
        </p:nvSpPr>
        <p:spPr>
          <a:xfrm>
            <a:off x="877824" y="3090672"/>
            <a:ext cx="402336" cy="402336"/>
          </a:xfrm>
          <a:prstGeom prst="ellipse">
            <a:avLst/>
          </a:prstGeom>
          <a:solidFill>
            <a:srgbClr val="DFE5EE"/>
          </a:solidFill>
          <a:ln w="12700">
            <a:solidFill>
              <a:srgbClr val="DFE5EE"/>
            </a:solidFill>
            <a:prstDash val="solid"/>
          </a:ln>
        </p:spPr>
      </p:sp>
      <p:pic>
        <p:nvPicPr>
          <p:cNvPr id="11" name="ctxIcon2" descr="preencoded.png">    </p:cNvPr>
          <p:cNvPicPr>
            <a:picLocks noChangeAspect="1"/>
          </p:cNvPicPr>
          <p:nvPr/>
        </p:nvPicPr>
        <p:blipFill>
          <a:blip r:embed="rId3">
            <a:alphaModFix amt="45000"/>
          </a:blip>
          <a:stretch>
            <a:fillRect/>
          </a:stretch>
        </p:blipFill>
        <p:spPr>
          <a:xfrm>
            <a:off x="969264" y="3182112"/>
            <a:ext cx="219456" cy="219456"/>
          </a:xfrm>
          <a:prstGeom prst="rect">
            <a:avLst/>
          </a:prstGeom>
        </p:spPr>
      </p:pic>
      <p:sp>
        <p:nvSpPr>
          <p:cNvPr id="12" name="ctxNum2"/>
          <p:cNvSpPr/>
          <p:nvPr/>
        </p:nvSpPr>
        <p:spPr>
          <a:xfrm>
            <a:off x="3017520" y="3145536"/>
            <a:ext cx="402336" cy="274320"/>
          </a:xfrm>
          <a:prstGeom prst="rect">
            <a:avLst/>
          </a:prstGeom>
          <a:noFill/>
          <a:ln/>
        </p:spPr>
        <p:txBody>
          <a:bodyPr wrap="square" lIns="0" tIns="0" rIns="0" bIns="0" rtlCol="0" anchor="ctr"/>
          <a:lstStyle/>
          <a:p>
            <a:pPr algn="r" indent="0" marL="0">
              <a:buNone/>
            </a:pPr>
            <a:r>
              <a:rPr lang="en-US" sz="1100" b="1" dirty="0">
                <a:solidFill>
                  <a:srgbClr val="77839A"/>
                </a:solidFill>
                <a:latin typeface="Calibri" pitchFamily="34" charset="0"/>
                <a:ea typeface="Calibri" pitchFamily="34" charset="-122"/>
                <a:cs typeface="Calibri" pitchFamily="34" charset="-120"/>
              </a:rPr>
              <a:t>02</a:t>
            </a:r>
            <a:endParaRPr lang="en-US" sz="1100" dirty="0"/>
          </a:p>
        </p:txBody>
      </p:sp>
      <p:sp>
        <p:nvSpPr>
          <p:cNvPr id="13" name="ctxName2">
            <a:hlinkClick r:id="rId4" tooltip="" action="ppaction://hlinksldjump"/>
          </p:cNvPr>
          <p:cNvSpPr/>
          <p:nvPr/>
        </p:nvSpPr>
        <p:spPr>
          <a:xfrm>
            <a:off x="1408176" y="3127248"/>
            <a:ext cx="1664208" cy="365760"/>
          </a:xfrm>
          <a:prstGeom prst="rect">
            <a:avLst/>
          </a:prstGeom>
          <a:noFill/>
          <a:ln/>
        </p:spPr>
        <p:txBody>
          <a:bodyPr wrap="square" lIns="0" tIns="0" rIns="0" bIns="0" rtlCol="0" anchor="ctr"/>
          <a:lstStyle/>
          <a:p>
            <a:pPr indent="0" marL="0">
              <a:buNone/>
            </a:pPr>
            <a:r>
              <a:rPr lang="en-US" sz="1300" u="none" dirty="0">
                <a:solidFill>
                  <a:srgbClr val="3B455C"/>
                </a:solidFill>
                <a:latin typeface="Calibri" pitchFamily="34" charset="0"/>
                <a:ea typeface="Calibri" pitchFamily="34" charset="-122"/>
                <a:cs typeface="Calibri" pitchFamily="34" charset="-120"/>
                <a:hlinkClick r:id="rId4" action="ppaction://hlinksldjump" tooltip="">
                  <a:extLst>
                    <a:ext uri="{A12FA001-AC4F-418D-AE19-62706E023703}">
                      <ahyp:hlinkClr xmlns:ahyp="http://schemas.microsoft.com/office/drawing/2018/hyperlinkcolor" val="tx"/>
                    </a:ext>
                  </a:extLst>
                </a:hlinkClick>
              </a:rPr>
              <a:t>Correlative</a:t>
            </a:r>
            <a:endParaRPr lang="en-US" sz="1300" dirty="0"/>
          </a:p>
        </p:txBody>
      </p:sp>
      <p:sp>
        <p:nvSpPr>
          <p:cNvPr id="14" name="ctxCard3"/>
          <p:cNvSpPr/>
          <p:nvPr/>
        </p:nvSpPr>
        <p:spPr>
          <a:xfrm>
            <a:off x="640080" y="3877056"/>
            <a:ext cx="3035808" cy="877824"/>
          </a:xfrm>
          <a:prstGeom prst="roundRect">
            <a:avLst>
              <a:gd name="adj" fmla="val 8333"/>
            </a:avLst>
          </a:prstGeom>
          <a:solidFill>
            <a:srgbClr val="16233A"/>
          </a:solidFill>
          <a:ln w="12700">
            <a:solidFill>
              <a:srgbClr val="2A3C5E"/>
            </a:solidFill>
            <a:prstDash val="solid"/>
          </a:ln>
          <a:effectLst>
            <a:outerShdw sx="100000" sy="100000" kx="0" ky="0" algn="bl" rotWithShape="0" blurRad="177800" dist="38100" dir="5400000">
              <a:srgbClr val="9AA7BC">
                <a:alpha val="28000"/>
              </a:srgbClr>
            </a:outerShdw>
          </a:effectLst>
        </p:spPr>
      </p:sp>
      <p:sp>
        <p:nvSpPr>
          <p:cNvPr id="15" name="ctxDisc3"/>
          <p:cNvSpPr/>
          <p:nvPr/>
        </p:nvSpPr>
        <p:spPr>
          <a:xfrm>
            <a:off x="877824" y="4114800"/>
            <a:ext cx="402336" cy="402336"/>
          </a:xfrm>
          <a:prstGeom prst="ellipse">
            <a:avLst/>
          </a:prstGeom>
          <a:solidFill>
            <a:srgbClr val="B4832B"/>
          </a:solidFill>
          <a:ln w="12700">
            <a:solidFill>
              <a:srgbClr val="B4832B"/>
            </a:solidFill>
            <a:prstDash val="solid"/>
          </a:ln>
        </p:spPr>
      </p:sp>
      <p:pic>
        <p:nvPicPr>
          <p:cNvPr id="16" name="ctxIcon3" descr="preencoded.png">    </p:cNvPr>
          <p:cNvPicPr>
            <a:picLocks noChangeAspect="1"/>
          </p:cNvPicPr>
          <p:nvPr/>
        </p:nvPicPr>
        <p:blipFill>
          <a:blip r:embed="rId5"/>
          <a:stretch>
            <a:fillRect/>
          </a:stretch>
        </p:blipFill>
        <p:spPr>
          <a:xfrm>
            <a:off x="969264" y="4206240"/>
            <a:ext cx="219456" cy="219456"/>
          </a:xfrm>
          <a:prstGeom prst="rect">
            <a:avLst/>
          </a:prstGeom>
        </p:spPr>
      </p:pic>
      <p:sp>
        <p:nvSpPr>
          <p:cNvPr id="17" name="ctxNum3"/>
          <p:cNvSpPr/>
          <p:nvPr/>
        </p:nvSpPr>
        <p:spPr>
          <a:xfrm>
            <a:off x="3017520" y="4169664"/>
            <a:ext cx="402336" cy="274320"/>
          </a:xfrm>
          <a:prstGeom prst="rect">
            <a:avLst/>
          </a:prstGeom>
          <a:noFill/>
          <a:ln/>
        </p:spPr>
        <p:txBody>
          <a:bodyPr wrap="square" lIns="0" tIns="0" rIns="0" bIns="0" rtlCol="0" anchor="ctr"/>
          <a:lstStyle/>
          <a:p>
            <a:pPr algn="r" indent="0" marL="0">
              <a:buNone/>
            </a:pPr>
            <a:r>
              <a:rPr lang="en-US" sz="1100" b="1" dirty="0">
                <a:solidFill>
                  <a:srgbClr val="B4832B"/>
                </a:solidFill>
                <a:latin typeface="Calibri" pitchFamily="34" charset="0"/>
                <a:ea typeface="Calibri" pitchFamily="34" charset="-122"/>
                <a:cs typeface="Calibri" pitchFamily="34" charset="-120"/>
              </a:rPr>
              <a:t>03</a:t>
            </a:r>
            <a:endParaRPr lang="en-US" sz="1100" dirty="0"/>
          </a:p>
        </p:txBody>
      </p:sp>
      <p:sp>
        <p:nvSpPr>
          <p:cNvPr id="18" name="ctxName3">
            <a:hlinkClick r:id="rId6" tooltip="" action="ppaction://hlinksldjump"/>
          </p:cNvPr>
          <p:cNvSpPr/>
          <p:nvPr/>
        </p:nvSpPr>
        <p:spPr>
          <a:xfrm>
            <a:off x="1408176" y="4151376"/>
            <a:ext cx="1664208" cy="365760"/>
          </a:xfrm>
          <a:prstGeom prst="rect">
            <a:avLst/>
          </a:prstGeom>
          <a:noFill/>
          <a:ln/>
        </p:spPr>
        <p:txBody>
          <a:bodyPr wrap="square" lIns="0" tIns="0" rIns="0" bIns="0" rtlCol="0" anchor="ctr"/>
          <a:lstStyle/>
          <a:p>
            <a:pPr indent="0" marL="0">
              <a:buNone/>
            </a:pPr>
            <a:r>
              <a:rPr lang="en-US" sz="1300" b="1" u="none" dirty="0">
                <a:solidFill>
                  <a:srgbClr val="FFFFFF"/>
                </a:solidFill>
                <a:latin typeface="Calibri" pitchFamily="34" charset="0"/>
                <a:ea typeface="Calibri" pitchFamily="34" charset="-122"/>
                <a:cs typeface="Calibri" pitchFamily="34" charset="-120"/>
                <a:hlinkClick r:id="rId6" action="ppaction://hlinksldjump" tooltip="">
                  <a:extLst>
                    <a:ext uri="{A12FA001-AC4F-418D-AE19-62706E023703}">
                      <ahyp:hlinkClr xmlns:ahyp="http://schemas.microsoft.com/office/drawing/2018/hyperlinkcolor" val="tx"/>
                    </a:ext>
                  </a:extLst>
                </a:hlinkClick>
              </a:rPr>
              <a:t>Comparison</a:t>
            </a:r>
            <a:endParaRPr lang="en-US" sz="1300" dirty="0"/>
          </a:p>
        </p:txBody>
      </p:sp>
      <p:sp>
        <p:nvSpPr>
          <p:cNvPr id="19" name="ctxCard4"/>
          <p:cNvSpPr/>
          <p:nvPr/>
        </p:nvSpPr>
        <p:spPr>
          <a:xfrm>
            <a:off x="640080" y="4901184"/>
            <a:ext cx="3035808" cy="877824"/>
          </a:xfrm>
          <a:prstGeom prst="roundRect">
            <a:avLst>
              <a:gd name="adj" fmla="val 8333"/>
            </a:avLst>
          </a:prstGeom>
          <a:solidFill>
            <a:srgbClr val="F6F8FB"/>
          </a:solidFill>
          <a:ln w="12700">
            <a:solidFill>
              <a:srgbClr val="DFE5EE"/>
            </a:solidFill>
            <a:prstDash val="solid"/>
          </a:ln>
        </p:spPr>
      </p:sp>
      <p:sp>
        <p:nvSpPr>
          <p:cNvPr id="20" name="ctxDisc4"/>
          <p:cNvSpPr/>
          <p:nvPr/>
        </p:nvSpPr>
        <p:spPr>
          <a:xfrm>
            <a:off x="877824" y="5138928"/>
            <a:ext cx="402336" cy="402336"/>
          </a:xfrm>
          <a:prstGeom prst="ellipse">
            <a:avLst/>
          </a:prstGeom>
          <a:solidFill>
            <a:srgbClr val="DFE5EE"/>
          </a:solidFill>
          <a:ln w="12700">
            <a:solidFill>
              <a:srgbClr val="DFE5EE"/>
            </a:solidFill>
            <a:prstDash val="solid"/>
          </a:ln>
        </p:spPr>
      </p:sp>
      <p:pic>
        <p:nvPicPr>
          <p:cNvPr id="21" name="ctxIcon4" descr="preencoded.png">    </p:cNvPr>
          <p:cNvPicPr>
            <a:picLocks noChangeAspect="1"/>
          </p:cNvPicPr>
          <p:nvPr/>
        </p:nvPicPr>
        <p:blipFill>
          <a:blip r:embed="rId7">
            <a:alphaModFix amt="45000"/>
          </a:blip>
          <a:stretch>
            <a:fillRect/>
          </a:stretch>
        </p:blipFill>
        <p:spPr>
          <a:xfrm>
            <a:off x="969264" y="5230368"/>
            <a:ext cx="219456" cy="219456"/>
          </a:xfrm>
          <a:prstGeom prst="rect">
            <a:avLst/>
          </a:prstGeom>
        </p:spPr>
      </p:pic>
      <p:sp>
        <p:nvSpPr>
          <p:cNvPr id="22" name="ctxNum4"/>
          <p:cNvSpPr/>
          <p:nvPr/>
        </p:nvSpPr>
        <p:spPr>
          <a:xfrm>
            <a:off x="3017520" y="5193792"/>
            <a:ext cx="402336" cy="274320"/>
          </a:xfrm>
          <a:prstGeom prst="rect">
            <a:avLst/>
          </a:prstGeom>
          <a:noFill/>
          <a:ln/>
        </p:spPr>
        <p:txBody>
          <a:bodyPr wrap="square" lIns="0" tIns="0" rIns="0" bIns="0" rtlCol="0" anchor="ctr"/>
          <a:lstStyle/>
          <a:p>
            <a:pPr algn="r" indent="0" marL="0">
              <a:buNone/>
            </a:pPr>
            <a:r>
              <a:rPr lang="en-US" sz="1100" b="1" dirty="0">
                <a:solidFill>
                  <a:srgbClr val="77839A"/>
                </a:solidFill>
                <a:latin typeface="Calibri" pitchFamily="34" charset="0"/>
                <a:ea typeface="Calibri" pitchFamily="34" charset="-122"/>
                <a:cs typeface="Calibri" pitchFamily="34" charset="-120"/>
              </a:rPr>
              <a:t>04</a:t>
            </a:r>
            <a:endParaRPr lang="en-US" sz="1100" dirty="0"/>
          </a:p>
        </p:txBody>
      </p:sp>
      <p:sp>
        <p:nvSpPr>
          <p:cNvPr id="23" name="ctxName4">
            <a:hlinkClick r:id="rId8" tooltip="" action="ppaction://hlinksldjump"/>
          </p:cNvPr>
          <p:cNvSpPr/>
          <p:nvPr/>
        </p:nvSpPr>
        <p:spPr>
          <a:xfrm>
            <a:off x="1408176" y="5175504"/>
            <a:ext cx="1664208" cy="365760"/>
          </a:xfrm>
          <a:prstGeom prst="rect">
            <a:avLst/>
          </a:prstGeom>
          <a:noFill/>
          <a:ln/>
        </p:spPr>
        <p:txBody>
          <a:bodyPr wrap="square" lIns="0" tIns="0" rIns="0" bIns="0" rtlCol="0" anchor="ctr"/>
          <a:lstStyle/>
          <a:p>
            <a:pPr indent="0" marL="0">
              <a:buNone/>
            </a:pPr>
            <a:r>
              <a:rPr lang="en-US" sz="1300" u="none" dirty="0">
                <a:solidFill>
                  <a:srgbClr val="3B455C"/>
                </a:solidFill>
                <a:latin typeface="Calibri" pitchFamily="34" charset="0"/>
                <a:ea typeface="Calibri" pitchFamily="34" charset="-122"/>
                <a:cs typeface="Calibri" pitchFamily="34" charset="-120"/>
                <a:hlinkClick r:id="rId8" action="ppaction://hlinksldjump" tooltip="">
                  <a:extLst>
                    <a:ext uri="{A12FA001-AC4F-418D-AE19-62706E023703}">
                      <ahyp:hlinkClr xmlns:ahyp="http://schemas.microsoft.com/office/drawing/2018/hyperlinkcolor" val="tx"/>
                    </a:ext>
                  </a:extLst>
                </a:hlinkClick>
              </a:rPr>
              <a:t>Lists</a:t>
            </a:r>
            <a:endParaRPr lang="en-US" sz="1300" dirty="0"/>
          </a:p>
        </p:txBody>
      </p:sp>
      <p:sp>
        <p:nvSpPr>
          <p:cNvPr id="24" name="s10 Shape 18"/>
          <p:cNvSpPr/>
          <p:nvPr/>
        </p:nvSpPr>
        <p:spPr>
          <a:xfrm>
            <a:off x="4059936" y="1316736"/>
            <a:ext cx="7491679" cy="1060704"/>
          </a:xfrm>
          <a:prstGeom prst="roundRect">
            <a:avLst>
              <a:gd name="adj" fmla="val 7759"/>
            </a:avLst>
          </a:prstGeom>
          <a:solidFill>
            <a:srgbClr val="F6F8FB"/>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25" name="s10 Text 19"/>
          <p:cNvSpPr/>
          <p:nvPr/>
        </p:nvSpPr>
        <p:spPr>
          <a:xfrm>
            <a:off x="4370832" y="1481328"/>
            <a:ext cx="1828800" cy="237744"/>
          </a:xfrm>
          <a:prstGeom prst="rect">
            <a:avLst/>
          </a:prstGeom>
          <a:noFill/>
          <a:ln/>
        </p:spPr>
        <p:txBody>
          <a:bodyPr wrap="square" lIns="0" tIns="0" rIns="0" bIns="0" rtlCol="0" anchor="ctr"/>
          <a:lstStyle/>
          <a:p>
            <a:pPr indent="0" marL="0">
              <a:buNone/>
            </a:pPr>
            <a:r>
              <a:rPr lang="en-US" sz="950" b="1" spc="240" kern="0" dirty="0">
                <a:solidFill>
                  <a:srgbClr val="B4832B"/>
                </a:solidFill>
                <a:latin typeface="Calibri" pitchFamily="34" charset="0"/>
                <a:ea typeface="Calibri" pitchFamily="34" charset="-122"/>
                <a:cs typeface="Calibri" pitchFamily="34" charset="-120"/>
              </a:rPr>
              <a:t>THE RULE</a:t>
            </a:r>
            <a:endParaRPr lang="en-US" sz="950" dirty="0"/>
          </a:p>
        </p:txBody>
      </p:sp>
      <p:sp>
        <p:nvSpPr>
          <p:cNvPr id="26" name="s10 Text 20"/>
          <p:cNvSpPr/>
          <p:nvPr/>
        </p:nvSpPr>
        <p:spPr>
          <a:xfrm>
            <a:off x="4370832" y="1737360"/>
            <a:ext cx="6869887" cy="548640"/>
          </a:xfrm>
          <a:prstGeom prst="rect">
            <a:avLst/>
          </a:prstGeom>
          <a:noFill/>
          <a:ln/>
        </p:spPr>
        <p:txBody>
          <a:bodyPr wrap="square" lIns="0" tIns="0" rIns="0" bIns="0" rtlCol="0" anchor="ctr"/>
          <a:lstStyle/>
          <a:p>
            <a:pPr indent="0" marL="0">
              <a:lnSpc>
                <a:spcPts val="2100"/>
              </a:lnSpc>
              <a:buNone/>
            </a:pPr>
            <a:r>
              <a:rPr lang="en-US" sz="1450" dirty="0">
                <a:solidFill>
                  <a:srgbClr val="16233A"/>
                </a:solidFill>
                <a:latin typeface="Calibri" pitchFamily="34" charset="0"/>
                <a:ea typeface="Calibri" pitchFamily="34" charset="-122"/>
                <a:cs typeface="Calibri" pitchFamily="34" charset="-120"/>
              </a:rPr>
              <a:t>While joining two clauses or phrases with a word of comparison, such as than or as.</a:t>
            </a:r>
            <a:endParaRPr lang="en-US" sz="1450" dirty="0"/>
          </a:p>
        </p:txBody>
      </p:sp>
      <p:sp>
        <p:nvSpPr>
          <p:cNvPr id="27" name="s10 Shape 21"/>
          <p:cNvSpPr/>
          <p:nvPr/>
        </p:nvSpPr>
        <p:spPr>
          <a:xfrm>
            <a:off x="4059936" y="2615184"/>
            <a:ext cx="7491679" cy="1188720"/>
          </a:xfrm>
          <a:prstGeom prst="roundRect">
            <a:avLst>
              <a:gd name="adj" fmla="val 7692"/>
            </a:avLst>
          </a:prstGeom>
          <a:solidFill>
            <a:srgbClr val="FBEDEB"/>
          </a:solidFill>
          <a:ln w="12700">
            <a:solidFill>
              <a:srgbClr val="E7C3BF"/>
            </a:solidFill>
            <a:prstDash val="solid"/>
          </a:ln>
          <a:effectLst>
            <a:outerShdw sx="100000" sy="100000" kx="0" ky="0" algn="bl" rotWithShape="0" blurRad="177800" dist="38100" dir="5400000">
              <a:srgbClr val="9AA7BC">
                <a:alpha val="28000"/>
              </a:srgbClr>
            </a:outerShdw>
          </a:effectLst>
        </p:spPr>
      </p:sp>
      <p:sp>
        <p:nvSpPr>
          <p:cNvPr id="28" name="s10 Shape 22"/>
          <p:cNvSpPr/>
          <p:nvPr/>
        </p:nvSpPr>
        <p:spPr>
          <a:xfrm>
            <a:off x="4334256" y="2834640"/>
            <a:ext cx="1481328" cy="292608"/>
          </a:xfrm>
          <a:prstGeom prst="roundRect">
            <a:avLst>
              <a:gd name="adj" fmla="val 50000"/>
            </a:avLst>
          </a:prstGeom>
          <a:solidFill>
            <a:srgbClr val="B3261E"/>
          </a:solidFill>
          <a:ln w="12700">
            <a:solidFill>
              <a:srgbClr val="B3261E"/>
            </a:solidFill>
            <a:prstDash val="solid"/>
          </a:ln>
        </p:spPr>
      </p:sp>
      <p:sp>
        <p:nvSpPr>
          <p:cNvPr id="29" name="s10 Text 23"/>
          <p:cNvSpPr/>
          <p:nvPr/>
        </p:nvSpPr>
        <p:spPr>
          <a:xfrm>
            <a:off x="4334256" y="2834640"/>
            <a:ext cx="1481328" cy="292608"/>
          </a:xfrm>
          <a:prstGeom prst="rect">
            <a:avLst/>
          </a:prstGeom>
          <a:noFill/>
          <a:ln/>
        </p:spPr>
        <p:txBody>
          <a:bodyPr wrap="square" lIns="0" tIns="0" rIns="0" bIns="0" rtlCol="0" anchor="ctr"/>
          <a:lstStyle/>
          <a:p>
            <a:pPr algn="ctr" indent="0" marL="0">
              <a:buNone/>
            </a:pPr>
            <a:r>
              <a:rPr lang="en-US" sz="950" b="1" spc="140" kern="0" dirty="0">
                <a:solidFill>
                  <a:srgbClr val="FFFFFF"/>
                </a:solidFill>
                <a:latin typeface="Calibri" pitchFamily="34" charset="0"/>
                <a:ea typeface="Calibri" pitchFamily="34" charset="-122"/>
                <a:cs typeface="Calibri" pitchFamily="34" charset="-120"/>
              </a:rPr>
              <a:t>NOT PARALLEL</a:t>
            </a:r>
            <a:endParaRPr lang="en-US" sz="950" dirty="0"/>
          </a:p>
        </p:txBody>
      </p:sp>
      <p:sp>
        <p:nvSpPr>
          <p:cNvPr id="30" name="s10 Text 24"/>
          <p:cNvSpPr/>
          <p:nvPr/>
        </p:nvSpPr>
        <p:spPr>
          <a:xfrm>
            <a:off x="4334256" y="3182112"/>
            <a:ext cx="6943039" cy="475488"/>
          </a:xfrm>
          <a:prstGeom prst="rect">
            <a:avLst/>
          </a:prstGeom>
          <a:noFill/>
          <a:ln/>
        </p:spPr>
        <p:txBody>
          <a:bodyPr wrap="square" lIns="0" tIns="0" rIns="0" bIns="0" rtlCol="0" anchor="t"/>
          <a:lstStyle/>
          <a:p>
            <a:pPr indent="0" marL="0">
              <a:lnSpc>
                <a:spcPts val="2300"/>
              </a:lnSpc>
              <a:buNone/>
            </a:pPr>
            <a:r>
              <a:rPr lang="en-US" sz="1650" dirty="0">
                <a:solidFill>
                  <a:srgbClr val="16233A"/>
                </a:solidFill>
                <a:latin typeface="Calibri" pitchFamily="34" charset="0"/>
                <a:ea typeface="Calibri" pitchFamily="34" charset="-122"/>
                <a:cs typeface="Calibri" pitchFamily="34" charset="-120"/>
              </a:rPr>
              <a:t>I would rather pay for my education than financial aid.</a:t>
            </a:r>
            <a:endParaRPr lang="en-US" sz="1650" dirty="0"/>
          </a:p>
        </p:txBody>
      </p:sp>
      <p:sp>
        <p:nvSpPr>
          <p:cNvPr id="31" name="s10 Shape 25"/>
          <p:cNvSpPr/>
          <p:nvPr/>
        </p:nvSpPr>
        <p:spPr>
          <a:xfrm>
            <a:off x="4059936" y="4023360"/>
            <a:ext cx="7491679" cy="1188720"/>
          </a:xfrm>
          <a:prstGeom prst="roundRect">
            <a:avLst>
              <a:gd name="adj" fmla="val 7692"/>
            </a:avLst>
          </a:prstGeom>
          <a:solidFill>
            <a:srgbClr val="EAF4EF"/>
          </a:solidFill>
          <a:ln w="12700">
            <a:solidFill>
              <a:srgbClr val="BFDCCB"/>
            </a:solidFill>
            <a:prstDash val="solid"/>
          </a:ln>
          <a:effectLst>
            <a:outerShdw sx="100000" sy="100000" kx="0" ky="0" algn="bl" rotWithShape="0" blurRad="177800" dist="38100" dir="5400000">
              <a:srgbClr val="9AA7BC">
                <a:alpha val="28000"/>
              </a:srgbClr>
            </a:outerShdw>
          </a:effectLst>
        </p:spPr>
      </p:sp>
      <p:sp>
        <p:nvSpPr>
          <p:cNvPr id="32" name="s10 Shape 26"/>
          <p:cNvSpPr/>
          <p:nvPr/>
        </p:nvSpPr>
        <p:spPr>
          <a:xfrm>
            <a:off x="4334256" y="4242816"/>
            <a:ext cx="1481328" cy="292608"/>
          </a:xfrm>
          <a:prstGeom prst="roundRect">
            <a:avLst>
              <a:gd name="adj" fmla="val 50000"/>
            </a:avLst>
          </a:prstGeom>
          <a:solidFill>
            <a:srgbClr val="1E7A4F"/>
          </a:solidFill>
          <a:ln w="12700">
            <a:solidFill>
              <a:srgbClr val="1E7A4F"/>
            </a:solidFill>
            <a:prstDash val="solid"/>
          </a:ln>
        </p:spPr>
      </p:sp>
      <p:sp>
        <p:nvSpPr>
          <p:cNvPr id="33" name="s10 Text 27"/>
          <p:cNvSpPr/>
          <p:nvPr/>
        </p:nvSpPr>
        <p:spPr>
          <a:xfrm>
            <a:off x="4334256" y="4242816"/>
            <a:ext cx="1481328" cy="292608"/>
          </a:xfrm>
          <a:prstGeom prst="rect">
            <a:avLst/>
          </a:prstGeom>
          <a:noFill/>
          <a:ln/>
        </p:spPr>
        <p:txBody>
          <a:bodyPr wrap="square" lIns="0" tIns="0" rIns="0" bIns="0" rtlCol="0" anchor="ctr"/>
          <a:lstStyle/>
          <a:p>
            <a:pPr algn="ctr" indent="0" marL="0">
              <a:buNone/>
            </a:pPr>
            <a:r>
              <a:rPr lang="en-US" sz="950" b="1" spc="140" kern="0" dirty="0">
                <a:solidFill>
                  <a:srgbClr val="FFFFFF"/>
                </a:solidFill>
                <a:latin typeface="Calibri" pitchFamily="34" charset="0"/>
                <a:ea typeface="Calibri" pitchFamily="34" charset="-122"/>
                <a:cs typeface="Calibri" pitchFamily="34" charset="-120"/>
              </a:rPr>
              <a:t>PARALLEL</a:t>
            </a:r>
            <a:endParaRPr lang="en-US" sz="950" dirty="0"/>
          </a:p>
        </p:txBody>
      </p:sp>
      <p:sp>
        <p:nvSpPr>
          <p:cNvPr id="34" name="s10 Text 28"/>
          <p:cNvSpPr/>
          <p:nvPr/>
        </p:nvSpPr>
        <p:spPr>
          <a:xfrm>
            <a:off x="4334256" y="4590288"/>
            <a:ext cx="6943039" cy="475488"/>
          </a:xfrm>
          <a:prstGeom prst="rect">
            <a:avLst/>
          </a:prstGeom>
          <a:noFill/>
          <a:ln/>
        </p:spPr>
        <p:txBody>
          <a:bodyPr wrap="square" lIns="0" tIns="0" rIns="0" bIns="0" rtlCol="0" anchor="t"/>
          <a:lstStyle/>
          <a:p>
            <a:pPr indent="0" marL="0">
              <a:lnSpc>
                <a:spcPts val="2300"/>
              </a:lnSpc>
              <a:buNone/>
            </a:pPr>
            <a:r>
              <a:rPr lang="en-US" sz="1650" dirty="0">
                <a:solidFill>
                  <a:srgbClr val="16233A"/>
                </a:solidFill>
                <a:latin typeface="Calibri" pitchFamily="34" charset="0"/>
                <a:ea typeface="Calibri" pitchFamily="34" charset="-122"/>
                <a:cs typeface="Calibri" pitchFamily="34" charset="-120"/>
              </a:rPr>
              <a:t>I would rather pay for my education than receive financial aid.</a:t>
            </a:r>
            <a:endParaRPr lang="en-US" sz="1650" dirty="0"/>
          </a:p>
        </p:txBody>
      </p:sp>
      <p:sp>
        <p:nvSpPr>
          <p:cNvPr id="35" name="s10 Shape 29"/>
          <p:cNvSpPr/>
          <p:nvPr/>
        </p:nvSpPr>
        <p:spPr>
          <a:xfrm>
            <a:off x="4059936" y="5248656"/>
            <a:ext cx="7491679" cy="786384"/>
          </a:xfrm>
          <a:prstGeom prst="roundRect">
            <a:avLst>
              <a:gd name="adj" fmla="val 10465"/>
            </a:avLst>
          </a:prstGeom>
          <a:solidFill>
            <a:srgbClr val="FFFFFF"/>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36" name="s10 Text 30"/>
          <p:cNvSpPr/>
          <p:nvPr/>
        </p:nvSpPr>
        <p:spPr>
          <a:xfrm>
            <a:off x="4370832" y="5248656"/>
            <a:ext cx="548640" cy="786384"/>
          </a:xfrm>
          <a:prstGeom prst="rect">
            <a:avLst/>
          </a:prstGeom>
          <a:noFill/>
          <a:ln/>
        </p:spPr>
        <p:txBody>
          <a:bodyPr wrap="square" lIns="0" tIns="0" rIns="0" bIns="0" rtlCol="0" anchor="ctr"/>
          <a:lstStyle/>
          <a:p>
            <a:pPr indent="0" marL="0">
              <a:buNone/>
            </a:pPr>
            <a:r>
              <a:rPr lang="en-US" sz="1400" b="1" dirty="0">
                <a:solidFill>
                  <a:srgbClr val="B4832B"/>
                </a:solidFill>
                <a:latin typeface="Cambria" pitchFamily="34" charset="0"/>
                <a:ea typeface="Cambria" pitchFamily="34" charset="-122"/>
                <a:cs typeface="Cambria" pitchFamily="34" charset="-120"/>
              </a:rPr>
              <a:t>Why</a:t>
            </a:r>
            <a:endParaRPr lang="en-US" sz="1400" dirty="0"/>
          </a:p>
        </p:txBody>
      </p:sp>
      <p:sp>
        <p:nvSpPr>
          <p:cNvPr id="37" name="s10 Text 31"/>
          <p:cNvSpPr/>
          <p:nvPr/>
        </p:nvSpPr>
        <p:spPr>
          <a:xfrm>
            <a:off x="4974336" y="5248656"/>
            <a:ext cx="6266383" cy="786384"/>
          </a:xfrm>
          <a:prstGeom prst="rect">
            <a:avLst/>
          </a:prstGeom>
          <a:noFill/>
          <a:ln/>
        </p:spPr>
        <p:txBody>
          <a:bodyPr wrap="square" lIns="0" tIns="0" rIns="0" bIns="0" rtlCol="0" anchor="ctr"/>
          <a:lstStyle/>
          <a:p>
            <a:pPr indent="0" marL="0">
              <a:lnSpc>
                <a:spcPts val="1700"/>
              </a:lnSpc>
              <a:buNone/>
            </a:pPr>
            <a:r>
              <a:rPr lang="en-US" sz="1250" dirty="0">
                <a:solidFill>
                  <a:srgbClr val="3B455C"/>
                </a:solidFill>
                <a:latin typeface="Calibri" pitchFamily="34" charset="0"/>
                <a:ea typeface="Calibri" pitchFamily="34" charset="-122"/>
                <a:cs typeface="Calibri" pitchFamily="34" charset="-120"/>
              </a:rPr>
              <a:t>A comparison must compare like with like: pay … than receive, not pay … than a noun.</a:t>
            </a:r>
            <a:endParaRPr lang="en-US" sz="1250" dirty="0"/>
          </a:p>
        </p:txBody>
      </p:sp>
      <p:sp>
        <p:nvSpPr>
          <p:cNvPr id="38" name="footDeck"/>
          <p:cNvSpPr/>
          <p:nvPr/>
        </p:nvSpPr>
        <p:spPr>
          <a:xfrm>
            <a:off x="640080" y="6345936"/>
            <a:ext cx="4023360" cy="256032"/>
          </a:xfrm>
          <a:prstGeom prst="rect">
            <a:avLst/>
          </a:prstGeom>
          <a:noFill/>
          <a:ln/>
        </p:spPr>
        <p:txBody>
          <a:bodyPr wrap="square" lIns="0" tIns="0" rIns="0" bIns="0" rtlCol="0" anchor="ctr"/>
          <a:lstStyle/>
          <a:p>
            <a:pPr indent="0" marL="0">
              <a:buNone/>
            </a:pPr>
            <a:r>
              <a:rPr lang="en-US" sz="950" spc="60" kern="0" dirty="0">
                <a:solidFill>
                  <a:srgbClr val="77839A"/>
                </a:solidFill>
                <a:latin typeface="Calibri" pitchFamily="34" charset="0"/>
                <a:ea typeface="Calibri" pitchFamily="34" charset="-122"/>
                <a:cs typeface="Calibri" pitchFamily="34" charset="-120"/>
              </a:rPr>
              <a:t>Parallelism (in Grammar)</a:t>
            </a:r>
            <a:endParaRPr lang="en-US" sz="950" dirty="0"/>
          </a:p>
        </p:txBody>
      </p:sp>
      <p:sp>
        <p:nvSpPr>
          <p:cNvPr id="39" name="footNav"/>
          <p:cNvSpPr/>
          <p:nvPr/>
        </p:nvSpPr>
        <p:spPr>
          <a:xfrm>
            <a:off x="7528255" y="6345936"/>
            <a:ext cx="4023360" cy="256032"/>
          </a:xfrm>
          <a:prstGeom prst="rect">
            <a:avLst/>
          </a:prstGeom>
          <a:noFill/>
          <a:ln/>
        </p:spPr>
        <p:txBody>
          <a:bodyPr wrap="square" lIns="0" tIns="0" rIns="0" bIns="0" rtlCol="0" anchor="ctr"/>
          <a:lstStyle/>
          <a:p>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9" action="ppaction://hlinksldjump" tooltip="">
                  <a:extLst>
                    <a:ext uri="{A12FA001-AC4F-418D-AE19-62706E023703}">
                      <ahyp:hlinkClr xmlns:ahyp="http://schemas.microsoft.com/office/drawing/2018/hyperlinkcolor" val="tx"/>
                    </a:ext>
                  </a:extLst>
                </a:hlinkClick>
              </a:rPr>
              <a:t>CONTENTS</a:t>
            </a:r>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10" action="ppaction://hlinksldjump" tooltip="">
                  <a:extLst>
                    <a:ext uri="{A12FA001-AC4F-418D-AE19-62706E023703}">
                      <ahyp:hlinkClr xmlns:ahyp="http://schemas.microsoft.com/office/drawing/2018/hyperlinkcolor" val="tx"/>
                    </a:ext>
                  </a:extLst>
                </a:hlinkClick>
              </a:rPr>
              <a:t>     ‹ </a:t>
            </a:r>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11" action="ppaction://hlinksldjump" tooltip="">
                  <a:extLst>
                    <a:ext uri="{A12FA001-AC4F-418D-AE19-62706E023703}">
                      <ahyp:hlinkClr xmlns:ahyp="http://schemas.microsoft.com/office/drawing/2018/hyperlinkcolor" val="tx"/>
                    </a:ext>
                  </a:extLst>
                </a:hlinkClick>
              </a:rPr>
              <a:t> › </a:t>
            </a:r>
            <a:pPr algn="r" indent="0" marL="0">
              <a:buNone/>
            </a:pPr>
            <a:r>
              <a:rPr lang="en-US" sz="950" b="1" spc="80" kern="0" dirty="0">
                <a:solidFill>
                  <a:srgbClr val="16233A"/>
                </a:solidFill>
                <a:latin typeface="Calibri" pitchFamily="34" charset="0"/>
                <a:ea typeface="Calibri" pitchFamily="34" charset="-122"/>
                <a:cs typeface="Calibri" pitchFamily="34" charset="-120"/>
              </a:rPr>
              <a:t>    10 / 14</a:t>
            </a:r>
            <a:endParaRPr lang="en-US" sz="950" dirty="0"/>
          </a:p>
        </p:txBody>
      </p:sp>
    </p:spTree>
  </p:cSld>
  <p:clrMapOvr>
    <a:masterClrMapping/>
  </p:clrMapOvr>
  <mc:AlternateContent xmlns:mc="http://schemas.openxmlformats.org/markup-compatibility/2006">
    <mc:Choice xmlns:p159="http://schemas.microsoft.com/office/powerpoint/2015/main" Requires="p159">
      <p:transition xmlns:p14="http://schemas.microsoft.com/office/powerpoint/2010/main" spd="med" p14:dur="900">
        <p159:morph option="byObject"/>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eyebrow"/>
          <p:cNvSpPr/>
          <p:nvPr/>
        </p:nvSpPr>
        <p:spPr>
          <a:xfrm>
            <a:off x="640080" y="457200"/>
            <a:ext cx="10911535" cy="237744"/>
          </a:xfrm>
          <a:prstGeom prst="rect">
            <a:avLst/>
          </a:prstGeom>
          <a:noFill/>
          <a:ln/>
        </p:spPr>
        <p:txBody>
          <a:bodyPr wrap="square" lIns="0" tIns="0" rIns="0" bIns="0" rtlCol="0" anchor="ctr"/>
          <a:lstStyle/>
          <a:p>
            <a:pPr indent="0" marL="0">
              <a:buNone/>
            </a:pPr>
            <a:r>
              <a:rPr lang="en-US" sz="1100" b="1" spc="320" kern="0" dirty="0">
                <a:solidFill>
                  <a:srgbClr val="B4832B"/>
                </a:solidFill>
                <a:latin typeface="Calibri" pitchFamily="34" charset="0"/>
                <a:ea typeface="Calibri" pitchFamily="34" charset="-122"/>
                <a:cs typeface="Calibri" pitchFamily="34" charset="-120"/>
              </a:rPr>
              <a:t>USING PARALLEL STRUCTURE  ·  04 OF 04</a:t>
            </a:r>
            <a:endParaRPr lang="en-US" sz="1100" dirty="0"/>
          </a:p>
        </p:txBody>
      </p:sp>
      <p:sp>
        <p:nvSpPr>
          <p:cNvPr id="3" name="heading"/>
          <p:cNvSpPr/>
          <p:nvPr/>
        </p:nvSpPr>
        <p:spPr>
          <a:xfrm>
            <a:off x="640080" y="731520"/>
            <a:ext cx="10911535" cy="566928"/>
          </a:xfrm>
          <a:prstGeom prst="rect">
            <a:avLst/>
          </a:prstGeom>
          <a:noFill/>
          <a:ln/>
        </p:spPr>
        <p:txBody>
          <a:bodyPr wrap="square" lIns="0" tIns="0" rIns="0" bIns="0" rtlCol="0" anchor="t"/>
          <a:lstStyle/>
          <a:p>
            <a:pPr indent="0" marL="0">
              <a:buNone/>
            </a:pPr>
            <a:r>
              <a:rPr lang="en-US" sz="3200" b="1" dirty="0">
                <a:solidFill>
                  <a:srgbClr val="16233A"/>
                </a:solidFill>
                <a:latin typeface="Cambria" pitchFamily="34" charset="0"/>
                <a:ea typeface="Cambria" pitchFamily="34" charset="-122"/>
                <a:cs typeface="Cambria" pitchFamily="34" charset="-120"/>
              </a:rPr>
              <a:t>Lists</a:t>
            </a:r>
            <a:endParaRPr lang="en-US" sz="3200" dirty="0"/>
          </a:p>
        </p:txBody>
      </p:sp>
      <p:sp>
        <p:nvSpPr>
          <p:cNvPr id="4" name="ctxCard1"/>
          <p:cNvSpPr/>
          <p:nvPr/>
        </p:nvSpPr>
        <p:spPr>
          <a:xfrm>
            <a:off x="640080" y="1828800"/>
            <a:ext cx="3035808" cy="877824"/>
          </a:xfrm>
          <a:prstGeom prst="roundRect">
            <a:avLst>
              <a:gd name="adj" fmla="val 8333"/>
            </a:avLst>
          </a:prstGeom>
          <a:solidFill>
            <a:srgbClr val="F6F8FB"/>
          </a:solidFill>
          <a:ln w="12700">
            <a:solidFill>
              <a:srgbClr val="DFE5EE"/>
            </a:solidFill>
            <a:prstDash val="solid"/>
          </a:ln>
        </p:spPr>
      </p:sp>
      <p:sp>
        <p:nvSpPr>
          <p:cNvPr id="5" name="ctxDisc1"/>
          <p:cNvSpPr/>
          <p:nvPr/>
        </p:nvSpPr>
        <p:spPr>
          <a:xfrm>
            <a:off x="877824" y="2066544"/>
            <a:ext cx="402336" cy="402336"/>
          </a:xfrm>
          <a:prstGeom prst="ellipse">
            <a:avLst/>
          </a:prstGeom>
          <a:solidFill>
            <a:srgbClr val="DFE5EE"/>
          </a:solidFill>
          <a:ln w="12700">
            <a:solidFill>
              <a:srgbClr val="DFE5EE"/>
            </a:solidFill>
            <a:prstDash val="solid"/>
          </a:ln>
        </p:spPr>
      </p:sp>
      <p:pic>
        <p:nvPicPr>
          <p:cNvPr id="6" name="ctxIcon1" descr="preencoded.png">    </p:cNvPr>
          <p:cNvPicPr>
            <a:picLocks noChangeAspect="1"/>
          </p:cNvPicPr>
          <p:nvPr/>
        </p:nvPicPr>
        <p:blipFill>
          <a:blip r:embed="rId1">
            <a:alphaModFix amt="45000"/>
          </a:blip>
          <a:stretch>
            <a:fillRect/>
          </a:stretch>
        </p:blipFill>
        <p:spPr>
          <a:xfrm>
            <a:off x="969264" y="2157984"/>
            <a:ext cx="219456" cy="219456"/>
          </a:xfrm>
          <a:prstGeom prst="rect">
            <a:avLst/>
          </a:prstGeom>
        </p:spPr>
      </p:pic>
      <p:sp>
        <p:nvSpPr>
          <p:cNvPr id="7" name="ctxNum1"/>
          <p:cNvSpPr/>
          <p:nvPr/>
        </p:nvSpPr>
        <p:spPr>
          <a:xfrm>
            <a:off x="3017520" y="2121408"/>
            <a:ext cx="402336" cy="274320"/>
          </a:xfrm>
          <a:prstGeom prst="rect">
            <a:avLst/>
          </a:prstGeom>
          <a:noFill/>
          <a:ln/>
        </p:spPr>
        <p:txBody>
          <a:bodyPr wrap="square" lIns="0" tIns="0" rIns="0" bIns="0" rtlCol="0" anchor="ctr"/>
          <a:lstStyle/>
          <a:p>
            <a:pPr algn="r" indent="0" marL="0">
              <a:buNone/>
            </a:pPr>
            <a:r>
              <a:rPr lang="en-US" sz="1100" b="1" dirty="0">
                <a:solidFill>
                  <a:srgbClr val="77839A"/>
                </a:solidFill>
                <a:latin typeface="Calibri" pitchFamily="34" charset="0"/>
                <a:ea typeface="Calibri" pitchFamily="34" charset="-122"/>
                <a:cs typeface="Calibri" pitchFamily="34" charset="-120"/>
              </a:rPr>
              <a:t>01</a:t>
            </a:r>
            <a:endParaRPr lang="en-US" sz="1100" dirty="0"/>
          </a:p>
        </p:txBody>
      </p:sp>
      <p:sp>
        <p:nvSpPr>
          <p:cNvPr id="8" name="ctxName1">
            <a:hlinkClick r:id="rId2" tooltip="" action="ppaction://hlinksldjump"/>
          </p:cNvPr>
          <p:cNvSpPr/>
          <p:nvPr/>
        </p:nvSpPr>
        <p:spPr>
          <a:xfrm>
            <a:off x="1408176" y="2103120"/>
            <a:ext cx="1664208" cy="365760"/>
          </a:xfrm>
          <a:prstGeom prst="rect">
            <a:avLst/>
          </a:prstGeom>
          <a:noFill/>
          <a:ln/>
        </p:spPr>
        <p:txBody>
          <a:bodyPr wrap="square" lIns="0" tIns="0" rIns="0" bIns="0" rtlCol="0" anchor="ctr"/>
          <a:lstStyle/>
          <a:p>
            <a:pPr indent="0" marL="0">
              <a:buNone/>
            </a:pPr>
            <a:r>
              <a:rPr lang="en-US" sz="1300" u="none" dirty="0">
                <a:solidFill>
                  <a:srgbClr val="3B455C"/>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Coordinating</a:t>
            </a:r>
            <a:endParaRPr lang="en-US" sz="1300" dirty="0"/>
          </a:p>
        </p:txBody>
      </p:sp>
      <p:sp>
        <p:nvSpPr>
          <p:cNvPr id="9" name="ctxCard2"/>
          <p:cNvSpPr/>
          <p:nvPr/>
        </p:nvSpPr>
        <p:spPr>
          <a:xfrm>
            <a:off x="640080" y="2852928"/>
            <a:ext cx="3035808" cy="877824"/>
          </a:xfrm>
          <a:prstGeom prst="roundRect">
            <a:avLst>
              <a:gd name="adj" fmla="val 8333"/>
            </a:avLst>
          </a:prstGeom>
          <a:solidFill>
            <a:srgbClr val="F6F8FB"/>
          </a:solidFill>
          <a:ln w="12700">
            <a:solidFill>
              <a:srgbClr val="DFE5EE"/>
            </a:solidFill>
            <a:prstDash val="solid"/>
          </a:ln>
        </p:spPr>
      </p:sp>
      <p:sp>
        <p:nvSpPr>
          <p:cNvPr id="10" name="ctxDisc2"/>
          <p:cNvSpPr/>
          <p:nvPr/>
        </p:nvSpPr>
        <p:spPr>
          <a:xfrm>
            <a:off x="877824" y="3090672"/>
            <a:ext cx="402336" cy="402336"/>
          </a:xfrm>
          <a:prstGeom prst="ellipse">
            <a:avLst/>
          </a:prstGeom>
          <a:solidFill>
            <a:srgbClr val="DFE5EE"/>
          </a:solidFill>
          <a:ln w="12700">
            <a:solidFill>
              <a:srgbClr val="DFE5EE"/>
            </a:solidFill>
            <a:prstDash val="solid"/>
          </a:ln>
        </p:spPr>
      </p:sp>
      <p:pic>
        <p:nvPicPr>
          <p:cNvPr id="11" name="ctxIcon2" descr="preencoded.png">    </p:cNvPr>
          <p:cNvPicPr>
            <a:picLocks noChangeAspect="1"/>
          </p:cNvPicPr>
          <p:nvPr/>
        </p:nvPicPr>
        <p:blipFill>
          <a:blip r:embed="rId3">
            <a:alphaModFix amt="45000"/>
          </a:blip>
          <a:stretch>
            <a:fillRect/>
          </a:stretch>
        </p:blipFill>
        <p:spPr>
          <a:xfrm>
            <a:off x="969264" y="3182112"/>
            <a:ext cx="219456" cy="219456"/>
          </a:xfrm>
          <a:prstGeom prst="rect">
            <a:avLst/>
          </a:prstGeom>
        </p:spPr>
      </p:pic>
      <p:sp>
        <p:nvSpPr>
          <p:cNvPr id="12" name="ctxNum2"/>
          <p:cNvSpPr/>
          <p:nvPr/>
        </p:nvSpPr>
        <p:spPr>
          <a:xfrm>
            <a:off x="3017520" y="3145536"/>
            <a:ext cx="402336" cy="274320"/>
          </a:xfrm>
          <a:prstGeom prst="rect">
            <a:avLst/>
          </a:prstGeom>
          <a:noFill/>
          <a:ln/>
        </p:spPr>
        <p:txBody>
          <a:bodyPr wrap="square" lIns="0" tIns="0" rIns="0" bIns="0" rtlCol="0" anchor="ctr"/>
          <a:lstStyle/>
          <a:p>
            <a:pPr algn="r" indent="0" marL="0">
              <a:buNone/>
            </a:pPr>
            <a:r>
              <a:rPr lang="en-US" sz="1100" b="1" dirty="0">
                <a:solidFill>
                  <a:srgbClr val="77839A"/>
                </a:solidFill>
                <a:latin typeface="Calibri" pitchFamily="34" charset="0"/>
                <a:ea typeface="Calibri" pitchFamily="34" charset="-122"/>
                <a:cs typeface="Calibri" pitchFamily="34" charset="-120"/>
              </a:rPr>
              <a:t>02</a:t>
            </a:r>
            <a:endParaRPr lang="en-US" sz="1100" dirty="0"/>
          </a:p>
        </p:txBody>
      </p:sp>
      <p:sp>
        <p:nvSpPr>
          <p:cNvPr id="13" name="ctxName2">
            <a:hlinkClick r:id="rId4" tooltip="" action="ppaction://hlinksldjump"/>
          </p:cNvPr>
          <p:cNvSpPr/>
          <p:nvPr/>
        </p:nvSpPr>
        <p:spPr>
          <a:xfrm>
            <a:off x="1408176" y="3127248"/>
            <a:ext cx="1664208" cy="365760"/>
          </a:xfrm>
          <a:prstGeom prst="rect">
            <a:avLst/>
          </a:prstGeom>
          <a:noFill/>
          <a:ln/>
        </p:spPr>
        <p:txBody>
          <a:bodyPr wrap="square" lIns="0" tIns="0" rIns="0" bIns="0" rtlCol="0" anchor="ctr"/>
          <a:lstStyle/>
          <a:p>
            <a:pPr indent="0" marL="0">
              <a:buNone/>
            </a:pPr>
            <a:r>
              <a:rPr lang="en-US" sz="1300" u="none" dirty="0">
                <a:solidFill>
                  <a:srgbClr val="3B455C"/>
                </a:solidFill>
                <a:latin typeface="Calibri" pitchFamily="34" charset="0"/>
                <a:ea typeface="Calibri" pitchFamily="34" charset="-122"/>
                <a:cs typeface="Calibri" pitchFamily="34" charset="-120"/>
                <a:hlinkClick r:id="rId4" action="ppaction://hlinksldjump" tooltip="">
                  <a:extLst>
                    <a:ext uri="{A12FA001-AC4F-418D-AE19-62706E023703}">
                      <ahyp:hlinkClr xmlns:ahyp="http://schemas.microsoft.com/office/drawing/2018/hyperlinkcolor" val="tx"/>
                    </a:ext>
                  </a:extLst>
                </a:hlinkClick>
              </a:rPr>
              <a:t>Correlative</a:t>
            </a:r>
            <a:endParaRPr lang="en-US" sz="1300" dirty="0"/>
          </a:p>
        </p:txBody>
      </p:sp>
      <p:sp>
        <p:nvSpPr>
          <p:cNvPr id="14" name="ctxCard3"/>
          <p:cNvSpPr/>
          <p:nvPr/>
        </p:nvSpPr>
        <p:spPr>
          <a:xfrm>
            <a:off x="640080" y="3877056"/>
            <a:ext cx="3035808" cy="877824"/>
          </a:xfrm>
          <a:prstGeom prst="roundRect">
            <a:avLst>
              <a:gd name="adj" fmla="val 8333"/>
            </a:avLst>
          </a:prstGeom>
          <a:solidFill>
            <a:srgbClr val="F6F8FB"/>
          </a:solidFill>
          <a:ln w="12700">
            <a:solidFill>
              <a:srgbClr val="DFE5EE"/>
            </a:solidFill>
            <a:prstDash val="solid"/>
          </a:ln>
        </p:spPr>
      </p:sp>
      <p:sp>
        <p:nvSpPr>
          <p:cNvPr id="15" name="ctxDisc3"/>
          <p:cNvSpPr/>
          <p:nvPr/>
        </p:nvSpPr>
        <p:spPr>
          <a:xfrm>
            <a:off x="877824" y="4114800"/>
            <a:ext cx="402336" cy="402336"/>
          </a:xfrm>
          <a:prstGeom prst="ellipse">
            <a:avLst/>
          </a:prstGeom>
          <a:solidFill>
            <a:srgbClr val="DFE5EE"/>
          </a:solidFill>
          <a:ln w="12700">
            <a:solidFill>
              <a:srgbClr val="DFE5EE"/>
            </a:solidFill>
            <a:prstDash val="solid"/>
          </a:ln>
        </p:spPr>
      </p:sp>
      <p:pic>
        <p:nvPicPr>
          <p:cNvPr id="16" name="ctxIcon3" descr="preencoded.png">    </p:cNvPr>
          <p:cNvPicPr>
            <a:picLocks noChangeAspect="1"/>
          </p:cNvPicPr>
          <p:nvPr/>
        </p:nvPicPr>
        <p:blipFill>
          <a:blip r:embed="rId5">
            <a:alphaModFix amt="45000"/>
          </a:blip>
          <a:stretch>
            <a:fillRect/>
          </a:stretch>
        </p:blipFill>
        <p:spPr>
          <a:xfrm>
            <a:off x="969264" y="4206240"/>
            <a:ext cx="219456" cy="219456"/>
          </a:xfrm>
          <a:prstGeom prst="rect">
            <a:avLst/>
          </a:prstGeom>
        </p:spPr>
      </p:pic>
      <p:sp>
        <p:nvSpPr>
          <p:cNvPr id="17" name="ctxNum3"/>
          <p:cNvSpPr/>
          <p:nvPr/>
        </p:nvSpPr>
        <p:spPr>
          <a:xfrm>
            <a:off x="3017520" y="4169664"/>
            <a:ext cx="402336" cy="274320"/>
          </a:xfrm>
          <a:prstGeom prst="rect">
            <a:avLst/>
          </a:prstGeom>
          <a:noFill/>
          <a:ln/>
        </p:spPr>
        <p:txBody>
          <a:bodyPr wrap="square" lIns="0" tIns="0" rIns="0" bIns="0" rtlCol="0" anchor="ctr"/>
          <a:lstStyle/>
          <a:p>
            <a:pPr algn="r" indent="0" marL="0">
              <a:buNone/>
            </a:pPr>
            <a:r>
              <a:rPr lang="en-US" sz="1100" b="1" dirty="0">
                <a:solidFill>
                  <a:srgbClr val="77839A"/>
                </a:solidFill>
                <a:latin typeface="Calibri" pitchFamily="34" charset="0"/>
                <a:ea typeface="Calibri" pitchFamily="34" charset="-122"/>
                <a:cs typeface="Calibri" pitchFamily="34" charset="-120"/>
              </a:rPr>
              <a:t>03</a:t>
            </a:r>
            <a:endParaRPr lang="en-US" sz="1100" dirty="0"/>
          </a:p>
        </p:txBody>
      </p:sp>
      <p:sp>
        <p:nvSpPr>
          <p:cNvPr id="18" name="ctxName3">
            <a:hlinkClick r:id="rId6" tooltip="" action="ppaction://hlinksldjump"/>
          </p:cNvPr>
          <p:cNvSpPr/>
          <p:nvPr/>
        </p:nvSpPr>
        <p:spPr>
          <a:xfrm>
            <a:off x="1408176" y="4151376"/>
            <a:ext cx="1664208" cy="365760"/>
          </a:xfrm>
          <a:prstGeom prst="rect">
            <a:avLst/>
          </a:prstGeom>
          <a:noFill/>
          <a:ln/>
        </p:spPr>
        <p:txBody>
          <a:bodyPr wrap="square" lIns="0" tIns="0" rIns="0" bIns="0" rtlCol="0" anchor="ctr"/>
          <a:lstStyle/>
          <a:p>
            <a:pPr indent="0" marL="0">
              <a:buNone/>
            </a:pPr>
            <a:r>
              <a:rPr lang="en-US" sz="1300" u="none" dirty="0">
                <a:solidFill>
                  <a:srgbClr val="3B455C"/>
                </a:solidFill>
                <a:latin typeface="Calibri" pitchFamily="34" charset="0"/>
                <a:ea typeface="Calibri" pitchFamily="34" charset="-122"/>
                <a:cs typeface="Calibri" pitchFamily="34" charset="-120"/>
                <a:hlinkClick r:id="rId6" action="ppaction://hlinksldjump" tooltip="">
                  <a:extLst>
                    <a:ext uri="{A12FA001-AC4F-418D-AE19-62706E023703}">
                      <ahyp:hlinkClr xmlns:ahyp="http://schemas.microsoft.com/office/drawing/2018/hyperlinkcolor" val="tx"/>
                    </a:ext>
                  </a:extLst>
                </a:hlinkClick>
              </a:rPr>
              <a:t>Comparison</a:t>
            </a:r>
            <a:endParaRPr lang="en-US" sz="1300" dirty="0"/>
          </a:p>
        </p:txBody>
      </p:sp>
      <p:sp>
        <p:nvSpPr>
          <p:cNvPr id="19" name="ctxCard4"/>
          <p:cNvSpPr/>
          <p:nvPr/>
        </p:nvSpPr>
        <p:spPr>
          <a:xfrm>
            <a:off x="640080" y="4901184"/>
            <a:ext cx="3035808" cy="877824"/>
          </a:xfrm>
          <a:prstGeom prst="roundRect">
            <a:avLst>
              <a:gd name="adj" fmla="val 8333"/>
            </a:avLst>
          </a:prstGeom>
          <a:solidFill>
            <a:srgbClr val="16233A"/>
          </a:solidFill>
          <a:ln w="12700">
            <a:solidFill>
              <a:srgbClr val="2A3C5E"/>
            </a:solidFill>
            <a:prstDash val="solid"/>
          </a:ln>
          <a:effectLst>
            <a:outerShdw sx="100000" sy="100000" kx="0" ky="0" algn="bl" rotWithShape="0" blurRad="177800" dist="38100" dir="5400000">
              <a:srgbClr val="9AA7BC">
                <a:alpha val="28000"/>
              </a:srgbClr>
            </a:outerShdw>
          </a:effectLst>
        </p:spPr>
      </p:sp>
      <p:sp>
        <p:nvSpPr>
          <p:cNvPr id="20" name="ctxDisc4"/>
          <p:cNvSpPr/>
          <p:nvPr/>
        </p:nvSpPr>
        <p:spPr>
          <a:xfrm>
            <a:off x="877824" y="5138928"/>
            <a:ext cx="402336" cy="402336"/>
          </a:xfrm>
          <a:prstGeom prst="ellipse">
            <a:avLst/>
          </a:prstGeom>
          <a:solidFill>
            <a:srgbClr val="B4832B"/>
          </a:solidFill>
          <a:ln w="12700">
            <a:solidFill>
              <a:srgbClr val="B4832B"/>
            </a:solidFill>
            <a:prstDash val="solid"/>
          </a:ln>
        </p:spPr>
      </p:sp>
      <p:pic>
        <p:nvPicPr>
          <p:cNvPr id="21" name="ctxIcon4" descr="preencoded.png">    </p:cNvPr>
          <p:cNvPicPr>
            <a:picLocks noChangeAspect="1"/>
          </p:cNvPicPr>
          <p:nvPr/>
        </p:nvPicPr>
        <p:blipFill>
          <a:blip r:embed="rId7"/>
          <a:stretch>
            <a:fillRect/>
          </a:stretch>
        </p:blipFill>
        <p:spPr>
          <a:xfrm>
            <a:off x="969264" y="5230368"/>
            <a:ext cx="219456" cy="219456"/>
          </a:xfrm>
          <a:prstGeom prst="rect">
            <a:avLst/>
          </a:prstGeom>
        </p:spPr>
      </p:pic>
      <p:sp>
        <p:nvSpPr>
          <p:cNvPr id="22" name="ctxNum4"/>
          <p:cNvSpPr/>
          <p:nvPr/>
        </p:nvSpPr>
        <p:spPr>
          <a:xfrm>
            <a:off x="3017520" y="5193792"/>
            <a:ext cx="402336" cy="274320"/>
          </a:xfrm>
          <a:prstGeom prst="rect">
            <a:avLst/>
          </a:prstGeom>
          <a:noFill/>
          <a:ln/>
        </p:spPr>
        <p:txBody>
          <a:bodyPr wrap="square" lIns="0" tIns="0" rIns="0" bIns="0" rtlCol="0" anchor="ctr"/>
          <a:lstStyle/>
          <a:p>
            <a:pPr algn="r" indent="0" marL="0">
              <a:buNone/>
            </a:pPr>
            <a:r>
              <a:rPr lang="en-US" sz="1100" b="1" dirty="0">
                <a:solidFill>
                  <a:srgbClr val="B4832B"/>
                </a:solidFill>
                <a:latin typeface="Calibri" pitchFamily="34" charset="0"/>
                <a:ea typeface="Calibri" pitchFamily="34" charset="-122"/>
                <a:cs typeface="Calibri" pitchFamily="34" charset="-120"/>
              </a:rPr>
              <a:t>04</a:t>
            </a:r>
            <a:endParaRPr lang="en-US" sz="1100" dirty="0"/>
          </a:p>
        </p:txBody>
      </p:sp>
      <p:sp>
        <p:nvSpPr>
          <p:cNvPr id="23" name="ctxName4">
            <a:hlinkClick r:id="rId8" tooltip="" action="ppaction://hlinksldjump"/>
          </p:cNvPr>
          <p:cNvSpPr/>
          <p:nvPr/>
        </p:nvSpPr>
        <p:spPr>
          <a:xfrm>
            <a:off x="1408176" y="5175504"/>
            <a:ext cx="1664208" cy="365760"/>
          </a:xfrm>
          <a:prstGeom prst="rect">
            <a:avLst/>
          </a:prstGeom>
          <a:noFill/>
          <a:ln/>
        </p:spPr>
        <p:txBody>
          <a:bodyPr wrap="square" lIns="0" tIns="0" rIns="0" bIns="0" rtlCol="0" anchor="ctr"/>
          <a:lstStyle/>
          <a:p>
            <a:pPr indent="0" marL="0">
              <a:buNone/>
            </a:pPr>
            <a:r>
              <a:rPr lang="en-US" sz="1300" b="1" u="none" dirty="0">
                <a:solidFill>
                  <a:srgbClr val="FFFFFF"/>
                </a:solidFill>
                <a:latin typeface="Calibri" pitchFamily="34" charset="0"/>
                <a:ea typeface="Calibri" pitchFamily="34" charset="-122"/>
                <a:cs typeface="Calibri" pitchFamily="34" charset="-120"/>
                <a:hlinkClick r:id="rId8" action="ppaction://hlinksldjump" tooltip="">
                  <a:extLst>
                    <a:ext uri="{A12FA001-AC4F-418D-AE19-62706E023703}">
                      <ahyp:hlinkClr xmlns:ahyp="http://schemas.microsoft.com/office/drawing/2018/hyperlinkcolor" val="tx"/>
                    </a:ext>
                  </a:extLst>
                </a:hlinkClick>
              </a:rPr>
              <a:t>Lists</a:t>
            </a:r>
            <a:endParaRPr lang="en-US" sz="1300" dirty="0"/>
          </a:p>
        </p:txBody>
      </p:sp>
      <p:sp>
        <p:nvSpPr>
          <p:cNvPr id="24" name="s11 Shape 18"/>
          <p:cNvSpPr/>
          <p:nvPr/>
        </p:nvSpPr>
        <p:spPr>
          <a:xfrm>
            <a:off x="4059936" y="1316736"/>
            <a:ext cx="7491679" cy="1060704"/>
          </a:xfrm>
          <a:prstGeom prst="roundRect">
            <a:avLst>
              <a:gd name="adj" fmla="val 7759"/>
            </a:avLst>
          </a:prstGeom>
          <a:solidFill>
            <a:srgbClr val="F6F8FB"/>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25" name="s11 Text 19"/>
          <p:cNvSpPr/>
          <p:nvPr/>
        </p:nvSpPr>
        <p:spPr>
          <a:xfrm>
            <a:off x="4370832" y="1481328"/>
            <a:ext cx="1828800" cy="237744"/>
          </a:xfrm>
          <a:prstGeom prst="rect">
            <a:avLst/>
          </a:prstGeom>
          <a:noFill/>
          <a:ln/>
        </p:spPr>
        <p:txBody>
          <a:bodyPr wrap="square" lIns="0" tIns="0" rIns="0" bIns="0" rtlCol="0" anchor="ctr"/>
          <a:lstStyle/>
          <a:p>
            <a:pPr indent="0" marL="0">
              <a:buNone/>
            </a:pPr>
            <a:r>
              <a:rPr lang="en-US" sz="950" b="1" spc="240" kern="0" dirty="0">
                <a:solidFill>
                  <a:srgbClr val="B4832B"/>
                </a:solidFill>
                <a:latin typeface="Calibri" pitchFamily="34" charset="0"/>
                <a:ea typeface="Calibri" pitchFamily="34" charset="-122"/>
                <a:cs typeface="Calibri" pitchFamily="34" charset="-120"/>
              </a:rPr>
              <a:t>THE RULE</a:t>
            </a:r>
            <a:endParaRPr lang="en-US" sz="950" dirty="0"/>
          </a:p>
        </p:txBody>
      </p:sp>
      <p:sp>
        <p:nvSpPr>
          <p:cNvPr id="26" name="s11 Text 20"/>
          <p:cNvSpPr/>
          <p:nvPr/>
        </p:nvSpPr>
        <p:spPr>
          <a:xfrm>
            <a:off x="4370832" y="1737360"/>
            <a:ext cx="6869887" cy="548640"/>
          </a:xfrm>
          <a:prstGeom prst="rect">
            <a:avLst/>
          </a:prstGeom>
          <a:noFill/>
          <a:ln/>
        </p:spPr>
        <p:txBody>
          <a:bodyPr wrap="square" lIns="0" tIns="0" rIns="0" bIns="0" rtlCol="0" anchor="ctr"/>
          <a:lstStyle/>
          <a:p>
            <a:pPr indent="0" marL="0">
              <a:lnSpc>
                <a:spcPts val="2100"/>
              </a:lnSpc>
              <a:buNone/>
            </a:pPr>
            <a:r>
              <a:rPr lang="en-US" sz="1450" dirty="0">
                <a:solidFill>
                  <a:srgbClr val="16233A"/>
                </a:solidFill>
                <a:latin typeface="Calibri" pitchFamily="34" charset="0"/>
                <a:ea typeface="Calibri" pitchFamily="34" charset="-122"/>
                <a:cs typeface="Calibri" pitchFamily="34" charset="-120"/>
              </a:rPr>
              <a:t>While comparing elements in lists.</a:t>
            </a:r>
            <a:endParaRPr lang="en-US" sz="1450" dirty="0"/>
          </a:p>
        </p:txBody>
      </p:sp>
      <p:sp>
        <p:nvSpPr>
          <p:cNvPr id="27" name="s11 Shape 21"/>
          <p:cNvSpPr/>
          <p:nvPr/>
        </p:nvSpPr>
        <p:spPr>
          <a:xfrm>
            <a:off x="4059936" y="2615184"/>
            <a:ext cx="7491679" cy="1188720"/>
          </a:xfrm>
          <a:prstGeom prst="roundRect">
            <a:avLst>
              <a:gd name="adj" fmla="val 7692"/>
            </a:avLst>
          </a:prstGeom>
          <a:solidFill>
            <a:srgbClr val="FBEDEB"/>
          </a:solidFill>
          <a:ln w="12700">
            <a:solidFill>
              <a:srgbClr val="E7C3BF"/>
            </a:solidFill>
            <a:prstDash val="solid"/>
          </a:ln>
          <a:effectLst>
            <a:outerShdw sx="100000" sy="100000" kx="0" ky="0" algn="bl" rotWithShape="0" blurRad="177800" dist="38100" dir="5400000">
              <a:srgbClr val="9AA7BC">
                <a:alpha val="28000"/>
              </a:srgbClr>
            </a:outerShdw>
          </a:effectLst>
        </p:spPr>
      </p:sp>
      <p:sp>
        <p:nvSpPr>
          <p:cNvPr id="28" name="s11 Shape 22"/>
          <p:cNvSpPr/>
          <p:nvPr/>
        </p:nvSpPr>
        <p:spPr>
          <a:xfrm>
            <a:off x="4334256" y="2834640"/>
            <a:ext cx="1481328" cy="292608"/>
          </a:xfrm>
          <a:prstGeom prst="roundRect">
            <a:avLst>
              <a:gd name="adj" fmla="val 50000"/>
            </a:avLst>
          </a:prstGeom>
          <a:solidFill>
            <a:srgbClr val="B3261E"/>
          </a:solidFill>
          <a:ln w="12700">
            <a:solidFill>
              <a:srgbClr val="B3261E"/>
            </a:solidFill>
            <a:prstDash val="solid"/>
          </a:ln>
        </p:spPr>
      </p:sp>
      <p:sp>
        <p:nvSpPr>
          <p:cNvPr id="29" name="s11 Text 23"/>
          <p:cNvSpPr/>
          <p:nvPr/>
        </p:nvSpPr>
        <p:spPr>
          <a:xfrm>
            <a:off x="4334256" y="2834640"/>
            <a:ext cx="1481328" cy="292608"/>
          </a:xfrm>
          <a:prstGeom prst="rect">
            <a:avLst/>
          </a:prstGeom>
          <a:noFill/>
          <a:ln/>
        </p:spPr>
        <p:txBody>
          <a:bodyPr wrap="square" lIns="0" tIns="0" rIns="0" bIns="0" rtlCol="0" anchor="ctr"/>
          <a:lstStyle/>
          <a:p>
            <a:pPr algn="ctr" indent="0" marL="0">
              <a:buNone/>
            </a:pPr>
            <a:r>
              <a:rPr lang="en-US" sz="950" b="1" spc="140" kern="0" dirty="0">
                <a:solidFill>
                  <a:srgbClr val="FFFFFF"/>
                </a:solidFill>
                <a:latin typeface="Calibri" pitchFamily="34" charset="0"/>
                <a:ea typeface="Calibri" pitchFamily="34" charset="-122"/>
                <a:cs typeface="Calibri" pitchFamily="34" charset="-120"/>
              </a:rPr>
              <a:t>NOT PARALLEL</a:t>
            </a:r>
            <a:endParaRPr lang="en-US" sz="950" dirty="0"/>
          </a:p>
        </p:txBody>
      </p:sp>
      <p:sp>
        <p:nvSpPr>
          <p:cNvPr id="30" name="s11 Text 24"/>
          <p:cNvSpPr/>
          <p:nvPr/>
        </p:nvSpPr>
        <p:spPr>
          <a:xfrm>
            <a:off x="4334256" y="3182112"/>
            <a:ext cx="6943039" cy="475488"/>
          </a:xfrm>
          <a:prstGeom prst="rect">
            <a:avLst/>
          </a:prstGeom>
          <a:noFill/>
          <a:ln/>
        </p:spPr>
        <p:txBody>
          <a:bodyPr wrap="square" lIns="0" tIns="0" rIns="0" bIns="0" rtlCol="0" anchor="t"/>
          <a:lstStyle/>
          <a:p>
            <a:pPr indent="0" marL="0">
              <a:lnSpc>
                <a:spcPts val="2300"/>
              </a:lnSpc>
              <a:buNone/>
            </a:pPr>
            <a:r>
              <a:rPr lang="en-US" sz="1650" dirty="0">
                <a:solidFill>
                  <a:srgbClr val="16233A"/>
                </a:solidFill>
                <a:latin typeface="Calibri" pitchFamily="34" charset="0"/>
                <a:ea typeface="Calibri" pitchFamily="34" charset="-122"/>
                <a:cs typeface="Calibri" pitchFamily="34" charset="-120"/>
              </a:rPr>
              <a:t>He made cake, pie and he baked dumplings.</a:t>
            </a:r>
            <a:endParaRPr lang="en-US" sz="1650" dirty="0"/>
          </a:p>
        </p:txBody>
      </p:sp>
      <p:sp>
        <p:nvSpPr>
          <p:cNvPr id="31" name="s11 Shape 25"/>
          <p:cNvSpPr/>
          <p:nvPr/>
        </p:nvSpPr>
        <p:spPr>
          <a:xfrm>
            <a:off x="4059936" y="4023360"/>
            <a:ext cx="7491679" cy="1188720"/>
          </a:xfrm>
          <a:prstGeom prst="roundRect">
            <a:avLst>
              <a:gd name="adj" fmla="val 7692"/>
            </a:avLst>
          </a:prstGeom>
          <a:solidFill>
            <a:srgbClr val="EAF4EF"/>
          </a:solidFill>
          <a:ln w="12700">
            <a:solidFill>
              <a:srgbClr val="BFDCCB"/>
            </a:solidFill>
            <a:prstDash val="solid"/>
          </a:ln>
          <a:effectLst>
            <a:outerShdw sx="100000" sy="100000" kx="0" ky="0" algn="bl" rotWithShape="0" blurRad="177800" dist="38100" dir="5400000">
              <a:srgbClr val="9AA7BC">
                <a:alpha val="28000"/>
              </a:srgbClr>
            </a:outerShdw>
          </a:effectLst>
        </p:spPr>
      </p:sp>
      <p:sp>
        <p:nvSpPr>
          <p:cNvPr id="32" name="s11 Shape 26"/>
          <p:cNvSpPr/>
          <p:nvPr/>
        </p:nvSpPr>
        <p:spPr>
          <a:xfrm>
            <a:off x="4334256" y="4242816"/>
            <a:ext cx="1481328" cy="292608"/>
          </a:xfrm>
          <a:prstGeom prst="roundRect">
            <a:avLst>
              <a:gd name="adj" fmla="val 50000"/>
            </a:avLst>
          </a:prstGeom>
          <a:solidFill>
            <a:srgbClr val="1E7A4F"/>
          </a:solidFill>
          <a:ln w="12700">
            <a:solidFill>
              <a:srgbClr val="1E7A4F"/>
            </a:solidFill>
            <a:prstDash val="solid"/>
          </a:ln>
        </p:spPr>
      </p:sp>
      <p:sp>
        <p:nvSpPr>
          <p:cNvPr id="33" name="s11 Text 27"/>
          <p:cNvSpPr/>
          <p:nvPr/>
        </p:nvSpPr>
        <p:spPr>
          <a:xfrm>
            <a:off x="4334256" y="4242816"/>
            <a:ext cx="1481328" cy="292608"/>
          </a:xfrm>
          <a:prstGeom prst="rect">
            <a:avLst/>
          </a:prstGeom>
          <a:noFill/>
          <a:ln/>
        </p:spPr>
        <p:txBody>
          <a:bodyPr wrap="square" lIns="0" tIns="0" rIns="0" bIns="0" rtlCol="0" anchor="ctr"/>
          <a:lstStyle/>
          <a:p>
            <a:pPr algn="ctr" indent="0" marL="0">
              <a:buNone/>
            </a:pPr>
            <a:r>
              <a:rPr lang="en-US" sz="950" b="1" spc="140" kern="0" dirty="0">
                <a:solidFill>
                  <a:srgbClr val="FFFFFF"/>
                </a:solidFill>
                <a:latin typeface="Calibri" pitchFamily="34" charset="0"/>
                <a:ea typeface="Calibri" pitchFamily="34" charset="-122"/>
                <a:cs typeface="Calibri" pitchFamily="34" charset="-120"/>
              </a:rPr>
              <a:t>PARALLEL</a:t>
            </a:r>
            <a:endParaRPr lang="en-US" sz="950" dirty="0"/>
          </a:p>
        </p:txBody>
      </p:sp>
      <p:sp>
        <p:nvSpPr>
          <p:cNvPr id="34" name="s11 Text 28"/>
          <p:cNvSpPr/>
          <p:nvPr/>
        </p:nvSpPr>
        <p:spPr>
          <a:xfrm>
            <a:off x="4334256" y="4590288"/>
            <a:ext cx="6943039" cy="475488"/>
          </a:xfrm>
          <a:prstGeom prst="rect">
            <a:avLst/>
          </a:prstGeom>
          <a:noFill/>
          <a:ln/>
        </p:spPr>
        <p:txBody>
          <a:bodyPr wrap="square" lIns="0" tIns="0" rIns="0" bIns="0" rtlCol="0" anchor="t"/>
          <a:lstStyle/>
          <a:p>
            <a:pPr indent="0" marL="0">
              <a:lnSpc>
                <a:spcPts val="2300"/>
              </a:lnSpc>
              <a:buNone/>
            </a:pPr>
            <a:r>
              <a:rPr lang="en-US" sz="1650" dirty="0">
                <a:solidFill>
                  <a:srgbClr val="16233A"/>
                </a:solidFill>
                <a:latin typeface="Calibri" pitchFamily="34" charset="0"/>
                <a:ea typeface="Calibri" pitchFamily="34" charset="-122"/>
                <a:cs typeface="Calibri" pitchFamily="34" charset="-120"/>
              </a:rPr>
              <a:t>He made cake, pie and dumplings.</a:t>
            </a:r>
            <a:endParaRPr lang="en-US" sz="1650" dirty="0"/>
          </a:p>
        </p:txBody>
      </p:sp>
      <p:sp>
        <p:nvSpPr>
          <p:cNvPr id="35" name="s11 Shape 29"/>
          <p:cNvSpPr/>
          <p:nvPr/>
        </p:nvSpPr>
        <p:spPr>
          <a:xfrm>
            <a:off x="4059936" y="5248656"/>
            <a:ext cx="7491679" cy="786384"/>
          </a:xfrm>
          <a:prstGeom prst="roundRect">
            <a:avLst>
              <a:gd name="adj" fmla="val 10465"/>
            </a:avLst>
          </a:prstGeom>
          <a:solidFill>
            <a:srgbClr val="FFFFFF"/>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36" name="s11 Text 30"/>
          <p:cNvSpPr/>
          <p:nvPr/>
        </p:nvSpPr>
        <p:spPr>
          <a:xfrm>
            <a:off x="4370832" y="5248656"/>
            <a:ext cx="548640" cy="786384"/>
          </a:xfrm>
          <a:prstGeom prst="rect">
            <a:avLst/>
          </a:prstGeom>
          <a:noFill/>
          <a:ln/>
        </p:spPr>
        <p:txBody>
          <a:bodyPr wrap="square" lIns="0" tIns="0" rIns="0" bIns="0" rtlCol="0" anchor="ctr"/>
          <a:lstStyle/>
          <a:p>
            <a:pPr indent="0" marL="0">
              <a:buNone/>
            </a:pPr>
            <a:r>
              <a:rPr lang="en-US" sz="1400" b="1" dirty="0">
                <a:solidFill>
                  <a:srgbClr val="B4832B"/>
                </a:solidFill>
                <a:latin typeface="Cambria" pitchFamily="34" charset="0"/>
                <a:ea typeface="Cambria" pitchFamily="34" charset="-122"/>
                <a:cs typeface="Cambria" pitchFamily="34" charset="-120"/>
              </a:rPr>
              <a:t>Why</a:t>
            </a:r>
            <a:endParaRPr lang="en-US" sz="1400" dirty="0"/>
          </a:p>
        </p:txBody>
      </p:sp>
      <p:sp>
        <p:nvSpPr>
          <p:cNvPr id="37" name="s11 Text 31"/>
          <p:cNvSpPr/>
          <p:nvPr/>
        </p:nvSpPr>
        <p:spPr>
          <a:xfrm>
            <a:off x="4974336" y="5248656"/>
            <a:ext cx="6266383" cy="786384"/>
          </a:xfrm>
          <a:prstGeom prst="rect">
            <a:avLst/>
          </a:prstGeom>
          <a:noFill/>
          <a:ln/>
        </p:spPr>
        <p:txBody>
          <a:bodyPr wrap="square" lIns="0" tIns="0" rIns="0" bIns="0" rtlCol="0" anchor="ctr"/>
          <a:lstStyle/>
          <a:p>
            <a:pPr indent="0" marL="0">
              <a:lnSpc>
                <a:spcPts val="1700"/>
              </a:lnSpc>
              <a:buNone/>
            </a:pPr>
            <a:r>
              <a:rPr lang="en-US" sz="1250" dirty="0">
                <a:solidFill>
                  <a:srgbClr val="3B455C"/>
                </a:solidFill>
                <a:latin typeface="Calibri" pitchFamily="34" charset="0"/>
                <a:ea typeface="Calibri" pitchFamily="34" charset="-122"/>
                <a:cs typeface="Calibri" pitchFamily="34" charset="-120"/>
              </a:rPr>
              <a:t>Two nouns followed by a clause is not a list. Once the verb is stated, every item can hang from it.</a:t>
            </a:r>
            <a:endParaRPr lang="en-US" sz="1250" dirty="0"/>
          </a:p>
        </p:txBody>
      </p:sp>
      <p:sp>
        <p:nvSpPr>
          <p:cNvPr id="38" name="footDeck"/>
          <p:cNvSpPr/>
          <p:nvPr/>
        </p:nvSpPr>
        <p:spPr>
          <a:xfrm>
            <a:off x="640080" y="6345936"/>
            <a:ext cx="4023360" cy="256032"/>
          </a:xfrm>
          <a:prstGeom prst="rect">
            <a:avLst/>
          </a:prstGeom>
          <a:noFill/>
          <a:ln/>
        </p:spPr>
        <p:txBody>
          <a:bodyPr wrap="square" lIns="0" tIns="0" rIns="0" bIns="0" rtlCol="0" anchor="ctr"/>
          <a:lstStyle/>
          <a:p>
            <a:pPr indent="0" marL="0">
              <a:buNone/>
            </a:pPr>
            <a:r>
              <a:rPr lang="en-US" sz="950" spc="60" kern="0" dirty="0">
                <a:solidFill>
                  <a:srgbClr val="77839A"/>
                </a:solidFill>
                <a:latin typeface="Calibri" pitchFamily="34" charset="0"/>
                <a:ea typeface="Calibri" pitchFamily="34" charset="-122"/>
                <a:cs typeface="Calibri" pitchFamily="34" charset="-120"/>
              </a:rPr>
              <a:t>Parallelism (in Grammar)</a:t>
            </a:r>
            <a:endParaRPr lang="en-US" sz="950" dirty="0"/>
          </a:p>
        </p:txBody>
      </p:sp>
      <p:sp>
        <p:nvSpPr>
          <p:cNvPr id="39" name="footNav"/>
          <p:cNvSpPr/>
          <p:nvPr/>
        </p:nvSpPr>
        <p:spPr>
          <a:xfrm>
            <a:off x="7528255" y="6345936"/>
            <a:ext cx="4023360" cy="256032"/>
          </a:xfrm>
          <a:prstGeom prst="rect">
            <a:avLst/>
          </a:prstGeom>
          <a:noFill/>
          <a:ln/>
        </p:spPr>
        <p:txBody>
          <a:bodyPr wrap="square" lIns="0" tIns="0" rIns="0" bIns="0" rtlCol="0" anchor="ctr"/>
          <a:lstStyle/>
          <a:p>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9" action="ppaction://hlinksldjump" tooltip="">
                  <a:extLst>
                    <a:ext uri="{A12FA001-AC4F-418D-AE19-62706E023703}">
                      <ahyp:hlinkClr xmlns:ahyp="http://schemas.microsoft.com/office/drawing/2018/hyperlinkcolor" val="tx"/>
                    </a:ext>
                  </a:extLst>
                </a:hlinkClick>
              </a:rPr>
              <a:t>CONTENTS</a:t>
            </a:r>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10" action="ppaction://hlinksldjump" tooltip="">
                  <a:extLst>
                    <a:ext uri="{A12FA001-AC4F-418D-AE19-62706E023703}">
                      <ahyp:hlinkClr xmlns:ahyp="http://schemas.microsoft.com/office/drawing/2018/hyperlinkcolor" val="tx"/>
                    </a:ext>
                  </a:extLst>
                </a:hlinkClick>
              </a:rPr>
              <a:t>     ‹ </a:t>
            </a:r>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11" action="ppaction://hlinksldjump" tooltip="">
                  <a:extLst>
                    <a:ext uri="{A12FA001-AC4F-418D-AE19-62706E023703}">
                      <ahyp:hlinkClr xmlns:ahyp="http://schemas.microsoft.com/office/drawing/2018/hyperlinkcolor" val="tx"/>
                    </a:ext>
                  </a:extLst>
                </a:hlinkClick>
              </a:rPr>
              <a:t> › </a:t>
            </a:r>
            <a:pPr algn="r" indent="0" marL="0">
              <a:buNone/>
            </a:pPr>
            <a:r>
              <a:rPr lang="en-US" sz="950" b="1" spc="80" kern="0" dirty="0">
                <a:solidFill>
                  <a:srgbClr val="16233A"/>
                </a:solidFill>
                <a:latin typeface="Calibri" pitchFamily="34" charset="0"/>
                <a:ea typeface="Calibri" pitchFamily="34" charset="-122"/>
                <a:cs typeface="Calibri" pitchFamily="34" charset="-120"/>
              </a:rPr>
              <a:t>    11 / 14</a:t>
            </a:r>
            <a:endParaRPr lang="en-US" sz="950" dirty="0"/>
          </a:p>
        </p:txBody>
      </p:sp>
    </p:spTree>
  </p:cSld>
  <p:clrMapOvr>
    <a:masterClrMapping/>
  </p:clrMapOvr>
  <mc:AlternateContent xmlns:mc="http://schemas.openxmlformats.org/markup-compatibility/2006">
    <mc:Choice xmlns:p159="http://schemas.microsoft.com/office/powerpoint/2015/main" Requires="p159">
      <p:transition xmlns:p14="http://schemas.microsoft.com/office/powerpoint/2010/main" spd="med" p14:dur="900">
        <p159:morph option="byObject"/>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eyebrow"/>
          <p:cNvSpPr/>
          <p:nvPr/>
        </p:nvSpPr>
        <p:spPr>
          <a:xfrm>
            <a:off x="640080" y="457200"/>
            <a:ext cx="10911535" cy="237744"/>
          </a:xfrm>
          <a:prstGeom prst="rect">
            <a:avLst/>
          </a:prstGeom>
          <a:noFill/>
          <a:ln/>
        </p:spPr>
        <p:txBody>
          <a:bodyPr wrap="square" lIns="0" tIns="0" rIns="0" bIns="0" rtlCol="0" anchor="ctr"/>
          <a:lstStyle/>
          <a:p>
            <a:pPr indent="0" marL="0">
              <a:buNone/>
            </a:pPr>
            <a:r>
              <a:rPr lang="en-US" sz="1100" b="1" spc="320" kern="0" dirty="0">
                <a:solidFill>
                  <a:srgbClr val="B4832B"/>
                </a:solidFill>
                <a:latin typeface="Calibri" pitchFamily="34" charset="0"/>
                <a:ea typeface="Calibri" pitchFamily="34" charset="-122"/>
                <a:cs typeface="Calibri" pitchFamily="34" charset="-120"/>
              </a:rPr>
              <a:t>SUMMARY</a:t>
            </a:r>
            <a:endParaRPr lang="en-US" sz="1100" dirty="0"/>
          </a:p>
        </p:txBody>
      </p:sp>
      <p:sp>
        <p:nvSpPr>
          <p:cNvPr id="3" name="heading"/>
          <p:cNvSpPr/>
          <p:nvPr/>
        </p:nvSpPr>
        <p:spPr>
          <a:xfrm>
            <a:off x="640080" y="731520"/>
            <a:ext cx="10911535" cy="566928"/>
          </a:xfrm>
          <a:prstGeom prst="rect">
            <a:avLst/>
          </a:prstGeom>
          <a:noFill/>
          <a:ln/>
        </p:spPr>
        <p:txBody>
          <a:bodyPr wrap="square" lIns="0" tIns="0" rIns="0" bIns="0" rtlCol="0" anchor="t"/>
          <a:lstStyle/>
          <a:p>
            <a:pPr indent="0" marL="0">
              <a:buNone/>
            </a:pPr>
            <a:r>
              <a:rPr lang="en-US" sz="3200" b="1" dirty="0">
                <a:solidFill>
                  <a:srgbClr val="16233A"/>
                </a:solidFill>
                <a:latin typeface="Cambria" pitchFamily="34" charset="0"/>
                <a:ea typeface="Cambria" pitchFamily="34" charset="-122"/>
                <a:cs typeface="Cambria" pitchFamily="34" charset="-120"/>
              </a:rPr>
              <a:t>One rule, four contexts, one test</a:t>
            </a:r>
            <a:endParaRPr lang="en-US" sz="3200" dirty="0"/>
          </a:p>
        </p:txBody>
      </p:sp>
      <p:sp>
        <p:nvSpPr>
          <p:cNvPr id="4" name="standfirst"/>
          <p:cNvSpPr/>
          <p:nvPr/>
        </p:nvSpPr>
        <p:spPr>
          <a:xfrm>
            <a:off x="640080" y="1335024"/>
            <a:ext cx="10911535" cy="329184"/>
          </a:xfrm>
          <a:prstGeom prst="rect">
            <a:avLst/>
          </a:prstGeom>
          <a:noFill/>
          <a:ln/>
        </p:spPr>
        <p:txBody>
          <a:bodyPr wrap="square" lIns="0" tIns="0" rIns="0" bIns="0" rtlCol="0" anchor="ctr"/>
          <a:lstStyle/>
          <a:p>
            <a:pPr indent="0" marL="0">
              <a:buNone/>
            </a:pPr>
            <a:r>
              <a:rPr lang="en-US" sz="1500" dirty="0">
                <a:solidFill>
                  <a:srgbClr val="77839A"/>
                </a:solidFill>
                <a:latin typeface="Calibri" pitchFamily="34" charset="0"/>
                <a:ea typeface="Calibri" pitchFamily="34" charset="-122"/>
                <a:cs typeface="Calibri" pitchFamily="34" charset="-120"/>
              </a:rPr>
              <a:t>Everything in this session, on a single page.</a:t>
            </a:r>
            <a:endParaRPr lang="en-US" sz="1500" dirty="0"/>
          </a:p>
        </p:txBody>
      </p:sp>
      <p:sp>
        <p:nvSpPr>
          <p:cNvPr id="5" name="s12 Shape 3"/>
          <p:cNvSpPr/>
          <p:nvPr/>
        </p:nvSpPr>
        <p:spPr>
          <a:xfrm>
            <a:off x="640080" y="1828800"/>
            <a:ext cx="10911535" cy="969264"/>
          </a:xfrm>
          <a:prstGeom prst="roundRect">
            <a:avLst>
              <a:gd name="adj" fmla="val 8491"/>
            </a:avLst>
          </a:prstGeom>
          <a:solidFill>
            <a:srgbClr val="EAF4EF"/>
          </a:solidFill>
          <a:ln w="12700">
            <a:solidFill>
              <a:srgbClr val="BFDCCB"/>
            </a:solidFill>
            <a:prstDash val="solid"/>
          </a:ln>
          <a:effectLst>
            <a:outerShdw sx="100000" sy="100000" kx="0" ky="0" algn="bl" rotWithShape="0" blurRad="177800" dist="38100" dir="5400000">
              <a:srgbClr val="9AA7BC">
                <a:alpha val="28000"/>
              </a:srgbClr>
            </a:outerShdw>
          </a:effectLst>
        </p:spPr>
      </p:sp>
      <p:sp>
        <p:nvSpPr>
          <p:cNvPr id="6" name="s12 Text 4"/>
          <p:cNvSpPr/>
          <p:nvPr/>
        </p:nvSpPr>
        <p:spPr>
          <a:xfrm>
            <a:off x="950976" y="2011680"/>
            <a:ext cx="1463040" cy="237744"/>
          </a:xfrm>
          <a:prstGeom prst="rect">
            <a:avLst/>
          </a:prstGeom>
          <a:noFill/>
          <a:ln/>
        </p:spPr>
        <p:txBody>
          <a:bodyPr wrap="square" lIns="0" tIns="0" rIns="0" bIns="0" rtlCol="0" anchor="ctr"/>
          <a:lstStyle/>
          <a:p>
            <a:pPr indent="0" marL="0">
              <a:buNone/>
            </a:pPr>
            <a:r>
              <a:rPr lang="en-US" sz="950" b="1" spc="240" kern="0" dirty="0">
                <a:solidFill>
                  <a:srgbClr val="1E7A4F"/>
                </a:solidFill>
                <a:latin typeface="Calibri" pitchFamily="34" charset="0"/>
                <a:ea typeface="Calibri" pitchFamily="34" charset="-122"/>
                <a:cs typeface="Calibri" pitchFamily="34" charset="-120"/>
              </a:rPr>
              <a:t>THE RULE</a:t>
            </a:r>
            <a:endParaRPr lang="en-US" sz="950" dirty="0"/>
          </a:p>
        </p:txBody>
      </p:sp>
      <p:sp>
        <p:nvSpPr>
          <p:cNvPr id="7" name="s12 Text 5"/>
          <p:cNvSpPr/>
          <p:nvPr/>
        </p:nvSpPr>
        <p:spPr>
          <a:xfrm>
            <a:off x="950976" y="2267712"/>
            <a:ext cx="10289743" cy="402336"/>
          </a:xfrm>
          <a:prstGeom prst="rect">
            <a:avLst/>
          </a:prstGeom>
          <a:noFill/>
          <a:ln/>
        </p:spPr>
        <p:txBody>
          <a:bodyPr wrap="square" lIns="0" tIns="0" rIns="0" bIns="0" rtlCol="0" anchor="ctr"/>
          <a:lstStyle/>
          <a:p>
            <a:pPr indent="0" marL="0">
              <a:buNone/>
            </a:pPr>
            <a:r>
              <a:rPr lang="en-US" sz="1600" b="1" dirty="0">
                <a:solidFill>
                  <a:srgbClr val="16233A"/>
                </a:solidFill>
                <a:latin typeface="Calibri" pitchFamily="34" charset="0"/>
                <a:ea typeface="Calibri" pitchFamily="34" charset="-122"/>
                <a:cs typeface="Calibri" pitchFamily="34" charset="-120"/>
              </a:rPr>
              <a:t>Similar phrases or clauses take the same grammatical structure — the same pattern of words on both sides.</a:t>
            </a:r>
            <a:endParaRPr lang="en-US" sz="1600" dirty="0"/>
          </a:p>
        </p:txBody>
      </p:sp>
      <p:sp>
        <p:nvSpPr>
          <p:cNvPr id="8" name="ctxCard1"/>
          <p:cNvSpPr/>
          <p:nvPr/>
        </p:nvSpPr>
        <p:spPr>
          <a:xfrm>
            <a:off x="640080" y="3035808"/>
            <a:ext cx="2597582" cy="1773936"/>
          </a:xfrm>
          <a:prstGeom prst="roundRect">
            <a:avLst>
              <a:gd name="adj" fmla="val 4639"/>
            </a:avLst>
          </a:prstGeom>
          <a:solidFill>
            <a:srgbClr val="FFFFFF"/>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9" name="ctxDisc1"/>
          <p:cNvSpPr/>
          <p:nvPr/>
        </p:nvSpPr>
        <p:spPr>
          <a:xfrm>
            <a:off x="896112" y="3200400"/>
            <a:ext cx="402336" cy="402336"/>
          </a:xfrm>
          <a:prstGeom prst="ellipse">
            <a:avLst/>
          </a:prstGeom>
          <a:solidFill>
            <a:srgbClr val="16233A"/>
          </a:solidFill>
          <a:ln w="12700">
            <a:solidFill>
              <a:srgbClr val="16233A"/>
            </a:solidFill>
            <a:prstDash val="solid"/>
          </a:ln>
        </p:spPr>
      </p:sp>
      <p:pic>
        <p:nvPicPr>
          <p:cNvPr id="10" name="ctxIcon1" descr="preencoded.png">    </p:cNvPr>
          <p:cNvPicPr>
            <a:picLocks noChangeAspect="1"/>
          </p:cNvPicPr>
          <p:nvPr/>
        </p:nvPicPr>
        <p:blipFill>
          <a:blip r:embed="rId1"/>
          <a:stretch>
            <a:fillRect/>
          </a:stretch>
        </p:blipFill>
        <p:spPr>
          <a:xfrm>
            <a:off x="987552" y="3291840"/>
            <a:ext cx="219456" cy="219456"/>
          </a:xfrm>
          <a:prstGeom prst="rect">
            <a:avLst/>
          </a:prstGeom>
        </p:spPr>
      </p:pic>
      <p:sp>
        <p:nvSpPr>
          <p:cNvPr id="11" name="ctxNum1"/>
          <p:cNvSpPr/>
          <p:nvPr/>
        </p:nvSpPr>
        <p:spPr>
          <a:xfrm>
            <a:off x="1408176" y="3273552"/>
            <a:ext cx="548640" cy="274320"/>
          </a:xfrm>
          <a:prstGeom prst="rect">
            <a:avLst/>
          </a:prstGeom>
          <a:noFill/>
          <a:ln/>
        </p:spPr>
        <p:txBody>
          <a:bodyPr wrap="square" lIns="0" tIns="0" rIns="0" bIns="0" rtlCol="0" anchor="ctr"/>
          <a:lstStyle/>
          <a:p>
            <a:pPr indent="0" marL="0">
              <a:buNone/>
            </a:pPr>
            <a:r>
              <a:rPr lang="en-US" sz="1200" b="1" dirty="0">
                <a:solidFill>
                  <a:srgbClr val="B4832B"/>
                </a:solidFill>
                <a:latin typeface="Calibri" pitchFamily="34" charset="0"/>
                <a:ea typeface="Calibri" pitchFamily="34" charset="-122"/>
                <a:cs typeface="Calibri" pitchFamily="34" charset="-120"/>
              </a:rPr>
              <a:t>01</a:t>
            </a:r>
            <a:endParaRPr lang="en-US" sz="1200" dirty="0"/>
          </a:p>
        </p:txBody>
      </p:sp>
      <p:sp>
        <p:nvSpPr>
          <p:cNvPr id="12" name="ctxName1">
            <a:hlinkClick r:id="rId2" tooltip="" action="ppaction://hlinksldjump"/>
          </p:cNvPr>
          <p:cNvSpPr/>
          <p:nvPr/>
        </p:nvSpPr>
        <p:spPr>
          <a:xfrm>
            <a:off x="896112" y="3675888"/>
            <a:ext cx="2286686" cy="658368"/>
          </a:xfrm>
          <a:prstGeom prst="rect">
            <a:avLst/>
          </a:prstGeom>
          <a:noFill/>
          <a:ln/>
        </p:spPr>
        <p:txBody>
          <a:bodyPr wrap="square" lIns="0" tIns="0" rIns="0" bIns="0" rtlCol="0" anchor="ctr"/>
          <a:lstStyle/>
          <a:p>
            <a:pPr indent="0" marL="0">
              <a:lnSpc>
                <a:spcPts val="1900"/>
              </a:lnSpc>
              <a:buNone/>
            </a:pPr>
            <a:r>
              <a:rPr lang="en-US" sz="1500" b="1" u="none" dirty="0">
                <a:solidFill>
                  <a:srgbClr val="16233A"/>
                </a:solidFill>
                <a:latin typeface="Cambria" pitchFamily="34" charset="0"/>
                <a:ea typeface="Cambria" pitchFamily="34" charset="-122"/>
                <a:cs typeface="Cambria" pitchFamily="34" charset="-120"/>
                <a:hlinkClick r:id="rId2" action="ppaction://hlinksldjump" tooltip="">
                  <a:extLst>
                    <a:ext uri="{A12FA001-AC4F-418D-AE19-62706E023703}">
                      <ahyp:hlinkClr xmlns:ahyp="http://schemas.microsoft.com/office/drawing/2018/hyperlinkcolor" val="tx"/>
                    </a:ext>
                  </a:extLst>
                </a:hlinkClick>
              </a:rPr>
              <a:t>Coordinating</a:t>
            </a:r>
            <a:endParaRPr lang="en-US" sz="1500" dirty="0"/>
          </a:p>
          <a:p>
            <a:pPr indent="0" marL="0">
              <a:lnSpc>
                <a:spcPts val="1900"/>
              </a:lnSpc>
              <a:buNone/>
            </a:pPr>
            <a:r>
              <a:rPr lang="en-US" sz="1500" b="1" u="none" dirty="0">
                <a:solidFill>
                  <a:srgbClr val="16233A"/>
                </a:solidFill>
                <a:latin typeface="Cambria" pitchFamily="34" charset="0"/>
                <a:ea typeface="Cambria" pitchFamily="34" charset="-122"/>
                <a:cs typeface="Cambria" pitchFamily="34" charset="-120"/>
                <a:hlinkClick r:id="rId2" action="ppaction://hlinksldjump" tooltip="">
                  <a:extLst>
                    <a:ext uri="{A12FA001-AC4F-418D-AE19-62706E023703}">
                      <ahyp:hlinkClr xmlns:ahyp="http://schemas.microsoft.com/office/drawing/2018/hyperlinkcolor" val="tx"/>
                    </a:ext>
                  </a:extLst>
                </a:hlinkClick>
              </a:rPr>
              <a:t>conjunctions</a:t>
            </a:r>
            <a:endParaRPr lang="en-US" sz="1500" dirty="0"/>
          </a:p>
        </p:txBody>
      </p:sp>
      <p:sp>
        <p:nvSpPr>
          <p:cNvPr id="13" name="ctxCue1"/>
          <p:cNvSpPr/>
          <p:nvPr/>
        </p:nvSpPr>
        <p:spPr>
          <a:xfrm>
            <a:off x="896112" y="4407408"/>
            <a:ext cx="2195246" cy="402336"/>
          </a:xfrm>
          <a:prstGeom prst="rect">
            <a:avLst/>
          </a:prstGeom>
          <a:noFill/>
          <a:ln/>
        </p:spPr>
        <p:txBody>
          <a:bodyPr wrap="square" lIns="0" tIns="0" rIns="0" bIns="0" rtlCol="0" anchor="ctr"/>
          <a:lstStyle/>
          <a:p>
            <a:pPr indent="0" marL="0">
              <a:lnSpc>
                <a:spcPts val="1400"/>
              </a:lnSpc>
              <a:buNone/>
            </a:pPr>
            <a:r>
              <a:rPr lang="en-US" sz="1050" i="1" dirty="0">
                <a:solidFill>
                  <a:srgbClr val="77839A"/>
                </a:solidFill>
                <a:latin typeface="Calibri" pitchFamily="34" charset="0"/>
                <a:ea typeface="Calibri" pitchFamily="34" charset="-122"/>
                <a:cs typeface="Calibri" pitchFamily="34" charset="-120"/>
              </a:rPr>
              <a:t>for, and, but, or, yet</a:t>
            </a:r>
            <a:endParaRPr lang="en-US" sz="1050" dirty="0"/>
          </a:p>
        </p:txBody>
      </p:sp>
      <p:sp>
        <p:nvSpPr>
          <p:cNvPr id="14" name="ctxCard2"/>
          <p:cNvSpPr/>
          <p:nvPr/>
        </p:nvSpPr>
        <p:spPr>
          <a:xfrm>
            <a:off x="3411398" y="3035808"/>
            <a:ext cx="2597582" cy="1773936"/>
          </a:xfrm>
          <a:prstGeom prst="roundRect">
            <a:avLst>
              <a:gd name="adj" fmla="val 4639"/>
            </a:avLst>
          </a:prstGeom>
          <a:solidFill>
            <a:srgbClr val="FFFFFF"/>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15" name="ctxDisc2"/>
          <p:cNvSpPr/>
          <p:nvPr/>
        </p:nvSpPr>
        <p:spPr>
          <a:xfrm>
            <a:off x="3667430" y="3200400"/>
            <a:ext cx="402336" cy="402336"/>
          </a:xfrm>
          <a:prstGeom prst="ellipse">
            <a:avLst/>
          </a:prstGeom>
          <a:solidFill>
            <a:srgbClr val="16233A"/>
          </a:solidFill>
          <a:ln w="12700">
            <a:solidFill>
              <a:srgbClr val="16233A"/>
            </a:solidFill>
            <a:prstDash val="solid"/>
          </a:ln>
        </p:spPr>
      </p:sp>
      <p:pic>
        <p:nvPicPr>
          <p:cNvPr id="16" name="ctxIcon2" descr="preencoded.png">    </p:cNvPr>
          <p:cNvPicPr>
            <a:picLocks noChangeAspect="1"/>
          </p:cNvPicPr>
          <p:nvPr/>
        </p:nvPicPr>
        <p:blipFill>
          <a:blip r:embed="rId3"/>
          <a:stretch>
            <a:fillRect/>
          </a:stretch>
        </p:blipFill>
        <p:spPr>
          <a:xfrm>
            <a:off x="3758870" y="3291840"/>
            <a:ext cx="219456" cy="219456"/>
          </a:xfrm>
          <a:prstGeom prst="rect">
            <a:avLst/>
          </a:prstGeom>
        </p:spPr>
      </p:pic>
      <p:sp>
        <p:nvSpPr>
          <p:cNvPr id="17" name="ctxNum2"/>
          <p:cNvSpPr/>
          <p:nvPr/>
        </p:nvSpPr>
        <p:spPr>
          <a:xfrm>
            <a:off x="4179494" y="3273552"/>
            <a:ext cx="548640" cy="274320"/>
          </a:xfrm>
          <a:prstGeom prst="rect">
            <a:avLst/>
          </a:prstGeom>
          <a:noFill/>
          <a:ln/>
        </p:spPr>
        <p:txBody>
          <a:bodyPr wrap="square" lIns="0" tIns="0" rIns="0" bIns="0" rtlCol="0" anchor="ctr"/>
          <a:lstStyle/>
          <a:p>
            <a:pPr indent="0" marL="0">
              <a:buNone/>
            </a:pPr>
            <a:r>
              <a:rPr lang="en-US" sz="1200" b="1" dirty="0">
                <a:solidFill>
                  <a:srgbClr val="B4832B"/>
                </a:solidFill>
                <a:latin typeface="Calibri" pitchFamily="34" charset="0"/>
                <a:ea typeface="Calibri" pitchFamily="34" charset="-122"/>
                <a:cs typeface="Calibri" pitchFamily="34" charset="-120"/>
              </a:rPr>
              <a:t>02</a:t>
            </a:r>
            <a:endParaRPr lang="en-US" sz="1200" dirty="0"/>
          </a:p>
        </p:txBody>
      </p:sp>
      <p:sp>
        <p:nvSpPr>
          <p:cNvPr id="18" name="ctxName2">
            <a:hlinkClick r:id="rId4" tooltip="" action="ppaction://hlinksldjump"/>
          </p:cNvPr>
          <p:cNvSpPr/>
          <p:nvPr/>
        </p:nvSpPr>
        <p:spPr>
          <a:xfrm>
            <a:off x="3667430" y="3675888"/>
            <a:ext cx="2286686" cy="658368"/>
          </a:xfrm>
          <a:prstGeom prst="rect">
            <a:avLst/>
          </a:prstGeom>
          <a:noFill/>
          <a:ln/>
        </p:spPr>
        <p:txBody>
          <a:bodyPr wrap="square" lIns="0" tIns="0" rIns="0" bIns="0" rtlCol="0" anchor="ctr"/>
          <a:lstStyle/>
          <a:p>
            <a:pPr indent="0" marL="0">
              <a:lnSpc>
                <a:spcPts val="1900"/>
              </a:lnSpc>
              <a:buNone/>
            </a:pPr>
            <a:r>
              <a:rPr lang="en-US" sz="1500" b="1" u="none" dirty="0">
                <a:solidFill>
                  <a:srgbClr val="16233A"/>
                </a:solidFill>
                <a:latin typeface="Cambria" pitchFamily="34" charset="0"/>
                <a:ea typeface="Cambria" pitchFamily="34" charset="-122"/>
                <a:cs typeface="Cambria" pitchFamily="34" charset="-120"/>
                <a:hlinkClick r:id="rId4" action="ppaction://hlinksldjump" tooltip="">
                  <a:extLst>
                    <a:ext uri="{A12FA001-AC4F-418D-AE19-62706E023703}">
                      <ahyp:hlinkClr xmlns:ahyp="http://schemas.microsoft.com/office/drawing/2018/hyperlinkcolor" val="tx"/>
                    </a:ext>
                  </a:extLst>
                </a:hlinkClick>
              </a:rPr>
              <a:t>Correlative</a:t>
            </a:r>
            <a:endParaRPr lang="en-US" sz="1500" dirty="0"/>
          </a:p>
          <a:p>
            <a:pPr indent="0" marL="0">
              <a:lnSpc>
                <a:spcPts val="1900"/>
              </a:lnSpc>
              <a:buNone/>
            </a:pPr>
            <a:r>
              <a:rPr lang="en-US" sz="1500" b="1" u="none" dirty="0">
                <a:solidFill>
                  <a:srgbClr val="16233A"/>
                </a:solidFill>
                <a:latin typeface="Cambria" pitchFamily="34" charset="0"/>
                <a:ea typeface="Cambria" pitchFamily="34" charset="-122"/>
                <a:cs typeface="Cambria" pitchFamily="34" charset="-120"/>
                <a:hlinkClick r:id="rId4" action="ppaction://hlinksldjump" tooltip="">
                  <a:extLst>
                    <a:ext uri="{A12FA001-AC4F-418D-AE19-62706E023703}">
                      <ahyp:hlinkClr xmlns:ahyp="http://schemas.microsoft.com/office/drawing/2018/hyperlinkcolor" val="tx"/>
                    </a:ext>
                  </a:extLst>
                </a:hlinkClick>
              </a:rPr>
              <a:t>conjunctions</a:t>
            </a:r>
            <a:endParaRPr lang="en-US" sz="1500" dirty="0"/>
          </a:p>
        </p:txBody>
      </p:sp>
      <p:sp>
        <p:nvSpPr>
          <p:cNvPr id="19" name="ctxCue2"/>
          <p:cNvSpPr/>
          <p:nvPr/>
        </p:nvSpPr>
        <p:spPr>
          <a:xfrm>
            <a:off x="3667430" y="4407408"/>
            <a:ext cx="2195246" cy="402336"/>
          </a:xfrm>
          <a:prstGeom prst="rect">
            <a:avLst/>
          </a:prstGeom>
          <a:noFill/>
          <a:ln/>
        </p:spPr>
        <p:txBody>
          <a:bodyPr wrap="square" lIns="0" tIns="0" rIns="0" bIns="0" rtlCol="0" anchor="ctr"/>
          <a:lstStyle/>
          <a:p>
            <a:pPr indent="0" marL="0">
              <a:lnSpc>
                <a:spcPts val="1400"/>
              </a:lnSpc>
              <a:buNone/>
            </a:pPr>
            <a:r>
              <a:rPr lang="en-US" sz="1050" i="1" dirty="0">
                <a:solidFill>
                  <a:srgbClr val="77839A"/>
                </a:solidFill>
                <a:latin typeface="Calibri" pitchFamily="34" charset="0"/>
                <a:ea typeface="Calibri" pitchFamily="34" charset="-122"/>
                <a:cs typeface="Calibri" pitchFamily="34" charset="-120"/>
              </a:rPr>
              <a:t>not only…but also, either…or, neither…nor, if…then</a:t>
            </a:r>
            <a:endParaRPr lang="en-US" sz="1050" dirty="0"/>
          </a:p>
        </p:txBody>
      </p:sp>
      <p:sp>
        <p:nvSpPr>
          <p:cNvPr id="20" name="ctxCard3"/>
          <p:cNvSpPr/>
          <p:nvPr/>
        </p:nvSpPr>
        <p:spPr>
          <a:xfrm>
            <a:off x="6182716" y="3035808"/>
            <a:ext cx="2597582" cy="1773936"/>
          </a:xfrm>
          <a:prstGeom prst="roundRect">
            <a:avLst>
              <a:gd name="adj" fmla="val 4639"/>
            </a:avLst>
          </a:prstGeom>
          <a:solidFill>
            <a:srgbClr val="FFFFFF"/>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21" name="ctxDisc3"/>
          <p:cNvSpPr/>
          <p:nvPr/>
        </p:nvSpPr>
        <p:spPr>
          <a:xfrm>
            <a:off x="6438748" y="3200400"/>
            <a:ext cx="402336" cy="402336"/>
          </a:xfrm>
          <a:prstGeom prst="ellipse">
            <a:avLst/>
          </a:prstGeom>
          <a:solidFill>
            <a:srgbClr val="16233A"/>
          </a:solidFill>
          <a:ln w="12700">
            <a:solidFill>
              <a:srgbClr val="16233A"/>
            </a:solidFill>
            <a:prstDash val="solid"/>
          </a:ln>
        </p:spPr>
      </p:sp>
      <p:pic>
        <p:nvPicPr>
          <p:cNvPr id="22" name="ctxIcon3" descr="preencoded.png">    </p:cNvPr>
          <p:cNvPicPr>
            <a:picLocks noChangeAspect="1"/>
          </p:cNvPicPr>
          <p:nvPr/>
        </p:nvPicPr>
        <p:blipFill>
          <a:blip r:embed="rId5"/>
          <a:stretch>
            <a:fillRect/>
          </a:stretch>
        </p:blipFill>
        <p:spPr>
          <a:xfrm>
            <a:off x="6530188" y="3291840"/>
            <a:ext cx="219456" cy="219456"/>
          </a:xfrm>
          <a:prstGeom prst="rect">
            <a:avLst/>
          </a:prstGeom>
        </p:spPr>
      </p:pic>
      <p:sp>
        <p:nvSpPr>
          <p:cNvPr id="23" name="ctxNum3"/>
          <p:cNvSpPr/>
          <p:nvPr/>
        </p:nvSpPr>
        <p:spPr>
          <a:xfrm>
            <a:off x="6950812" y="3273552"/>
            <a:ext cx="548640" cy="274320"/>
          </a:xfrm>
          <a:prstGeom prst="rect">
            <a:avLst/>
          </a:prstGeom>
          <a:noFill/>
          <a:ln/>
        </p:spPr>
        <p:txBody>
          <a:bodyPr wrap="square" lIns="0" tIns="0" rIns="0" bIns="0" rtlCol="0" anchor="ctr"/>
          <a:lstStyle/>
          <a:p>
            <a:pPr indent="0" marL="0">
              <a:buNone/>
            </a:pPr>
            <a:r>
              <a:rPr lang="en-US" sz="1200" b="1" dirty="0">
                <a:solidFill>
                  <a:srgbClr val="B4832B"/>
                </a:solidFill>
                <a:latin typeface="Calibri" pitchFamily="34" charset="0"/>
                <a:ea typeface="Calibri" pitchFamily="34" charset="-122"/>
                <a:cs typeface="Calibri" pitchFamily="34" charset="-120"/>
              </a:rPr>
              <a:t>03</a:t>
            </a:r>
            <a:endParaRPr lang="en-US" sz="1200" dirty="0"/>
          </a:p>
        </p:txBody>
      </p:sp>
      <p:sp>
        <p:nvSpPr>
          <p:cNvPr id="24" name="ctxName3">
            <a:hlinkClick r:id="rId6" tooltip="" action="ppaction://hlinksldjump"/>
          </p:cNvPr>
          <p:cNvSpPr/>
          <p:nvPr/>
        </p:nvSpPr>
        <p:spPr>
          <a:xfrm>
            <a:off x="6438748" y="3675888"/>
            <a:ext cx="2286686" cy="658368"/>
          </a:xfrm>
          <a:prstGeom prst="rect">
            <a:avLst/>
          </a:prstGeom>
          <a:noFill/>
          <a:ln/>
        </p:spPr>
        <p:txBody>
          <a:bodyPr wrap="square" lIns="0" tIns="0" rIns="0" bIns="0" rtlCol="0" anchor="ctr"/>
          <a:lstStyle/>
          <a:p>
            <a:pPr indent="0" marL="0">
              <a:lnSpc>
                <a:spcPts val="1900"/>
              </a:lnSpc>
              <a:buNone/>
            </a:pPr>
            <a:r>
              <a:rPr lang="en-US" sz="1500" b="1" u="none" dirty="0">
                <a:solidFill>
                  <a:srgbClr val="16233A"/>
                </a:solidFill>
                <a:latin typeface="Cambria" pitchFamily="34" charset="0"/>
                <a:ea typeface="Cambria" pitchFamily="34" charset="-122"/>
                <a:cs typeface="Cambria" pitchFamily="34" charset="-120"/>
                <a:hlinkClick r:id="rId6" action="ppaction://hlinksldjump" tooltip="">
                  <a:extLst>
                    <a:ext uri="{A12FA001-AC4F-418D-AE19-62706E023703}">
                      <ahyp:hlinkClr xmlns:ahyp="http://schemas.microsoft.com/office/drawing/2018/hyperlinkcolor" val="tx"/>
                    </a:ext>
                  </a:extLst>
                </a:hlinkClick>
              </a:rPr>
              <a:t>Phrases or clauses</a:t>
            </a:r>
            <a:endParaRPr lang="en-US" sz="1500" dirty="0"/>
          </a:p>
          <a:p>
            <a:pPr indent="0" marL="0">
              <a:lnSpc>
                <a:spcPts val="1900"/>
              </a:lnSpc>
              <a:buNone/>
            </a:pPr>
            <a:r>
              <a:rPr lang="en-US" sz="1500" b="1" u="none" dirty="0">
                <a:solidFill>
                  <a:srgbClr val="16233A"/>
                </a:solidFill>
                <a:latin typeface="Cambria" pitchFamily="34" charset="0"/>
                <a:ea typeface="Cambria" pitchFamily="34" charset="-122"/>
                <a:cs typeface="Cambria" pitchFamily="34" charset="-120"/>
                <a:hlinkClick r:id="rId6" action="ppaction://hlinksldjump" tooltip="">
                  <a:extLst>
                    <a:ext uri="{A12FA001-AC4F-418D-AE19-62706E023703}">
                      <ahyp:hlinkClr xmlns:ahyp="http://schemas.microsoft.com/office/drawing/2018/hyperlinkcolor" val="tx"/>
                    </a:ext>
                  </a:extLst>
                </a:hlinkClick>
              </a:rPr>
              <a:t>of comparison</a:t>
            </a:r>
            <a:endParaRPr lang="en-US" sz="1500" dirty="0"/>
          </a:p>
        </p:txBody>
      </p:sp>
      <p:sp>
        <p:nvSpPr>
          <p:cNvPr id="25" name="ctxCue3"/>
          <p:cNvSpPr/>
          <p:nvPr/>
        </p:nvSpPr>
        <p:spPr>
          <a:xfrm>
            <a:off x="6438748" y="4407408"/>
            <a:ext cx="2195246" cy="402336"/>
          </a:xfrm>
          <a:prstGeom prst="rect">
            <a:avLst/>
          </a:prstGeom>
          <a:noFill/>
          <a:ln/>
        </p:spPr>
        <p:txBody>
          <a:bodyPr wrap="square" lIns="0" tIns="0" rIns="0" bIns="0" rtlCol="0" anchor="ctr"/>
          <a:lstStyle/>
          <a:p>
            <a:pPr indent="0" marL="0">
              <a:lnSpc>
                <a:spcPts val="1400"/>
              </a:lnSpc>
              <a:buNone/>
            </a:pPr>
            <a:r>
              <a:rPr lang="en-US" sz="1050" i="1" dirty="0">
                <a:solidFill>
                  <a:srgbClr val="77839A"/>
                </a:solidFill>
                <a:latin typeface="Calibri" pitchFamily="34" charset="0"/>
                <a:ea typeface="Calibri" pitchFamily="34" charset="-122"/>
                <a:cs typeface="Calibri" pitchFamily="34" charset="-120"/>
              </a:rPr>
              <a:t>than, as</a:t>
            </a:r>
            <a:endParaRPr lang="en-US" sz="1050" dirty="0"/>
          </a:p>
        </p:txBody>
      </p:sp>
      <p:sp>
        <p:nvSpPr>
          <p:cNvPr id="26" name="ctxCard4"/>
          <p:cNvSpPr/>
          <p:nvPr/>
        </p:nvSpPr>
        <p:spPr>
          <a:xfrm>
            <a:off x="8954033" y="3035808"/>
            <a:ext cx="2597582" cy="1773936"/>
          </a:xfrm>
          <a:prstGeom prst="roundRect">
            <a:avLst>
              <a:gd name="adj" fmla="val 4639"/>
            </a:avLst>
          </a:prstGeom>
          <a:solidFill>
            <a:srgbClr val="FFFFFF"/>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27" name="ctxDisc4"/>
          <p:cNvSpPr/>
          <p:nvPr/>
        </p:nvSpPr>
        <p:spPr>
          <a:xfrm>
            <a:off x="9210065" y="3200400"/>
            <a:ext cx="402336" cy="402336"/>
          </a:xfrm>
          <a:prstGeom prst="ellipse">
            <a:avLst/>
          </a:prstGeom>
          <a:solidFill>
            <a:srgbClr val="16233A"/>
          </a:solidFill>
          <a:ln w="12700">
            <a:solidFill>
              <a:srgbClr val="16233A"/>
            </a:solidFill>
            <a:prstDash val="solid"/>
          </a:ln>
        </p:spPr>
      </p:sp>
      <p:pic>
        <p:nvPicPr>
          <p:cNvPr id="28" name="ctxIcon4" descr="preencoded.png">    </p:cNvPr>
          <p:cNvPicPr>
            <a:picLocks noChangeAspect="1"/>
          </p:cNvPicPr>
          <p:nvPr/>
        </p:nvPicPr>
        <p:blipFill>
          <a:blip r:embed="rId7"/>
          <a:stretch>
            <a:fillRect/>
          </a:stretch>
        </p:blipFill>
        <p:spPr>
          <a:xfrm>
            <a:off x="9301505" y="3291840"/>
            <a:ext cx="219456" cy="219456"/>
          </a:xfrm>
          <a:prstGeom prst="rect">
            <a:avLst/>
          </a:prstGeom>
        </p:spPr>
      </p:pic>
      <p:sp>
        <p:nvSpPr>
          <p:cNvPr id="29" name="ctxNum4"/>
          <p:cNvSpPr/>
          <p:nvPr/>
        </p:nvSpPr>
        <p:spPr>
          <a:xfrm>
            <a:off x="9722129" y="3273552"/>
            <a:ext cx="548640" cy="274320"/>
          </a:xfrm>
          <a:prstGeom prst="rect">
            <a:avLst/>
          </a:prstGeom>
          <a:noFill/>
          <a:ln/>
        </p:spPr>
        <p:txBody>
          <a:bodyPr wrap="square" lIns="0" tIns="0" rIns="0" bIns="0" rtlCol="0" anchor="ctr"/>
          <a:lstStyle/>
          <a:p>
            <a:pPr indent="0" marL="0">
              <a:buNone/>
            </a:pPr>
            <a:r>
              <a:rPr lang="en-US" sz="1200" b="1" dirty="0">
                <a:solidFill>
                  <a:srgbClr val="B4832B"/>
                </a:solidFill>
                <a:latin typeface="Calibri" pitchFamily="34" charset="0"/>
                <a:ea typeface="Calibri" pitchFamily="34" charset="-122"/>
                <a:cs typeface="Calibri" pitchFamily="34" charset="-120"/>
              </a:rPr>
              <a:t>04</a:t>
            </a:r>
            <a:endParaRPr lang="en-US" sz="1200" dirty="0"/>
          </a:p>
        </p:txBody>
      </p:sp>
      <p:sp>
        <p:nvSpPr>
          <p:cNvPr id="30" name="ctxName4">
            <a:hlinkClick r:id="rId8" tooltip="" action="ppaction://hlinksldjump"/>
          </p:cNvPr>
          <p:cNvSpPr/>
          <p:nvPr/>
        </p:nvSpPr>
        <p:spPr>
          <a:xfrm>
            <a:off x="9210065" y="3675888"/>
            <a:ext cx="2286686" cy="658368"/>
          </a:xfrm>
          <a:prstGeom prst="rect">
            <a:avLst/>
          </a:prstGeom>
          <a:noFill/>
          <a:ln/>
        </p:spPr>
        <p:txBody>
          <a:bodyPr wrap="square" lIns="0" tIns="0" rIns="0" bIns="0" rtlCol="0" anchor="ctr"/>
          <a:lstStyle/>
          <a:p>
            <a:pPr indent="0" marL="0">
              <a:lnSpc>
                <a:spcPts val="1900"/>
              </a:lnSpc>
              <a:buNone/>
            </a:pPr>
            <a:r>
              <a:rPr lang="en-US" sz="1500" b="1" u="none" dirty="0">
                <a:solidFill>
                  <a:srgbClr val="16233A"/>
                </a:solidFill>
                <a:latin typeface="Cambria" pitchFamily="34" charset="0"/>
                <a:ea typeface="Cambria" pitchFamily="34" charset="-122"/>
                <a:cs typeface="Cambria" pitchFamily="34" charset="-120"/>
                <a:hlinkClick r:id="rId8" action="ppaction://hlinksldjump" tooltip="">
                  <a:extLst>
                    <a:ext uri="{A12FA001-AC4F-418D-AE19-62706E023703}">
                      <ahyp:hlinkClr xmlns:ahyp="http://schemas.microsoft.com/office/drawing/2018/hyperlinkcolor" val="tx"/>
                    </a:ext>
                  </a:extLst>
                </a:hlinkClick>
              </a:rPr>
              <a:t>Lists</a:t>
            </a:r>
            <a:endParaRPr lang="en-US" sz="1500" dirty="0"/>
          </a:p>
        </p:txBody>
      </p:sp>
      <p:sp>
        <p:nvSpPr>
          <p:cNvPr id="31" name="ctxCue4"/>
          <p:cNvSpPr/>
          <p:nvPr/>
        </p:nvSpPr>
        <p:spPr>
          <a:xfrm>
            <a:off x="9210065" y="4407408"/>
            <a:ext cx="2195246" cy="402336"/>
          </a:xfrm>
          <a:prstGeom prst="rect">
            <a:avLst/>
          </a:prstGeom>
          <a:noFill/>
          <a:ln/>
        </p:spPr>
        <p:txBody>
          <a:bodyPr wrap="square" lIns="0" tIns="0" rIns="0" bIns="0" rtlCol="0" anchor="ctr"/>
          <a:lstStyle/>
          <a:p>
            <a:pPr indent="0" marL="0">
              <a:lnSpc>
                <a:spcPts val="1400"/>
              </a:lnSpc>
              <a:buNone/>
            </a:pPr>
            <a:r>
              <a:rPr lang="en-US" sz="1050" i="1" dirty="0">
                <a:solidFill>
                  <a:srgbClr val="77839A"/>
                </a:solidFill>
                <a:latin typeface="Calibri" pitchFamily="34" charset="0"/>
                <a:ea typeface="Calibri" pitchFamily="34" charset="-122"/>
                <a:cs typeface="Calibri" pitchFamily="34" charset="-120"/>
              </a:rPr>
              <a:t>items in a series</a:t>
            </a:r>
            <a:endParaRPr lang="en-US" sz="1050" dirty="0"/>
          </a:p>
        </p:txBody>
      </p:sp>
      <p:sp>
        <p:nvSpPr>
          <p:cNvPr id="32" name="s12 Shape 26"/>
          <p:cNvSpPr/>
          <p:nvPr/>
        </p:nvSpPr>
        <p:spPr>
          <a:xfrm>
            <a:off x="640080" y="5029200"/>
            <a:ext cx="10911535" cy="969264"/>
          </a:xfrm>
          <a:prstGeom prst="roundRect">
            <a:avLst>
              <a:gd name="adj" fmla="val 8491"/>
            </a:avLst>
          </a:prstGeom>
          <a:solidFill>
            <a:srgbClr val="F6F8FB"/>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33" name="s12 Text 27"/>
          <p:cNvSpPr/>
          <p:nvPr/>
        </p:nvSpPr>
        <p:spPr>
          <a:xfrm>
            <a:off x="950976" y="5212080"/>
            <a:ext cx="1463040" cy="237744"/>
          </a:xfrm>
          <a:prstGeom prst="rect">
            <a:avLst/>
          </a:prstGeom>
          <a:noFill/>
          <a:ln/>
        </p:spPr>
        <p:txBody>
          <a:bodyPr wrap="square" lIns="0" tIns="0" rIns="0" bIns="0" rtlCol="0" anchor="ctr"/>
          <a:lstStyle/>
          <a:p>
            <a:pPr indent="0" marL="0">
              <a:buNone/>
            </a:pPr>
            <a:r>
              <a:rPr lang="en-US" sz="950" b="1" spc="240" kern="0" dirty="0">
                <a:solidFill>
                  <a:srgbClr val="B4832B"/>
                </a:solidFill>
                <a:latin typeface="Calibri" pitchFamily="34" charset="0"/>
                <a:ea typeface="Calibri" pitchFamily="34" charset="-122"/>
                <a:cs typeface="Calibri" pitchFamily="34" charset="-120"/>
              </a:rPr>
              <a:t>THE TEST</a:t>
            </a:r>
            <a:endParaRPr lang="en-US" sz="950" dirty="0"/>
          </a:p>
        </p:txBody>
      </p:sp>
      <p:sp>
        <p:nvSpPr>
          <p:cNvPr id="34" name="s12 Text 28"/>
          <p:cNvSpPr/>
          <p:nvPr/>
        </p:nvSpPr>
        <p:spPr>
          <a:xfrm>
            <a:off x="950976" y="5468112"/>
            <a:ext cx="10289743" cy="402336"/>
          </a:xfrm>
          <a:prstGeom prst="rect">
            <a:avLst/>
          </a:prstGeom>
          <a:noFill/>
          <a:ln/>
        </p:spPr>
        <p:txBody>
          <a:bodyPr wrap="square" lIns="0" tIns="0" rIns="0" bIns="0" rtlCol="0" anchor="ctr"/>
          <a:lstStyle/>
          <a:p>
            <a:pPr indent="0" marL="0">
              <a:buNone/>
            </a:pPr>
            <a:r>
              <a:rPr lang="en-US" sz="1450" dirty="0">
                <a:solidFill>
                  <a:srgbClr val="16233A"/>
                </a:solidFill>
                <a:latin typeface="Calibri" pitchFamily="34" charset="0"/>
                <a:ea typeface="Calibri" pitchFamily="34" charset="-122"/>
                <a:cs typeface="Calibri" pitchFamily="34" charset="-120"/>
              </a:rPr>
              <a:t>Read the joined elements one after another. If they do not take the same form, rewrite the shorter one to match — never the reader’s expectation.</a:t>
            </a:r>
            <a:endParaRPr lang="en-US" sz="1450" dirty="0"/>
          </a:p>
        </p:txBody>
      </p:sp>
      <p:sp>
        <p:nvSpPr>
          <p:cNvPr id="35" name="footDeck"/>
          <p:cNvSpPr/>
          <p:nvPr/>
        </p:nvSpPr>
        <p:spPr>
          <a:xfrm>
            <a:off x="640080" y="6345936"/>
            <a:ext cx="4023360" cy="256032"/>
          </a:xfrm>
          <a:prstGeom prst="rect">
            <a:avLst/>
          </a:prstGeom>
          <a:noFill/>
          <a:ln/>
        </p:spPr>
        <p:txBody>
          <a:bodyPr wrap="square" lIns="0" tIns="0" rIns="0" bIns="0" rtlCol="0" anchor="ctr"/>
          <a:lstStyle/>
          <a:p>
            <a:pPr indent="0" marL="0">
              <a:buNone/>
            </a:pPr>
            <a:r>
              <a:rPr lang="en-US" sz="950" spc="60" kern="0" dirty="0">
                <a:solidFill>
                  <a:srgbClr val="77839A"/>
                </a:solidFill>
                <a:latin typeface="Calibri" pitchFamily="34" charset="0"/>
                <a:ea typeface="Calibri" pitchFamily="34" charset="-122"/>
                <a:cs typeface="Calibri" pitchFamily="34" charset="-120"/>
              </a:rPr>
              <a:t>Parallelism (in Grammar)</a:t>
            </a:r>
            <a:endParaRPr lang="en-US" sz="950" dirty="0"/>
          </a:p>
        </p:txBody>
      </p:sp>
      <p:sp>
        <p:nvSpPr>
          <p:cNvPr id="36" name="footNav"/>
          <p:cNvSpPr/>
          <p:nvPr/>
        </p:nvSpPr>
        <p:spPr>
          <a:xfrm>
            <a:off x="7528255" y="6345936"/>
            <a:ext cx="4023360" cy="256032"/>
          </a:xfrm>
          <a:prstGeom prst="rect">
            <a:avLst/>
          </a:prstGeom>
          <a:noFill/>
          <a:ln/>
        </p:spPr>
        <p:txBody>
          <a:bodyPr wrap="square" lIns="0" tIns="0" rIns="0" bIns="0" rtlCol="0" anchor="ctr"/>
          <a:lstStyle/>
          <a:p>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9" action="ppaction://hlinksldjump" tooltip="">
                  <a:extLst>
                    <a:ext uri="{A12FA001-AC4F-418D-AE19-62706E023703}">
                      <ahyp:hlinkClr xmlns:ahyp="http://schemas.microsoft.com/office/drawing/2018/hyperlinkcolor" val="tx"/>
                    </a:ext>
                  </a:extLst>
                </a:hlinkClick>
              </a:rPr>
              <a:t>CONTENTS</a:t>
            </a:r>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10" action="ppaction://hlinksldjump" tooltip="">
                  <a:extLst>
                    <a:ext uri="{A12FA001-AC4F-418D-AE19-62706E023703}">
                      <ahyp:hlinkClr xmlns:ahyp="http://schemas.microsoft.com/office/drawing/2018/hyperlinkcolor" val="tx"/>
                    </a:ext>
                  </a:extLst>
                </a:hlinkClick>
              </a:rPr>
              <a:t>     ‹ </a:t>
            </a:r>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11" action="ppaction://hlinksldjump" tooltip="">
                  <a:extLst>
                    <a:ext uri="{A12FA001-AC4F-418D-AE19-62706E023703}">
                      <ahyp:hlinkClr xmlns:ahyp="http://schemas.microsoft.com/office/drawing/2018/hyperlinkcolor" val="tx"/>
                    </a:ext>
                  </a:extLst>
                </a:hlinkClick>
              </a:rPr>
              <a:t> › </a:t>
            </a:r>
            <a:pPr algn="r" indent="0" marL="0">
              <a:buNone/>
            </a:pPr>
            <a:r>
              <a:rPr lang="en-US" sz="950" b="1" spc="80" kern="0" dirty="0">
                <a:solidFill>
                  <a:srgbClr val="16233A"/>
                </a:solidFill>
                <a:latin typeface="Calibri" pitchFamily="34" charset="0"/>
                <a:ea typeface="Calibri" pitchFamily="34" charset="-122"/>
                <a:cs typeface="Calibri" pitchFamily="34" charset="-120"/>
              </a:rPr>
              <a:t>    12 / 14</a:t>
            </a:r>
            <a:endParaRPr lang="en-US" sz="950" dirty="0"/>
          </a:p>
        </p:txBody>
      </p:sp>
    </p:spTree>
  </p:cSld>
  <p:clrMapOvr>
    <a:masterClrMapping/>
  </p:clrMapOvr>
  <mc:AlternateContent xmlns:mc="http://schemas.openxmlformats.org/markup-compatibility/2006">
    <mc:Choice xmlns:p159="http://schemas.microsoft.com/office/powerpoint/2015/main" Requires="p159">
      <p:transition xmlns:p14="http://schemas.microsoft.com/office/powerpoint/2010/main" spd="med" p14:dur="900">
        <p159:morph option="byObject"/>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eyebrow"/>
          <p:cNvSpPr/>
          <p:nvPr/>
        </p:nvSpPr>
        <p:spPr>
          <a:xfrm>
            <a:off x="640080" y="457200"/>
            <a:ext cx="10911535" cy="237744"/>
          </a:xfrm>
          <a:prstGeom prst="rect">
            <a:avLst/>
          </a:prstGeom>
          <a:noFill/>
          <a:ln/>
        </p:spPr>
        <p:txBody>
          <a:bodyPr wrap="square" lIns="0" tIns="0" rIns="0" bIns="0" rtlCol="0" anchor="ctr"/>
          <a:lstStyle/>
          <a:p>
            <a:pPr indent="0" marL="0">
              <a:buNone/>
            </a:pPr>
            <a:r>
              <a:rPr lang="en-US" sz="1100" b="1" spc="320" kern="0" dirty="0">
                <a:solidFill>
                  <a:srgbClr val="B4832B"/>
                </a:solidFill>
                <a:latin typeface="Calibri" pitchFamily="34" charset="0"/>
                <a:ea typeface="Calibri" pitchFamily="34" charset="-122"/>
                <a:cs typeface="Calibri" pitchFamily="34" charset="-120"/>
              </a:rPr>
              <a:t>REFERENCES</a:t>
            </a:r>
            <a:endParaRPr lang="en-US" sz="1100" dirty="0"/>
          </a:p>
        </p:txBody>
      </p:sp>
      <p:sp>
        <p:nvSpPr>
          <p:cNvPr id="3" name="heading"/>
          <p:cNvSpPr/>
          <p:nvPr/>
        </p:nvSpPr>
        <p:spPr>
          <a:xfrm>
            <a:off x="640080" y="731520"/>
            <a:ext cx="10911535" cy="566928"/>
          </a:xfrm>
          <a:prstGeom prst="rect">
            <a:avLst/>
          </a:prstGeom>
          <a:noFill/>
          <a:ln/>
        </p:spPr>
        <p:txBody>
          <a:bodyPr wrap="square" lIns="0" tIns="0" rIns="0" bIns="0" rtlCol="0" anchor="t"/>
          <a:lstStyle/>
          <a:p>
            <a:pPr indent="0" marL="0">
              <a:buNone/>
            </a:pPr>
            <a:r>
              <a:rPr lang="en-US" sz="3200" b="1" dirty="0">
                <a:solidFill>
                  <a:srgbClr val="16233A"/>
                </a:solidFill>
                <a:latin typeface="Cambria" pitchFamily="34" charset="0"/>
                <a:ea typeface="Cambria" pitchFamily="34" charset="-122"/>
                <a:cs typeface="Cambria" pitchFamily="34" charset="-120"/>
              </a:rPr>
              <a:t>Where this material comes from</a:t>
            </a:r>
            <a:endParaRPr lang="en-US" sz="3200" dirty="0"/>
          </a:p>
        </p:txBody>
      </p:sp>
      <p:sp>
        <p:nvSpPr>
          <p:cNvPr id="4" name="standfirst"/>
          <p:cNvSpPr/>
          <p:nvPr/>
        </p:nvSpPr>
        <p:spPr>
          <a:xfrm>
            <a:off x="640080" y="1335024"/>
            <a:ext cx="10911535" cy="329184"/>
          </a:xfrm>
          <a:prstGeom prst="rect">
            <a:avLst/>
          </a:prstGeom>
          <a:noFill/>
          <a:ln/>
        </p:spPr>
        <p:txBody>
          <a:bodyPr wrap="square" lIns="0" tIns="0" rIns="0" bIns="0" rtlCol="0" anchor="ctr"/>
          <a:lstStyle/>
          <a:p>
            <a:pPr indent="0" marL="0">
              <a:buNone/>
            </a:pPr>
            <a:r>
              <a:rPr lang="en-US" sz="1500" dirty="0">
                <a:solidFill>
                  <a:srgbClr val="77839A"/>
                </a:solidFill>
                <a:latin typeface="Calibri" pitchFamily="34" charset="0"/>
                <a:ea typeface="Calibri" pitchFamily="34" charset="-122"/>
                <a:cs typeface="Calibri" pitchFamily="34" charset="-120"/>
              </a:rPr>
              <a:t>As cited in the source presentation.</a:t>
            </a:r>
            <a:endParaRPr lang="en-US" sz="1500" dirty="0"/>
          </a:p>
        </p:txBody>
      </p:sp>
      <p:sp>
        <p:nvSpPr>
          <p:cNvPr id="5" name="s13 Shape 3"/>
          <p:cNvSpPr/>
          <p:nvPr/>
        </p:nvSpPr>
        <p:spPr>
          <a:xfrm>
            <a:off x="640080" y="1956816"/>
            <a:ext cx="10911535" cy="950976"/>
          </a:xfrm>
          <a:prstGeom prst="roundRect">
            <a:avLst>
              <a:gd name="adj" fmla="val 8654"/>
            </a:avLst>
          </a:prstGeom>
          <a:solidFill>
            <a:srgbClr val="FFFFFF"/>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6" name="s13 Shape 4"/>
          <p:cNvSpPr/>
          <p:nvPr/>
        </p:nvSpPr>
        <p:spPr>
          <a:xfrm>
            <a:off x="950976" y="2249424"/>
            <a:ext cx="365760" cy="365760"/>
          </a:xfrm>
          <a:prstGeom prst="ellipse">
            <a:avLst/>
          </a:prstGeom>
          <a:solidFill>
            <a:srgbClr val="16233A"/>
          </a:solidFill>
          <a:ln w="12700">
            <a:solidFill>
              <a:srgbClr val="16233A"/>
            </a:solidFill>
            <a:prstDash val="solid"/>
          </a:ln>
        </p:spPr>
      </p:sp>
      <p:sp>
        <p:nvSpPr>
          <p:cNvPr id="7" name="s13 Text 5"/>
          <p:cNvSpPr/>
          <p:nvPr/>
        </p:nvSpPr>
        <p:spPr>
          <a:xfrm>
            <a:off x="950976" y="224942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s13 Text 6"/>
          <p:cNvSpPr/>
          <p:nvPr/>
        </p:nvSpPr>
        <p:spPr>
          <a:xfrm>
            <a:off x="1536192" y="2139696"/>
            <a:ext cx="9631375" cy="310896"/>
          </a:xfrm>
          <a:prstGeom prst="rect">
            <a:avLst/>
          </a:prstGeom>
          <a:noFill/>
          <a:ln/>
        </p:spPr>
        <p:txBody>
          <a:bodyPr wrap="square" lIns="0" tIns="0" rIns="0" bIns="0" rtlCol="0" anchor="ctr"/>
          <a:lstStyle/>
          <a:p>
            <a:pPr indent="0" marL="0">
              <a:buNone/>
            </a:pPr>
            <a:r>
              <a:rPr lang="en-US" sz="1450" dirty="0">
                <a:solidFill>
                  <a:srgbClr val="16233A"/>
                </a:solidFill>
                <a:latin typeface="Calibri" pitchFamily="34" charset="0"/>
                <a:ea typeface="Calibri" pitchFamily="34" charset="-122"/>
                <a:cs typeface="Calibri" pitchFamily="34" charset="-120"/>
              </a:rPr>
              <a:t>Parallelism (n.d.). In Grammarly Blog.</a:t>
            </a:r>
            <a:endParaRPr lang="en-US" sz="1450" dirty="0"/>
          </a:p>
        </p:txBody>
      </p:sp>
      <p:sp>
        <p:nvSpPr>
          <p:cNvPr id="9" name="s13 Text 7">
            <a:hlinkClick r:id="rId1" tooltip=""/>
          </p:cNvPr>
          <p:cNvSpPr/>
          <p:nvPr/>
        </p:nvSpPr>
        <p:spPr>
          <a:xfrm>
            <a:off x="1536192" y="2468880"/>
            <a:ext cx="9631375" cy="292608"/>
          </a:xfrm>
          <a:prstGeom prst="rect">
            <a:avLst/>
          </a:prstGeom>
          <a:noFill/>
          <a:ln/>
        </p:spPr>
        <p:txBody>
          <a:bodyPr wrap="square" lIns="0" tIns="0" rIns="0" bIns="0" rtlCol="0" anchor="ctr"/>
          <a:lstStyle/>
          <a:p>
            <a:pPr indent="0" marL="0">
              <a:buNone/>
            </a:pPr>
            <a:r>
              <a:rPr lang="en-US" sz="1200" u="none" dirty="0">
                <a:solidFill>
                  <a:srgbClr val="B4832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https://www.grammarly.com/blog/parallelism/</a:t>
            </a:r>
            <a:endParaRPr lang="en-US" sz="1200" dirty="0"/>
          </a:p>
        </p:txBody>
      </p:sp>
      <p:sp>
        <p:nvSpPr>
          <p:cNvPr id="10" name="s13 Shape 8"/>
          <p:cNvSpPr/>
          <p:nvPr/>
        </p:nvSpPr>
        <p:spPr>
          <a:xfrm>
            <a:off x="640080" y="3090672"/>
            <a:ext cx="10911535" cy="950976"/>
          </a:xfrm>
          <a:prstGeom prst="roundRect">
            <a:avLst>
              <a:gd name="adj" fmla="val 8654"/>
            </a:avLst>
          </a:prstGeom>
          <a:solidFill>
            <a:srgbClr val="F6F8FB"/>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11" name="s13 Shape 9"/>
          <p:cNvSpPr/>
          <p:nvPr/>
        </p:nvSpPr>
        <p:spPr>
          <a:xfrm>
            <a:off x="950976" y="3383280"/>
            <a:ext cx="365760" cy="365760"/>
          </a:xfrm>
          <a:prstGeom prst="ellipse">
            <a:avLst/>
          </a:prstGeom>
          <a:solidFill>
            <a:srgbClr val="16233A"/>
          </a:solidFill>
          <a:ln w="12700">
            <a:solidFill>
              <a:srgbClr val="16233A"/>
            </a:solidFill>
            <a:prstDash val="solid"/>
          </a:ln>
        </p:spPr>
      </p:sp>
      <p:sp>
        <p:nvSpPr>
          <p:cNvPr id="12" name="s13 Text 10"/>
          <p:cNvSpPr/>
          <p:nvPr/>
        </p:nvSpPr>
        <p:spPr>
          <a:xfrm>
            <a:off x="950976" y="33832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s13 Text 11"/>
          <p:cNvSpPr/>
          <p:nvPr/>
        </p:nvSpPr>
        <p:spPr>
          <a:xfrm>
            <a:off x="1536192" y="3273552"/>
            <a:ext cx="9631375" cy="310896"/>
          </a:xfrm>
          <a:prstGeom prst="rect">
            <a:avLst/>
          </a:prstGeom>
          <a:noFill/>
          <a:ln/>
        </p:spPr>
        <p:txBody>
          <a:bodyPr wrap="square" lIns="0" tIns="0" rIns="0" bIns="0" rtlCol="0" anchor="ctr"/>
          <a:lstStyle/>
          <a:p>
            <a:pPr indent="0" marL="0">
              <a:buNone/>
            </a:pPr>
            <a:r>
              <a:rPr lang="en-US" sz="1450" dirty="0">
                <a:solidFill>
                  <a:srgbClr val="16233A"/>
                </a:solidFill>
                <a:latin typeface="Calibri" pitchFamily="34" charset="0"/>
                <a:ea typeface="Calibri" pitchFamily="34" charset="-122"/>
                <a:cs typeface="Calibri" pitchFamily="34" charset="-120"/>
              </a:rPr>
              <a:t>Macleod, S. (2002, November 15). Parallel Structure or Parallelism [Video file].</a:t>
            </a:r>
            <a:endParaRPr lang="en-US" sz="1450" dirty="0"/>
          </a:p>
        </p:txBody>
      </p:sp>
      <p:sp>
        <p:nvSpPr>
          <p:cNvPr id="14" name="s13 Text 12">
            <a:hlinkClick r:id="rId2" tooltip=""/>
          </p:cNvPr>
          <p:cNvSpPr/>
          <p:nvPr/>
        </p:nvSpPr>
        <p:spPr>
          <a:xfrm>
            <a:off x="1536192" y="3602736"/>
            <a:ext cx="9631375" cy="292608"/>
          </a:xfrm>
          <a:prstGeom prst="rect">
            <a:avLst/>
          </a:prstGeom>
          <a:noFill/>
          <a:ln/>
        </p:spPr>
        <p:txBody>
          <a:bodyPr wrap="square" lIns="0" tIns="0" rIns="0" bIns="0" rtlCol="0" anchor="ctr"/>
          <a:lstStyle/>
          <a:p>
            <a:pPr indent="0" marL="0">
              <a:buNone/>
            </a:pPr>
            <a:r>
              <a:rPr lang="en-US" sz="1200" u="none" dirty="0">
                <a:solidFill>
                  <a:srgbClr val="B4832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https://www.youtube.com/watch?v=qvDNvS2M3QA</a:t>
            </a:r>
            <a:endParaRPr lang="en-US" sz="1200" dirty="0"/>
          </a:p>
        </p:txBody>
      </p:sp>
      <p:sp>
        <p:nvSpPr>
          <p:cNvPr id="15" name="s13 Shape 13"/>
          <p:cNvSpPr/>
          <p:nvPr/>
        </p:nvSpPr>
        <p:spPr>
          <a:xfrm>
            <a:off x="640080" y="4224528"/>
            <a:ext cx="10911535" cy="950976"/>
          </a:xfrm>
          <a:prstGeom prst="roundRect">
            <a:avLst>
              <a:gd name="adj" fmla="val 8654"/>
            </a:avLst>
          </a:prstGeom>
          <a:solidFill>
            <a:srgbClr val="FFFFFF"/>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16" name="s13 Shape 14"/>
          <p:cNvSpPr/>
          <p:nvPr/>
        </p:nvSpPr>
        <p:spPr>
          <a:xfrm>
            <a:off x="950976" y="4517136"/>
            <a:ext cx="365760" cy="365760"/>
          </a:xfrm>
          <a:prstGeom prst="ellipse">
            <a:avLst/>
          </a:prstGeom>
          <a:solidFill>
            <a:srgbClr val="16233A"/>
          </a:solidFill>
          <a:ln w="12700">
            <a:solidFill>
              <a:srgbClr val="16233A"/>
            </a:solidFill>
            <a:prstDash val="solid"/>
          </a:ln>
        </p:spPr>
      </p:sp>
      <p:sp>
        <p:nvSpPr>
          <p:cNvPr id="17" name="s13 Text 15"/>
          <p:cNvSpPr/>
          <p:nvPr/>
        </p:nvSpPr>
        <p:spPr>
          <a:xfrm>
            <a:off x="950976" y="451713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s13 Text 16"/>
          <p:cNvSpPr/>
          <p:nvPr/>
        </p:nvSpPr>
        <p:spPr>
          <a:xfrm>
            <a:off x="1536192" y="4407408"/>
            <a:ext cx="9631375" cy="310896"/>
          </a:xfrm>
          <a:prstGeom prst="rect">
            <a:avLst/>
          </a:prstGeom>
          <a:noFill/>
          <a:ln/>
        </p:spPr>
        <p:txBody>
          <a:bodyPr wrap="square" lIns="0" tIns="0" rIns="0" bIns="0" rtlCol="0" anchor="ctr"/>
          <a:lstStyle/>
          <a:p>
            <a:pPr indent="0" marL="0">
              <a:buNone/>
            </a:pPr>
            <a:r>
              <a:rPr lang="en-US" sz="1450" dirty="0">
                <a:solidFill>
                  <a:srgbClr val="16233A"/>
                </a:solidFill>
                <a:latin typeface="Calibri" pitchFamily="34" charset="0"/>
                <a:ea typeface="Calibri" pitchFamily="34" charset="-122"/>
                <a:cs typeface="Calibri" pitchFamily="34" charset="-120"/>
              </a:rPr>
              <a:t>Evergreen Writing Center.</a:t>
            </a:r>
            <a:endParaRPr lang="en-US" sz="1450" dirty="0"/>
          </a:p>
        </p:txBody>
      </p:sp>
      <p:sp>
        <p:nvSpPr>
          <p:cNvPr id="19" name="s13 Text 17">
            <a:hlinkClick r:id="rId3" tooltip=""/>
          </p:cNvPr>
          <p:cNvSpPr/>
          <p:nvPr/>
        </p:nvSpPr>
        <p:spPr>
          <a:xfrm>
            <a:off x="1536192" y="4736592"/>
            <a:ext cx="9631375" cy="292608"/>
          </a:xfrm>
          <a:prstGeom prst="rect">
            <a:avLst/>
          </a:prstGeom>
          <a:noFill/>
          <a:ln/>
        </p:spPr>
        <p:txBody>
          <a:bodyPr wrap="square" lIns="0" tIns="0" rIns="0" bIns="0" rtlCol="0" anchor="ctr"/>
          <a:lstStyle/>
          <a:p>
            <a:pPr indent="0" marL="0">
              <a:buNone/>
            </a:pPr>
            <a:r>
              <a:rPr lang="en-US" sz="1200" u="none" dirty="0">
                <a:solidFill>
                  <a:srgbClr val="B4832B"/>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https://www.evergreen.edu/sites/default/files/writingcenter/handouts/grammar/parallel.pdf</a:t>
            </a:r>
            <a:endParaRPr lang="en-US" sz="1200" dirty="0"/>
          </a:p>
        </p:txBody>
      </p:sp>
      <p:sp>
        <p:nvSpPr>
          <p:cNvPr id="20" name="s13 Shape 18"/>
          <p:cNvSpPr/>
          <p:nvPr/>
        </p:nvSpPr>
        <p:spPr>
          <a:xfrm>
            <a:off x="640080" y="5358384"/>
            <a:ext cx="10911535" cy="658368"/>
          </a:xfrm>
          <a:prstGeom prst="roundRect">
            <a:avLst>
              <a:gd name="adj" fmla="val 12500"/>
            </a:avLst>
          </a:prstGeom>
          <a:solidFill>
            <a:srgbClr val="F6F8FB"/>
          </a:solidFill>
          <a:ln w="12700">
            <a:solidFill>
              <a:srgbClr val="DFE5EE"/>
            </a:solidFill>
            <a:prstDash val="solid"/>
          </a:ln>
          <a:effectLst>
            <a:outerShdw sx="100000" sy="100000" kx="0" ky="0" algn="bl" rotWithShape="0" blurRad="177800" dist="38100" dir="5400000">
              <a:srgbClr val="9AA7BC">
                <a:alpha val="28000"/>
              </a:srgbClr>
            </a:outerShdw>
          </a:effectLst>
        </p:spPr>
      </p:sp>
      <p:sp>
        <p:nvSpPr>
          <p:cNvPr id="21" name="s13 Text 19"/>
          <p:cNvSpPr/>
          <p:nvPr/>
        </p:nvSpPr>
        <p:spPr>
          <a:xfrm>
            <a:off x="950976" y="5358384"/>
            <a:ext cx="10289743" cy="658368"/>
          </a:xfrm>
          <a:prstGeom prst="rect">
            <a:avLst/>
          </a:prstGeom>
          <a:noFill/>
          <a:ln/>
        </p:spPr>
        <p:txBody>
          <a:bodyPr wrap="square" lIns="0" tIns="0" rIns="0" bIns="0" rtlCol="0" anchor="ctr"/>
          <a:lstStyle/>
          <a:p>
            <a:pPr indent="0" marL="0">
              <a:buNone/>
            </a:pPr>
            <a:r>
              <a:rPr lang="en-US" sz="1300" i="1" dirty="0">
                <a:solidFill>
                  <a:srgbClr val="3B455C"/>
                </a:solidFill>
                <a:latin typeface="Calibri" pitchFamily="34" charset="0"/>
                <a:ea typeface="Calibri" pitchFamily="34" charset="-122"/>
                <a:cs typeface="Calibri" pitchFamily="34" charset="-120"/>
              </a:rPr>
              <a:t>Source presentation: “Parallelism (in Grammar)” — Iffat Jahan Suchona, Department of English, University of Dhaka.</a:t>
            </a:r>
            <a:endParaRPr lang="en-US" sz="1300" dirty="0"/>
          </a:p>
        </p:txBody>
      </p:sp>
      <p:sp>
        <p:nvSpPr>
          <p:cNvPr id="22" name="footDeck"/>
          <p:cNvSpPr/>
          <p:nvPr/>
        </p:nvSpPr>
        <p:spPr>
          <a:xfrm>
            <a:off x="640080" y="6345936"/>
            <a:ext cx="4023360" cy="256032"/>
          </a:xfrm>
          <a:prstGeom prst="rect">
            <a:avLst/>
          </a:prstGeom>
          <a:noFill/>
          <a:ln/>
        </p:spPr>
        <p:txBody>
          <a:bodyPr wrap="square" lIns="0" tIns="0" rIns="0" bIns="0" rtlCol="0" anchor="ctr"/>
          <a:lstStyle/>
          <a:p>
            <a:pPr indent="0" marL="0">
              <a:buNone/>
            </a:pPr>
            <a:r>
              <a:rPr lang="en-US" sz="950" spc="60" kern="0" dirty="0">
                <a:solidFill>
                  <a:srgbClr val="77839A"/>
                </a:solidFill>
                <a:latin typeface="Calibri" pitchFamily="34" charset="0"/>
                <a:ea typeface="Calibri" pitchFamily="34" charset="-122"/>
                <a:cs typeface="Calibri" pitchFamily="34" charset="-120"/>
              </a:rPr>
              <a:t>Parallelism (in Grammar)</a:t>
            </a:r>
            <a:endParaRPr lang="en-US" sz="950" dirty="0"/>
          </a:p>
        </p:txBody>
      </p:sp>
      <p:sp>
        <p:nvSpPr>
          <p:cNvPr id="23" name="footNav"/>
          <p:cNvSpPr/>
          <p:nvPr/>
        </p:nvSpPr>
        <p:spPr>
          <a:xfrm>
            <a:off x="7528255" y="6345936"/>
            <a:ext cx="4023360" cy="256032"/>
          </a:xfrm>
          <a:prstGeom prst="rect">
            <a:avLst/>
          </a:prstGeom>
          <a:noFill/>
          <a:ln/>
        </p:spPr>
        <p:txBody>
          <a:bodyPr wrap="square" lIns="0" tIns="0" rIns="0" bIns="0" rtlCol="0" anchor="ctr"/>
          <a:lstStyle/>
          <a:p>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4" action="ppaction://hlinksldjump" tooltip="">
                  <a:extLst>
                    <a:ext uri="{A12FA001-AC4F-418D-AE19-62706E023703}">
                      <ahyp:hlinkClr xmlns:ahyp="http://schemas.microsoft.com/office/drawing/2018/hyperlinkcolor" val="tx"/>
                    </a:ext>
                  </a:extLst>
                </a:hlinkClick>
              </a:rPr>
              <a:t>CONTENTS</a:t>
            </a:r>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5" action="ppaction://hlinksldjump" tooltip="">
                  <a:extLst>
                    <a:ext uri="{A12FA001-AC4F-418D-AE19-62706E023703}">
                      <ahyp:hlinkClr xmlns:ahyp="http://schemas.microsoft.com/office/drawing/2018/hyperlinkcolor" val="tx"/>
                    </a:ext>
                  </a:extLst>
                </a:hlinkClick>
              </a:rPr>
              <a:t>     ‹ </a:t>
            </a:r>
            <a:pPr algn="r" indent="0" marL="0">
              <a:buNone/>
            </a:pPr>
            <a:r>
              <a:rPr lang="en-US" sz="950" u="none" spc="80" kern="0" dirty="0">
                <a:solidFill>
                  <a:srgbClr val="77839A"/>
                </a:solidFill>
                <a:latin typeface="Calibri" pitchFamily="34" charset="0"/>
                <a:ea typeface="Calibri" pitchFamily="34" charset="-122"/>
                <a:cs typeface="Calibri" pitchFamily="34" charset="-120"/>
                <a:hlinkClick r:id="rId6" action="ppaction://hlinksldjump" tooltip="">
                  <a:extLst>
                    <a:ext uri="{A12FA001-AC4F-418D-AE19-62706E023703}">
                      <ahyp:hlinkClr xmlns:ahyp="http://schemas.microsoft.com/office/drawing/2018/hyperlinkcolor" val="tx"/>
                    </a:ext>
                  </a:extLst>
                </a:hlinkClick>
              </a:rPr>
              <a:t> › </a:t>
            </a:r>
            <a:pPr algn="r" indent="0" marL="0">
              <a:buNone/>
            </a:pPr>
            <a:r>
              <a:rPr lang="en-US" sz="950" b="1" spc="80" kern="0" dirty="0">
                <a:solidFill>
                  <a:srgbClr val="16233A"/>
                </a:solidFill>
                <a:latin typeface="Calibri" pitchFamily="34" charset="0"/>
                <a:ea typeface="Calibri" pitchFamily="34" charset="-122"/>
                <a:cs typeface="Calibri" pitchFamily="34" charset="-120"/>
              </a:rPr>
              <a:t>    13 / 14</a:t>
            </a:r>
            <a:endParaRPr lang="en-US" sz="950" dirty="0"/>
          </a:p>
        </p:txBody>
      </p:sp>
    </p:spTree>
  </p:cSld>
  <p:clrMapOvr>
    <a:masterClrMapping/>
  </p:clrMapOvr>
  <p:transition xmlns:p14="http://schemas.microsoft.com/office/powerpoint/2010/main" spd="med" p14:dur="500">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233A"/>
        </a:solidFill>
      </p:bgPr>
    </p:bg>
    <p:spTree>
      <p:nvGrpSpPr>
        <p:cNvPr id="1" name=""/>
        <p:cNvGrpSpPr/>
        <p:nvPr/>
      </p:nvGrpSpPr>
      <p:grpSpPr>
        <a:xfrm>
          <a:off x="0" y="0"/>
          <a:ext cx="0" cy="0"/>
          <a:chOff x="0" y="0"/>
          <a:chExt cx="0" cy="0"/>
        </a:xfrm>
      </p:grpSpPr>
      <p:sp>
        <p:nvSpPr>
          <p:cNvPr id="2" name="s14 Text 0"/>
          <p:cNvSpPr/>
          <p:nvPr/>
        </p:nvSpPr>
        <p:spPr>
          <a:xfrm>
            <a:off x="640080" y="2157984"/>
            <a:ext cx="7315200" cy="365760"/>
          </a:xfrm>
          <a:prstGeom prst="rect">
            <a:avLst/>
          </a:prstGeom>
          <a:noFill/>
          <a:ln/>
        </p:spPr>
        <p:txBody>
          <a:bodyPr wrap="square" lIns="0" tIns="0" rIns="0" bIns="0" rtlCol="0" anchor="ctr"/>
          <a:lstStyle/>
          <a:p>
            <a:pPr indent="0" marL="0">
              <a:buNone/>
            </a:pPr>
            <a:r>
              <a:rPr lang="en-US" sz="1200" b="1" spc="400" kern="0" dirty="0">
                <a:solidFill>
                  <a:srgbClr val="B4832B"/>
                </a:solidFill>
                <a:latin typeface="Calibri" pitchFamily="34" charset="0"/>
                <a:ea typeface="Calibri" pitchFamily="34" charset="-122"/>
                <a:cs typeface="Calibri" pitchFamily="34" charset="-120"/>
              </a:rPr>
              <a:t>THANK YOU</a:t>
            </a:r>
            <a:endParaRPr lang="en-US" sz="1200" dirty="0"/>
          </a:p>
        </p:txBody>
      </p:sp>
      <p:sp>
        <p:nvSpPr>
          <p:cNvPr id="3" name="s14 Text 1"/>
          <p:cNvSpPr/>
          <p:nvPr/>
        </p:nvSpPr>
        <p:spPr>
          <a:xfrm>
            <a:off x="640080" y="2651760"/>
            <a:ext cx="6583680" cy="786384"/>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Same job, same form.</a:t>
            </a:r>
            <a:endParaRPr lang="en-US" sz="4000" dirty="0"/>
          </a:p>
        </p:txBody>
      </p:sp>
      <p:sp>
        <p:nvSpPr>
          <p:cNvPr id="4" name="s14 Text 2"/>
          <p:cNvSpPr/>
          <p:nvPr/>
        </p:nvSpPr>
        <p:spPr>
          <a:xfrm>
            <a:off x="640080" y="3584448"/>
            <a:ext cx="6766560" cy="822960"/>
          </a:xfrm>
          <a:prstGeom prst="rect">
            <a:avLst/>
          </a:prstGeom>
          <a:noFill/>
          <a:ln/>
        </p:spPr>
        <p:txBody>
          <a:bodyPr wrap="square" lIns="0" tIns="0" rIns="0" bIns="0" rtlCol="0" anchor="ctr"/>
          <a:lstStyle/>
          <a:p>
            <a:pPr indent="0" marL="0">
              <a:lnSpc>
                <a:spcPts val="2300"/>
              </a:lnSpc>
              <a:buNone/>
            </a:pPr>
            <a:r>
              <a:rPr lang="en-US" sz="1550" dirty="0">
                <a:solidFill>
                  <a:srgbClr val="C7CFDD"/>
                </a:solidFill>
                <a:latin typeface="Calibri" pitchFamily="34" charset="0"/>
                <a:ea typeface="Calibri" pitchFamily="34" charset="-122"/>
                <a:cs typeface="Calibri" pitchFamily="34" charset="-120"/>
              </a:rPr>
              <a:t>Similar phrases or clauses, written in the same pattern of words — in a sentence, in a list, in every document you send.</a:t>
            </a:r>
            <a:endParaRPr lang="en-US" sz="1550" dirty="0"/>
          </a:p>
        </p:txBody>
      </p:sp>
      <p:sp>
        <p:nvSpPr>
          <p:cNvPr id="5" name="s14 Shape 3"/>
          <p:cNvSpPr/>
          <p:nvPr/>
        </p:nvSpPr>
        <p:spPr>
          <a:xfrm>
            <a:off x="640080" y="4590288"/>
            <a:ext cx="6766560" cy="969264"/>
          </a:xfrm>
          <a:prstGeom prst="roundRect">
            <a:avLst>
              <a:gd name="adj" fmla="val 9434"/>
            </a:avLst>
          </a:prstGeom>
          <a:solidFill>
            <a:srgbClr val="16233A"/>
          </a:solidFill>
          <a:ln w="12700">
            <a:solidFill>
              <a:srgbClr val="2A3C5E"/>
            </a:solidFill>
            <a:prstDash val="solid"/>
          </a:ln>
        </p:spPr>
      </p:sp>
      <p:sp>
        <p:nvSpPr>
          <p:cNvPr id="6" name="s14 Text 4"/>
          <p:cNvSpPr/>
          <p:nvPr/>
        </p:nvSpPr>
        <p:spPr>
          <a:xfrm>
            <a:off x="969264" y="4590288"/>
            <a:ext cx="6217920" cy="969264"/>
          </a:xfrm>
          <a:prstGeom prst="rect">
            <a:avLst/>
          </a:prstGeom>
          <a:noFill/>
          <a:ln/>
        </p:spPr>
        <p:txBody>
          <a:bodyPr wrap="square" lIns="0" tIns="0" rIns="0" bIns="0" rtlCol="0" anchor="ctr"/>
          <a:lstStyle/>
          <a:p>
            <a:pPr indent="0" marL="0">
              <a:buNone/>
            </a:pPr>
            <a:r>
              <a:rPr lang="en-US" sz="1400" dirty="0">
                <a:solidFill>
                  <a:srgbClr val="8794AB"/>
                </a:solidFill>
                <a:latin typeface="Calibri" pitchFamily="34" charset="0"/>
                <a:ea typeface="Calibri" pitchFamily="34" charset="-122"/>
                <a:cs typeface="Calibri" pitchFamily="34" charset="-120"/>
              </a:rPr>
              <a:t>Questions   ·   </a:t>
            </a:r>
            <a:pPr indent="0" marL="0">
              <a:buNone/>
            </a:pPr>
            <a:r>
              <a:rPr lang="en-US" sz="1400" b="1" dirty="0">
                <a:solidFill>
                  <a:srgbClr val="B4832B"/>
                </a:solidFill>
                <a:latin typeface="Calibri" pitchFamily="34" charset="0"/>
                <a:ea typeface="Calibri" pitchFamily="34" charset="-122"/>
                <a:cs typeface="Calibri" pitchFamily="34" charset="-120"/>
              </a:rPr>
              <a:t>iffatsuchona@gmail.com</a:t>
            </a:r>
            <a:pPr indent="0" marL="0">
              <a:buNone/>
            </a:pPr>
            <a:r>
              <a:rPr lang="en-US" sz="1400" dirty="0">
                <a:solidFill>
                  <a:srgbClr val="8794AB"/>
                </a:solidFill>
                <a:latin typeface="Calibri" pitchFamily="34" charset="0"/>
                <a:ea typeface="Calibri" pitchFamily="34" charset="-122"/>
                <a:cs typeface="Calibri" pitchFamily="34" charset="-120"/>
              </a:rPr>
              <a:t>   ·   01681444197</a:t>
            </a:r>
            <a:endParaRPr lang="en-US" sz="1400" dirty="0"/>
          </a:p>
        </p:txBody>
      </p:sp>
      <p:pic>
        <p:nvPicPr>
          <p:cNvPr id="7" name="s14 Image 0" descr="preencoded.png">    </p:cNvPr>
          <p:cNvPicPr>
            <a:picLocks noChangeAspect="1"/>
          </p:cNvPicPr>
          <p:nvPr/>
        </p:nvPicPr>
        <p:blipFill>
          <a:blip r:embed="rId1"/>
          <a:stretch>
            <a:fillRect/>
          </a:stretch>
        </p:blipFill>
        <p:spPr>
          <a:xfrm>
            <a:off x="7882128" y="2542032"/>
            <a:ext cx="3730752" cy="1618488"/>
          </a:xfrm>
          <a:prstGeom prst="rect">
            <a:avLst/>
          </a:prstGeom>
        </p:spPr>
      </p:pic>
      <p:sp>
        <p:nvSpPr>
          <p:cNvPr id="8" name="s14 Text 5"/>
          <p:cNvSpPr/>
          <p:nvPr/>
        </p:nvSpPr>
        <p:spPr>
          <a:xfrm>
            <a:off x="7882128" y="4352544"/>
            <a:ext cx="3730752" cy="548640"/>
          </a:xfrm>
          <a:prstGeom prst="rect">
            <a:avLst/>
          </a:prstGeom>
          <a:noFill/>
          <a:ln/>
        </p:spPr>
        <p:txBody>
          <a:bodyPr wrap="square" lIns="0" tIns="0" rIns="0" bIns="0" rtlCol="0" anchor="ctr"/>
          <a:lstStyle/>
          <a:p>
            <a:pPr algn="r" indent="0" marL="0">
              <a:lnSpc>
                <a:spcPts val="1700"/>
              </a:lnSpc>
              <a:buNone/>
            </a:pPr>
            <a:r>
              <a:rPr lang="en-US" sz="1150" dirty="0">
                <a:solidFill>
                  <a:srgbClr val="8794AB"/>
                </a:solidFill>
                <a:latin typeface="Calibri" pitchFamily="34" charset="0"/>
                <a:ea typeface="Calibri" pitchFamily="34" charset="-122"/>
                <a:cs typeface="Calibri" pitchFamily="34" charset="-120"/>
              </a:rPr>
              <a:t>Iffat Jahan Suchona  ·  Department of English, University of Dhaka</a:t>
            </a:r>
            <a:endParaRPr lang="en-US" sz="1150" dirty="0"/>
          </a:p>
        </p:txBody>
      </p:sp>
    </p:spTree>
  </p:cSld>
  <p:clrMapOvr>
    <a:masterClrMapping/>
  </p:clrMapOvr>
  <p:transition xmlns:p14="http://schemas.microsoft.com/office/powerpoint/2010/main" spd="med" p14:dur="5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Parallelism (in Grammar)</dc:title>
  <dc:subject>Adapted from the presentation by Iffat Jahan Suchona</dc:subject>
  <dc:creator>Parallelism (in Grammar)</dc:creator>
  <cp:lastModifiedBy>Parallelism (in Grammar)</cp:lastModifiedBy>
  <cp:revision>1</cp:revision>
  <dcterms:created xsi:type="dcterms:W3CDTF">2026-07-25T17:52:15Z</dcterms:created>
  <dcterms:modified xsi:type="dcterms:W3CDTF">2026-07-25T17:52:15Z</dcterms:modified>
</cp:coreProperties>
</file>