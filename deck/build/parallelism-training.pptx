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Welcome. Sixty minutes, and we're spending most of it on your own material, not mine. You all know what parallelism is. The goal today is narrower: catch it in your own drafts, before review does.
POINT AT the right-hand panel: pink means the structure broke, green means it holds. That's the only colour code in the deck — you'll see it about forty times.
EXPECT: low energy at minute one; that's fine, the icebreaker does the waking up.
IF THE ROOM STALLS: ask for a show of hands — who has had a reviewer say 'these objectives feel off' without saying why? Most hands go up. That's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DO: put this up and say nothing for a slow ten count. Let them read it twice.
SAY: This is a famous line. I've done something to it. Don't tell me what — tell me how it feels.
EXPECT: 'clunky', 'wordy', 'off', 'someone padded it'. Almost nobody names the grammar on the first pass, and that is exactly the finding you want on record.
DO: write two or three of their words on the whiteboard — you will point back at them in four minutes.
IF THE ROOM STALLS: ask 'would you post this on LinkedIn as a quote?' Nobody would. Ask why not — that unlocks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Caesar wrote it like this. Read the real line, then the broken one again, back to back.
DO: advance slowly — the words re-assemble one at a time (Morph, by word). Let people watch it land; don't talk over the animation.
SAY: I didn't add information. I made the parts match. That's the whole move.
EXPECT: a laugh or an audible 'oh'. Someone usually says 'I read that first version three times and couldn't see it'. Perfect — that's the point of the next slide.
IF THE ROOM STALLS: count the verbs out loud — came, saw, conquered — one beat each. The rhythm does the arguing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DO: put this up and say nothing for a slow ten count. Let them read it twice.
SAY: This is a famous line. I've done something to it. Don't tell me what — tell me how it feels.
EXPECT: 'clunky', 'wordy', 'off', 'someone padded it'. Almost nobody names the grammar on the first pass, and that is exactly the finding you want on record.
DO: write two or three of their words on the whiteboard — you will point back at them in four minutes.
IF THE ROOM STALLS: ask 'would you post this on LinkedIn as a quote?' Nobody would. Ask why not — that unlocks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Kennedy wrote it like this. Read the real line, then the broken one again, back to back.
DO: advance slowly — the words re-assemble one at a time (Morph, by word). Let people watch it land; don't talk over the animation.
SAY: I didn't add information. I made the parts match. That's the whole move.
EXPECT: a laugh or an audible 'oh'. Someone usually says 'I read that first version three times and couldn't see it'. Perfect — that's the point of the next slide.
IF THE ROOM STALLS: count the verbs out loud — came, saw, conquered — one beat each. The rhythm does the arguing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Point at the whiteboard words. You produced a valid quality finding in four seconds, using no technical vocabulary. Your learners do the same thing — except they blame the subject instead of the sentence.
SAY: That's the reframe for today. Parallelism isn't an editorial nicety. It's load management.
EXPECT: nodding, and often a war story about a course that 'tested fine but felt bad'. Take one, keep it short, it will pay off in the audit exercise.
IF THE ROOM STALLS: name your own example — a module where the fix was purely structural and the satisfaction scores moved. If you don't have one, use the third card: the cost is real even when nobody can name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Most style guides stop at test one — match the words. That's why people still ship broken lists that pass a grammar check.
WALK the three cards. Spend longest on level: Europe, Asia, Belgium is the one everybody recognises and nobody catches in their own outline.
SAY: Rhythm feels like a preference. It isn't — it's the signal readers use to decide whether items are peers.
EXPECT: pushback on rhythm — 'sometimes one item just needs more words'. Agree, then answer: then it may not belong in the list, or the list needs a different frame.
IF THE ROOM STALLS: ask them to invent a fourth item for the middle example. Half the room will produce a country, which proves the test is already installed in their 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If someone in your org treats this as an editing preference, these are the three arguments that end that conversation.
DO: move fast through one and two, then slow right down on three. Say plainly: a broken distractor is a scoring bug.
EXPECT: the assessment point is where SMEs and QA people sit up. Someone may say 'we've been doing that for years'. Don't let the room get defensive — next slide shows it, and the fix is thirty seconds of work.
IF THE ROOM STALLS: ask who has ever passed a quiz on a topic they didn't know. Most people have, and they know exactly how they did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DO: read the left-hand stem and options aloud, then ask for a show of hands for C. It will be near-unanimous.
SAY: Nobody in this room troubleshoots accounts for a living, and we all just got it right. That item measured nothing.
SAY: The three tells are length, hedging, and completeness — the longest, most qualified, most thorough option is almost always the key, and test-wise learners know it.
EXPECT: someone says 'but the correct answer genuinely needs more detail'. Answer: then move the detail into the stem or the feedback, not the option.
IF THE ROOM STALLS: ask them to guess the key on the right-hand version. They can't — that's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Five places. In my experience they break in roughly this order of frequency, and in exactly the reverse order of how expensive they are to fix later.
DO: read the five out loud and ask people to pick the one they're worried about in their current project. Note the tally — you'll use it to decide where to linger.
DO: these five cards are clickable, and they follow you as a rail on the next five slides. Point that out once; people navigate the deck themselves in the practice rounds.
EXPECT: objectives and bullets get most hands. Architecture gets almost none, which is why it's last and why it costs the most.
IF THE ROOM STALLS: pick number one yourself and move — the deep dives create the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most-shipped break in our field, and it survives because each item looks fine on its own line.
DO: read the left column as one sentence, stem included: 'By the end of this module, learners will… understanding of escalation paths.' The grammar failure becomes audible.
SAY: Note what the fix did to 'Empathy'. Forcing the form forced a measurable behaviour. Parallelism is doing instructional design work here, not tidying.
EXPECT: recognition, sometimes discomfort — many will spot their own current draft. Say plainly that nobody's work is on the screen.
IF THE ROOM STALLS: put your own stem on the board and have them read each item into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Bullets are where parallelism breaks fastest, because bullets get written last and edited by three people.
DO: cover the right column and ask which left-hand item is weakest. People pick 'Better for everyone honestly' — then point out they only found it because it broke shape. Broken form hides weak content; matched form exposes it.
SAY: When five items take one grammatical shape, a sixth weak item cannot hide.
EXPECT: a debate about whether 'Cost' means high or low. That ambiguity is the cost of the break — the fix removed it.
IF THE ROOM STALLS: have someone read the left list at speed. The stumble is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Navigation is the most-read text in your course and the least-reviewed. Nobody proofreads a menu.
DO: ask what 'Start here' delivers versus 'Overview'. The room won't agree — that's the defect. Two labels, one destination class, no way to tell them apart.
SAY: Mixed labels don't just look untidy; they cost clicks. Every unpredictable label is a click spent finding out.
EXPECT: someone defends 'Start here' as friendly. Fair — then make them all imperative: Start, Set up, Submit, Understand, Look up. Parallel is the requirement; register is your choice.
IF THE ROOM STALLS: pull up any LMS menu in the room and read it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Slide nine was about options. This one is about stems, and it's the same disease.
DO: read all four left-hand stems in a row. The room feels the gear change at each one. That gear change is measurement noise.
SAY: Mixed stem formats inflate the difficulty of every item equally — which means your item statistics are measuring your formatting.
EXPECT: 'we're told to vary question types for engagement.' Distinguish item type from stem form: vary the type deliberately, keep the stem frame constant within a type.
IF THE ROOM STALLS: ask what a low score on the left-hand quiz would prove. Nothing you could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expensive one. Wording breaks cost minutes; architecture breaks cost a rebuild.
DO: point out that every left-hand title is defensible on its own. The break only exists across the set — which is exactly why solo authors miss it and why you review titles as a column, never one at a time.
SAY: Read the right-hand column. You now know the sequence, the scope and what module five would be, without opening anything.
EXPECT: a genuine objection — 'introductions are standard'. Agree, and separate it: front matter isn't a module. Numbering it forces it into a series it doesn't belong to.
IF THE ROOM STALLS: ask what module five is, for each column. Only the right-hand one has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Three moves, and step two is the one everybody skips. If you don't name the form out loud, you end up matching vibes.
DO: demo it live on the objectives list from slide eleven, narrating each step in about forty seconds. Speed is the selling point.
SAY: Step three has a bonus. When an item won't fit, you've found a level problem — and that's a content finding, not a wording one.
EXPECT: someone asks for a checklist. This slide is it; tell them to screenshot it now, because it's the tool for all three practice rounds.
IF THE ROOM STALLS: ask for a volunteer list from a live project and run the method on it in real time. Two minutes, and the exercises land much harder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DO: hands down, pens out, no discussion. Ninety seconds a set, and call time hard.
SAY: I don't want the rewrite yet. I want the diagnosis: which item, which test.
DO: take answers set by set, one person each. Set C is the teaching moment — the form is flawless, so anyone hunting only grammar declares it clean.
EXPECT: near-perfect scores on A and B, and a genuine split on C. That split is the argument for test two.
IF THE ROOM STALLS on C: ask 'is Microsoft Office the same kind of thing as a spreadsheet?' It resolves in one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DO: pairs, one scribe, eight minutes. Ask each pair to name the target form before rewriting anything — that's step two and they will try to skip it.
EXPECT: every pair fixes 2, 3 and 5 within three minutes and then argues about 4. Let that argument run; it's the exercise.
SAY when you debrief: item four can be made grammatical — 'Improve customer satisfaction' is a fine verb phrase. It still doesn't belong, because it isn't at the same level: no learner does it on a call, and you can't assess it. Force the match and you expose the level break.
EXPECT: one pair keeps item four and rewrites it as 'Apply three satisfaction-driving behaviours'. That's a strong answer — they promoted the intent to the right altitude.
IF A PAIR STALLS: ask them to read each item into the stem and say who performs the action, and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Something unfinished, please. Auditing a shipped course is entertainment; auditing a draft is work you get paid for.
DO: enforce the swap — people cannot see shape in their own prose, they read their own intent. Ten minutes, five checkpoints, in the order on screen.
SAY: These are the same five places from the field guide, in the same order. That's your standing audit sequence, not just today's exercise.
DO: circulate and ask 'which test did it fail?' A finding without a test name is an opinion, and opinions don't survive an SME review.
EXPECT: the objectives check finds something in nearly every draft, and at least one pair finds a level break in their module titles — the highest-value find of the session. Flag it to the room.
IF A PAIR HAS NOTHING IN PROGRESS: hand them slide fifteen's module titles and have them design module five, or give them your own live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DO: advance and let the rail slide back into the grid before you speak — the bookend is worth three seconds of silence.
SAY: Top row is where to look. Bottom row is what to do. That's the session.
DO: ask each pair for one commitment out loud — which draft, which of the five, by when. Public commitments get done.
EXPECT: energy dips at the summary. Counter it by going straight to commitments instead of recapping content they just practised.
IF THE ROOM STALLS: go first — name the one place in your own current build you'll audit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two lines slowly, in order, and let the second one land. Same words, reversed, same shape — that's the rule performing itself.
SAY: You already had the ear for this; today you got the vocabulary and a repeatable procedure. Find the series, name the form, force the match.
DO: collect the commitments if you haven't, and point at the bottom strip — this deck was built under the constraint it teaches. Invite them to audit it and tell you where it slipped.
EXPECT: someone asks for the slides. Send the deck plus slide sixteen as a one-page job aid.
IF TIME IS SHORT: cut everything except the two lines and the three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10.xml"/><Relationship Id="rId5" Type="http://schemas.openxmlformats.org/officeDocument/2006/relationships/slide" Target="slide2.xm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10.xml"/><Relationship Id="rId5" Type="http://schemas.openxmlformats.org/officeDocument/2006/relationships/slide" Target="slide3.xml"/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4" Type="http://schemas.openxmlformats.org/officeDocument/2006/relationships/slide" Target="slide10.xml"/><Relationship Id="rId5" Type="http://schemas.openxmlformats.org/officeDocument/2006/relationships/slide" Target="slide4.xm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4" Type="http://schemas.openxmlformats.org/officeDocument/2006/relationships/slide" Target="slide10.xml"/><Relationship Id="rId5" Type="http://schemas.openxmlformats.org/officeDocument/2006/relationships/slide" Target="slide5.xm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4" Type="http://schemas.openxmlformats.org/officeDocument/2006/relationships/slide" Target="slide10.xml"/><Relationship Id="rId5" Type="http://schemas.openxmlformats.org/officeDocument/2006/relationships/slide" Target="slide6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" Target="slide5.xml"/><Relationship Id="rId7" Type="http://schemas.openxmlformats.org/officeDocument/2006/relationships/slide" Target="slide10.xml"/><Relationship Id="rId8" Type="http://schemas.openxmlformats.org/officeDocument/2006/relationships/slide" Target="slide7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6.xml"/><Relationship Id="rId6" Type="http://schemas.openxmlformats.org/officeDocument/2006/relationships/slide" Target="slide10.xml"/><Relationship Id="rId7" Type="http://schemas.openxmlformats.org/officeDocument/2006/relationships/slide" Target="slide8.xml"/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10.xml"/><Relationship Id="rId4" Type="http://schemas.openxmlformats.org/officeDocument/2006/relationships/slide" Target="slide9.xml"/><Relationship Id="rId1" Type="http://schemas.openxmlformats.org/officeDocument/2006/relationships/image" Target="../media/Slide-8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slide" Target="slide10.xml"/><Relationship Id="rId1" Type="http://schemas.openxmlformats.org/officeDocument/2006/relationships/image" Target="../media/Slide-9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image" Target="../media/image-10-4.png"/><Relationship Id="rId8" Type="http://schemas.openxmlformats.org/officeDocument/2006/relationships/image" Target="../media/image-10-5.png"/><Relationship Id="rId10" Type="http://schemas.openxmlformats.org/officeDocument/2006/relationships/image" Target="../media/image-10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0.xml"/><Relationship Id="rId13" Type="http://schemas.openxmlformats.org/officeDocument/2006/relationships/slide" Target="slide10.xml"/><Relationship Id="rId14" Type="http://schemas.openxmlformats.org/officeDocument/2006/relationships/slide" Target="slide12.xm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image" Target="../media/image-11-4.png"/><Relationship Id="rId8" Type="http://schemas.openxmlformats.org/officeDocument/2006/relationships/image" Target="../media/image-11-5.png"/><Relationship Id="rId10" Type="http://schemas.openxmlformats.org/officeDocument/2006/relationships/image" Target="../media/image-11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1.xml"/><Relationship Id="rId13" Type="http://schemas.openxmlformats.org/officeDocument/2006/relationships/slide" Target="slide10.xml"/><Relationship Id="rId14" Type="http://schemas.openxmlformats.org/officeDocument/2006/relationships/slide" Target="slide13.xm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image" Target="../media/image-12-4.png"/><Relationship Id="rId8" Type="http://schemas.openxmlformats.org/officeDocument/2006/relationships/image" Target="../media/image-12-5.png"/><Relationship Id="rId10" Type="http://schemas.openxmlformats.org/officeDocument/2006/relationships/image" Target="../media/image-12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2.xml"/><Relationship Id="rId13" Type="http://schemas.openxmlformats.org/officeDocument/2006/relationships/slide" Target="slide10.xml"/><Relationship Id="rId14" Type="http://schemas.openxmlformats.org/officeDocument/2006/relationships/slide" Target="slide14.xm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image" Target="../media/image-13-4.png"/><Relationship Id="rId8" Type="http://schemas.openxmlformats.org/officeDocument/2006/relationships/image" Target="../media/image-13-5.png"/><Relationship Id="rId10" Type="http://schemas.openxmlformats.org/officeDocument/2006/relationships/image" Target="../media/image-13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3.xml"/><Relationship Id="rId13" Type="http://schemas.openxmlformats.org/officeDocument/2006/relationships/slide" Target="slide10.xml"/><Relationship Id="rId14" Type="http://schemas.openxmlformats.org/officeDocument/2006/relationships/slide" Target="slide15.xm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4" Type="http://schemas.openxmlformats.org/officeDocument/2006/relationships/image" Target="../media/image-14-3.png"/><Relationship Id="rId6" Type="http://schemas.openxmlformats.org/officeDocument/2006/relationships/image" Target="../media/image-14-4.png"/><Relationship Id="rId8" Type="http://schemas.openxmlformats.org/officeDocument/2006/relationships/image" Target="../media/image-14-5.png"/><Relationship Id="rId10" Type="http://schemas.openxmlformats.org/officeDocument/2006/relationships/image" Target="../media/image-14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4.xml"/><Relationship Id="rId13" Type="http://schemas.openxmlformats.org/officeDocument/2006/relationships/slide" Target="slide10.xml"/><Relationship Id="rId14" Type="http://schemas.openxmlformats.org/officeDocument/2006/relationships/slide" Target="slide16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image" Target="../media/image-15-4.png"/><Relationship Id="rId8" Type="http://schemas.openxmlformats.org/officeDocument/2006/relationships/image" Target="../media/image-15-5.png"/><Relationship Id="rId10" Type="http://schemas.openxmlformats.org/officeDocument/2006/relationships/image" Target="../media/image-15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15.xml"/><Relationship Id="rId6" Type="http://schemas.openxmlformats.org/officeDocument/2006/relationships/slide" Target="slide10.xml"/><Relationship Id="rId7" Type="http://schemas.openxmlformats.org/officeDocument/2006/relationships/slide" Target="slide17.xml"/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10.xml"/><Relationship Id="rId6" Type="http://schemas.openxmlformats.org/officeDocument/2006/relationships/slide" Target="slide18.xml"/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0.xml"/><Relationship Id="rId6" Type="http://schemas.openxmlformats.org/officeDocument/2006/relationships/slide" Target="slide19.xml"/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0.xml"/><Relationship Id="rId15" Type="http://schemas.openxmlformats.org/officeDocument/2006/relationships/slide" Target="slide20.xml"/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6" Type="http://schemas.openxmlformats.org/officeDocument/2006/relationships/image" Target="../media/image-19-4.png"/><Relationship Id="rId8" Type="http://schemas.openxmlformats.org/officeDocument/2006/relationships/image" Target="../media/image-19-5.png"/><Relationship Id="rId10" Type="http://schemas.openxmlformats.org/officeDocument/2006/relationships/image" Target="../media/image-19-6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5" Type="http://schemas.openxmlformats.org/officeDocument/2006/relationships/slide" Target="slide12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9.xml"/><Relationship Id="rId13" Type="http://schemas.openxmlformats.org/officeDocument/2006/relationships/slide" Target="slide10.xml"/><Relationship Id="rId14" Type="http://schemas.openxmlformats.org/officeDocument/2006/relationships/slide" Target="slide21.xml"/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image" Target="../media/image-20-4.png"/><Relationship Id="rId8" Type="http://schemas.openxmlformats.org/officeDocument/2006/relationships/image" Target="../media/image-20-5.png"/><Relationship Id="rId10" Type="http://schemas.openxmlformats.org/officeDocument/2006/relationships/image" Target="../media/image-20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4" Type="http://schemas.openxmlformats.org/officeDocument/2006/relationships/slide" Target="slide16.xml"/><Relationship Id="rId5" Type="http://schemas.openxmlformats.org/officeDocument/2006/relationships/slide" Target="slide20.xml"/><Relationship Id="rId6" Type="http://schemas.openxmlformats.org/officeDocument/2006/relationships/slide" Target="slide10.xml"/><Relationship Id="rId7" Type="http://schemas.openxmlformats.org/officeDocument/2006/relationships/slide" Target="slide21.xm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1 Image 0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-1463040" y="-1737360"/>
            <a:ext cx="5852160" cy="5852160"/>
          </a:xfrm>
          <a:prstGeom prst="rect">
            <a:avLst/>
          </a:prstGeom>
        </p:spPr>
      </p:pic>
      <p:sp>
        <p:nvSpPr>
          <p:cNvPr id="3" name="s1 Shape 0"/>
          <p:cNvSpPr/>
          <p:nvPr/>
        </p:nvSpPr>
        <p:spPr>
          <a:xfrm>
            <a:off x="566928" y="1207008"/>
            <a:ext cx="6858000" cy="4114800"/>
          </a:xfrm>
          <a:prstGeom prst="roundRect">
            <a:avLst>
              <a:gd name="adj" fmla="val 6222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4" name="s1 Text 1"/>
          <p:cNvSpPr/>
          <p:nvPr/>
        </p:nvSpPr>
        <p:spPr>
          <a:xfrm>
            <a:off x="1133856" y="17007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60-MINUTE WORKING SESSION</a:t>
            </a:r>
            <a:endParaRPr lang="en-US" sz="1150" dirty="0"/>
          </a:p>
        </p:txBody>
      </p:sp>
      <p:sp>
        <p:nvSpPr>
          <p:cNvPr id="5" name="s1 Text 2"/>
          <p:cNvSpPr/>
          <p:nvPr/>
        </p:nvSpPr>
        <p:spPr>
          <a:xfrm>
            <a:off x="1133856" y="2048256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7200" dirty="0"/>
          </a:p>
        </p:txBody>
      </p:sp>
      <p:sp>
        <p:nvSpPr>
          <p:cNvPr id="6" name="s1 Text 3"/>
          <p:cNvSpPr/>
          <p:nvPr/>
        </p:nvSpPr>
        <p:spPr>
          <a:xfrm>
            <a:off x="1133856" y="32552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same shape.</a:t>
            </a:r>
            <a:endParaRPr lang="en-US" sz="2500" dirty="0"/>
          </a:p>
        </p:txBody>
      </p:sp>
      <p:sp>
        <p:nvSpPr>
          <p:cNvPr id="7" name="s1 Text 4"/>
          <p:cNvSpPr/>
          <p:nvPr/>
        </p:nvSpPr>
        <p:spPr>
          <a:xfrm>
            <a:off x="1133856" y="382219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instructional designers and content developers who already know the term — and want to catch it in their own drafts.</a:t>
            </a:r>
            <a:endParaRPr lang="en-US" sz="1450" dirty="0"/>
          </a:p>
        </p:txBody>
      </p:sp>
      <p:sp>
        <p:nvSpPr>
          <p:cNvPr id="8" name="s1 Shape 5"/>
          <p:cNvSpPr/>
          <p:nvPr/>
        </p:nvSpPr>
        <p:spPr>
          <a:xfrm>
            <a:off x="1133856" y="4736592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9" name="s1 Text 6"/>
          <p:cNvSpPr/>
          <p:nvPr/>
        </p:nvSpPr>
        <p:spPr>
          <a:xfrm>
            <a:off x="1133856" y="4736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DECK</a:t>
            </a:r>
            <a:endParaRPr lang="en-US" sz="950" dirty="0"/>
          </a:p>
        </p:txBody>
      </p:sp>
      <p:sp>
        <p:nvSpPr>
          <p:cNvPr id="10" name="s1 Shape 7"/>
          <p:cNvSpPr/>
          <p:nvPr/>
        </p:nvSpPr>
        <p:spPr>
          <a:xfrm>
            <a:off x="3054096" y="4736592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1" name="s1 Text 8"/>
          <p:cNvSpPr/>
          <p:nvPr/>
        </p:nvSpPr>
        <p:spPr>
          <a:xfrm>
            <a:off x="3054096" y="473659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SLIDES</a:t>
            </a:r>
            <a:endParaRPr lang="en-US" sz="950" dirty="0"/>
          </a:p>
        </p:txBody>
      </p:sp>
      <p:sp>
        <p:nvSpPr>
          <p:cNvPr id="12" name="s1 Shape 9"/>
          <p:cNvSpPr/>
          <p:nvPr/>
        </p:nvSpPr>
        <p:spPr>
          <a:xfrm>
            <a:off x="7882128" y="1207008"/>
            <a:ext cx="3739896" cy="4114800"/>
          </a:xfrm>
          <a:prstGeom prst="roundRect">
            <a:avLst>
              <a:gd name="adj" fmla="val 68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3" name="s1 Text 10"/>
          <p:cNvSpPr/>
          <p:nvPr/>
        </p:nvSpPr>
        <p:spPr>
          <a:xfrm>
            <a:off x="8247888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GRAMMAR</a:t>
            </a:r>
            <a:endParaRPr lang="en-US" sz="1050" dirty="0"/>
          </a:p>
        </p:txBody>
      </p:sp>
      <p:sp>
        <p:nvSpPr>
          <p:cNvPr id="14" name="s1 Shape 11"/>
          <p:cNvSpPr/>
          <p:nvPr/>
        </p:nvSpPr>
        <p:spPr>
          <a:xfrm>
            <a:off x="8247888" y="2011680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FF4F6E">
              <a:alpha val="70000"/>
            </a:srgbClr>
          </a:solidFill>
          <a:ln w="12700">
            <a:solidFill>
              <a:srgbClr val="FF4F6E">
                <a:alpha val="90000"/>
              </a:srgbClr>
            </a:solidFill>
            <a:prstDash val="solid"/>
          </a:ln>
        </p:spPr>
      </p:sp>
      <p:sp>
        <p:nvSpPr>
          <p:cNvPr id="15" name="s1 Shape 12"/>
          <p:cNvSpPr/>
          <p:nvPr/>
        </p:nvSpPr>
        <p:spPr>
          <a:xfrm>
            <a:off x="8247888" y="2432304"/>
            <a:ext cx="1166774" cy="256032"/>
          </a:xfrm>
          <a:prstGeom prst="roundRect">
            <a:avLst>
              <a:gd name="adj" fmla="val 50000"/>
            </a:avLst>
          </a:prstGeom>
          <a:solidFill>
            <a:srgbClr val="FF4F6E">
              <a:alpha val="70000"/>
            </a:srgbClr>
          </a:solidFill>
          <a:ln w="12700">
            <a:solidFill>
              <a:srgbClr val="FF4F6E">
                <a:alpha val="90000"/>
              </a:srgbClr>
            </a:solidFill>
            <a:prstDash val="solid"/>
          </a:ln>
        </p:spPr>
      </p:sp>
      <p:sp>
        <p:nvSpPr>
          <p:cNvPr id="16" name="s1 Shape 13"/>
          <p:cNvSpPr/>
          <p:nvPr/>
        </p:nvSpPr>
        <p:spPr>
          <a:xfrm>
            <a:off x="8247888" y="2852928"/>
            <a:ext cx="1739555" cy="256032"/>
          </a:xfrm>
          <a:prstGeom prst="roundRect">
            <a:avLst>
              <a:gd name="adj" fmla="val 50000"/>
            </a:avLst>
          </a:prstGeom>
          <a:solidFill>
            <a:srgbClr val="FF4F6E">
              <a:alpha val="70000"/>
            </a:srgbClr>
          </a:solidFill>
          <a:ln w="12700">
            <a:solidFill>
              <a:srgbClr val="FF4F6E">
                <a:alpha val="90000"/>
              </a:srgbClr>
            </a:solidFill>
            <a:prstDash val="solid"/>
          </a:ln>
        </p:spPr>
      </p:sp>
      <p:sp>
        <p:nvSpPr>
          <p:cNvPr id="17" name="s1 Text 14"/>
          <p:cNvSpPr/>
          <p:nvPr/>
        </p:nvSpPr>
        <p:spPr>
          <a:xfrm>
            <a:off x="10533888" y="2322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1100" dirty="0"/>
          </a:p>
        </p:txBody>
      </p:sp>
      <p:sp>
        <p:nvSpPr>
          <p:cNvPr id="18" name="s1 Shape 15"/>
          <p:cNvSpPr/>
          <p:nvPr/>
        </p:nvSpPr>
        <p:spPr>
          <a:xfrm>
            <a:off x="8247888" y="3310128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2FE0A5">
              <a:alpha val="70000"/>
            </a:srgbClr>
          </a:solidFill>
          <a:ln w="12700">
            <a:solidFill>
              <a:srgbClr val="2FE0A5">
                <a:alpha val="90000"/>
              </a:srgbClr>
            </a:solidFill>
            <a:prstDash val="solid"/>
          </a:ln>
        </p:spPr>
      </p:sp>
      <p:sp>
        <p:nvSpPr>
          <p:cNvPr id="19" name="s1 Shape 16"/>
          <p:cNvSpPr/>
          <p:nvPr/>
        </p:nvSpPr>
        <p:spPr>
          <a:xfrm>
            <a:off x="8247888" y="3730752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2FE0A5">
              <a:alpha val="70000"/>
            </a:srgbClr>
          </a:solidFill>
          <a:ln w="12700">
            <a:solidFill>
              <a:srgbClr val="2FE0A5">
                <a:alpha val="90000"/>
              </a:srgbClr>
            </a:solidFill>
            <a:prstDash val="solid"/>
          </a:ln>
        </p:spPr>
      </p:sp>
      <p:sp>
        <p:nvSpPr>
          <p:cNvPr id="20" name="s1 Shape 17"/>
          <p:cNvSpPr/>
          <p:nvPr/>
        </p:nvSpPr>
        <p:spPr>
          <a:xfrm>
            <a:off x="8247888" y="4151376"/>
            <a:ext cx="2121408" cy="256032"/>
          </a:xfrm>
          <a:prstGeom prst="roundRect">
            <a:avLst>
              <a:gd name="adj" fmla="val 50000"/>
            </a:avLst>
          </a:prstGeom>
          <a:solidFill>
            <a:srgbClr val="2FE0A5">
              <a:alpha val="70000"/>
            </a:srgbClr>
          </a:solidFill>
          <a:ln w="12700">
            <a:solidFill>
              <a:srgbClr val="2FE0A5">
                <a:alpha val="90000"/>
              </a:srgbClr>
            </a:solidFill>
            <a:prstDash val="solid"/>
          </a:ln>
        </p:spPr>
      </p:sp>
      <p:sp>
        <p:nvSpPr>
          <p:cNvPr id="21" name="s1 Text 18"/>
          <p:cNvSpPr/>
          <p:nvPr/>
        </p:nvSpPr>
        <p:spPr>
          <a:xfrm>
            <a:off x="10533888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100" dirty="0"/>
          </a:p>
        </p:txBody>
      </p:sp>
      <p:sp>
        <p:nvSpPr>
          <p:cNvPr id="22" name="s1 Text 19"/>
          <p:cNvSpPr/>
          <p:nvPr/>
        </p:nvSpPr>
        <p:spPr>
          <a:xfrm>
            <a:off x="8247888" y="44988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in this deck uses these two colours the same way.</a:t>
            </a:r>
            <a:endParaRPr lang="en-US" sz="1200" dirty="0"/>
          </a:p>
        </p:txBody>
      </p:sp>
      <p:sp>
        <p:nvSpPr>
          <p:cNvPr id="23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  ·   1 MIN</a:t>
            </a:r>
            <a:endParaRPr lang="en-US" sz="1000" dirty="0"/>
          </a:p>
        </p:txBody>
      </p:sp>
      <p:sp>
        <p:nvSpPr>
          <p:cNvPr id="24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21</a:t>
            </a:r>
            <a:endParaRPr lang="en-US" sz="1000" dirty="0"/>
          </a:p>
        </p:txBody>
      </p:sp>
      <p:sp>
        <p:nvSpPr>
          <p:cNvPr id="25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6" name="navChipText0">
            <a:hlinkClick r:id="rId3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7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8" name="navChipText1">
            <a:hlinkClick r:id="rId4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29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0" name="navChipText2">
            <a:hlinkClick r:id="rId5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 ·  READ IT OUT LOUD</a:t>
            </a:r>
            <a:endParaRPr lang="en-US" sz="1150" dirty="0"/>
          </a:p>
        </p:txBody>
      </p:sp>
      <p:sp>
        <p:nvSpPr>
          <p:cNvPr id="3" name="quoteHead1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is wrong. Don’t say what yet.</a:t>
            </a:r>
            <a:endParaRPr lang="en-US" sz="3400" dirty="0"/>
          </a:p>
        </p:txBody>
      </p:sp>
      <p:sp>
        <p:nvSpPr>
          <p:cNvPr id="4" name="quoteCard1"/>
          <p:cNvSpPr/>
          <p:nvPr/>
        </p:nvSpPr>
        <p:spPr>
          <a:xfrm>
            <a:off x="566928" y="1572768"/>
            <a:ext cx="11057839" cy="2395728"/>
          </a:xfrm>
          <a:prstGeom prst="roundRect">
            <a:avLst>
              <a:gd name="adj" fmla="val 9924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pic>
        <p:nvPicPr>
          <p:cNvPr id="5" name="quoteSheen1" descr="preencoded.png">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09728" y="914400"/>
            <a:ext cx="2926080" cy="2926080"/>
          </a:xfrm>
          <a:prstGeom prst="rect">
            <a:avLst/>
          </a:prstGeom>
        </p:spPr>
      </p:pic>
      <p:sp>
        <p:nvSpPr>
          <p:cNvPr id="6" name="quoteText1"/>
          <p:cNvSpPr/>
          <p:nvPr/>
        </p:nvSpPr>
        <p:spPr>
          <a:xfrm>
            <a:off x="1042416" y="1773936"/>
            <a:ext cx="10106863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came, I was in the area seeing things, and then conquest happened.”</a:t>
            </a:r>
            <a:endParaRPr lang="en-US" sz="3000" dirty="0"/>
          </a:p>
        </p:txBody>
      </p:sp>
      <p:sp>
        <p:nvSpPr>
          <p:cNvPr id="7" name="quoteAttr1"/>
          <p:cNvSpPr/>
          <p:nvPr/>
        </p:nvSpPr>
        <p:spPr>
          <a:xfrm>
            <a:off x="1042416" y="33101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Caesar, reporting from Pontus · 47 BC</a:t>
            </a:r>
            <a:endParaRPr lang="en-US" sz="1300" dirty="0"/>
          </a:p>
        </p:txBody>
      </p:sp>
      <p:sp>
        <p:nvSpPr>
          <p:cNvPr id="8" name="quoteTag1"/>
          <p:cNvSpPr/>
          <p:nvPr/>
        </p:nvSpPr>
        <p:spPr>
          <a:xfrm>
            <a:off x="7967167" y="3291840"/>
            <a:ext cx="3182112" cy="347472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9" name="quoteTagText1"/>
          <p:cNvSpPr/>
          <p:nvPr/>
        </p:nvSpPr>
        <p:spPr>
          <a:xfrm>
            <a:off x="7967167" y="32918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VERBS · THREE SHAPES</a:t>
            </a:r>
            <a:endParaRPr lang="en-US" sz="950" dirty="0"/>
          </a:p>
        </p:txBody>
      </p:sp>
      <p:sp>
        <p:nvSpPr>
          <p:cNvPr id="10" name="quoteDiag1"/>
          <p:cNvSpPr/>
          <p:nvPr/>
        </p:nvSpPr>
        <p:spPr>
          <a:xfrm>
            <a:off x="566928" y="4169664"/>
            <a:ext cx="6711696" cy="1828800"/>
          </a:xfrm>
          <a:prstGeom prst="roundRect">
            <a:avLst>
              <a:gd name="adj" fmla="val 11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1" name="quoteDiagHead1"/>
          <p:cNvSpPr/>
          <p:nvPr/>
        </p:nvSpPr>
        <p:spPr>
          <a:xfrm>
            <a:off x="950976" y="43891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EAR IS FLAGGING</a:t>
            </a:r>
            <a:endParaRPr lang="en-US" sz="1050" dirty="0"/>
          </a:p>
        </p:txBody>
      </p:sp>
      <p:sp>
        <p:nvSpPr>
          <p:cNvPr id="12" name="s2 Text 9"/>
          <p:cNvSpPr/>
          <p:nvPr/>
        </p:nvSpPr>
        <p:spPr>
          <a:xfrm>
            <a:off x="950976" y="4736592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— simple past verb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seeing — past continuous + object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conquest happened — noun as subject</a:t>
            </a:r>
            <a:endParaRPr lang="en-US" sz="1350" dirty="0"/>
          </a:p>
        </p:txBody>
      </p:sp>
      <p:sp>
        <p:nvSpPr>
          <p:cNvPr id="13" name="quotePrompt1"/>
          <p:cNvSpPr/>
          <p:nvPr/>
        </p:nvSpPr>
        <p:spPr>
          <a:xfrm>
            <a:off x="7626096" y="4169664"/>
            <a:ext cx="4014216" cy="1828800"/>
          </a:xfrm>
          <a:prstGeom prst="roundRect">
            <a:avLst>
              <a:gd name="adj" fmla="val 11000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quotePromptHead1"/>
          <p:cNvSpPr/>
          <p:nvPr/>
        </p:nvSpPr>
        <p:spPr>
          <a:xfrm>
            <a:off x="7973568" y="4389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050" dirty="0"/>
          </a:p>
        </p:txBody>
      </p:sp>
      <p:sp>
        <p:nvSpPr>
          <p:cNvPr id="15" name="quotePromptText1"/>
          <p:cNvSpPr/>
          <p:nvPr/>
        </p:nvSpPr>
        <p:spPr>
          <a:xfrm>
            <a:off x="7973568" y="4718304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a count of three, one word for how that felt — not why.”</a:t>
            </a:r>
            <a:endParaRPr lang="en-US" sz="1350" dirty="0"/>
          </a:p>
        </p:txBody>
      </p:sp>
      <p:sp>
        <p:nvSpPr>
          <p:cNvPr id="16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  ·   4 MIN</a:t>
            </a:r>
            <a:endParaRPr lang="en-US" sz="1000" dirty="0"/>
          </a:p>
        </p:txBody>
      </p:sp>
      <p:sp>
        <p:nvSpPr>
          <p:cNvPr id="17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1000" dirty="0"/>
          </a:p>
        </p:txBody>
      </p:sp>
      <p:sp>
        <p:nvSpPr>
          <p:cNvPr id="18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9" name="navChipText0">
            <a:hlinkClick r:id="rId3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0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1" name="navChipText1">
            <a:hlinkClick r:id="rId4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22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3" name="navChipText2">
            <a:hlinkClick r:id="rId5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 ·  THE RESTORED LINE</a:t>
            </a:r>
            <a:endParaRPr lang="en-US" sz="1150" dirty="0"/>
          </a:p>
        </p:txBody>
      </p:sp>
      <p:sp>
        <p:nvSpPr>
          <p:cNvPr id="3" name="quoteHead1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it actually says.</a:t>
            </a:r>
            <a:endParaRPr lang="en-US" sz="3400" dirty="0"/>
          </a:p>
        </p:txBody>
      </p:sp>
      <p:sp>
        <p:nvSpPr>
          <p:cNvPr id="4" name="quoteCard1"/>
          <p:cNvSpPr/>
          <p:nvPr/>
        </p:nvSpPr>
        <p:spPr>
          <a:xfrm>
            <a:off x="566928" y="1572768"/>
            <a:ext cx="11057839" cy="2395728"/>
          </a:xfrm>
          <a:prstGeom prst="roundRect">
            <a:avLst>
              <a:gd name="adj" fmla="val 9924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pic>
        <p:nvPicPr>
          <p:cNvPr id="5" name="quoteSheen1" descr="preencoded.png">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09728" y="914400"/>
            <a:ext cx="2926080" cy="2926080"/>
          </a:xfrm>
          <a:prstGeom prst="rect">
            <a:avLst/>
          </a:prstGeom>
        </p:spPr>
      </p:pic>
      <p:sp>
        <p:nvSpPr>
          <p:cNvPr id="6" name="quoteText1"/>
          <p:cNvSpPr/>
          <p:nvPr/>
        </p:nvSpPr>
        <p:spPr>
          <a:xfrm>
            <a:off x="1042416" y="1773936"/>
            <a:ext cx="10106863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came, I saw, I conquered.”</a:t>
            </a:r>
            <a:endParaRPr lang="en-US" sz="3000" dirty="0"/>
          </a:p>
        </p:txBody>
      </p:sp>
      <p:sp>
        <p:nvSpPr>
          <p:cNvPr id="7" name="quoteAttr1"/>
          <p:cNvSpPr/>
          <p:nvPr/>
        </p:nvSpPr>
        <p:spPr>
          <a:xfrm>
            <a:off x="1042416" y="33101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Caesar, reporting from Pontus · 47 BC</a:t>
            </a:r>
            <a:endParaRPr lang="en-US" sz="1300" dirty="0"/>
          </a:p>
        </p:txBody>
      </p:sp>
      <p:sp>
        <p:nvSpPr>
          <p:cNvPr id="8" name="quoteTag1"/>
          <p:cNvSpPr/>
          <p:nvPr/>
        </p:nvSpPr>
        <p:spPr>
          <a:xfrm>
            <a:off x="7967167" y="3291840"/>
            <a:ext cx="3182112" cy="347472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9" name="quoteTagText1"/>
          <p:cNvSpPr/>
          <p:nvPr/>
        </p:nvSpPr>
        <p:spPr>
          <a:xfrm>
            <a:off x="7967167" y="32918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VERBS · ONE SHAPE</a:t>
            </a:r>
            <a:endParaRPr lang="en-US" sz="950" dirty="0"/>
          </a:p>
        </p:txBody>
      </p:sp>
      <p:sp>
        <p:nvSpPr>
          <p:cNvPr id="10" name="quoteDiag1"/>
          <p:cNvSpPr/>
          <p:nvPr/>
        </p:nvSpPr>
        <p:spPr>
          <a:xfrm>
            <a:off x="566928" y="4169664"/>
            <a:ext cx="6711696" cy="1828800"/>
          </a:xfrm>
          <a:prstGeom prst="roundRect">
            <a:avLst>
              <a:gd name="adj" fmla="val 11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1" name="quoteDiagHead1"/>
          <p:cNvSpPr/>
          <p:nvPr/>
        </p:nvSpPr>
        <p:spPr>
          <a:xfrm>
            <a:off x="950976" y="43891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050" dirty="0"/>
          </a:p>
        </p:txBody>
      </p:sp>
      <p:sp>
        <p:nvSpPr>
          <p:cNvPr id="12" name="s3 Text 9"/>
          <p:cNvSpPr/>
          <p:nvPr/>
        </p:nvSpPr>
        <p:spPr>
          <a:xfrm>
            <a:off x="950976" y="4736592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— simple past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— simple past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conquered — simple past</a:t>
            </a:r>
            <a:endParaRPr lang="en-US" sz="1350" dirty="0"/>
          </a:p>
        </p:txBody>
      </p:sp>
      <p:sp>
        <p:nvSpPr>
          <p:cNvPr id="13" name="quotePrompt1"/>
          <p:cNvSpPr/>
          <p:nvPr/>
        </p:nvSpPr>
        <p:spPr>
          <a:xfrm>
            <a:off x="7626096" y="4169664"/>
            <a:ext cx="4014216" cy="1828800"/>
          </a:xfrm>
          <a:prstGeom prst="roundRect">
            <a:avLst>
              <a:gd name="adj" fmla="val 11000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quotePromptHead1"/>
          <p:cNvSpPr/>
          <p:nvPr/>
        </p:nvSpPr>
        <p:spPr>
          <a:xfrm>
            <a:off x="7973568" y="4389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050" dirty="0"/>
          </a:p>
        </p:txBody>
      </p:sp>
      <p:sp>
        <p:nvSpPr>
          <p:cNvPr id="15" name="quotePromptText1"/>
          <p:cNvSpPr/>
          <p:nvPr/>
        </p:nvSpPr>
        <p:spPr>
          <a:xfrm>
            <a:off x="7973568" y="4718304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“Nothing was added. Three words were made to match — and the line became quotable.”</a:t>
            </a:r>
            <a:endParaRPr lang="en-US" sz="1350" dirty="0"/>
          </a:p>
        </p:txBody>
      </p:sp>
      <p:sp>
        <p:nvSpPr>
          <p:cNvPr id="16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000" dirty="0"/>
          </a:p>
        </p:txBody>
      </p:sp>
      <p:sp>
        <p:nvSpPr>
          <p:cNvPr id="17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1000" dirty="0"/>
          </a:p>
        </p:txBody>
      </p:sp>
      <p:sp>
        <p:nvSpPr>
          <p:cNvPr id="18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9" name="navChipText0">
            <a:hlinkClick r:id="rId3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0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1" name="navChipText1">
            <a:hlinkClick r:id="rId4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22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3" name="navChipText2">
            <a:hlinkClick r:id="rId5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1400">
        <p159:morph option="byWord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 ·  READ IT OUT LOUD</a:t>
            </a:r>
            <a:endParaRPr lang="en-US" sz="1150" dirty="0"/>
          </a:p>
        </p:txBody>
      </p:sp>
      <p:sp>
        <p:nvSpPr>
          <p:cNvPr id="3" name="quoteHead2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is wrong. Don’t say what yet.</a:t>
            </a:r>
            <a:endParaRPr lang="en-US" sz="3400" dirty="0"/>
          </a:p>
        </p:txBody>
      </p:sp>
      <p:sp>
        <p:nvSpPr>
          <p:cNvPr id="4" name="quoteCard2"/>
          <p:cNvSpPr/>
          <p:nvPr/>
        </p:nvSpPr>
        <p:spPr>
          <a:xfrm>
            <a:off x="566928" y="1572768"/>
            <a:ext cx="11057839" cy="2395728"/>
          </a:xfrm>
          <a:prstGeom prst="roundRect">
            <a:avLst>
              <a:gd name="adj" fmla="val 9924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pic>
        <p:nvPicPr>
          <p:cNvPr id="5" name="quoteSheen2" descr="preencoded.png">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09728" y="914400"/>
            <a:ext cx="2926080" cy="2926080"/>
          </a:xfrm>
          <a:prstGeom prst="rect">
            <a:avLst/>
          </a:prstGeom>
        </p:spPr>
      </p:pic>
      <p:sp>
        <p:nvSpPr>
          <p:cNvPr id="6" name="quoteText2"/>
          <p:cNvSpPr/>
          <p:nvPr/>
        </p:nvSpPr>
        <p:spPr>
          <a:xfrm>
            <a:off x="1042416" y="1773936"/>
            <a:ext cx="10106863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not what your country can do for you — the real question concerns your own contribution to it.”</a:t>
            </a:r>
            <a:endParaRPr lang="en-US" sz="2500" dirty="0"/>
          </a:p>
        </p:txBody>
      </p:sp>
      <p:sp>
        <p:nvSpPr>
          <p:cNvPr id="7" name="quoteAttr2"/>
          <p:cNvSpPr/>
          <p:nvPr/>
        </p:nvSpPr>
        <p:spPr>
          <a:xfrm>
            <a:off x="1042416" y="33101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F. Kennedy, inaugural address · 20 January 1961</a:t>
            </a:r>
            <a:endParaRPr lang="en-US" sz="1300" dirty="0"/>
          </a:p>
        </p:txBody>
      </p:sp>
      <p:sp>
        <p:nvSpPr>
          <p:cNvPr id="8" name="quoteTag2"/>
          <p:cNvSpPr/>
          <p:nvPr/>
        </p:nvSpPr>
        <p:spPr>
          <a:xfrm>
            <a:off x="7967167" y="3291840"/>
            <a:ext cx="3182112" cy="347472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9" name="quoteTagText2"/>
          <p:cNvSpPr/>
          <p:nvPr/>
        </p:nvSpPr>
        <p:spPr>
          <a:xfrm>
            <a:off x="7967167" y="32918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MIRROR MISSING ONE SIDE</a:t>
            </a:r>
            <a:endParaRPr lang="en-US" sz="950" dirty="0"/>
          </a:p>
        </p:txBody>
      </p:sp>
      <p:sp>
        <p:nvSpPr>
          <p:cNvPr id="10" name="quoteDiag2"/>
          <p:cNvSpPr/>
          <p:nvPr/>
        </p:nvSpPr>
        <p:spPr>
          <a:xfrm>
            <a:off x="566928" y="4169664"/>
            <a:ext cx="6711696" cy="1828800"/>
          </a:xfrm>
          <a:prstGeom prst="roundRect">
            <a:avLst>
              <a:gd name="adj" fmla="val 11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1" name="quoteDiagHead2"/>
          <p:cNvSpPr/>
          <p:nvPr/>
        </p:nvSpPr>
        <p:spPr>
          <a:xfrm>
            <a:off x="950976" y="43891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EAR IS FLAGGING</a:t>
            </a:r>
            <a:endParaRPr lang="en-US" sz="1050" dirty="0"/>
          </a:p>
        </p:txBody>
      </p:sp>
      <p:sp>
        <p:nvSpPr>
          <p:cNvPr id="12" name="s4 Text 9"/>
          <p:cNvSpPr/>
          <p:nvPr/>
        </p:nvSpPr>
        <p:spPr>
          <a:xfrm>
            <a:off x="950976" y="4736592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 — imperative: ask not what…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2 — declarative: the question concerns…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is gone; only the meaning survives</a:t>
            </a:r>
            <a:endParaRPr lang="en-US" sz="1350" dirty="0"/>
          </a:p>
        </p:txBody>
      </p:sp>
      <p:sp>
        <p:nvSpPr>
          <p:cNvPr id="13" name="quotePrompt2"/>
          <p:cNvSpPr/>
          <p:nvPr/>
        </p:nvSpPr>
        <p:spPr>
          <a:xfrm>
            <a:off x="7626096" y="4169664"/>
            <a:ext cx="4014216" cy="1828800"/>
          </a:xfrm>
          <a:prstGeom prst="roundRect">
            <a:avLst>
              <a:gd name="adj" fmla="val 11000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quotePromptHead2"/>
          <p:cNvSpPr/>
          <p:nvPr/>
        </p:nvSpPr>
        <p:spPr>
          <a:xfrm>
            <a:off x="7973568" y="4389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050" dirty="0"/>
          </a:p>
        </p:txBody>
      </p:sp>
      <p:sp>
        <p:nvSpPr>
          <p:cNvPr id="15" name="quotePromptText2"/>
          <p:cNvSpPr/>
          <p:nvPr/>
        </p:nvSpPr>
        <p:spPr>
          <a:xfrm>
            <a:off x="7973568" y="4718304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a count of three, one word for how that felt — not why.”</a:t>
            </a:r>
            <a:endParaRPr lang="en-US" sz="1350" dirty="0"/>
          </a:p>
        </p:txBody>
      </p:sp>
      <p:sp>
        <p:nvSpPr>
          <p:cNvPr id="16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  ·   4 MIN</a:t>
            </a:r>
            <a:endParaRPr lang="en-US" sz="1000" dirty="0"/>
          </a:p>
        </p:txBody>
      </p:sp>
      <p:sp>
        <p:nvSpPr>
          <p:cNvPr id="17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1000" dirty="0"/>
          </a:p>
        </p:txBody>
      </p:sp>
      <p:sp>
        <p:nvSpPr>
          <p:cNvPr id="18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9" name="navChipText0">
            <a:hlinkClick r:id="rId3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0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1" name="navChipText1">
            <a:hlinkClick r:id="rId4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22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3" name="navChipText2">
            <a:hlinkClick r:id="rId5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 ·  THE RESTORED LINE</a:t>
            </a:r>
            <a:endParaRPr lang="en-US" sz="1150" dirty="0"/>
          </a:p>
        </p:txBody>
      </p:sp>
      <p:sp>
        <p:nvSpPr>
          <p:cNvPr id="3" name="quoteHead2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it actually says.</a:t>
            </a:r>
            <a:endParaRPr lang="en-US" sz="3400" dirty="0"/>
          </a:p>
        </p:txBody>
      </p:sp>
      <p:sp>
        <p:nvSpPr>
          <p:cNvPr id="4" name="quoteCard2"/>
          <p:cNvSpPr/>
          <p:nvPr/>
        </p:nvSpPr>
        <p:spPr>
          <a:xfrm>
            <a:off x="566928" y="1572768"/>
            <a:ext cx="11057839" cy="2395728"/>
          </a:xfrm>
          <a:prstGeom prst="roundRect">
            <a:avLst>
              <a:gd name="adj" fmla="val 9924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pic>
        <p:nvPicPr>
          <p:cNvPr id="5" name="quoteSheen2" descr="preencoded.png">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09728" y="914400"/>
            <a:ext cx="2926080" cy="2926080"/>
          </a:xfrm>
          <a:prstGeom prst="rect">
            <a:avLst/>
          </a:prstGeom>
        </p:spPr>
      </p:pic>
      <p:sp>
        <p:nvSpPr>
          <p:cNvPr id="6" name="quoteText2"/>
          <p:cNvSpPr/>
          <p:nvPr/>
        </p:nvSpPr>
        <p:spPr>
          <a:xfrm>
            <a:off x="1042416" y="1773936"/>
            <a:ext cx="10106863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not what your country can do for you — ask what you can do for your country.”</a:t>
            </a:r>
            <a:endParaRPr lang="en-US" sz="2500" dirty="0"/>
          </a:p>
        </p:txBody>
      </p:sp>
      <p:sp>
        <p:nvSpPr>
          <p:cNvPr id="7" name="quoteAttr2"/>
          <p:cNvSpPr/>
          <p:nvPr/>
        </p:nvSpPr>
        <p:spPr>
          <a:xfrm>
            <a:off x="1042416" y="33101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F. Kennedy, inaugural address · 20 January 1961</a:t>
            </a:r>
            <a:endParaRPr lang="en-US" sz="1300" dirty="0"/>
          </a:p>
        </p:txBody>
      </p:sp>
      <p:sp>
        <p:nvSpPr>
          <p:cNvPr id="8" name="quoteTag2"/>
          <p:cNvSpPr/>
          <p:nvPr/>
        </p:nvSpPr>
        <p:spPr>
          <a:xfrm>
            <a:off x="7967167" y="3291840"/>
            <a:ext cx="3182112" cy="347472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9" name="quoteTagText2"/>
          <p:cNvSpPr/>
          <p:nvPr/>
        </p:nvSpPr>
        <p:spPr>
          <a:xfrm>
            <a:off x="7967167" y="32918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MIRROR WITH BOTH SIDES</a:t>
            </a:r>
            <a:endParaRPr lang="en-US" sz="950" dirty="0"/>
          </a:p>
        </p:txBody>
      </p:sp>
      <p:sp>
        <p:nvSpPr>
          <p:cNvPr id="10" name="quoteDiag2"/>
          <p:cNvSpPr/>
          <p:nvPr/>
        </p:nvSpPr>
        <p:spPr>
          <a:xfrm>
            <a:off x="566928" y="4169664"/>
            <a:ext cx="6711696" cy="1828800"/>
          </a:xfrm>
          <a:prstGeom prst="roundRect">
            <a:avLst>
              <a:gd name="adj" fmla="val 11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1" name="quoteDiagHead2"/>
          <p:cNvSpPr/>
          <p:nvPr/>
        </p:nvSpPr>
        <p:spPr>
          <a:xfrm>
            <a:off x="950976" y="43891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050" dirty="0"/>
          </a:p>
        </p:txBody>
      </p:sp>
      <p:sp>
        <p:nvSpPr>
          <p:cNvPr id="12" name="s5 Text 9"/>
          <p:cNvSpPr/>
          <p:nvPr/>
        </p:nvSpPr>
        <p:spPr>
          <a:xfrm>
            <a:off x="950976" y="4736592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 — imperative: ask not what…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2 — imperative: ask what…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verb, same frame, terms swapped</a:t>
            </a:r>
            <a:endParaRPr lang="en-US" sz="1350" dirty="0"/>
          </a:p>
        </p:txBody>
      </p:sp>
      <p:sp>
        <p:nvSpPr>
          <p:cNvPr id="13" name="quotePrompt2"/>
          <p:cNvSpPr/>
          <p:nvPr/>
        </p:nvSpPr>
        <p:spPr>
          <a:xfrm>
            <a:off x="7626096" y="4169664"/>
            <a:ext cx="4014216" cy="1828800"/>
          </a:xfrm>
          <a:prstGeom prst="roundRect">
            <a:avLst>
              <a:gd name="adj" fmla="val 11000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quotePromptHead2"/>
          <p:cNvSpPr/>
          <p:nvPr/>
        </p:nvSpPr>
        <p:spPr>
          <a:xfrm>
            <a:off x="7973568" y="4389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</a:t>
            </a:r>
            <a:endParaRPr lang="en-US" sz="1050" dirty="0"/>
          </a:p>
        </p:txBody>
      </p:sp>
      <p:sp>
        <p:nvSpPr>
          <p:cNvPr id="15" name="quotePromptText2"/>
          <p:cNvSpPr/>
          <p:nvPr/>
        </p:nvSpPr>
        <p:spPr>
          <a:xfrm>
            <a:off x="7973568" y="4718304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idea never changed. The shape did. Sixty years later we still quote the shape.”</a:t>
            </a:r>
            <a:endParaRPr lang="en-US" sz="1350" dirty="0"/>
          </a:p>
        </p:txBody>
      </p:sp>
      <p:sp>
        <p:nvSpPr>
          <p:cNvPr id="16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000" dirty="0"/>
          </a:p>
        </p:txBody>
      </p:sp>
      <p:sp>
        <p:nvSpPr>
          <p:cNvPr id="17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1000" dirty="0"/>
          </a:p>
        </p:txBody>
      </p:sp>
      <p:sp>
        <p:nvSpPr>
          <p:cNvPr id="18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9" name="navChipText0">
            <a:hlinkClick r:id="rId3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0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1" name="navChipText1">
            <a:hlinkClick r:id="rId4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22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3" name="navChipText2">
            <a:hlinkClick r:id="rId5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1400">
        <p159:morph option="byWord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 ·  WHY THAT MATTERED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felt it before you could name it.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learners do the same thing — and they blame the subject, not the sentence.</a:t>
            </a:r>
            <a:endParaRPr lang="en-US" sz="1550" dirty="0"/>
          </a:p>
        </p:txBody>
      </p:sp>
      <p:pic>
        <p:nvPicPr>
          <p:cNvPr id="5" name="s6 Image 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7680960" y="-1097280"/>
            <a:ext cx="5669280" cy="5669280"/>
          </a:xfrm>
          <a:prstGeom prst="rect">
            <a:avLst/>
          </a:prstGeom>
        </p:spPr>
      </p:pic>
      <p:sp>
        <p:nvSpPr>
          <p:cNvPr id="6" name="s6 Shape 3"/>
          <p:cNvSpPr/>
          <p:nvPr/>
        </p:nvSpPr>
        <p:spPr>
          <a:xfrm>
            <a:off x="566928" y="1700784"/>
            <a:ext cx="5212080" cy="1975104"/>
          </a:xfrm>
          <a:prstGeom prst="roundRect">
            <a:avLst>
              <a:gd name="adj" fmla="val 12037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7" name="s6 Text 4"/>
          <p:cNvSpPr/>
          <p:nvPr/>
        </p:nvSpPr>
        <p:spPr>
          <a:xfrm>
            <a:off x="987552" y="1938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“Clunky.”  “Wordy.”  “Off.”</a:t>
            </a:r>
            <a:endParaRPr lang="en-US" sz="2200" dirty="0"/>
          </a:p>
        </p:txBody>
      </p:sp>
      <p:sp>
        <p:nvSpPr>
          <p:cNvPr id="8" name="s6 Text 5"/>
          <p:cNvSpPr/>
          <p:nvPr/>
        </p:nvSpPr>
        <p:spPr>
          <a:xfrm>
            <a:off x="987552" y="2505456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the words the room reached for. Not one of them is a grammatical diagnosis — and every one of them is accurate.</a:t>
            </a:r>
            <a:endParaRPr lang="en-US" sz="1500" dirty="0"/>
          </a:p>
        </p:txBody>
      </p:sp>
      <p:sp>
        <p:nvSpPr>
          <p:cNvPr id="9" name="s6 Shape 6"/>
          <p:cNvSpPr/>
          <p:nvPr/>
        </p:nvSpPr>
        <p:spPr>
          <a:xfrm>
            <a:off x="566928" y="3822192"/>
            <a:ext cx="5212080" cy="2121408"/>
          </a:xfrm>
          <a:prstGeom prst="roundRect">
            <a:avLst>
              <a:gd name="adj" fmla="val 11207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0" name="s6 Text 7"/>
          <p:cNvSpPr/>
          <p:nvPr/>
        </p:nvSpPr>
        <p:spPr>
          <a:xfrm>
            <a:off x="987552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TRANSFER</a:t>
            </a:r>
            <a:endParaRPr lang="en-US" sz="1050" dirty="0"/>
          </a:p>
        </p:txBody>
      </p:sp>
      <p:sp>
        <p:nvSpPr>
          <p:cNvPr id="11" name="s6 Text 8"/>
          <p:cNvSpPr/>
          <p:nvPr/>
        </p:nvSpPr>
        <p:spPr>
          <a:xfrm>
            <a:off x="987552" y="4407408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 in your course cannot pause to diagnose your syntax. They register the friction, attribute it to the subject, and conclude the material is harder than it is.</a:t>
            </a:r>
            <a:endParaRPr lang="en-US" sz="1450" dirty="0"/>
          </a:p>
        </p:txBody>
      </p:sp>
      <p:sp>
        <p:nvSpPr>
          <p:cNvPr id="12" name="s6 Shape 9"/>
          <p:cNvSpPr/>
          <p:nvPr/>
        </p:nvSpPr>
        <p:spPr>
          <a:xfrm>
            <a:off x="6144768" y="1700784"/>
            <a:ext cx="5486400" cy="1335024"/>
          </a:xfrm>
          <a:prstGeom prst="roundRect">
            <a:avLst>
              <a:gd name="adj" fmla="val 1506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3" name="s6 Shape 10"/>
          <p:cNvSpPr/>
          <p:nvPr/>
        </p:nvSpPr>
        <p:spPr>
          <a:xfrm>
            <a:off x="6419088" y="1993392"/>
            <a:ext cx="566928" cy="566928"/>
          </a:xfrm>
          <a:prstGeom prst="ellipse">
            <a:avLst/>
          </a:prstGeom>
          <a:solidFill>
            <a:srgbClr val="8A7BFF">
              <a:alpha val="28000"/>
            </a:srgbClr>
          </a:solidFill>
          <a:ln w="12700">
            <a:solidFill>
              <a:srgbClr val="8A7BFF">
                <a:alpha val="60000"/>
              </a:srgbClr>
            </a:solidFill>
            <a:prstDash val="solid"/>
          </a:ln>
        </p:spPr>
      </p:sp>
      <p:pic>
        <p:nvPicPr>
          <p:cNvPr id="14" name="s6 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130552"/>
            <a:ext cx="292608" cy="292608"/>
          </a:xfrm>
          <a:prstGeom prst="rect">
            <a:avLst/>
          </a:prstGeom>
        </p:spPr>
      </p:pic>
      <p:sp>
        <p:nvSpPr>
          <p:cNvPr id="15" name="s6 Text 11"/>
          <p:cNvSpPr/>
          <p:nvPr/>
        </p:nvSpPr>
        <p:spPr>
          <a:xfrm>
            <a:off x="7150608" y="19019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report it</a:t>
            </a:r>
            <a:endParaRPr lang="en-US" sz="1700" dirty="0"/>
          </a:p>
        </p:txBody>
      </p:sp>
      <p:sp>
        <p:nvSpPr>
          <p:cNvPr id="16" name="s6 Text 12"/>
          <p:cNvSpPr/>
          <p:nvPr/>
        </p:nvSpPr>
        <p:spPr>
          <a:xfrm>
            <a:off x="7150608" y="2249424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files a ticket saying ‘clause forms are inconsistent’. They file ‘this module was confusing’ — or they file nothing and disengage.</a:t>
            </a:r>
            <a:endParaRPr lang="en-US" sz="1250" dirty="0"/>
          </a:p>
        </p:txBody>
      </p:sp>
      <p:sp>
        <p:nvSpPr>
          <p:cNvPr id="17" name="s6 Shape 13"/>
          <p:cNvSpPr/>
          <p:nvPr/>
        </p:nvSpPr>
        <p:spPr>
          <a:xfrm>
            <a:off x="6144768" y="3145536"/>
            <a:ext cx="5486400" cy="1335024"/>
          </a:xfrm>
          <a:prstGeom prst="roundRect">
            <a:avLst>
              <a:gd name="adj" fmla="val 1506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8" name="s6 Shape 14"/>
          <p:cNvSpPr/>
          <p:nvPr/>
        </p:nvSpPr>
        <p:spPr>
          <a:xfrm>
            <a:off x="6419088" y="3438144"/>
            <a:ext cx="566928" cy="566928"/>
          </a:xfrm>
          <a:prstGeom prst="ellipse">
            <a:avLst/>
          </a:prstGeom>
          <a:solidFill>
            <a:srgbClr val="8A7BFF">
              <a:alpha val="28000"/>
            </a:srgbClr>
          </a:solidFill>
          <a:ln w="12700">
            <a:solidFill>
              <a:srgbClr val="8A7BFF">
                <a:alpha val="60000"/>
              </a:srgbClr>
            </a:solidFill>
            <a:prstDash val="solid"/>
          </a:ln>
        </p:spPr>
      </p:sp>
      <p:pic>
        <p:nvPicPr>
          <p:cNvPr id="19" name="s6 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575304"/>
            <a:ext cx="292608" cy="292608"/>
          </a:xfrm>
          <a:prstGeom prst="rect">
            <a:avLst/>
          </a:prstGeom>
        </p:spPr>
      </p:pic>
      <p:sp>
        <p:nvSpPr>
          <p:cNvPr id="20" name="s6 Text 15"/>
          <p:cNvSpPr/>
          <p:nvPr/>
        </p:nvSpPr>
        <p:spPr>
          <a:xfrm>
            <a:off x="7150608" y="33467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read form as meaning</a:t>
            </a:r>
            <a:endParaRPr lang="en-US" sz="1700" dirty="0"/>
          </a:p>
        </p:txBody>
      </p:sp>
      <p:sp>
        <p:nvSpPr>
          <p:cNvPr id="21" name="s6 Text 16"/>
          <p:cNvSpPr/>
          <p:nvPr/>
        </p:nvSpPr>
        <p:spPr>
          <a:xfrm>
            <a:off x="7150608" y="3694176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shapes imply different kinds of thing. Your ragged list quietly tells them these five items aren’t the same kind of item.</a:t>
            </a:r>
            <a:endParaRPr lang="en-US" sz="1250" dirty="0"/>
          </a:p>
        </p:txBody>
      </p:sp>
      <p:sp>
        <p:nvSpPr>
          <p:cNvPr id="22" name="s6 Shape 17"/>
          <p:cNvSpPr/>
          <p:nvPr/>
        </p:nvSpPr>
        <p:spPr>
          <a:xfrm>
            <a:off x="6144768" y="4590288"/>
            <a:ext cx="5486400" cy="1335024"/>
          </a:xfrm>
          <a:prstGeom prst="roundRect">
            <a:avLst>
              <a:gd name="adj" fmla="val 15068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3" name="s6 Shape 18"/>
          <p:cNvSpPr/>
          <p:nvPr/>
        </p:nvSpPr>
        <p:spPr>
          <a:xfrm>
            <a:off x="6419088" y="4882896"/>
            <a:ext cx="566928" cy="566928"/>
          </a:xfrm>
          <a:prstGeom prst="ellipse">
            <a:avLst/>
          </a:prstGeom>
          <a:solidFill>
            <a:srgbClr val="FF4F6E">
              <a:alpha val="28000"/>
            </a:srgbClr>
          </a:solidFill>
          <a:ln w="12700">
            <a:solidFill>
              <a:srgbClr val="FF4F6E">
                <a:alpha val="60000"/>
              </a:srgbClr>
            </a:solidFill>
            <a:prstDash val="solid"/>
          </a:ln>
        </p:spPr>
      </p:sp>
      <p:pic>
        <p:nvPicPr>
          <p:cNvPr id="24" name="s6 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5020056"/>
            <a:ext cx="292608" cy="292608"/>
          </a:xfrm>
          <a:prstGeom prst="rect">
            <a:avLst/>
          </a:prstGeom>
        </p:spPr>
      </p:pic>
      <p:sp>
        <p:nvSpPr>
          <p:cNvPr id="25" name="s6 Text 19"/>
          <p:cNvSpPr/>
          <p:nvPr/>
        </p:nvSpPr>
        <p:spPr>
          <a:xfrm>
            <a:off x="7150608" y="47914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lands on comprehension</a:t>
            </a:r>
            <a:endParaRPr lang="en-US" sz="1700" dirty="0"/>
          </a:p>
        </p:txBody>
      </p:sp>
      <p:sp>
        <p:nvSpPr>
          <p:cNvPr id="26" name="s6 Text 20"/>
          <p:cNvSpPr/>
          <p:nvPr/>
        </p:nvSpPr>
        <p:spPr>
          <a:xfrm>
            <a:off x="7150608" y="5138928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spent reconciling shape is effort not spent on content. You built the load; the learner pays it.</a:t>
            </a:r>
            <a:endParaRPr lang="en-US" sz="1250" dirty="0"/>
          </a:p>
        </p:txBody>
      </p:sp>
      <p:sp>
        <p:nvSpPr>
          <p:cNvPr id="27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  ·   2 MIN</a:t>
            </a:r>
            <a:endParaRPr lang="en-US" sz="1000" dirty="0"/>
          </a:p>
        </p:txBody>
      </p:sp>
      <p:sp>
        <p:nvSpPr>
          <p:cNvPr id="28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1000" dirty="0"/>
          </a:p>
        </p:txBody>
      </p:sp>
      <p:sp>
        <p:nvSpPr>
          <p:cNvPr id="29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0" name="navChipText0">
            <a:hlinkClick r:id="rId6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31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2" name="navChipText1">
            <a:hlinkClick r:id="rId7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33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4" name="navChipText2">
            <a:hlinkClick r:id="rId8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·  THE THREE TESTS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is three agreements, not one.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86251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parallel only when all three hold. Two out of three still reads as broken.</a:t>
            </a:r>
            <a:endParaRPr lang="en-US" sz="1550" dirty="0"/>
          </a:p>
        </p:txBody>
      </p:sp>
      <p:sp>
        <p:nvSpPr>
          <p:cNvPr id="5" name="s7 Shape 3"/>
          <p:cNvSpPr/>
          <p:nvPr/>
        </p:nvSpPr>
        <p:spPr>
          <a:xfrm>
            <a:off x="566928" y="1828800"/>
            <a:ext cx="3551834" cy="3931920"/>
          </a:xfrm>
          <a:prstGeom prst="roundRect">
            <a:avLst>
              <a:gd name="adj" fmla="val 617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6" name="s7 Shape 4"/>
          <p:cNvSpPr/>
          <p:nvPr/>
        </p:nvSpPr>
        <p:spPr>
          <a:xfrm>
            <a:off x="950976" y="2139696"/>
            <a:ext cx="658368" cy="658368"/>
          </a:xfrm>
          <a:prstGeom prst="ellipse">
            <a:avLst/>
          </a:prstGeom>
          <a:solidFill>
            <a:srgbClr val="8A7BFF">
              <a:alpha val="30000"/>
            </a:srgbClr>
          </a:solidFill>
          <a:ln w="12700">
            <a:solidFill>
              <a:srgbClr val="8A7BFF">
                <a:alpha val="64000"/>
              </a:srgbClr>
            </a:solidFill>
            <a:prstDash val="solid"/>
          </a:ln>
        </p:spPr>
      </p:sp>
      <p:pic>
        <p:nvPicPr>
          <p:cNvPr id="7" name="s7 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304288"/>
            <a:ext cx="329184" cy="329184"/>
          </a:xfrm>
          <a:prstGeom prst="rect">
            <a:avLst/>
          </a:prstGeom>
        </p:spPr>
      </p:pic>
      <p:sp>
        <p:nvSpPr>
          <p:cNvPr id="8" name="s7 Text 5"/>
          <p:cNvSpPr/>
          <p:nvPr/>
        </p:nvSpPr>
        <p:spPr>
          <a:xfrm>
            <a:off x="3204362" y="2139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7 Text 6"/>
          <p:cNvSpPr/>
          <p:nvPr/>
        </p:nvSpPr>
        <p:spPr>
          <a:xfrm>
            <a:off x="950976" y="2962656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grammatical form</a:t>
            </a:r>
            <a:endParaRPr lang="en-US" sz="1900" dirty="0"/>
          </a:p>
        </p:txBody>
      </p:sp>
      <p:sp>
        <p:nvSpPr>
          <p:cNvPr id="10" name="s7 Text 7"/>
          <p:cNvSpPr/>
          <p:nvPr/>
        </p:nvSpPr>
        <p:spPr>
          <a:xfrm>
            <a:off x="950976" y="3621024"/>
            <a:ext cx="278373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is the same part of speech in the same construction — all imperative verbs, all noun phrases, all full clauses.</a:t>
            </a:r>
            <a:endParaRPr lang="en-US" sz="1300" dirty="0"/>
          </a:p>
        </p:txBody>
      </p:sp>
      <p:sp>
        <p:nvSpPr>
          <p:cNvPr id="11" name="s7 Text 8"/>
          <p:cNvSpPr/>
          <p:nvPr/>
        </p:nvSpPr>
        <p:spPr>
          <a:xfrm>
            <a:off x="950976" y="4718304"/>
            <a:ext cx="27837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review · approving</a:t>
            </a:r>
            <a:endParaRPr lang="en-US" sz="1250" dirty="0"/>
          </a:p>
        </p:txBody>
      </p:sp>
      <p:sp>
        <p:nvSpPr>
          <p:cNvPr id="12" name="s7 Text 9"/>
          <p:cNvSpPr/>
          <p:nvPr/>
        </p:nvSpPr>
        <p:spPr>
          <a:xfrm>
            <a:off x="950976" y="5248656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review · approve</a:t>
            </a:r>
            <a:endParaRPr lang="en-US" sz="1250" dirty="0"/>
          </a:p>
        </p:txBody>
      </p:sp>
      <p:sp>
        <p:nvSpPr>
          <p:cNvPr id="13" name="s7 Shape 10"/>
          <p:cNvSpPr/>
          <p:nvPr/>
        </p:nvSpPr>
        <p:spPr>
          <a:xfrm>
            <a:off x="4319930" y="1828800"/>
            <a:ext cx="3551834" cy="3931920"/>
          </a:xfrm>
          <a:prstGeom prst="roundRect">
            <a:avLst>
              <a:gd name="adj" fmla="val 6179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s7 Shape 11"/>
          <p:cNvSpPr/>
          <p:nvPr/>
        </p:nvSpPr>
        <p:spPr>
          <a:xfrm>
            <a:off x="4703978" y="2139696"/>
            <a:ext cx="658368" cy="658368"/>
          </a:xfrm>
          <a:prstGeom prst="ellipse">
            <a:avLst/>
          </a:prstGeom>
          <a:solidFill>
            <a:srgbClr val="8A7BFF">
              <a:alpha val="30000"/>
            </a:srgbClr>
          </a:solidFill>
          <a:ln w="12700">
            <a:solidFill>
              <a:srgbClr val="8A7BFF">
                <a:alpha val="64000"/>
              </a:srgbClr>
            </a:solidFill>
            <a:prstDash val="solid"/>
          </a:ln>
        </p:spPr>
      </p:sp>
      <p:pic>
        <p:nvPicPr>
          <p:cNvPr id="15" name="s7 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570" y="2304288"/>
            <a:ext cx="329184" cy="329184"/>
          </a:xfrm>
          <a:prstGeom prst="rect">
            <a:avLst/>
          </a:prstGeom>
        </p:spPr>
      </p:pic>
      <p:sp>
        <p:nvSpPr>
          <p:cNvPr id="16" name="s7 Text 12"/>
          <p:cNvSpPr/>
          <p:nvPr/>
        </p:nvSpPr>
        <p:spPr>
          <a:xfrm>
            <a:off x="6957365" y="2139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7 Text 13"/>
          <p:cNvSpPr/>
          <p:nvPr/>
        </p:nvSpPr>
        <p:spPr>
          <a:xfrm>
            <a:off x="4703978" y="2962656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conceptual level</a:t>
            </a:r>
            <a:endParaRPr lang="en-US" sz="1900" dirty="0"/>
          </a:p>
        </p:txBody>
      </p:sp>
      <p:sp>
        <p:nvSpPr>
          <p:cNvPr id="18" name="s7 Text 14"/>
          <p:cNvSpPr/>
          <p:nvPr/>
        </p:nvSpPr>
        <p:spPr>
          <a:xfrm>
            <a:off x="4703978" y="3621024"/>
            <a:ext cx="278373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sits at the same altitude of abstraction — no strategy hiding among tasks, no whole among its own parts.</a:t>
            </a:r>
            <a:endParaRPr lang="en-US" sz="1300" dirty="0"/>
          </a:p>
        </p:txBody>
      </p:sp>
      <p:sp>
        <p:nvSpPr>
          <p:cNvPr id="19" name="s7 Text 15"/>
          <p:cNvSpPr/>
          <p:nvPr/>
        </p:nvSpPr>
        <p:spPr>
          <a:xfrm>
            <a:off x="4703978" y="4718304"/>
            <a:ext cx="27837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· Asia · Belgium</a:t>
            </a:r>
            <a:endParaRPr lang="en-US" sz="1250" dirty="0"/>
          </a:p>
        </p:txBody>
      </p:sp>
      <p:sp>
        <p:nvSpPr>
          <p:cNvPr id="20" name="s7 Text 16"/>
          <p:cNvSpPr/>
          <p:nvPr/>
        </p:nvSpPr>
        <p:spPr>
          <a:xfrm>
            <a:off x="4703978" y="5248656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· Asia · Africa</a:t>
            </a:r>
            <a:endParaRPr lang="en-US" sz="1250" dirty="0"/>
          </a:p>
        </p:txBody>
      </p:sp>
      <p:sp>
        <p:nvSpPr>
          <p:cNvPr id="21" name="s7 Shape 17"/>
          <p:cNvSpPr/>
          <p:nvPr/>
        </p:nvSpPr>
        <p:spPr>
          <a:xfrm>
            <a:off x="8072933" y="1828800"/>
            <a:ext cx="3551834" cy="3931920"/>
          </a:xfrm>
          <a:prstGeom prst="roundRect">
            <a:avLst>
              <a:gd name="adj" fmla="val 617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2" name="s7 Shape 18"/>
          <p:cNvSpPr/>
          <p:nvPr/>
        </p:nvSpPr>
        <p:spPr>
          <a:xfrm>
            <a:off x="8456981" y="2139696"/>
            <a:ext cx="658368" cy="658368"/>
          </a:xfrm>
          <a:prstGeom prst="ellipse">
            <a:avLst/>
          </a:prstGeom>
          <a:solidFill>
            <a:srgbClr val="8A7BFF">
              <a:alpha val="30000"/>
            </a:srgbClr>
          </a:solidFill>
          <a:ln w="12700">
            <a:solidFill>
              <a:srgbClr val="8A7BFF">
                <a:alpha val="64000"/>
              </a:srgbClr>
            </a:solidFill>
            <a:prstDash val="solid"/>
          </a:ln>
        </p:spPr>
      </p:sp>
      <p:pic>
        <p:nvPicPr>
          <p:cNvPr id="23" name="s7 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1573" y="2304288"/>
            <a:ext cx="329184" cy="329184"/>
          </a:xfrm>
          <a:prstGeom prst="rect">
            <a:avLst/>
          </a:prstGeom>
        </p:spPr>
      </p:pic>
      <p:sp>
        <p:nvSpPr>
          <p:cNvPr id="24" name="s7 Text 19"/>
          <p:cNvSpPr/>
          <p:nvPr/>
        </p:nvSpPr>
        <p:spPr>
          <a:xfrm>
            <a:off x="10710367" y="2139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7 Text 20"/>
          <p:cNvSpPr/>
          <p:nvPr/>
        </p:nvSpPr>
        <p:spPr>
          <a:xfrm>
            <a:off x="8456981" y="2962656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rhythm and length</a:t>
            </a:r>
            <a:endParaRPr lang="en-US" sz="1900" dirty="0"/>
          </a:p>
        </p:txBody>
      </p:sp>
      <p:sp>
        <p:nvSpPr>
          <p:cNvPr id="26" name="s7 Text 21"/>
          <p:cNvSpPr/>
          <p:nvPr/>
        </p:nvSpPr>
        <p:spPr>
          <a:xfrm>
            <a:off x="8456981" y="3621024"/>
            <a:ext cx="278373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land within a comparable span. A twenty-word item beside a two-word item breaks the set.</a:t>
            </a:r>
            <a:endParaRPr lang="en-US" sz="1300" dirty="0"/>
          </a:p>
        </p:txBody>
      </p:sp>
      <p:sp>
        <p:nvSpPr>
          <p:cNvPr id="27" name="s7 Text 22"/>
          <p:cNvSpPr/>
          <p:nvPr/>
        </p:nvSpPr>
        <p:spPr>
          <a:xfrm>
            <a:off x="8456981" y="4718304"/>
            <a:ext cx="27837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· Send it · Archive it in the shared quarterly folder</a:t>
            </a:r>
            <a:endParaRPr lang="en-US" sz="1250" dirty="0"/>
          </a:p>
        </p:txBody>
      </p:sp>
      <p:sp>
        <p:nvSpPr>
          <p:cNvPr id="28" name="s7 Text 23"/>
          <p:cNvSpPr/>
          <p:nvPr/>
        </p:nvSpPr>
        <p:spPr>
          <a:xfrm>
            <a:off x="8456981" y="5248656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· Send it · Archive it</a:t>
            </a:r>
            <a:endParaRPr lang="en-US" sz="1250" dirty="0"/>
          </a:p>
        </p:txBody>
      </p:sp>
      <p:sp>
        <p:nvSpPr>
          <p:cNvPr id="29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·   5 MIN</a:t>
            </a:r>
            <a:endParaRPr lang="en-US" sz="1000" dirty="0"/>
          </a:p>
        </p:txBody>
      </p:sp>
      <p:sp>
        <p:nvSpPr>
          <p:cNvPr id="30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1000" dirty="0"/>
          </a:p>
        </p:txBody>
      </p:sp>
      <p:sp>
        <p:nvSpPr>
          <p:cNvPr id="31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2" name="navChipText0">
            <a:hlinkClick r:id="rId5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33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4" name="navChipText1">
            <a:hlinkClick r:id="rId6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35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6" name="navChipText2">
            <a:hlinkClick r:id="rId7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 ·  WHY AN ID SHOULD CARE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this is your job.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copy editor’s — each of these is a design decision with a measurable cost.</a:t>
            </a:r>
            <a:endParaRPr lang="en-US" sz="1550" dirty="0"/>
          </a:p>
        </p:txBody>
      </p:sp>
      <p:sp>
        <p:nvSpPr>
          <p:cNvPr id="5" name="s8 Shape 3"/>
          <p:cNvSpPr/>
          <p:nvPr/>
        </p:nvSpPr>
        <p:spPr>
          <a:xfrm>
            <a:off x="566928" y="1700784"/>
            <a:ext cx="11057839" cy="1280160"/>
          </a:xfrm>
          <a:prstGeom prst="roundRect">
            <a:avLst>
              <a:gd name="adj" fmla="val 1714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6" name="s8 Text 4"/>
          <p:cNvSpPr/>
          <p:nvPr/>
        </p:nvSpPr>
        <p:spPr>
          <a:xfrm>
            <a:off x="969264" y="201168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8 Text 5"/>
          <p:cNvSpPr/>
          <p:nvPr/>
        </p:nvSpPr>
        <p:spPr>
          <a:xfrm>
            <a:off x="1865376" y="19019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cost</a:t>
            </a:r>
            <a:endParaRPr lang="en-US" sz="2100" dirty="0"/>
          </a:p>
        </p:txBody>
      </p:sp>
      <p:sp>
        <p:nvSpPr>
          <p:cNvPr id="8" name="s8 Shape 6"/>
          <p:cNvSpPr/>
          <p:nvPr/>
        </p:nvSpPr>
        <p:spPr>
          <a:xfrm>
            <a:off x="1865376" y="234086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9" name="s8 Text 7"/>
          <p:cNvSpPr/>
          <p:nvPr/>
        </p:nvSpPr>
        <p:spPr>
          <a:xfrm>
            <a:off x="1865376" y="23408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</a:t>
            </a:r>
            <a:endParaRPr lang="en-US" sz="900" dirty="0"/>
          </a:p>
        </p:txBody>
      </p:sp>
      <p:sp>
        <p:nvSpPr>
          <p:cNvPr id="10" name="s8 Text 8"/>
          <p:cNvSpPr/>
          <p:nvPr/>
        </p:nvSpPr>
        <p:spPr>
          <a:xfrm>
            <a:off x="5321808" y="1920240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compare list items whether you intend it or not. Matched form makes the comparison free; mismatched form makes them re-parse before they can weigh.</a:t>
            </a:r>
            <a:endParaRPr lang="en-US" sz="1400" dirty="0"/>
          </a:p>
        </p:txBody>
      </p:sp>
      <p:sp>
        <p:nvSpPr>
          <p:cNvPr id="11" name="s8 Shape 9"/>
          <p:cNvSpPr/>
          <p:nvPr/>
        </p:nvSpPr>
        <p:spPr>
          <a:xfrm>
            <a:off x="566928" y="3108960"/>
            <a:ext cx="11057839" cy="1280160"/>
          </a:xfrm>
          <a:prstGeom prst="roundRect">
            <a:avLst>
              <a:gd name="adj" fmla="val 1714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2" name="s8 Text 10"/>
          <p:cNvSpPr/>
          <p:nvPr/>
        </p:nvSpPr>
        <p:spPr>
          <a:xfrm>
            <a:off x="969264" y="341985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s8 Text 11"/>
          <p:cNvSpPr/>
          <p:nvPr/>
        </p:nvSpPr>
        <p:spPr>
          <a:xfrm>
            <a:off x="1865376" y="3310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 signal</a:t>
            </a:r>
            <a:endParaRPr lang="en-US" sz="2100" dirty="0"/>
          </a:p>
        </p:txBody>
      </p:sp>
      <p:sp>
        <p:nvSpPr>
          <p:cNvPr id="14" name="s8 Shape 12"/>
          <p:cNvSpPr/>
          <p:nvPr/>
        </p:nvSpPr>
        <p:spPr>
          <a:xfrm>
            <a:off x="1865376" y="37490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15" name="s8 Text 13"/>
          <p:cNvSpPr/>
          <p:nvPr/>
        </p:nvSpPr>
        <p:spPr>
          <a:xfrm>
            <a:off x="1865376" y="3749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DESIGN</a:t>
            </a:r>
            <a:endParaRPr lang="en-US" sz="900" dirty="0"/>
          </a:p>
        </p:txBody>
      </p:sp>
      <p:sp>
        <p:nvSpPr>
          <p:cNvPr id="16" name="s8 Text 14"/>
          <p:cNvSpPr/>
          <p:nvPr/>
        </p:nvSpPr>
        <p:spPr>
          <a:xfrm>
            <a:off x="5321808" y="3328416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instructional information. Consistent form says ‘these are peers’. Break it and you have silently taught a hierarchy you never designed.</a:t>
            </a:r>
            <a:endParaRPr lang="en-US" sz="1400" dirty="0"/>
          </a:p>
        </p:txBody>
      </p:sp>
      <p:sp>
        <p:nvSpPr>
          <p:cNvPr id="17" name="s8 Shape 15"/>
          <p:cNvSpPr/>
          <p:nvPr/>
        </p:nvSpPr>
        <p:spPr>
          <a:xfrm>
            <a:off x="566928" y="4517136"/>
            <a:ext cx="11057839" cy="1280160"/>
          </a:xfrm>
          <a:prstGeom prst="roundRect">
            <a:avLst>
              <a:gd name="adj" fmla="val 17143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8" name="s8 Text 16"/>
          <p:cNvSpPr/>
          <p:nvPr/>
        </p:nvSpPr>
        <p:spPr>
          <a:xfrm>
            <a:off x="969264" y="482803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s8 Text 17"/>
          <p:cNvSpPr/>
          <p:nvPr/>
        </p:nvSpPr>
        <p:spPr>
          <a:xfrm>
            <a:off x="1865376" y="4718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validity</a:t>
            </a:r>
            <a:endParaRPr lang="en-US" sz="2100" dirty="0"/>
          </a:p>
        </p:txBody>
      </p:sp>
      <p:sp>
        <p:nvSpPr>
          <p:cNvPr id="20" name="s8 Shape 18"/>
          <p:cNvSpPr/>
          <p:nvPr/>
        </p:nvSpPr>
        <p:spPr>
          <a:xfrm>
            <a:off x="1865376" y="5157216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21" name="s8 Text 19"/>
          <p:cNvSpPr/>
          <p:nvPr/>
        </p:nvSpPr>
        <p:spPr>
          <a:xfrm>
            <a:off x="1865376" y="5157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ONE</a:t>
            </a:r>
            <a:endParaRPr lang="en-US" sz="900" dirty="0"/>
          </a:p>
        </p:txBody>
      </p:sp>
      <p:sp>
        <p:nvSpPr>
          <p:cNvPr id="22" name="s8 Text 20"/>
          <p:cNvSpPr/>
          <p:nvPr/>
        </p:nvSpPr>
        <p:spPr>
          <a:xfrm>
            <a:off x="5321808" y="4736592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non-parallel distractor is a giveaway: the odd option out can be picked on shape alone, so the item measures test-wiseness, not knowledge.</a:t>
            </a:r>
            <a:endParaRPr lang="en-US" sz="1400" dirty="0"/>
          </a:p>
        </p:txBody>
      </p:sp>
      <p:sp>
        <p:nvSpPr>
          <p:cNvPr id="23" name="s8 Text 21"/>
          <p:cNvSpPr/>
          <p:nvPr/>
        </p:nvSpPr>
        <p:spPr>
          <a:xfrm>
            <a:off x="566928" y="590702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cost comprehension. The third costs you your data — and you will defend that data in a stakeholder review.</a:t>
            </a:r>
            <a:endParaRPr lang="en-US" sz="1350" dirty="0"/>
          </a:p>
        </p:txBody>
      </p:sp>
      <p:sp>
        <p:nvSpPr>
          <p:cNvPr id="24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  ·   5 MIN</a:t>
            </a:r>
            <a:endParaRPr lang="en-US" sz="1000" dirty="0"/>
          </a:p>
        </p:txBody>
      </p:sp>
      <p:sp>
        <p:nvSpPr>
          <p:cNvPr id="25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1000" dirty="0"/>
          </a:p>
        </p:txBody>
      </p:sp>
      <p:sp>
        <p:nvSpPr>
          <p:cNvPr id="26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7" name="navChipText0">
            <a:hlinkClick r:id="rId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8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9" name="navChipText1">
            <a:hlinkClick r:id="rId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30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1" name="navChipText2">
            <a:hlinkClick r:id="rId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 ·  WORKED EXAMPLE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distractor that answers itself.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86251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stem, same content, same key. Only the shape of the options changed.</a:t>
            </a:r>
            <a:endParaRPr lang="en-US" sz="1550" dirty="0"/>
          </a:p>
        </p:txBody>
      </p:sp>
      <p:sp>
        <p:nvSpPr>
          <p:cNvPr id="5" name="s9 Shape 3"/>
          <p:cNvSpPr/>
          <p:nvPr/>
        </p:nvSpPr>
        <p:spPr>
          <a:xfrm>
            <a:off x="566928" y="1810512"/>
            <a:ext cx="5382616" cy="3968496"/>
          </a:xfrm>
          <a:prstGeom prst="roundRect">
            <a:avLst>
              <a:gd name="adj" fmla="val 5530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6" name="s9 Shape 4"/>
          <p:cNvSpPr/>
          <p:nvPr/>
        </p:nvSpPr>
        <p:spPr>
          <a:xfrm>
            <a:off x="932688" y="2048256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7" name="s9 Text 5"/>
          <p:cNvSpPr/>
          <p:nvPr/>
        </p:nvSpPr>
        <p:spPr>
          <a:xfrm>
            <a:off x="932688" y="204825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950" dirty="0"/>
          </a:p>
        </p:txBody>
      </p:sp>
      <p:sp>
        <p:nvSpPr>
          <p:cNvPr id="8" name="s9 Text 6"/>
          <p:cNvSpPr/>
          <p:nvPr/>
        </p:nvSpPr>
        <p:spPr>
          <a:xfrm>
            <a:off x="2267712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Gameable</a:t>
            </a:r>
            <a:endParaRPr lang="en-US" sz="1900" dirty="0"/>
          </a:p>
        </p:txBody>
      </p:sp>
      <p:sp>
        <p:nvSpPr>
          <p:cNvPr id="9" name="s9 Text 7"/>
          <p:cNvSpPr/>
          <p:nvPr/>
        </p:nvSpPr>
        <p:spPr>
          <a:xfrm>
            <a:off x="932688" y="248716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· A user reports a locked account. What is your first action?</a:t>
            </a:r>
            <a:endParaRPr lang="en-US" sz="1300" dirty="0"/>
          </a:p>
        </p:txBody>
      </p:sp>
      <p:sp>
        <p:nvSpPr>
          <p:cNvPr id="10" name="s9 Text 8"/>
          <p:cNvSpPr/>
          <p:nvPr/>
        </p:nvSpPr>
        <p:spPr>
          <a:xfrm>
            <a:off x="932688" y="2926080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it</a:t>
            </a:r>
            <a:endParaRPr lang="en-US" sz="1350" dirty="0"/>
          </a:p>
        </p:txBody>
      </p:sp>
      <p:sp>
        <p:nvSpPr>
          <p:cNvPr id="11" name="s9 Text 9"/>
          <p:cNvSpPr/>
          <p:nvPr/>
        </p:nvSpPr>
        <p:spPr>
          <a:xfrm>
            <a:off x="932688" y="3401568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50" dirty="0"/>
          </a:p>
        </p:txBody>
      </p:sp>
      <p:sp>
        <p:nvSpPr>
          <p:cNvPr id="12" name="s9 Text 10"/>
          <p:cNvSpPr/>
          <p:nvPr/>
        </p:nvSpPr>
        <p:spPr>
          <a:xfrm>
            <a:off x="932688" y="3877056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account owner in writing, document the incident in the CRM, and set a 24-hour follow-up reminder</a:t>
            </a:r>
            <a:endParaRPr lang="en-US" sz="1350" dirty="0"/>
          </a:p>
        </p:txBody>
      </p:sp>
      <p:sp>
        <p:nvSpPr>
          <p:cNvPr id="13" name="s9 Text 11"/>
          <p:cNvSpPr/>
          <p:nvPr/>
        </p:nvSpPr>
        <p:spPr>
          <a:xfrm>
            <a:off x="932688" y="4626864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350" dirty="0"/>
          </a:p>
        </p:txBody>
      </p:sp>
      <p:sp>
        <p:nvSpPr>
          <p:cNvPr id="14" name="s9 Text 12"/>
          <p:cNvSpPr/>
          <p:nvPr/>
        </p:nvSpPr>
        <p:spPr>
          <a:xfrm>
            <a:off x="932688" y="5029200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is longer, hedged and complete. A learner who knows nothing about credentials still picks it — the shape says ‘this is the careful answer’.</a:t>
            </a:r>
            <a:endParaRPr lang="en-US" sz="1250" dirty="0"/>
          </a:p>
        </p:txBody>
      </p:sp>
      <p:sp>
        <p:nvSpPr>
          <p:cNvPr id="15" name="s9 Shape 13"/>
          <p:cNvSpPr/>
          <p:nvPr/>
        </p:nvSpPr>
        <p:spPr>
          <a:xfrm>
            <a:off x="6242152" y="1810512"/>
            <a:ext cx="5382616" cy="3968496"/>
          </a:xfrm>
          <a:prstGeom prst="roundRect">
            <a:avLst>
              <a:gd name="adj" fmla="val 5530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6" name="s9 Shape 14"/>
          <p:cNvSpPr/>
          <p:nvPr/>
        </p:nvSpPr>
        <p:spPr>
          <a:xfrm>
            <a:off x="6607912" y="2048256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17" name="s9 Text 15"/>
          <p:cNvSpPr/>
          <p:nvPr/>
        </p:nvSpPr>
        <p:spPr>
          <a:xfrm>
            <a:off x="6607912" y="204825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18" name="s9 Text 16"/>
          <p:cNvSpPr/>
          <p:nvPr/>
        </p:nvSpPr>
        <p:spPr>
          <a:xfrm>
            <a:off x="7942936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900" dirty="0"/>
          </a:p>
        </p:txBody>
      </p:sp>
      <p:sp>
        <p:nvSpPr>
          <p:cNvPr id="19" name="s9 Text 17"/>
          <p:cNvSpPr/>
          <p:nvPr/>
        </p:nvSpPr>
        <p:spPr>
          <a:xfrm>
            <a:off x="6607912" y="248716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· A user reports a locked account. What is your first action?</a:t>
            </a:r>
            <a:endParaRPr lang="en-US" sz="1300" dirty="0"/>
          </a:p>
        </p:txBody>
      </p:sp>
      <p:sp>
        <p:nvSpPr>
          <p:cNvPr id="20" name="s9 Text 18"/>
          <p:cNvSpPr/>
          <p:nvPr/>
        </p:nvSpPr>
        <p:spPr>
          <a:xfrm>
            <a:off x="6607912" y="2926080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credential</a:t>
            </a:r>
            <a:endParaRPr lang="en-US" sz="1350" dirty="0"/>
          </a:p>
        </p:txBody>
      </p:sp>
      <p:sp>
        <p:nvSpPr>
          <p:cNvPr id="21" name="s9 Text 19"/>
          <p:cNvSpPr/>
          <p:nvPr/>
        </p:nvSpPr>
        <p:spPr>
          <a:xfrm>
            <a:off x="6607912" y="3401568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tier two</a:t>
            </a:r>
            <a:endParaRPr lang="en-US" sz="1350" dirty="0"/>
          </a:p>
        </p:txBody>
      </p:sp>
      <p:sp>
        <p:nvSpPr>
          <p:cNvPr id="22" name="s9 Text 20"/>
          <p:cNvSpPr/>
          <p:nvPr/>
        </p:nvSpPr>
        <p:spPr>
          <a:xfrm>
            <a:off x="6607912" y="3877056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account owner</a:t>
            </a:r>
            <a:endParaRPr lang="en-US" sz="1350" dirty="0"/>
          </a:p>
        </p:txBody>
      </p:sp>
      <p:sp>
        <p:nvSpPr>
          <p:cNvPr id="23" name="s9 Text 21"/>
          <p:cNvSpPr/>
          <p:nvPr/>
        </p:nvSpPr>
        <p:spPr>
          <a:xfrm>
            <a:off x="6607912" y="4352544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ticket</a:t>
            </a:r>
            <a:endParaRPr lang="en-US" sz="1350" dirty="0"/>
          </a:p>
        </p:txBody>
      </p:sp>
      <p:sp>
        <p:nvSpPr>
          <p:cNvPr id="24" name="s9 Text 22"/>
          <p:cNvSpPr/>
          <p:nvPr/>
        </p:nvSpPr>
        <p:spPr>
          <a:xfrm>
            <a:off x="6607912" y="5029200"/>
            <a:ext cx="465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verb phrases of comparable weight. Nothing distinguishes the key except knowing the procedure — which is what the item claims to measure.</a:t>
            </a:r>
            <a:endParaRPr lang="en-US" sz="1250" dirty="0"/>
          </a:p>
        </p:txBody>
      </p:sp>
      <p:sp>
        <p:nvSpPr>
          <p:cNvPr id="25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  ·   3 MIN</a:t>
            </a:r>
            <a:endParaRPr lang="en-US" sz="1000" dirty="0"/>
          </a:p>
        </p:txBody>
      </p:sp>
      <p:sp>
        <p:nvSpPr>
          <p:cNvPr id="26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1000" dirty="0"/>
          </a:p>
        </p:txBody>
      </p:sp>
      <p:sp>
        <p:nvSpPr>
          <p:cNvPr id="27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8" name="navChipText0">
            <a:hlinkClick r:id="rId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9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0" name="navChipText1">
            <a:hlinkClick r:id="rId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31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2" name="navChipText2">
            <a:hlinkClick r:id="rId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 ·  WHERE IT BREAKS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places parallelism breaks in a course.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how often it ships. The next five slides take one each — real before, real after.</a:t>
            </a:r>
            <a:endParaRPr lang="en-US" sz="1550" dirty="0"/>
          </a:p>
        </p:txBody>
      </p:sp>
      <p:sp>
        <p:nvSpPr>
          <p:cNvPr id="5" name="placeCard1"/>
          <p:cNvSpPr/>
          <p:nvPr/>
        </p:nvSpPr>
        <p:spPr>
          <a:xfrm>
            <a:off x="566928" y="2084832"/>
            <a:ext cx="2048256" cy="3291840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6" name="placeDisc1"/>
          <p:cNvSpPr/>
          <p:nvPr/>
        </p:nvSpPr>
        <p:spPr>
          <a:xfrm>
            <a:off x="914400" y="2468880"/>
            <a:ext cx="676656" cy="676656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7" name="place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642616"/>
            <a:ext cx="329184" cy="329184"/>
          </a:xfrm>
          <a:prstGeom prst="rect">
            <a:avLst/>
          </a:prstGeom>
        </p:spPr>
      </p:pic>
      <p:sp>
        <p:nvSpPr>
          <p:cNvPr id="8" name="placeNum1"/>
          <p:cNvSpPr/>
          <p:nvPr/>
        </p:nvSpPr>
        <p:spPr>
          <a:xfrm>
            <a:off x="914400" y="332841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placeName1"/>
          <p:cNvSpPr/>
          <p:nvPr/>
        </p:nvSpPr>
        <p:spPr>
          <a:xfrm>
            <a:off x="914400" y="358444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0" name="placeJump1"/>
          <p:cNvSpPr/>
          <p:nvPr/>
        </p:nvSpPr>
        <p:spPr>
          <a:xfrm>
            <a:off x="914400" y="47731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1" name="placeJumpText1">
            <a:hlinkClick r:id="rId3" tooltip="" action="ppaction://hlinksldjump"/>
          </p:cNvPr>
          <p:cNvSpPr/>
          <p:nvPr/>
        </p:nvSpPr>
        <p:spPr>
          <a:xfrm>
            <a:off x="914400" y="477316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11</a:t>
            </a:r>
            <a:endParaRPr lang="en-US" sz="900" dirty="0"/>
          </a:p>
        </p:txBody>
      </p:sp>
      <p:sp>
        <p:nvSpPr>
          <p:cNvPr id="12" name="placeCard2"/>
          <p:cNvSpPr/>
          <p:nvPr/>
        </p:nvSpPr>
        <p:spPr>
          <a:xfrm>
            <a:off x="2816352" y="2084832"/>
            <a:ext cx="2048256" cy="3291840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3" name="placeDisc2"/>
          <p:cNvSpPr/>
          <p:nvPr/>
        </p:nvSpPr>
        <p:spPr>
          <a:xfrm>
            <a:off x="3163824" y="2468880"/>
            <a:ext cx="676656" cy="676656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14" name="placeIcon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642616"/>
            <a:ext cx="329184" cy="329184"/>
          </a:xfrm>
          <a:prstGeom prst="rect">
            <a:avLst/>
          </a:prstGeom>
        </p:spPr>
      </p:pic>
      <p:sp>
        <p:nvSpPr>
          <p:cNvPr id="15" name="placeNum2"/>
          <p:cNvSpPr/>
          <p:nvPr/>
        </p:nvSpPr>
        <p:spPr>
          <a:xfrm>
            <a:off x="3163824" y="332841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placeName2"/>
          <p:cNvSpPr/>
          <p:nvPr/>
        </p:nvSpPr>
        <p:spPr>
          <a:xfrm>
            <a:off x="3163824" y="358444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600" dirty="0"/>
          </a:p>
        </p:txBody>
      </p:sp>
      <p:sp>
        <p:nvSpPr>
          <p:cNvPr id="17" name="placeJump2"/>
          <p:cNvSpPr/>
          <p:nvPr/>
        </p:nvSpPr>
        <p:spPr>
          <a:xfrm>
            <a:off x="3163824" y="47731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8" name="placeJumpText2">
            <a:hlinkClick r:id="rId5" tooltip="" action="ppaction://hlinksldjump"/>
          </p:cNvPr>
          <p:cNvSpPr/>
          <p:nvPr/>
        </p:nvSpPr>
        <p:spPr>
          <a:xfrm>
            <a:off x="3163824" y="477316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12</a:t>
            </a:r>
            <a:endParaRPr lang="en-US" sz="900" dirty="0"/>
          </a:p>
        </p:txBody>
      </p:sp>
      <p:sp>
        <p:nvSpPr>
          <p:cNvPr id="19" name="placeCard3"/>
          <p:cNvSpPr/>
          <p:nvPr/>
        </p:nvSpPr>
        <p:spPr>
          <a:xfrm>
            <a:off x="5065776" y="2084832"/>
            <a:ext cx="2048256" cy="3291840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placeDisc3"/>
          <p:cNvSpPr/>
          <p:nvPr/>
        </p:nvSpPr>
        <p:spPr>
          <a:xfrm>
            <a:off x="5413248" y="2468880"/>
            <a:ext cx="676656" cy="676656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21" name="placeIcon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2642616"/>
            <a:ext cx="329184" cy="329184"/>
          </a:xfrm>
          <a:prstGeom prst="rect">
            <a:avLst/>
          </a:prstGeom>
        </p:spPr>
      </p:pic>
      <p:sp>
        <p:nvSpPr>
          <p:cNvPr id="22" name="placeNum3"/>
          <p:cNvSpPr/>
          <p:nvPr/>
        </p:nvSpPr>
        <p:spPr>
          <a:xfrm>
            <a:off x="5413248" y="332841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placeName3"/>
          <p:cNvSpPr/>
          <p:nvPr/>
        </p:nvSpPr>
        <p:spPr>
          <a:xfrm>
            <a:off x="5413248" y="358444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&amp; menu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600" dirty="0"/>
          </a:p>
        </p:txBody>
      </p:sp>
      <p:sp>
        <p:nvSpPr>
          <p:cNvPr id="24" name="placeJump3"/>
          <p:cNvSpPr/>
          <p:nvPr/>
        </p:nvSpPr>
        <p:spPr>
          <a:xfrm>
            <a:off x="5413248" y="47731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5" name="placeJumpText3">
            <a:hlinkClick r:id="rId7" tooltip="" action="ppaction://hlinksldjump"/>
          </p:cNvPr>
          <p:cNvSpPr/>
          <p:nvPr/>
        </p:nvSpPr>
        <p:spPr>
          <a:xfrm>
            <a:off x="5413248" y="477316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13</a:t>
            </a:r>
            <a:endParaRPr lang="en-US" sz="900" dirty="0"/>
          </a:p>
        </p:txBody>
      </p:sp>
      <p:sp>
        <p:nvSpPr>
          <p:cNvPr id="26" name="placeCard4"/>
          <p:cNvSpPr/>
          <p:nvPr/>
        </p:nvSpPr>
        <p:spPr>
          <a:xfrm>
            <a:off x="7315200" y="2084832"/>
            <a:ext cx="2048256" cy="3291840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7" name="placeDisc4"/>
          <p:cNvSpPr/>
          <p:nvPr/>
        </p:nvSpPr>
        <p:spPr>
          <a:xfrm>
            <a:off x="7662672" y="2468880"/>
            <a:ext cx="676656" cy="676656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28" name="placeIcon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2642616"/>
            <a:ext cx="329184" cy="329184"/>
          </a:xfrm>
          <a:prstGeom prst="rect">
            <a:avLst/>
          </a:prstGeom>
        </p:spPr>
      </p:pic>
      <p:sp>
        <p:nvSpPr>
          <p:cNvPr id="29" name="placeNum4"/>
          <p:cNvSpPr/>
          <p:nvPr/>
        </p:nvSpPr>
        <p:spPr>
          <a:xfrm>
            <a:off x="7662672" y="332841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placeName4"/>
          <p:cNvSpPr/>
          <p:nvPr/>
        </p:nvSpPr>
        <p:spPr>
          <a:xfrm>
            <a:off x="7662672" y="358444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600" dirty="0"/>
          </a:p>
        </p:txBody>
      </p:sp>
      <p:sp>
        <p:nvSpPr>
          <p:cNvPr id="31" name="placeJump4"/>
          <p:cNvSpPr/>
          <p:nvPr/>
        </p:nvSpPr>
        <p:spPr>
          <a:xfrm>
            <a:off x="7662672" y="47731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2" name="placeJumpText4">
            <a:hlinkClick r:id="rId9" tooltip="" action="ppaction://hlinksldjump"/>
          </p:cNvPr>
          <p:cNvSpPr/>
          <p:nvPr/>
        </p:nvSpPr>
        <p:spPr>
          <a:xfrm>
            <a:off x="7662672" y="477316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14</a:t>
            </a:r>
            <a:endParaRPr lang="en-US" sz="900" dirty="0"/>
          </a:p>
        </p:txBody>
      </p:sp>
      <p:sp>
        <p:nvSpPr>
          <p:cNvPr id="33" name="placeCard5"/>
          <p:cNvSpPr/>
          <p:nvPr/>
        </p:nvSpPr>
        <p:spPr>
          <a:xfrm>
            <a:off x="9564624" y="2084832"/>
            <a:ext cx="2048256" cy="3291840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4" name="placeDisc5"/>
          <p:cNvSpPr/>
          <p:nvPr/>
        </p:nvSpPr>
        <p:spPr>
          <a:xfrm>
            <a:off x="9912096" y="2468880"/>
            <a:ext cx="676656" cy="676656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35" name="placeIcon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5832" y="2642616"/>
            <a:ext cx="329184" cy="329184"/>
          </a:xfrm>
          <a:prstGeom prst="rect">
            <a:avLst/>
          </a:prstGeom>
        </p:spPr>
      </p:pic>
      <p:sp>
        <p:nvSpPr>
          <p:cNvPr id="36" name="placeNum5"/>
          <p:cNvSpPr/>
          <p:nvPr/>
        </p:nvSpPr>
        <p:spPr>
          <a:xfrm>
            <a:off x="9912096" y="332841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placeName5"/>
          <p:cNvSpPr/>
          <p:nvPr/>
        </p:nvSpPr>
        <p:spPr>
          <a:xfrm>
            <a:off x="9912096" y="358444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8" name="placeJump5"/>
          <p:cNvSpPr/>
          <p:nvPr/>
        </p:nvSpPr>
        <p:spPr>
          <a:xfrm>
            <a:off x="9912096" y="47731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9" name="placeJumpText5">
            <a:hlinkClick r:id="rId11" tooltip="" action="ppaction://hlinksldjump"/>
          </p:cNvPr>
          <p:cNvSpPr/>
          <p:nvPr/>
        </p:nvSpPr>
        <p:spPr>
          <a:xfrm>
            <a:off x="9912096" y="477316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15</a:t>
            </a:r>
            <a:endParaRPr lang="en-US" sz="900" dirty="0"/>
          </a:p>
        </p:txBody>
      </p:sp>
      <p:sp>
        <p:nvSpPr>
          <p:cNvPr id="40" name="s10 Shape 33"/>
          <p:cNvSpPr/>
          <p:nvPr/>
        </p:nvSpPr>
        <p:spPr>
          <a:xfrm>
            <a:off x="566928" y="5541264"/>
            <a:ext cx="11057839" cy="457200"/>
          </a:xfrm>
          <a:prstGeom prst="roundRect">
            <a:avLst>
              <a:gd name="adj" fmla="val 36000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41" name="s10 Text 34"/>
          <p:cNvSpPr/>
          <p:nvPr/>
        </p:nvSpPr>
        <p:spPr>
          <a:xfrm>
            <a:off x="932688" y="5541264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treatment on each: one place, one broken example from the wild, one repaired version beside it.</a:t>
            </a:r>
            <a:endParaRPr lang="en-US" sz="1300" dirty="0"/>
          </a:p>
        </p:txBody>
      </p:sp>
      <p:sp>
        <p:nvSpPr>
          <p:cNvPr id="42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GUIDE   ·   2 MIN</a:t>
            </a:r>
            <a:endParaRPr lang="en-US" sz="1000" dirty="0"/>
          </a:p>
        </p:txBody>
      </p:sp>
      <p:sp>
        <p:nvSpPr>
          <p:cNvPr id="43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  <p:sp>
        <p:nvSpPr>
          <p:cNvPr id="44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5" name="navChipText0">
            <a:hlinkClick r:id="rId1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6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7" name="navChipText1">
            <a:hlinkClick r:id="rId1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8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9" name="navChipText2">
            <a:hlinkClick r:id="rId1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 ·  01 OF 05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4" name="placeCard1"/>
          <p:cNvSpPr/>
          <p:nvPr/>
        </p:nvSpPr>
        <p:spPr>
          <a:xfrm>
            <a:off x="566928" y="1572768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8A7BFF">
              <a:alpha val="22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5" name="placeDisc1"/>
          <p:cNvSpPr/>
          <p:nvPr/>
        </p:nvSpPr>
        <p:spPr>
          <a:xfrm>
            <a:off x="768096" y="1746504"/>
            <a:ext cx="402336" cy="402336"/>
          </a:xfrm>
          <a:prstGeom prst="ellipse">
            <a:avLst/>
          </a:prstGeom>
          <a:solidFill>
            <a:srgbClr val="8A7BFF">
              <a:alpha val="50000"/>
            </a:srgbClr>
          </a:solidFill>
          <a:ln w="12700">
            <a:solidFill>
              <a:srgbClr val="8A7BFF">
                <a:alpha val="76000"/>
              </a:srgbClr>
            </a:solidFill>
            <a:prstDash val="solid"/>
          </a:ln>
        </p:spPr>
      </p:sp>
      <p:pic>
        <p:nvPicPr>
          <p:cNvPr id="6" name="place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837944"/>
            <a:ext cx="219456" cy="219456"/>
          </a:xfrm>
          <a:prstGeom prst="rect">
            <a:avLst/>
          </a:prstGeom>
        </p:spPr>
      </p:pic>
      <p:sp>
        <p:nvSpPr>
          <p:cNvPr id="7" name="placeNum1"/>
          <p:cNvSpPr/>
          <p:nvPr/>
        </p:nvSpPr>
        <p:spPr>
          <a:xfrm>
            <a:off x="1298448" y="1691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placeName1">
            <a:hlinkClick r:id="rId3" tooltip="" action="ppaction://hlinksldjump"/>
          </p:cNvPr>
          <p:cNvSpPr/>
          <p:nvPr/>
        </p:nvSpPr>
        <p:spPr>
          <a:xfrm>
            <a:off x="1298448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objectives</a:t>
            </a:r>
            <a:endParaRPr lang="en-US" sz="1400" dirty="0"/>
          </a:p>
        </p:txBody>
      </p:sp>
      <p:sp>
        <p:nvSpPr>
          <p:cNvPr id="9" name="placeCard2"/>
          <p:cNvSpPr/>
          <p:nvPr/>
        </p:nvSpPr>
        <p:spPr>
          <a:xfrm>
            <a:off x="566928" y="2468880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0" name="placeDisc2"/>
          <p:cNvSpPr/>
          <p:nvPr/>
        </p:nvSpPr>
        <p:spPr>
          <a:xfrm>
            <a:off x="768096" y="2642616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1" name="placeIcon2" descr="preencod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859536" y="2734056"/>
            <a:ext cx="219456" cy="219456"/>
          </a:xfrm>
          <a:prstGeom prst="rect">
            <a:avLst/>
          </a:prstGeom>
        </p:spPr>
      </p:pic>
      <p:sp>
        <p:nvSpPr>
          <p:cNvPr id="12" name="placeNum2"/>
          <p:cNvSpPr/>
          <p:nvPr/>
        </p:nvSpPr>
        <p:spPr>
          <a:xfrm>
            <a:off x="1298448" y="25877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placeName2">
            <a:hlinkClick r:id="rId5" tooltip="" action="ppaction://hlinksldjump"/>
          </p:cNvPr>
          <p:cNvSpPr/>
          <p:nvPr/>
        </p:nvSpPr>
        <p:spPr>
          <a:xfrm>
            <a:off x="1298448" y="2807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 lists</a:t>
            </a:r>
            <a:endParaRPr lang="en-US" sz="1400" dirty="0"/>
          </a:p>
        </p:txBody>
      </p:sp>
      <p:sp>
        <p:nvSpPr>
          <p:cNvPr id="14" name="placeCard3"/>
          <p:cNvSpPr/>
          <p:nvPr/>
        </p:nvSpPr>
        <p:spPr>
          <a:xfrm>
            <a:off x="566928" y="3364992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5" name="placeDisc3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6" name="placeIcon3" descr="preencoded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859536" y="3630168"/>
            <a:ext cx="219456" cy="219456"/>
          </a:xfrm>
          <a:prstGeom prst="rect">
            <a:avLst/>
          </a:prstGeom>
        </p:spPr>
      </p:pic>
      <p:sp>
        <p:nvSpPr>
          <p:cNvPr id="17" name="placeNum3"/>
          <p:cNvSpPr/>
          <p:nvPr/>
        </p:nvSpPr>
        <p:spPr>
          <a:xfrm>
            <a:off x="1298448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placeName3">
            <a:hlinkClick r:id="rId7" tooltip="" action="ppaction://hlinksldjump"/>
          </p:cNvPr>
          <p:cNvSpPr/>
          <p:nvPr/>
        </p:nvSpPr>
        <p:spPr>
          <a:xfrm>
            <a:off x="1298448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 &amp; menu labels</a:t>
            </a:r>
            <a:endParaRPr lang="en-US" sz="1400" dirty="0"/>
          </a:p>
        </p:txBody>
      </p:sp>
      <p:sp>
        <p:nvSpPr>
          <p:cNvPr id="19" name="placeCard4"/>
          <p:cNvSpPr/>
          <p:nvPr/>
        </p:nvSpPr>
        <p:spPr>
          <a:xfrm>
            <a:off x="566928" y="4261104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placeDisc4"/>
          <p:cNvSpPr/>
          <p:nvPr/>
        </p:nvSpPr>
        <p:spPr>
          <a:xfrm>
            <a:off x="768096" y="4434840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1" name="placeIcon4" descr="preencoded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tretch>
            <a:fillRect/>
          </a:stretch>
        </p:blipFill>
        <p:spPr>
          <a:xfrm>
            <a:off x="859536" y="4526280"/>
            <a:ext cx="219456" cy="219456"/>
          </a:xfrm>
          <a:prstGeom prst="rect">
            <a:avLst/>
          </a:prstGeom>
        </p:spPr>
      </p:pic>
      <p:sp>
        <p:nvSpPr>
          <p:cNvPr id="22" name="placeNum4"/>
          <p:cNvSpPr/>
          <p:nvPr/>
        </p:nvSpPr>
        <p:spPr>
          <a:xfrm>
            <a:off x="1298448" y="4379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placeName4">
            <a:hlinkClick r:id="rId9" tooltip="" action="ppaction://hlinksldjump"/>
          </p:cNvPr>
          <p:cNvSpPr/>
          <p:nvPr/>
        </p:nvSpPr>
        <p:spPr>
          <a:xfrm>
            <a:off x="1298448" y="4599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items</a:t>
            </a:r>
            <a:endParaRPr lang="en-US" sz="1400" dirty="0"/>
          </a:p>
        </p:txBody>
      </p:sp>
      <p:sp>
        <p:nvSpPr>
          <p:cNvPr id="24" name="placeCard5"/>
          <p:cNvSpPr/>
          <p:nvPr/>
        </p:nvSpPr>
        <p:spPr>
          <a:xfrm>
            <a:off x="566928" y="5157216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5" name="placeDisc5"/>
          <p:cNvSpPr/>
          <p:nvPr/>
        </p:nvSpPr>
        <p:spPr>
          <a:xfrm>
            <a:off x="768096" y="5330952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6" name="placeIcon5" descr="preencoded.png">    </p:cNvPr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859536" y="5422392"/>
            <a:ext cx="219456" cy="219456"/>
          </a:xfrm>
          <a:prstGeom prst="rect">
            <a:avLst/>
          </a:prstGeom>
        </p:spPr>
      </p:pic>
      <p:sp>
        <p:nvSpPr>
          <p:cNvPr id="27" name="placeNum5"/>
          <p:cNvSpPr/>
          <p:nvPr/>
        </p:nvSpPr>
        <p:spPr>
          <a:xfrm>
            <a:off x="1298448" y="5276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placeName5">
            <a:hlinkClick r:id="rId11" tooltip="" action="ppaction://hlinksldjump"/>
          </p:cNvPr>
          <p:cNvSpPr/>
          <p:nvPr/>
        </p:nvSpPr>
        <p:spPr>
          <a:xfrm>
            <a:off x="1298448" y="5495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 architecture</a:t>
            </a:r>
            <a:endParaRPr lang="en-US" sz="1400" dirty="0"/>
          </a:p>
        </p:txBody>
      </p:sp>
      <p:sp>
        <p:nvSpPr>
          <p:cNvPr id="29" name="paneBREAKS"/>
          <p:cNvSpPr/>
          <p:nvPr/>
        </p:nvSpPr>
        <p:spPr>
          <a:xfrm>
            <a:off x="3931920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0" name="s11 Shape 23"/>
          <p:cNvSpPr/>
          <p:nvPr/>
        </p:nvSpPr>
        <p:spPr>
          <a:xfrm>
            <a:off x="4242816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31" name="s11 Text 24"/>
          <p:cNvSpPr/>
          <p:nvPr/>
        </p:nvSpPr>
        <p:spPr>
          <a:xfrm>
            <a:off x="4242816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950" dirty="0"/>
          </a:p>
        </p:txBody>
      </p:sp>
      <p:sp>
        <p:nvSpPr>
          <p:cNvPr id="32" name="s11 Text 25"/>
          <p:cNvSpPr/>
          <p:nvPr/>
        </p:nvSpPr>
        <p:spPr>
          <a:xfrm>
            <a:off x="4242816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phases of onboarding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escalation paths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will be able to close a ticket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350" dirty="0"/>
          </a:p>
        </p:txBody>
      </p:sp>
      <p:sp>
        <p:nvSpPr>
          <p:cNvPr id="33" name="s11 Text 26"/>
          <p:cNvSpPr/>
          <p:nvPr/>
        </p:nvSpPr>
        <p:spPr>
          <a:xfrm>
            <a:off x="4242816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items, four constructions: a verb, a gerund phrase, a stem sentence, a bare noun. The set no longer reads as one set.</a:t>
            </a:r>
            <a:endParaRPr lang="en-US" sz="1200" dirty="0"/>
          </a:p>
        </p:txBody>
      </p:sp>
      <p:sp>
        <p:nvSpPr>
          <p:cNvPr id="34" name="paneHOLDS"/>
          <p:cNvSpPr/>
          <p:nvPr/>
        </p:nvSpPr>
        <p:spPr>
          <a:xfrm>
            <a:off x="7918704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5" name="s11 Shape 28"/>
          <p:cNvSpPr/>
          <p:nvPr/>
        </p:nvSpPr>
        <p:spPr>
          <a:xfrm>
            <a:off x="8229600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36" name="s11 Text 29"/>
          <p:cNvSpPr/>
          <p:nvPr/>
        </p:nvSpPr>
        <p:spPr>
          <a:xfrm>
            <a:off x="8229600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37" name="s11 Text 30"/>
          <p:cNvSpPr/>
          <p:nvPr/>
        </p:nvSpPr>
        <p:spPr>
          <a:xfrm>
            <a:off x="8229600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phases of onboarding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two escalation paths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 ticket in under three minutes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a customer’s frustration in one sentence</a:t>
            </a:r>
            <a:endParaRPr lang="en-US" sz="1350" dirty="0"/>
          </a:p>
        </p:txBody>
      </p:sp>
      <p:sp>
        <p:nvSpPr>
          <p:cNvPr id="38" name="s11 Text 31"/>
          <p:cNvSpPr/>
          <p:nvPr/>
        </p:nvSpPr>
        <p:spPr>
          <a:xfrm>
            <a:off x="8229600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is a measurable verb phrase completing the same stem. The list can now be scanned, sequenced and assessed.</a:t>
            </a:r>
            <a:endParaRPr lang="en-US" sz="1200" dirty="0"/>
          </a:p>
        </p:txBody>
      </p:sp>
      <p:sp>
        <p:nvSpPr>
          <p:cNvPr id="39" name="s11 Shape 32"/>
          <p:cNvSpPr/>
          <p:nvPr/>
        </p:nvSpPr>
        <p:spPr>
          <a:xfrm>
            <a:off x="3931920" y="11887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40" name="s11 Text 33"/>
          <p:cNvSpPr/>
          <p:nvPr/>
        </p:nvSpPr>
        <p:spPr>
          <a:xfrm>
            <a:off x="3931920" y="1188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FORM</a:t>
            </a:r>
            <a:endParaRPr lang="en-US" sz="950" dirty="0"/>
          </a:p>
        </p:txBody>
      </p:sp>
      <p:sp>
        <p:nvSpPr>
          <p:cNvPr id="41" name="s11 Text 34"/>
          <p:cNvSpPr/>
          <p:nvPr/>
        </p:nvSpPr>
        <p:spPr>
          <a:xfrm>
            <a:off x="6729984" y="118872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once, verb every time.</a:t>
            </a:r>
            <a:endParaRPr lang="en-US" sz="1250" dirty="0"/>
          </a:p>
        </p:txBody>
      </p:sp>
      <p:sp>
        <p:nvSpPr>
          <p:cNvPr id="42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GUIDE   ·   2 MIN</a:t>
            </a:r>
            <a:endParaRPr lang="en-US" sz="1000" dirty="0"/>
          </a:p>
        </p:txBody>
      </p:sp>
      <p:sp>
        <p:nvSpPr>
          <p:cNvPr id="43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  <p:sp>
        <p:nvSpPr>
          <p:cNvPr id="44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5" name="navChipText0">
            <a:hlinkClick r:id="rId1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6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7" name="navChipText1">
            <a:hlinkClick r:id="rId1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8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9" name="navChipText2">
            <a:hlinkClick r:id="rId1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900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 ·  02 OF 05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lists</a:t>
            </a:r>
            <a:endParaRPr lang="en-US" sz="3400" dirty="0"/>
          </a:p>
        </p:txBody>
      </p:sp>
      <p:sp>
        <p:nvSpPr>
          <p:cNvPr id="4" name="placeCard1"/>
          <p:cNvSpPr/>
          <p:nvPr/>
        </p:nvSpPr>
        <p:spPr>
          <a:xfrm>
            <a:off x="566928" y="1572768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5" name="placeDisc1"/>
          <p:cNvSpPr/>
          <p:nvPr/>
        </p:nvSpPr>
        <p:spPr>
          <a:xfrm>
            <a:off x="768096" y="1746504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6" name="placeIcon1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859536" y="1837944"/>
            <a:ext cx="219456" cy="219456"/>
          </a:xfrm>
          <a:prstGeom prst="rect">
            <a:avLst/>
          </a:prstGeom>
        </p:spPr>
      </p:pic>
      <p:sp>
        <p:nvSpPr>
          <p:cNvPr id="7" name="placeNum1"/>
          <p:cNvSpPr/>
          <p:nvPr/>
        </p:nvSpPr>
        <p:spPr>
          <a:xfrm>
            <a:off x="1298448" y="1691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placeName1">
            <a:hlinkClick r:id="rId3" tooltip="" action="ppaction://hlinksldjump"/>
          </p:cNvPr>
          <p:cNvSpPr/>
          <p:nvPr/>
        </p:nvSpPr>
        <p:spPr>
          <a:xfrm>
            <a:off x="1298448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objectives</a:t>
            </a:r>
            <a:endParaRPr lang="en-US" sz="1400" dirty="0"/>
          </a:p>
        </p:txBody>
      </p:sp>
      <p:sp>
        <p:nvSpPr>
          <p:cNvPr id="9" name="placeCard2"/>
          <p:cNvSpPr/>
          <p:nvPr/>
        </p:nvSpPr>
        <p:spPr>
          <a:xfrm>
            <a:off x="566928" y="2468880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8A7BFF">
              <a:alpha val="22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0" name="placeDisc2"/>
          <p:cNvSpPr/>
          <p:nvPr/>
        </p:nvSpPr>
        <p:spPr>
          <a:xfrm>
            <a:off x="768096" y="2642616"/>
            <a:ext cx="402336" cy="402336"/>
          </a:xfrm>
          <a:prstGeom prst="ellipse">
            <a:avLst/>
          </a:prstGeom>
          <a:solidFill>
            <a:srgbClr val="8A7BFF">
              <a:alpha val="50000"/>
            </a:srgbClr>
          </a:solidFill>
          <a:ln w="12700">
            <a:solidFill>
              <a:srgbClr val="8A7BFF">
                <a:alpha val="76000"/>
              </a:srgbClr>
            </a:solidFill>
            <a:prstDash val="solid"/>
          </a:ln>
        </p:spPr>
      </p:sp>
      <p:pic>
        <p:nvPicPr>
          <p:cNvPr id="11" name="placeIcon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734056"/>
            <a:ext cx="219456" cy="219456"/>
          </a:xfrm>
          <a:prstGeom prst="rect">
            <a:avLst/>
          </a:prstGeom>
        </p:spPr>
      </p:pic>
      <p:sp>
        <p:nvSpPr>
          <p:cNvPr id="12" name="placeNum2"/>
          <p:cNvSpPr/>
          <p:nvPr/>
        </p:nvSpPr>
        <p:spPr>
          <a:xfrm>
            <a:off x="1298448" y="25877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placeName2">
            <a:hlinkClick r:id="rId5" tooltip="" action="ppaction://hlinksldjump"/>
          </p:cNvPr>
          <p:cNvSpPr/>
          <p:nvPr/>
        </p:nvSpPr>
        <p:spPr>
          <a:xfrm>
            <a:off x="1298448" y="2807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 lists</a:t>
            </a:r>
            <a:endParaRPr lang="en-US" sz="1400" dirty="0"/>
          </a:p>
        </p:txBody>
      </p:sp>
      <p:sp>
        <p:nvSpPr>
          <p:cNvPr id="14" name="placeCard3"/>
          <p:cNvSpPr/>
          <p:nvPr/>
        </p:nvSpPr>
        <p:spPr>
          <a:xfrm>
            <a:off x="566928" y="3364992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5" name="placeDisc3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6" name="placeIcon3" descr="preencoded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859536" y="3630168"/>
            <a:ext cx="219456" cy="219456"/>
          </a:xfrm>
          <a:prstGeom prst="rect">
            <a:avLst/>
          </a:prstGeom>
        </p:spPr>
      </p:pic>
      <p:sp>
        <p:nvSpPr>
          <p:cNvPr id="17" name="placeNum3"/>
          <p:cNvSpPr/>
          <p:nvPr/>
        </p:nvSpPr>
        <p:spPr>
          <a:xfrm>
            <a:off x="1298448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placeName3">
            <a:hlinkClick r:id="rId7" tooltip="" action="ppaction://hlinksldjump"/>
          </p:cNvPr>
          <p:cNvSpPr/>
          <p:nvPr/>
        </p:nvSpPr>
        <p:spPr>
          <a:xfrm>
            <a:off x="1298448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 &amp; menu labels</a:t>
            </a:r>
            <a:endParaRPr lang="en-US" sz="1400" dirty="0"/>
          </a:p>
        </p:txBody>
      </p:sp>
      <p:sp>
        <p:nvSpPr>
          <p:cNvPr id="19" name="placeCard4"/>
          <p:cNvSpPr/>
          <p:nvPr/>
        </p:nvSpPr>
        <p:spPr>
          <a:xfrm>
            <a:off x="566928" y="4261104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placeDisc4"/>
          <p:cNvSpPr/>
          <p:nvPr/>
        </p:nvSpPr>
        <p:spPr>
          <a:xfrm>
            <a:off x="768096" y="4434840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1" name="placeIcon4" descr="preencoded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tretch>
            <a:fillRect/>
          </a:stretch>
        </p:blipFill>
        <p:spPr>
          <a:xfrm>
            <a:off x="859536" y="4526280"/>
            <a:ext cx="219456" cy="219456"/>
          </a:xfrm>
          <a:prstGeom prst="rect">
            <a:avLst/>
          </a:prstGeom>
        </p:spPr>
      </p:pic>
      <p:sp>
        <p:nvSpPr>
          <p:cNvPr id="22" name="placeNum4"/>
          <p:cNvSpPr/>
          <p:nvPr/>
        </p:nvSpPr>
        <p:spPr>
          <a:xfrm>
            <a:off x="1298448" y="4379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placeName4">
            <a:hlinkClick r:id="rId9" tooltip="" action="ppaction://hlinksldjump"/>
          </p:cNvPr>
          <p:cNvSpPr/>
          <p:nvPr/>
        </p:nvSpPr>
        <p:spPr>
          <a:xfrm>
            <a:off x="1298448" y="4599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items</a:t>
            </a:r>
            <a:endParaRPr lang="en-US" sz="1400" dirty="0"/>
          </a:p>
        </p:txBody>
      </p:sp>
      <p:sp>
        <p:nvSpPr>
          <p:cNvPr id="24" name="placeCard5"/>
          <p:cNvSpPr/>
          <p:nvPr/>
        </p:nvSpPr>
        <p:spPr>
          <a:xfrm>
            <a:off x="566928" y="5157216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5" name="placeDisc5"/>
          <p:cNvSpPr/>
          <p:nvPr/>
        </p:nvSpPr>
        <p:spPr>
          <a:xfrm>
            <a:off x="768096" y="5330952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6" name="placeIcon5" descr="preencoded.png">    </p:cNvPr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859536" y="5422392"/>
            <a:ext cx="219456" cy="219456"/>
          </a:xfrm>
          <a:prstGeom prst="rect">
            <a:avLst/>
          </a:prstGeom>
        </p:spPr>
      </p:pic>
      <p:sp>
        <p:nvSpPr>
          <p:cNvPr id="27" name="placeNum5"/>
          <p:cNvSpPr/>
          <p:nvPr/>
        </p:nvSpPr>
        <p:spPr>
          <a:xfrm>
            <a:off x="1298448" y="5276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placeName5">
            <a:hlinkClick r:id="rId11" tooltip="" action="ppaction://hlinksldjump"/>
          </p:cNvPr>
          <p:cNvSpPr/>
          <p:nvPr/>
        </p:nvSpPr>
        <p:spPr>
          <a:xfrm>
            <a:off x="1298448" y="5495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 architecture</a:t>
            </a:r>
            <a:endParaRPr lang="en-US" sz="1400" dirty="0"/>
          </a:p>
        </p:txBody>
      </p:sp>
      <p:sp>
        <p:nvSpPr>
          <p:cNvPr id="29" name="paneBREAKS"/>
          <p:cNvSpPr/>
          <p:nvPr/>
        </p:nvSpPr>
        <p:spPr>
          <a:xfrm>
            <a:off x="3931920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0" name="s12 Shape 23"/>
          <p:cNvSpPr/>
          <p:nvPr/>
        </p:nvSpPr>
        <p:spPr>
          <a:xfrm>
            <a:off x="4242816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31" name="s12 Text 24"/>
          <p:cNvSpPr/>
          <p:nvPr/>
        </p:nvSpPr>
        <p:spPr>
          <a:xfrm>
            <a:off x="4242816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950" dirty="0"/>
          </a:p>
        </p:txBody>
      </p:sp>
      <p:sp>
        <p:nvSpPr>
          <p:cNvPr id="32" name="s12 Text 25"/>
          <p:cNvSpPr/>
          <p:nvPr/>
        </p:nvSpPr>
        <p:spPr>
          <a:xfrm>
            <a:off x="4242816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reviews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reduce rework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improved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everyone honestly</a:t>
            </a:r>
            <a:endParaRPr lang="en-US" sz="1350" dirty="0"/>
          </a:p>
        </p:txBody>
      </p:sp>
      <p:sp>
        <p:nvSpPr>
          <p:cNvPr id="33" name="s12 Text 26"/>
          <p:cNvSpPr/>
          <p:nvPr/>
        </p:nvSpPr>
        <p:spPr>
          <a:xfrm>
            <a:off x="4242816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noun phrase, a bare noun, a second-person promise, a passive clause, and an opinion. Five shapes for five peers.</a:t>
            </a:r>
            <a:endParaRPr lang="en-US" sz="1200" dirty="0"/>
          </a:p>
        </p:txBody>
      </p:sp>
      <p:sp>
        <p:nvSpPr>
          <p:cNvPr id="34" name="paneHOLDS"/>
          <p:cNvSpPr/>
          <p:nvPr/>
        </p:nvSpPr>
        <p:spPr>
          <a:xfrm>
            <a:off x="7918704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5" name="s12 Shape 28"/>
          <p:cNvSpPr/>
          <p:nvPr/>
        </p:nvSpPr>
        <p:spPr>
          <a:xfrm>
            <a:off x="8229600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36" name="s12 Text 29"/>
          <p:cNvSpPr/>
          <p:nvPr/>
        </p:nvSpPr>
        <p:spPr>
          <a:xfrm>
            <a:off x="8229600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37" name="s12 Text 30"/>
          <p:cNvSpPr/>
          <p:nvPr/>
        </p:nvSpPr>
        <p:spPr>
          <a:xfrm>
            <a:off x="8229600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reviews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rework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compliance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escalations</a:t>
            </a:r>
            <a:endParaRPr lang="en-US" sz="1350" dirty="0"/>
          </a:p>
        </p:txBody>
      </p:sp>
      <p:sp>
        <p:nvSpPr>
          <p:cNvPr id="38" name="s12 Text 31"/>
          <p:cNvSpPr/>
          <p:nvPr/>
        </p:nvSpPr>
        <p:spPr>
          <a:xfrm>
            <a:off x="8229600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plus noun, five times. The pattern makes the items comparable at a glance — and exposes any weak one.</a:t>
            </a:r>
            <a:endParaRPr lang="en-US" sz="1200" dirty="0"/>
          </a:p>
        </p:txBody>
      </p:sp>
      <p:sp>
        <p:nvSpPr>
          <p:cNvPr id="39" name="s12 Shape 32"/>
          <p:cNvSpPr/>
          <p:nvPr/>
        </p:nvSpPr>
        <p:spPr>
          <a:xfrm>
            <a:off x="3931920" y="11887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40" name="s12 Text 33"/>
          <p:cNvSpPr/>
          <p:nvPr/>
        </p:nvSpPr>
        <p:spPr>
          <a:xfrm>
            <a:off x="3931920" y="1188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FORM + RHYTHM</a:t>
            </a:r>
            <a:endParaRPr lang="en-US" sz="950" dirty="0"/>
          </a:p>
        </p:txBody>
      </p:sp>
      <p:sp>
        <p:nvSpPr>
          <p:cNvPr id="41" name="s12 Text 34"/>
          <p:cNvSpPr/>
          <p:nvPr/>
        </p:nvSpPr>
        <p:spPr>
          <a:xfrm>
            <a:off x="6729984" y="118872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shape, repeated, is a promise the reader can scan.</a:t>
            </a:r>
            <a:endParaRPr lang="en-US" sz="1250" dirty="0"/>
          </a:p>
        </p:txBody>
      </p:sp>
      <p:sp>
        <p:nvSpPr>
          <p:cNvPr id="42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GUIDE   ·   2 MIN</a:t>
            </a:r>
            <a:endParaRPr lang="en-US" sz="1000" dirty="0"/>
          </a:p>
        </p:txBody>
      </p:sp>
      <p:sp>
        <p:nvSpPr>
          <p:cNvPr id="43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  <p:sp>
        <p:nvSpPr>
          <p:cNvPr id="44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5" name="navChipText0">
            <a:hlinkClick r:id="rId1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6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7" name="navChipText1">
            <a:hlinkClick r:id="rId1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8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9" name="navChipText2">
            <a:hlinkClick r:id="rId1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90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 ·  03 OF 05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&amp; menu labels</a:t>
            </a:r>
            <a:endParaRPr lang="en-US" sz="3400" dirty="0"/>
          </a:p>
        </p:txBody>
      </p:sp>
      <p:sp>
        <p:nvSpPr>
          <p:cNvPr id="4" name="placeCard1"/>
          <p:cNvSpPr/>
          <p:nvPr/>
        </p:nvSpPr>
        <p:spPr>
          <a:xfrm>
            <a:off x="566928" y="1572768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5" name="placeDisc1"/>
          <p:cNvSpPr/>
          <p:nvPr/>
        </p:nvSpPr>
        <p:spPr>
          <a:xfrm>
            <a:off x="768096" y="1746504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6" name="placeIcon1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859536" y="1837944"/>
            <a:ext cx="219456" cy="219456"/>
          </a:xfrm>
          <a:prstGeom prst="rect">
            <a:avLst/>
          </a:prstGeom>
        </p:spPr>
      </p:pic>
      <p:sp>
        <p:nvSpPr>
          <p:cNvPr id="7" name="placeNum1"/>
          <p:cNvSpPr/>
          <p:nvPr/>
        </p:nvSpPr>
        <p:spPr>
          <a:xfrm>
            <a:off x="1298448" y="1691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placeName1">
            <a:hlinkClick r:id="rId3" tooltip="" action="ppaction://hlinksldjump"/>
          </p:cNvPr>
          <p:cNvSpPr/>
          <p:nvPr/>
        </p:nvSpPr>
        <p:spPr>
          <a:xfrm>
            <a:off x="1298448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objectives</a:t>
            </a:r>
            <a:endParaRPr lang="en-US" sz="1400" dirty="0"/>
          </a:p>
        </p:txBody>
      </p:sp>
      <p:sp>
        <p:nvSpPr>
          <p:cNvPr id="9" name="placeCard2"/>
          <p:cNvSpPr/>
          <p:nvPr/>
        </p:nvSpPr>
        <p:spPr>
          <a:xfrm>
            <a:off x="566928" y="2468880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0" name="placeDisc2"/>
          <p:cNvSpPr/>
          <p:nvPr/>
        </p:nvSpPr>
        <p:spPr>
          <a:xfrm>
            <a:off x="768096" y="2642616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1" name="placeIcon2" descr="preencod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859536" y="2734056"/>
            <a:ext cx="219456" cy="219456"/>
          </a:xfrm>
          <a:prstGeom prst="rect">
            <a:avLst/>
          </a:prstGeom>
        </p:spPr>
      </p:pic>
      <p:sp>
        <p:nvSpPr>
          <p:cNvPr id="12" name="placeNum2"/>
          <p:cNvSpPr/>
          <p:nvPr/>
        </p:nvSpPr>
        <p:spPr>
          <a:xfrm>
            <a:off x="1298448" y="25877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placeName2">
            <a:hlinkClick r:id="rId5" tooltip="" action="ppaction://hlinksldjump"/>
          </p:cNvPr>
          <p:cNvSpPr/>
          <p:nvPr/>
        </p:nvSpPr>
        <p:spPr>
          <a:xfrm>
            <a:off x="1298448" y="2807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 lists</a:t>
            </a:r>
            <a:endParaRPr lang="en-US" sz="1400" dirty="0"/>
          </a:p>
        </p:txBody>
      </p:sp>
      <p:sp>
        <p:nvSpPr>
          <p:cNvPr id="14" name="placeCard3"/>
          <p:cNvSpPr/>
          <p:nvPr/>
        </p:nvSpPr>
        <p:spPr>
          <a:xfrm>
            <a:off x="566928" y="3364992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8A7BFF">
              <a:alpha val="22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5" name="placeDisc3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8A7BFF">
              <a:alpha val="50000"/>
            </a:srgbClr>
          </a:solidFill>
          <a:ln w="12700">
            <a:solidFill>
              <a:srgbClr val="8A7BFF">
                <a:alpha val="76000"/>
              </a:srgbClr>
            </a:solidFill>
            <a:prstDash val="solid"/>
          </a:ln>
        </p:spPr>
      </p:sp>
      <p:pic>
        <p:nvPicPr>
          <p:cNvPr id="16" name="placeIcon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630168"/>
            <a:ext cx="219456" cy="219456"/>
          </a:xfrm>
          <a:prstGeom prst="rect">
            <a:avLst/>
          </a:prstGeom>
        </p:spPr>
      </p:pic>
      <p:sp>
        <p:nvSpPr>
          <p:cNvPr id="17" name="placeNum3"/>
          <p:cNvSpPr/>
          <p:nvPr/>
        </p:nvSpPr>
        <p:spPr>
          <a:xfrm>
            <a:off x="1298448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placeName3">
            <a:hlinkClick r:id="rId7" tooltip="" action="ppaction://hlinksldjump"/>
          </p:cNvPr>
          <p:cNvSpPr/>
          <p:nvPr/>
        </p:nvSpPr>
        <p:spPr>
          <a:xfrm>
            <a:off x="1298448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 &amp; menu labels</a:t>
            </a:r>
            <a:endParaRPr lang="en-US" sz="1400" dirty="0"/>
          </a:p>
        </p:txBody>
      </p:sp>
      <p:sp>
        <p:nvSpPr>
          <p:cNvPr id="19" name="placeCard4"/>
          <p:cNvSpPr/>
          <p:nvPr/>
        </p:nvSpPr>
        <p:spPr>
          <a:xfrm>
            <a:off x="566928" y="4261104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placeDisc4"/>
          <p:cNvSpPr/>
          <p:nvPr/>
        </p:nvSpPr>
        <p:spPr>
          <a:xfrm>
            <a:off x="768096" y="4434840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1" name="placeIcon4" descr="preencoded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tretch>
            <a:fillRect/>
          </a:stretch>
        </p:blipFill>
        <p:spPr>
          <a:xfrm>
            <a:off x="859536" y="4526280"/>
            <a:ext cx="219456" cy="219456"/>
          </a:xfrm>
          <a:prstGeom prst="rect">
            <a:avLst/>
          </a:prstGeom>
        </p:spPr>
      </p:pic>
      <p:sp>
        <p:nvSpPr>
          <p:cNvPr id="22" name="placeNum4"/>
          <p:cNvSpPr/>
          <p:nvPr/>
        </p:nvSpPr>
        <p:spPr>
          <a:xfrm>
            <a:off x="1298448" y="4379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placeName4">
            <a:hlinkClick r:id="rId9" tooltip="" action="ppaction://hlinksldjump"/>
          </p:cNvPr>
          <p:cNvSpPr/>
          <p:nvPr/>
        </p:nvSpPr>
        <p:spPr>
          <a:xfrm>
            <a:off x="1298448" y="4599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items</a:t>
            </a:r>
            <a:endParaRPr lang="en-US" sz="1400" dirty="0"/>
          </a:p>
        </p:txBody>
      </p:sp>
      <p:sp>
        <p:nvSpPr>
          <p:cNvPr id="24" name="placeCard5"/>
          <p:cNvSpPr/>
          <p:nvPr/>
        </p:nvSpPr>
        <p:spPr>
          <a:xfrm>
            <a:off x="566928" y="5157216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5" name="placeDisc5"/>
          <p:cNvSpPr/>
          <p:nvPr/>
        </p:nvSpPr>
        <p:spPr>
          <a:xfrm>
            <a:off x="768096" y="5330952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6" name="placeIcon5" descr="preencoded.png">    </p:cNvPr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859536" y="5422392"/>
            <a:ext cx="219456" cy="219456"/>
          </a:xfrm>
          <a:prstGeom prst="rect">
            <a:avLst/>
          </a:prstGeom>
        </p:spPr>
      </p:pic>
      <p:sp>
        <p:nvSpPr>
          <p:cNvPr id="27" name="placeNum5"/>
          <p:cNvSpPr/>
          <p:nvPr/>
        </p:nvSpPr>
        <p:spPr>
          <a:xfrm>
            <a:off x="1298448" y="5276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placeName5">
            <a:hlinkClick r:id="rId11" tooltip="" action="ppaction://hlinksldjump"/>
          </p:cNvPr>
          <p:cNvSpPr/>
          <p:nvPr/>
        </p:nvSpPr>
        <p:spPr>
          <a:xfrm>
            <a:off x="1298448" y="5495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 architecture</a:t>
            </a:r>
            <a:endParaRPr lang="en-US" sz="1400" dirty="0"/>
          </a:p>
        </p:txBody>
      </p:sp>
      <p:sp>
        <p:nvSpPr>
          <p:cNvPr id="29" name="paneBREAKS"/>
          <p:cNvSpPr/>
          <p:nvPr/>
        </p:nvSpPr>
        <p:spPr>
          <a:xfrm>
            <a:off x="3931920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0" name="s13 Shape 23"/>
          <p:cNvSpPr/>
          <p:nvPr/>
        </p:nvSpPr>
        <p:spPr>
          <a:xfrm>
            <a:off x="4242816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31" name="s13 Text 24"/>
          <p:cNvSpPr/>
          <p:nvPr/>
        </p:nvSpPr>
        <p:spPr>
          <a:xfrm>
            <a:off x="4242816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950" dirty="0"/>
          </a:p>
        </p:txBody>
      </p:sp>
      <p:sp>
        <p:nvSpPr>
          <p:cNvPr id="32" name="s13 Text 25"/>
          <p:cNvSpPr/>
          <p:nvPr/>
        </p:nvSpPr>
        <p:spPr>
          <a:xfrm>
            <a:off x="4242816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 a claim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350" dirty="0"/>
          </a:p>
        </p:txBody>
      </p:sp>
      <p:sp>
        <p:nvSpPr>
          <p:cNvPr id="33" name="s13 Text 26"/>
          <p:cNvSpPr/>
          <p:nvPr/>
        </p:nvSpPr>
        <p:spPr>
          <a:xfrm>
            <a:off x="4242816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Nouns, an imperative, a how-to question, a why question. Learners cannot predict what a label will deliver, so they click to find out.</a:t>
            </a:r>
            <a:endParaRPr lang="en-US" sz="1200" dirty="0"/>
          </a:p>
        </p:txBody>
      </p:sp>
      <p:sp>
        <p:nvSpPr>
          <p:cNvPr id="34" name="paneHOLDS"/>
          <p:cNvSpPr/>
          <p:nvPr/>
        </p:nvSpPr>
        <p:spPr>
          <a:xfrm>
            <a:off x="7918704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5" name="s13 Shape 28"/>
          <p:cNvSpPr/>
          <p:nvPr/>
        </p:nvSpPr>
        <p:spPr>
          <a:xfrm>
            <a:off x="8229600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36" name="s13 Text 29"/>
          <p:cNvSpPr/>
          <p:nvPr/>
        </p:nvSpPr>
        <p:spPr>
          <a:xfrm>
            <a:off x="8229600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37" name="s13 Text 30"/>
          <p:cNvSpPr/>
          <p:nvPr/>
        </p:nvSpPr>
        <p:spPr>
          <a:xfrm>
            <a:off x="8229600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submission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rationale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350" dirty="0"/>
          </a:p>
        </p:txBody>
      </p:sp>
      <p:sp>
        <p:nvSpPr>
          <p:cNvPr id="38" name="s13 Text 31"/>
          <p:cNvSpPr/>
          <p:nvPr/>
        </p:nvSpPr>
        <p:spPr>
          <a:xfrm>
            <a:off x="8229600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noun phrases naming a destination. The menu becomes predictable, and predictable menus get used instead of searched.</a:t>
            </a:r>
            <a:endParaRPr lang="en-US" sz="1200" dirty="0"/>
          </a:p>
        </p:txBody>
      </p:sp>
      <p:sp>
        <p:nvSpPr>
          <p:cNvPr id="39" name="s13 Shape 32"/>
          <p:cNvSpPr/>
          <p:nvPr/>
        </p:nvSpPr>
        <p:spPr>
          <a:xfrm>
            <a:off x="3931920" y="11887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40" name="s13 Text 33"/>
          <p:cNvSpPr/>
          <p:nvPr/>
        </p:nvSpPr>
        <p:spPr>
          <a:xfrm>
            <a:off x="3931920" y="1188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FORM + LEVEL</a:t>
            </a:r>
            <a:endParaRPr lang="en-US" sz="950" dirty="0"/>
          </a:p>
        </p:txBody>
      </p:sp>
      <p:sp>
        <p:nvSpPr>
          <p:cNvPr id="41" name="s13 Text 34"/>
          <p:cNvSpPr/>
          <p:nvPr/>
        </p:nvSpPr>
        <p:spPr>
          <a:xfrm>
            <a:off x="6729984" y="118872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is a promise about what is behind the door.</a:t>
            </a:r>
            <a:endParaRPr lang="en-US" sz="1250" dirty="0"/>
          </a:p>
        </p:txBody>
      </p:sp>
      <p:sp>
        <p:nvSpPr>
          <p:cNvPr id="42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GUIDE   ·   2 MIN</a:t>
            </a:r>
            <a:endParaRPr lang="en-US" sz="1000" dirty="0"/>
          </a:p>
        </p:txBody>
      </p:sp>
      <p:sp>
        <p:nvSpPr>
          <p:cNvPr id="43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  <p:sp>
        <p:nvSpPr>
          <p:cNvPr id="44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5" name="navChipText0">
            <a:hlinkClick r:id="rId1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6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7" name="navChipText1">
            <a:hlinkClick r:id="rId1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8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9" name="navChipText2">
            <a:hlinkClick r:id="rId1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900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 ·  04 OF 05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items</a:t>
            </a:r>
            <a:endParaRPr lang="en-US" sz="3400" dirty="0"/>
          </a:p>
        </p:txBody>
      </p:sp>
      <p:sp>
        <p:nvSpPr>
          <p:cNvPr id="4" name="placeCard1"/>
          <p:cNvSpPr/>
          <p:nvPr/>
        </p:nvSpPr>
        <p:spPr>
          <a:xfrm>
            <a:off x="566928" y="1572768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5" name="placeDisc1"/>
          <p:cNvSpPr/>
          <p:nvPr/>
        </p:nvSpPr>
        <p:spPr>
          <a:xfrm>
            <a:off x="768096" y="1746504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6" name="placeIcon1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859536" y="1837944"/>
            <a:ext cx="219456" cy="219456"/>
          </a:xfrm>
          <a:prstGeom prst="rect">
            <a:avLst/>
          </a:prstGeom>
        </p:spPr>
      </p:pic>
      <p:sp>
        <p:nvSpPr>
          <p:cNvPr id="7" name="placeNum1"/>
          <p:cNvSpPr/>
          <p:nvPr/>
        </p:nvSpPr>
        <p:spPr>
          <a:xfrm>
            <a:off x="1298448" y="1691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placeName1">
            <a:hlinkClick r:id="rId3" tooltip="" action="ppaction://hlinksldjump"/>
          </p:cNvPr>
          <p:cNvSpPr/>
          <p:nvPr/>
        </p:nvSpPr>
        <p:spPr>
          <a:xfrm>
            <a:off x="1298448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objectives</a:t>
            </a:r>
            <a:endParaRPr lang="en-US" sz="1400" dirty="0"/>
          </a:p>
        </p:txBody>
      </p:sp>
      <p:sp>
        <p:nvSpPr>
          <p:cNvPr id="9" name="placeCard2"/>
          <p:cNvSpPr/>
          <p:nvPr/>
        </p:nvSpPr>
        <p:spPr>
          <a:xfrm>
            <a:off x="566928" y="2468880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0" name="placeDisc2"/>
          <p:cNvSpPr/>
          <p:nvPr/>
        </p:nvSpPr>
        <p:spPr>
          <a:xfrm>
            <a:off x="768096" y="2642616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1" name="placeIcon2" descr="preencod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859536" y="2734056"/>
            <a:ext cx="219456" cy="219456"/>
          </a:xfrm>
          <a:prstGeom prst="rect">
            <a:avLst/>
          </a:prstGeom>
        </p:spPr>
      </p:pic>
      <p:sp>
        <p:nvSpPr>
          <p:cNvPr id="12" name="placeNum2"/>
          <p:cNvSpPr/>
          <p:nvPr/>
        </p:nvSpPr>
        <p:spPr>
          <a:xfrm>
            <a:off x="1298448" y="25877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placeName2">
            <a:hlinkClick r:id="rId5" tooltip="" action="ppaction://hlinksldjump"/>
          </p:cNvPr>
          <p:cNvSpPr/>
          <p:nvPr/>
        </p:nvSpPr>
        <p:spPr>
          <a:xfrm>
            <a:off x="1298448" y="2807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 lists</a:t>
            </a:r>
            <a:endParaRPr lang="en-US" sz="1400" dirty="0"/>
          </a:p>
        </p:txBody>
      </p:sp>
      <p:sp>
        <p:nvSpPr>
          <p:cNvPr id="14" name="placeCard3"/>
          <p:cNvSpPr/>
          <p:nvPr/>
        </p:nvSpPr>
        <p:spPr>
          <a:xfrm>
            <a:off x="566928" y="3364992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5" name="placeDisc3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6" name="placeIcon3" descr="preencoded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859536" y="3630168"/>
            <a:ext cx="219456" cy="219456"/>
          </a:xfrm>
          <a:prstGeom prst="rect">
            <a:avLst/>
          </a:prstGeom>
        </p:spPr>
      </p:pic>
      <p:sp>
        <p:nvSpPr>
          <p:cNvPr id="17" name="placeNum3"/>
          <p:cNvSpPr/>
          <p:nvPr/>
        </p:nvSpPr>
        <p:spPr>
          <a:xfrm>
            <a:off x="1298448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placeName3">
            <a:hlinkClick r:id="rId7" tooltip="" action="ppaction://hlinksldjump"/>
          </p:cNvPr>
          <p:cNvSpPr/>
          <p:nvPr/>
        </p:nvSpPr>
        <p:spPr>
          <a:xfrm>
            <a:off x="1298448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 &amp; menu labels</a:t>
            </a:r>
            <a:endParaRPr lang="en-US" sz="1400" dirty="0"/>
          </a:p>
        </p:txBody>
      </p:sp>
      <p:sp>
        <p:nvSpPr>
          <p:cNvPr id="19" name="placeCard4"/>
          <p:cNvSpPr/>
          <p:nvPr/>
        </p:nvSpPr>
        <p:spPr>
          <a:xfrm>
            <a:off x="566928" y="4261104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8A7BFF">
              <a:alpha val="22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placeDisc4"/>
          <p:cNvSpPr/>
          <p:nvPr/>
        </p:nvSpPr>
        <p:spPr>
          <a:xfrm>
            <a:off x="768096" y="4434840"/>
            <a:ext cx="402336" cy="402336"/>
          </a:xfrm>
          <a:prstGeom prst="ellipse">
            <a:avLst/>
          </a:prstGeom>
          <a:solidFill>
            <a:srgbClr val="8A7BFF">
              <a:alpha val="50000"/>
            </a:srgbClr>
          </a:solidFill>
          <a:ln w="12700">
            <a:solidFill>
              <a:srgbClr val="8A7BFF">
                <a:alpha val="76000"/>
              </a:srgbClr>
            </a:solidFill>
            <a:prstDash val="solid"/>
          </a:ln>
        </p:spPr>
      </p:sp>
      <p:pic>
        <p:nvPicPr>
          <p:cNvPr id="21" name="placeIcon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4526280"/>
            <a:ext cx="219456" cy="219456"/>
          </a:xfrm>
          <a:prstGeom prst="rect">
            <a:avLst/>
          </a:prstGeom>
        </p:spPr>
      </p:pic>
      <p:sp>
        <p:nvSpPr>
          <p:cNvPr id="22" name="placeNum4"/>
          <p:cNvSpPr/>
          <p:nvPr/>
        </p:nvSpPr>
        <p:spPr>
          <a:xfrm>
            <a:off x="1298448" y="4379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placeName4">
            <a:hlinkClick r:id="rId9" tooltip="" action="ppaction://hlinksldjump"/>
          </p:cNvPr>
          <p:cNvSpPr/>
          <p:nvPr/>
        </p:nvSpPr>
        <p:spPr>
          <a:xfrm>
            <a:off x="1298448" y="4599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items</a:t>
            </a:r>
            <a:endParaRPr lang="en-US" sz="1400" dirty="0"/>
          </a:p>
        </p:txBody>
      </p:sp>
      <p:sp>
        <p:nvSpPr>
          <p:cNvPr id="24" name="placeCard5"/>
          <p:cNvSpPr/>
          <p:nvPr/>
        </p:nvSpPr>
        <p:spPr>
          <a:xfrm>
            <a:off x="566928" y="5157216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5" name="placeDisc5"/>
          <p:cNvSpPr/>
          <p:nvPr/>
        </p:nvSpPr>
        <p:spPr>
          <a:xfrm>
            <a:off x="768096" y="5330952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6" name="placeIcon5" descr="preencoded.png">    </p:cNvPr>
          <p:cNvPicPr>
            <a:picLocks noChangeAspect="1"/>
          </p:cNvPicPr>
          <p:nvPr/>
        </p:nvPicPr>
        <p:blipFill>
          <a:blip r:embed="rId10">
            <a:alphaModFix amt="55000"/>
          </a:blip>
          <a:stretch>
            <a:fillRect/>
          </a:stretch>
        </p:blipFill>
        <p:spPr>
          <a:xfrm>
            <a:off x="859536" y="5422392"/>
            <a:ext cx="219456" cy="219456"/>
          </a:xfrm>
          <a:prstGeom prst="rect">
            <a:avLst/>
          </a:prstGeom>
        </p:spPr>
      </p:pic>
      <p:sp>
        <p:nvSpPr>
          <p:cNvPr id="27" name="placeNum5"/>
          <p:cNvSpPr/>
          <p:nvPr/>
        </p:nvSpPr>
        <p:spPr>
          <a:xfrm>
            <a:off x="1298448" y="5276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placeName5">
            <a:hlinkClick r:id="rId11" tooltip="" action="ppaction://hlinksldjump"/>
          </p:cNvPr>
          <p:cNvSpPr/>
          <p:nvPr/>
        </p:nvSpPr>
        <p:spPr>
          <a:xfrm>
            <a:off x="1298448" y="5495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 architecture</a:t>
            </a:r>
            <a:endParaRPr lang="en-US" sz="1400" dirty="0"/>
          </a:p>
        </p:txBody>
      </p:sp>
      <p:sp>
        <p:nvSpPr>
          <p:cNvPr id="29" name="paneBREAKS"/>
          <p:cNvSpPr/>
          <p:nvPr/>
        </p:nvSpPr>
        <p:spPr>
          <a:xfrm>
            <a:off x="3931920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0" name="s14 Shape 23"/>
          <p:cNvSpPr/>
          <p:nvPr/>
        </p:nvSpPr>
        <p:spPr>
          <a:xfrm>
            <a:off x="4242816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31" name="s14 Text 24"/>
          <p:cNvSpPr/>
          <p:nvPr/>
        </p:nvSpPr>
        <p:spPr>
          <a:xfrm>
            <a:off x="4242816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950" dirty="0"/>
          </a:p>
        </p:txBody>
      </p:sp>
      <p:sp>
        <p:nvSpPr>
          <p:cNvPr id="32" name="s14 Text 25"/>
          <p:cNvSpPr/>
          <p:nvPr/>
        </p:nvSpPr>
        <p:spPr>
          <a:xfrm>
            <a:off x="4242816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following are required except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a benefit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purpose of the intake form is to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false: escalation is optional</a:t>
            </a:r>
            <a:endParaRPr lang="en-US" sz="1350" dirty="0"/>
          </a:p>
        </p:txBody>
      </p:sp>
      <p:sp>
        <p:nvSpPr>
          <p:cNvPr id="33" name="s14 Text 26"/>
          <p:cNvSpPr/>
          <p:nvPr/>
        </p:nvSpPr>
        <p:spPr>
          <a:xfrm>
            <a:off x="4242816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stem shapes across one quiz: a sentence completion, a fragment, another completion, a true/false. Learners re-learn the format at every item.</a:t>
            </a:r>
            <a:endParaRPr lang="en-US" sz="1200" dirty="0"/>
          </a:p>
        </p:txBody>
      </p:sp>
      <p:sp>
        <p:nvSpPr>
          <p:cNvPr id="34" name="paneHOLDS"/>
          <p:cNvSpPr/>
          <p:nvPr/>
        </p:nvSpPr>
        <p:spPr>
          <a:xfrm>
            <a:off x="7918704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5" name="s14 Shape 28"/>
          <p:cNvSpPr/>
          <p:nvPr/>
        </p:nvSpPr>
        <p:spPr>
          <a:xfrm>
            <a:off x="8229600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36" name="s14 Text 29"/>
          <p:cNvSpPr/>
          <p:nvPr/>
        </p:nvSpPr>
        <p:spPr>
          <a:xfrm>
            <a:off x="8229600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37" name="s14 Text 30"/>
          <p:cNvSpPr/>
          <p:nvPr/>
        </p:nvSpPr>
        <p:spPr>
          <a:xfrm>
            <a:off x="8229600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is not required during intake?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outcome is not a benefit of triage?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primary purpose of the intake form?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action is required before escalation?</a:t>
            </a:r>
            <a:endParaRPr lang="en-US" sz="1350" dirty="0"/>
          </a:p>
        </p:txBody>
      </p:sp>
      <p:sp>
        <p:nvSpPr>
          <p:cNvPr id="38" name="s14 Text 31"/>
          <p:cNvSpPr/>
          <p:nvPr/>
        </p:nvSpPr>
        <p:spPr>
          <a:xfrm>
            <a:off x="8229600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direct questions in the same frame. The learner’s attention goes to the content, not to decoding what is being asked.</a:t>
            </a:r>
            <a:endParaRPr lang="en-US" sz="1200" dirty="0"/>
          </a:p>
        </p:txBody>
      </p:sp>
      <p:sp>
        <p:nvSpPr>
          <p:cNvPr id="39" name="s14 Shape 32"/>
          <p:cNvSpPr/>
          <p:nvPr/>
        </p:nvSpPr>
        <p:spPr>
          <a:xfrm>
            <a:off x="3931920" y="11887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40" name="s14 Text 33"/>
          <p:cNvSpPr/>
          <p:nvPr/>
        </p:nvSpPr>
        <p:spPr>
          <a:xfrm>
            <a:off x="3931920" y="1188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FORM · SEE SLIDE 09</a:t>
            </a:r>
            <a:endParaRPr lang="en-US" sz="950" dirty="0"/>
          </a:p>
        </p:txBody>
      </p:sp>
      <p:sp>
        <p:nvSpPr>
          <p:cNvPr id="41" name="s14 Text 34"/>
          <p:cNvSpPr/>
          <p:nvPr/>
        </p:nvSpPr>
        <p:spPr>
          <a:xfrm>
            <a:off x="6729984" y="118872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question costs the item its measurement.</a:t>
            </a:r>
            <a:endParaRPr lang="en-US" sz="1250" dirty="0"/>
          </a:p>
        </p:txBody>
      </p:sp>
      <p:sp>
        <p:nvSpPr>
          <p:cNvPr id="42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GUIDE   ·   2 MIN</a:t>
            </a:r>
            <a:endParaRPr lang="en-US" sz="1000" dirty="0"/>
          </a:p>
        </p:txBody>
      </p:sp>
      <p:sp>
        <p:nvSpPr>
          <p:cNvPr id="43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  <p:sp>
        <p:nvSpPr>
          <p:cNvPr id="44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5" name="navChipText0">
            <a:hlinkClick r:id="rId1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6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7" name="navChipText1">
            <a:hlinkClick r:id="rId1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8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9" name="navChipText2">
            <a:hlinkClick r:id="rId1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900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GUIDE  ·  05 OF 05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architecture</a:t>
            </a:r>
            <a:endParaRPr lang="en-US" sz="3400" dirty="0"/>
          </a:p>
        </p:txBody>
      </p:sp>
      <p:sp>
        <p:nvSpPr>
          <p:cNvPr id="4" name="placeCard1"/>
          <p:cNvSpPr/>
          <p:nvPr/>
        </p:nvSpPr>
        <p:spPr>
          <a:xfrm>
            <a:off x="566928" y="1572768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5" name="placeDisc1"/>
          <p:cNvSpPr/>
          <p:nvPr/>
        </p:nvSpPr>
        <p:spPr>
          <a:xfrm>
            <a:off x="768096" y="1746504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6" name="placeIcon1" descr="preencoded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859536" y="1837944"/>
            <a:ext cx="219456" cy="219456"/>
          </a:xfrm>
          <a:prstGeom prst="rect">
            <a:avLst/>
          </a:prstGeom>
        </p:spPr>
      </p:pic>
      <p:sp>
        <p:nvSpPr>
          <p:cNvPr id="7" name="placeNum1"/>
          <p:cNvSpPr/>
          <p:nvPr/>
        </p:nvSpPr>
        <p:spPr>
          <a:xfrm>
            <a:off x="1298448" y="1691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placeName1">
            <a:hlinkClick r:id="rId3" tooltip="" action="ppaction://hlinksldjump"/>
          </p:cNvPr>
          <p:cNvSpPr/>
          <p:nvPr/>
        </p:nvSpPr>
        <p:spPr>
          <a:xfrm>
            <a:off x="1298448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objectives</a:t>
            </a:r>
            <a:endParaRPr lang="en-US" sz="1400" dirty="0"/>
          </a:p>
        </p:txBody>
      </p:sp>
      <p:sp>
        <p:nvSpPr>
          <p:cNvPr id="9" name="placeCard2"/>
          <p:cNvSpPr/>
          <p:nvPr/>
        </p:nvSpPr>
        <p:spPr>
          <a:xfrm>
            <a:off x="566928" y="2468880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0" name="placeDisc2"/>
          <p:cNvSpPr/>
          <p:nvPr/>
        </p:nvSpPr>
        <p:spPr>
          <a:xfrm>
            <a:off x="768096" y="2642616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1" name="placeIcon2" descr="preencoded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859536" y="2734056"/>
            <a:ext cx="219456" cy="219456"/>
          </a:xfrm>
          <a:prstGeom prst="rect">
            <a:avLst/>
          </a:prstGeom>
        </p:spPr>
      </p:pic>
      <p:sp>
        <p:nvSpPr>
          <p:cNvPr id="12" name="placeNum2"/>
          <p:cNvSpPr/>
          <p:nvPr/>
        </p:nvSpPr>
        <p:spPr>
          <a:xfrm>
            <a:off x="1298448" y="25877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placeName2">
            <a:hlinkClick r:id="rId5" tooltip="" action="ppaction://hlinksldjump"/>
          </p:cNvPr>
          <p:cNvSpPr/>
          <p:nvPr/>
        </p:nvSpPr>
        <p:spPr>
          <a:xfrm>
            <a:off x="1298448" y="2807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 lists</a:t>
            </a:r>
            <a:endParaRPr lang="en-US" sz="1400" dirty="0"/>
          </a:p>
        </p:txBody>
      </p:sp>
      <p:sp>
        <p:nvSpPr>
          <p:cNvPr id="14" name="placeCard3"/>
          <p:cNvSpPr/>
          <p:nvPr/>
        </p:nvSpPr>
        <p:spPr>
          <a:xfrm>
            <a:off x="566928" y="3364992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5" name="placeDisc3"/>
          <p:cNvSpPr/>
          <p:nvPr/>
        </p:nvSpPr>
        <p:spPr>
          <a:xfrm>
            <a:off x="768096" y="3538728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16" name="placeIcon3" descr="preencoded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859536" y="3630168"/>
            <a:ext cx="219456" cy="219456"/>
          </a:xfrm>
          <a:prstGeom prst="rect">
            <a:avLst/>
          </a:prstGeom>
        </p:spPr>
      </p:pic>
      <p:sp>
        <p:nvSpPr>
          <p:cNvPr id="17" name="placeNum3"/>
          <p:cNvSpPr/>
          <p:nvPr/>
        </p:nvSpPr>
        <p:spPr>
          <a:xfrm>
            <a:off x="1298448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placeName3">
            <a:hlinkClick r:id="rId7" tooltip="" action="ppaction://hlinksldjump"/>
          </p:cNvPr>
          <p:cNvSpPr/>
          <p:nvPr/>
        </p:nvSpPr>
        <p:spPr>
          <a:xfrm>
            <a:off x="1298448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 &amp; menu labels</a:t>
            </a:r>
            <a:endParaRPr lang="en-US" sz="1400" dirty="0"/>
          </a:p>
        </p:txBody>
      </p:sp>
      <p:sp>
        <p:nvSpPr>
          <p:cNvPr id="19" name="placeCard4"/>
          <p:cNvSpPr/>
          <p:nvPr/>
        </p:nvSpPr>
        <p:spPr>
          <a:xfrm>
            <a:off x="566928" y="4261104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placeDisc4"/>
          <p:cNvSpPr/>
          <p:nvPr/>
        </p:nvSpPr>
        <p:spPr>
          <a:xfrm>
            <a:off x="768096" y="4434840"/>
            <a:ext cx="402336" cy="402336"/>
          </a:xfrm>
          <a:prstGeom prst="ellipse">
            <a:avLst/>
          </a:prstGeom>
          <a:solidFill>
            <a:srgbClr val="8A7BFF">
              <a:alpha val="20000"/>
            </a:srgbClr>
          </a:solidFill>
          <a:ln w="12700">
            <a:solidFill>
              <a:srgbClr val="8A7BFF">
                <a:alpha val="38000"/>
              </a:srgbClr>
            </a:solidFill>
            <a:prstDash val="solid"/>
          </a:ln>
        </p:spPr>
      </p:sp>
      <p:pic>
        <p:nvPicPr>
          <p:cNvPr id="21" name="placeIcon4" descr="preencoded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tretch>
            <a:fillRect/>
          </a:stretch>
        </p:blipFill>
        <p:spPr>
          <a:xfrm>
            <a:off x="859536" y="4526280"/>
            <a:ext cx="219456" cy="219456"/>
          </a:xfrm>
          <a:prstGeom prst="rect">
            <a:avLst/>
          </a:prstGeom>
        </p:spPr>
      </p:pic>
      <p:sp>
        <p:nvSpPr>
          <p:cNvPr id="22" name="placeNum4"/>
          <p:cNvSpPr/>
          <p:nvPr/>
        </p:nvSpPr>
        <p:spPr>
          <a:xfrm>
            <a:off x="1298448" y="4379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placeName4">
            <a:hlinkClick r:id="rId9" tooltip="" action="ppaction://hlinksldjump"/>
          </p:cNvPr>
          <p:cNvSpPr/>
          <p:nvPr/>
        </p:nvSpPr>
        <p:spPr>
          <a:xfrm>
            <a:off x="1298448" y="4599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none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items</a:t>
            </a:r>
            <a:endParaRPr lang="en-US" sz="1400" dirty="0"/>
          </a:p>
        </p:txBody>
      </p:sp>
      <p:sp>
        <p:nvSpPr>
          <p:cNvPr id="24" name="placeCard5"/>
          <p:cNvSpPr/>
          <p:nvPr/>
        </p:nvSpPr>
        <p:spPr>
          <a:xfrm>
            <a:off x="566928" y="5157216"/>
            <a:ext cx="3017520" cy="749808"/>
          </a:xfrm>
          <a:prstGeom prst="roundRect">
            <a:avLst>
              <a:gd name="adj" fmla="val 24390"/>
            </a:avLst>
          </a:prstGeom>
          <a:solidFill>
            <a:srgbClr val="8A7BFF">
              <a:alpha val="22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5" name="placeDisc5"/>
          <p:cNvSpPr/>
          <p:nvPr/>
        </p:nvSpPr>
        <p:spPr>
          <a:xfrm>
            <a:off x="768096" y="5330952"/>
            <a:ext cx="402336" cy="402336"/>
          </a:xfrm>
          <a:prstGeom prst="ellipse">
            <a:avLst/>
          </a:prstGeom>
          <a:solidFill>
            <a:srgbClr val="8A7BFF">
              <a:alpha val="50000"/>
            </a:srgbClr>
          </a:solidFill>
          <a:ln w="12700">
            <a:solidFill>
              <a:srgbClr val="8A7BFF">
                <a:alpha val="76000"/>
              </a:srgbClr>
            </a:solidFill>
            <a:prstDash val="solid"/>
          </a:ln>
        </p:spPr>
      </p:sp>
      <p:pic>
        <p:nvPicPr>
          <p:cNvPr id="26" name="placeIcon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422392"/>
            <a:ext cx="219456" cy="219456"/>
          </a:xfrm>
          <a:prstGeom prst="rect">
            <a:avLst/>
          </a:prstGeom>
        </p:spPr>
      </p:pic>
      <p:sp>
        <p:nvSpPr>
          <p:cNvPr id="27" name="placeNum5"/>
          <p:cNvSpPr/>
          <p:nvPr/>
        </p:nvSpPr>
        <p:spPr>
          <a:xfrm>
            <a:off x="1298448" y="52760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placeName5">
            <a:hlinkClick r:id="rId11" tooltip="" action="ppaction://hlinksldjump"/>
          </p:cNvPr>
          <p:cNvSpPr/>
          <p:nvPr/>
        </p:nvSpPr>
        <p:spPr>
          <a:xfrm>
            <a:off x="1298448" y="5495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 architecture</a:t>
            </a:r>
            <a:endParaRPr lang="en-US" sz="1400" dirty="0"/>
          </a:p>
        </p:txBody>
      </p:sp>
      <p:sp>
        <p:nvSpPr>
          <p:cNvPr id="29" name="paneBREAKS"/>
          <p:cNvSpPr/>
          <p:nvPr/>
        </p:nvSpPr>
        <p:spPr>
          <a:xfrm>
            <a:off x="3931920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FF4F6E">
              <a:alpha val="14000"/>
            </a:srgbClr>
          </a:solidFill>
          <a:ln w="12700">
            <a:solidFill>
              <a:srgbClr val="FF4F6E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0" name="s15 Shape 23"/>
          <p:cNvSpPr/>
          <p:nvPr/>
        </p:nvSpPr>
        <p:spPr>
          <a:xfrm>
            <a:off x="4242816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31" name="s15 Text 24"/>
          <p:cNvSpPr/>
          <p:nvPr/>
        </p:nvSpPr>
        <p:spPr>
          <a:xfrm>
            <a:off x="4242816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950" dirty="0"/>
          </a:p>
        </p:txBody>
      </p:sp>
      <p:sp>
        <p:nvSpPr>
          <p:cNvPr id="32" name="s15 Text 25"/>
          <p:cNvSpPr/>
          <p:nvPr/>
        </p:nvSpPr>
        <p:spPr>
          <a:xfrm>
            <a:off x="4242816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Introduction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Working with vendors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Compliance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What to do when things go wrong</a:t>
            </a:r>
            <a:endParaRPr lang="en-US" sz="1350" dirty="0"/>
          </a:p>
        </p:txBody>
      </p:sp>
      <p:sp>
        <p:nvSpPr>
          <p:cNvPr id="33" name="s15 Text 26"/>
          <p:cNvSpPr/>
          <p:nvPr/>
        </p:nvSpPr>
        <p:spPr>
          <a:xfrm>
            <a:off x="4242816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framing device, an activity, an abstract domain, and a scenario. Four different kinds of thing wearing the same numbered label — a level break, not a wording one.</a:t>
            </a:r>
            <a:endParaRPr lang="en-US" sz="1200" dirty="0"/>
          </a:p>
        </p:txBody>
      </p:sp>
      <p:sp>
        <p:nvSpPr>
          <p:cNvPr id="34" name="paneHOLDS"/>
          <p:cNvSpPr/>
          <p:nvPr/>
        </p:nvSpPr>
        <p:spPr>
          <a:xfrm>
            <a:off x="7918704" y="1572768"/>
            <a:ext cx="3703320" cy="4334256"/>
          </a:xfrm>
          <a:prstGeom prst="roundRect">
            <a:avLst>
              <a:gd name="adj" fmla="val 5926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5" name="s15 Shape 28"/>
          <p:cNvSpPr/>
          <p:nvPr/>
        </p:nvSpPr>
        <p:spPr>
          <a:xfrm>
            <a:off x="8229600" y="181051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FE0A5">
              <a:alpha val="20000"/>
            </a:srgbClr>
          </a:solidFill>
          <a:ln w="9525">
            <a:solidFill>
              <a:srgbClr val="2FE0A5">
                <a:alpha val="55000"/>
              </a:srgbClr>
            </a:solidFill>
            <a:prstDash val="solid"/>
          </a:ln>
        </p:spPr>
      </p:sp>
      <p:sp>
        <p:nvSpPr>
          <p:cNvPr id="36" name="s15 Text 29"/>
          <p:cNvSpPr/>
          <p:nvPr/>
        </p:nvSpPr>
        <p:spPr>
          <a:xfrm>
            <a:off x="8229600" y="1810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37" name="s15 Text 30"/>
          <p:cNvSpPr/>
          <p:nvPr/>
        </p:nvSpPr>
        <p:spPr>
          <a:xfrm>
            <a:off x="8229600" y="2359152"/>
            <a:ext cx="3081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Vendor selection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Vendor onboarding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Vendor compliance</a:t>
            </a:r>
            <a:endParaRPr lang="en-US" sz="1350" dirty="0"/>
          </a:p>
          <a:p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Vendor offboarding</a:t>
            </a:r>
            <a:endParaRPr lang="en-US" sz="1350" dirty="0"/>
          </a:p>
        </p:txBody>
      </p:sp>
      <p:sp>
        <p:nvSpPr>
          <p:cNvPr id="38" name="s15 Text 31"/>
          <p:cNvSpPr/>
          <p:nvPr/>
        </p:nvSpPr>
        <p:spPr>
          <a:xfrm>
            <a:off x="8229600" y="4846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noun pattern across the lifecycle. The architecture now teaches the sequence before a single screen is built.</a:t>
            </a:r>
            <a:endParaRPr lang="en-US" sz="1200" dirty="0"/>
          </a:p>
        </p:txBody>
      </p:sp>
      <p:sp>
        <p:nvSpPr>
          <p:cNvPr id="39" name="s15 Shape 32"/>
          <p:cNvSpPr/>
          <p:nvPr/>
        </p:nvSpPr>
        <p:spPr>
          <a:xfrm>
            <a:off x="3931920" y="11887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4F6E">
              <a:alpha val="20000"/>
            </a:srgbClr>
          </a:solidFill>
          <a:ln w="9525">
            <a:solidFill>
              <a:srgbClr val="FF4F6E">
                <a:alpha val="55000"/>
              </a:srgbClr>
            </a:solidFill>
            <a:prstDash val="solid"/>
          </a:ln>
        </p:spPr>
      </p:sp>
      <p:sp>
        <p:nvSpPr>
          <p:cNvPr id="40" name="s15 Text 33"/>
          <p:cNvSpPr/>
          <p:nvPr/>
        </p:nvSpPr>
        <p:spPr>
          <a:xfrm>
            <a:off x="3931920" y="11887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FF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LEVEL</a:t>
            </a:r>
            <a:endParaRPr lang="en-US" sz="950" dirty="0"/>
          </a:p>
        </p:txBody>
      </p:sp>
      <p:sp>
        <p:nvSpPr>
          <p:cNvPr id="41" name="s15 Text 34"/>
          <p:cNvSpPr/>
          <p:nvPr/>
        </p:nvSpPr>
        <p:spPr>
          <a:xfrm>
            <a:off x="6729984" y="1188720"/>
            <a:ext cx="4901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titles aren’t a series, the curriculum isn’t one.</a:t>
            </a:r>
            <a:endParaRPr lang="en-US" sz="1250" dirty="0"/>
          </a:p>
        </p:txBody>
      </p:sp>
      <p:sp>
        <p:nvSpPr>
          <p:cNvPr id="42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GUIDE   ·   2 MIN</a:t>
            </a:r>
            <a:endParaRPr lang="en-US" sz="1000" dirty="0"/>
          </a:p>
        </p:txBody>
      </p:sp>
      <p:sp>
        <p:nvSpPr>
          <p:cNvPr id="43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  <p:sp>
        <p:nvSpPr>
          <p:cNvPr id="44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5" name="navChipText0">
            <a:hlinkClick r:id="rId1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6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7" name="navChipText1">
            <a:hlinkClick r:id="rId1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8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9" name="navChipText2">
            <a:hlinkClick r:id="rId1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900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 ·  TAKE THIS WITH YOU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moves. Under a minute per list.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any series before it ships. Mechanical on purpose — it should not require taste.</a:t>
            </a:r>
            <a:endParaRPr lang="en-US" sz="1550" dirty="0"/>
          </a:p>
        </p:txBody>
      </p:sp>
      <p:sp>
        <p:nvSpPr>
          <p:cNvPr id="5" name="s16 Shape 3"/>
          <p:cNvSpPr/>
          <p:nvPr/>
        </p:nvSpPr>
        <p:spPr>
          <a:xfrm>
            <a:off x="566928" y="1755648"/>
            <a:ext cx="3533546" cy="3602736"/>
          </a:xfrm>
          <a:prstGeom prst="roundRect">
            <a:avLst>
              <a:gd name="adj" fmla="val 6211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6" name="s16 Shape 4"/>
          <p:cNvSpPr/>
          <p:nvPr/>
        </p:nvSpPr>
        <p:spPr>
          <a:xfrm>
            <a:off x="932688" y="2066544"/>
            <a:ext cx="676656" cy="676656"/>
          </a:xfrm>
          <a:prstGeom prst="ellipse">
            <a:avLst/>
          </a:prstGeom>
          <a:solidFill>
            <a:srgbClr val="2FE0A5">
              <a:alpha val="30000"/>
            </a:srgbClr>
          </a:solidFill>
          <a:ln w="12700">
            <a:solidFill>
              <a:srgbClr val="2FE0A5">
                <a:alpha val="66000"/>
              </a:srgbClr>
            </a:solidFill>
            <a:prstDash val="solid"/>
          </a:ln>
        </p:spPr>
      </p:sp>
      <p:pic>
        <p:nvPicPr>
          <p:cNvPr id="7" name="s16 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40280"/>
            <a:ext cx="329184" cy="329184"/>
          </a:xfrm>
          <a:prstGeom prst="rect">
            <a:avLst/>
          </a:prstGeom>
        </p:spPr>
      </p:pic>
      <p:sp>
        <p:nvSpPr>
          <p:cNvPr id="8" name="s16 Text 5"/>
          <p:cNvSpPr/>
          <p:nvPr/>
        </p:nvSpPr>
        <p:spPr>
          <a:xfrm>
            <a:off x="2820314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s16 Text 6"/>
          <p:cNvSpPr/>
          <p:nvPr/>
        </p:nvSpPr>
        <p:spPr>
          <a:xfrm>
            <a:off x="932688" y="2926080"/>
            <a:ext cx="28020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series</a:t>
            </a:r>
            <a:endParaRPr lang="en-US" sz="2100" dirty="0"/>
          </a:p>
        </p:txBody>
      </p:sp>
      <p:sp>
        <p:nvSpPr>
          <p:cNvPr id="10" name="s16 Text 7"/>
          <p:cNvSpPr/>
          <p:nvPr/>
        </p:nvSpPr>
        <p:spPr>
          <a:xfrm>
            <a:off x="932688" y="3419856"/>
            <a:ext cx="28020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numbered, bulleted, comma-joined, tabbed or menued — including sets you never called a list, like four module titles in a column.</a:t>
            </a:r>
            <a:endParaRPr lang="en-US" sz="1300" dirty="0"/>
          </a:p>
        </p:txBody>
      </p:sp>
      <p:sp>
        <p:nvSpPr>
          <p:cNvPr id="11" name="s16 Text 8"/>
          <p:cNvSpPr/>
          <p:nvPr/>
        </p:nvSpPr>
        <p:spPr>
          <a:xfrm>
            <a:off x="932688" y="4718304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two or more things doing the same job?”</a:t>
            </a:r>
            <a:endParaRPr lang="en-US" sz="1300" dirty="0"/>
          </a:p>
        </p:txBody>
      </p:sp>
      <p:sp>
        <p:nvSpPr>
          <p:cNvPr id="12" name="s16 Shape 9"/>
          <p:cNvSpPr/>
          <p:nvPr/>
        </p:nvSpPr>
        <p:spPr>
          <a:xfrm>
            <a:off x="4127906" y="3474720"/>
            <a:ext cx="173736" cy="310896"/>
          </a:xfrm>
          <a:prstGeom prst="chevron">
            <a:avLst/>
          </a:prstGeom>
          <a:solidFill>
            <a:srgbClr val="2FE0A5">
              <a:alpha val="55000"/>
            </a:srgbClr>
          </a:solidFill>
          <a:ln w="9525">
            <a:solidFill>
              <a:srgbClr val="2FE0A5">
                <a:alpha val="70000"/>
              </a:srgbClr>
            </a:solidFill>
            <a:prstDash val="solid"/>
          </a:ln>
        </p:spPr>
      </p:sp>
      <p:sp>
        <p:nvSpPr>
          <p:cNvPr id="13" name="s16 Shape 10"/>
          <p:cNvSpPr/>
          <p:nvPr/>
        </p:nvSpPr>
        <p:spPr>
          <a:xfrm>
            <a:off x="4329074" y="1755648"/>
            <a:ext cx="3533546" cy="3602736"/>
          </a:xfrm>
          <a:prstGeom prst="roundRect">
            <a:avLst>
              <a:gd name="adj" fmla="val 6211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s16 Shape 11"/>
          <p:cNvSpPr/>
          <p:nvPr/>
        </p:nvSpPr>
        <p:spPr>
          <a:xfrm>
            <a:off x="4694834" y="2066544"/>
            <a:ext cx="676656" cy="676656"/>
          </a:xfrm>
          <a:prstGeom prst="ellipse">
            <a:avLst/>
          </a:prstGeom>
          <a:solidFill>
            <a:srgbClr val="2FE0A5">
              <a:alpha val="30000"/>
            </a:srgbClr>
          </a:solidFill>
          <a:ln w="12700">
            <a:solidFill>
              <a:srgbClr val="2FE0A5">
                <a:alpha val="66000"/>
              </a:srgbClr>
            </a:solidFill>
            <a:prstDash val="solid"/>
          </a:ln>
        </p:spPr>
      </p:sp>
      <p:pic>
        <p:nvPicPr>
          <p:cNvPr id="15" name="s16 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570" y="2240280"/>
            <a:ext cx="329184" cy="329184"/>
          </a:xfrm>
          <a:prstGeom prst="rect">
            <a:avLst/>
          </a:prstGeom>
        </p:spPr>
      </p:pic>
      <p:sp>
        <p:nvSpPr>
          <p:cNvPr id="16" name="s16 Text 12"/>
          <p:cNvSpPr/>
          <p:nvPr/>
        </p:nvSpPr>
        <p:spPr>
          <a:xfrm>
            <a:off x="6582461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s16 Text 13"/>
          <p:cNvSpPr/>
          <p:nvPr/>
        </p:nvSpPr>
        <p:spPr>
          <a:xfrm>
            <a:off x="4694834" y="2926080"/>
            <a:ext cx="28020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form</a:t>
            </a:r>
            <a:endParaRPr lang="en-US" sz="2100" dirty="0"/>
          </a:p>
        </p:txBody>
      </p:sp>
      <p:sp>
        <p:nvSpPr>
          <p:cNvPr id="18" name="s16 Text 14"/>
          <p:cNvSpPr/>
          <p:nvPr/>
        </p:nvSpPr>
        <p:spPr>
          <a:xfrm>
            <a:off x="4694834" y="3419856"/>
            <a:ext cx="28020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shape of the strongest item out loud: ‘imperative verb plus object’, ‘noun phrase’, ‘full clause’. Naming beats eyeballing — and gives you a target.</a:t>
            </a:r>
            <a:endParaRPr lang="en-US" sz="1300" dirty="0"/>
          </a:p>
        </p:txBody>
      </p:sp>
      <p:sp>
        <p:nvSpPr>
          <p:cNvPr id="19" name="s16 Text 15"/>
          <p:cNvSpPr/>
          <p:nvPr/>
        </p:nvSpPr>
        <p:spPr>
          <a:xfrm>
            <a:off x="4694834" y="4718304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exactly is item one, grammatically?”</a:t>
            </a:r>
            <a:endParaRPr lang="en-US" sz="1300" dirty="0"/>
          </a:p>
        </p:txBody>
      </p:sp>
      <p:sp>
        <p:nvSpPr>
          <p:cNvPr id="20" name="s16 Shape 16"/>
          <p:cNvSpPr/>
          <p:nvPr/>
        </p:nvSpPr>
        <p:spPr>
          <a:xfrm>
            <a:off x="7890053" y="3474720"/>
            <a:ext cx="173736" cy="310896"/>
          </a:xfrm>
          <a:prstGeom prst="chevron">
            <a:avLst/>
          </a:prstGeom>
          <a:solidFill>
            <a:srgbClr val="2FE0A5">
              <a:alpha val="55000"/>
            </a:srgbClr>
          </a:solidFill>
          <a:ln w="9525">
            <a:solidFill>
              <a:srgbClr val="2FE0A5">
                <a:alpha val="70000"/>
              </a:srgbClr>
            </a:solidFill>
            <a:prstDash val="solid"/>
          </a:ln>
        </p:spPr>
      </p:sp>
      <p:sp>
        <p:nvSpPr>
          <p:cNvPr id="21" name="s16 Shape 17"/>
          <p:cNvSpPr/>
          <p:nvPr/>
        </p:nvSpPr>
        <p:spPr>
          <a:xfrm>
            <a:off x="8091221" y="1755648"/>
            <a:ext cx="3533546" cy="3602736"/>
          </a:xfrm>
          <a:prstGeom prst="roundRect">
            <a:avLst>
              <a:gd name="adj" fmla="val 6211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2" name="s16 Shape 18"/>
          <p:cNvSpPr/>
          <p:nvPr/>
        </p:nvSpPr>
        <p:spPr>
          <a:xfrm>
            <a:off x="8456981" y="2066544"/>
            <a:ext cx="676656" cy="676656"/>
          </a:xfrm>
          <a:prstGeom prst="ellipse">
            <a:avLst/>
          </a:prstGeom>
          <a:solidFill>
            <a:srgbClr val="2FE0A5">
              <a:alpha val="30000"/>
            </a:srgbClr>
          </a:solidFill>
          <a:ln w="12700">
            <a:solidFill>
              <a:srgbClr val="2FE0A5">
                <a:alpha val="66000"/>
              </a:srgbClr>
            </a:solidFill>
            <a:prstDash val="solid"/>
          </a:ln>
        </p:spPr>
      </p:sp>
      <p:pic>
        <p:nvPicPr>
          <p:cNvPr id="23" name="s16 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717" y="2240280"/>
            <a:ext cx="329184" cy="329184"/>
          </a:xfrm>
          <a:prstGeom prst="rect">
            <a:avLst/>
          </a:prstGeom>
        </p:spPr>
      </p:pic>
      <p:sp>
        <p:nvSpPr>
          <p:cNvPr id="24" name="s16 Text 19"/>
          <p:cNvSpPr/>
          <p:nvPr/>
        </p:nvSpPr>
        <p:spPr>
          <a:xfrm>
            <a:off x="10344607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s16 Text 20"/>
          <p:cNvSpPr/>
          <p:nvPr/>
        </p:nvSpPr>
        <p:spPr>
          <a:xfrm>
            <a:off x="8456981" y="2926080"/>
            <a:ext cx="28020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match</a:t>
            </a:r>
            <a:endParaRPr lang="en-US" sz="2100" dirty="0"/>
          </a:p>
        </p:txBody>
      </p:sp>
      <p:sp>
        <p:nvSpPr>
          <p:cNvPr id="26" name="s16 Text 21"/>
          <p:cNvSpPr/>
          <p:nvPr/>
        </p:nvSpPr>
        <p:spPr>
          <a:xfrm>
            <a:off x="8456981" y="3419856"/>
            <a:ext cx="28020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every other item into that form, no exceptions. An item that refuses to fit is usually at the wrong level: promote it, demote it, or cut it.</a:t>
            </a:r>
            <a:endParaRPr lang="en-US" sz="1300" dirty="0"/>
          </a:p>
        </p:txBody>
      </p:sp>
      <p:sp>
        <p:nvSpPr>
          <p:cNvPr id="27" name="s16 Text 22"/>
          <p:cNvSpPr/>
          <p:nvPr/>
        </p:nvSpPr>
        <p:spPr>
          <a:xfrm>
            <a:off x="8456981" y="4718304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won’t fit the pattern, it isn’t a peer.”</a:t>
            </a:r>
            <a:endParaRPr lang="en-US" sz="1300" dirty="0"/>
          </a:p>
        </p:txBody>
      </p:sp>
      <p:sp>
        <p:nvSpPr>
          <p:cNvPr id="28" name="s16 Shape 23"/>
          <p:cNvSpPr/>
          <p:nvPr/>
        </p:nvSpPr>
        <p:spPr>
          <a:xfrm>
            <a:off x="566928" y="5468112"/>
            <a:ext cx="11057839" cy="548640"/>
          </a:xfrm>
          <a:prstGeom prst="roundRect">
            <a:avLst>
              <a:gd name="adj" fmla="val 33333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9" name="s16 Text 24"/>
          <p:cNvSpPr/>
          <p:nvPr/>
        </p:nvSpPr>
        <p:spPr>
          <a:xfrm>
            <a:off x="932688" y="5468112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Name → Force.  A list that survives all three is ready; a list that doesn’t was telling you something.</a:t>
            </a:r>
            <a:endParaRPr lang="en-US" sz="1400" dirty="0"/>
          </a:p>
        </p:txBody>
      </p:sp>
      <p:sp>
        <p:nvSpPr>
          <p:cNvPr id="30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  ·   3 MIN</a:t>
            </a:r>
            <a:endParaRPr lang="en-US" sz="1000" dirty="0"/>
          </a:p>
        </p:txBody>
      </p:sp>
      <p:sp>
        <p:nvSpPr>
          <p:cNvPr id="31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  <p:sp>
        <p:nvSpPr>
          <p:cNvPr id="32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3" name="navChipText0">
            <a:hlinkClick r:id="rId5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34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5" name="navChipText1">
            <a:hlinkClick r:id="rId6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36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7" name="navChipText2">
            <a:hlinkClick r:id="rId7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01  ·  SOLO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9320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break.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9320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 a set. Note which item breaks — and which of the three tests it fails.</a:t>
            </a:r>
            <a:endParaRPr lang="en-US" sz="1550" dirty="0"/>
          </a:p>
        </p:txBody>
      </p:sp>
      <p:sp>
        <p:nvSpPr>
          <p:cNvPr id="5" name="s17 Shape 3"/>
          <p:cNvSpPr/>
          <p:nvPr/>
        </p:nvSpPr>
        <p:spPr>
          <a:xfrm>
            <a:off x="10253167" y="65836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6" name="s17 Text 4"/>
          <p:cNvSpPr/>
          <p:nvPr/>
        </p:nvSpPr>
        <p:spPr>
          <a:xfrm>
            <a:off x="10253167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7" name="s17 Shape 5"/>
          <p:cNvSpPr/>
          <p:nvPr/>
        </p:nvSpPr>
        <p:spPr>
          <a:xfrm>
            <a:off x="566928" y="1883664"/>
            <a:ext cx="2304288" cy="3200400"/>
          </a:xfrm>
          <a:prstGeom prst="roundRect">
            <a:avLst>
              <a:gd name="adj" fmla="val 873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8" name="s17 Shape 6"/>
          <p:cNvSpPr/>
          <p:nvPr/>
        </p:nvSpPr>
        <p:spPr>
          <a:xfrm>
            <a:off x="822960" y="210312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9" name="s17 Text 7"/>
          <p:cNvSpPr/>
          <p:nvPr/>
        </p:nvSpPr>
        <p:spPr>
          <a:xfrm>
            <a:off x="822960" y="210312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</a:t>
            </a:r>
            <a:endParaRPr lang="en-US" sz="900" dirty="0"/>
          </a:p>
        </p:txBody>
      </p:sp>
      <p:sp>
        <p:nvSpPr>
          <p:cNvPr id="10" name="s17 Text 8"/>
          <p:cNvSpPr/>
          <p:nvPr/>
        </p:nvSpPr>
        <p:spPr>
          <a:xfrm>
            <a:off x="822960" y="2596896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sprint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standup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increment</a:t>
            </a:r>
            <a:endParaRPr lang="en-US" sz="1300" dirty="0"/>
          </a:p>
        </p:txBody>
      </p:sp>
      <p:sp>
        <p:nvSpPr>
          <p:cNvPr id="11" name="s17 Shape 9"/>
          <p:cNvSpPr/>
          <p:nvPr/>
        </p:nvSpPr>
        <p:spPr>
          <a:xfrm>
            <a:off x="3072384" y="1883664"/>
            <a:ext cx="2304288" cy="3200400"/>
          </a:xfrm>
          <a:prstGeom prst="roundRect">
            <a:avLst>
              <a:gd name="adj" fmla="val 873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2" name="s17 Shape 10"/>
          <p:cNvSpPr/>
          <p:nvPr/>
        </p:nvSpPr>
        <p:spPr>
          <a:xfrm>
            <a:off x="3328416" y="210312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13" name="s17 Text 11"/>
          <p:cNvSpPr/>
          <p:nvPr/>
        </p:nvSpPr>
        <p:spPr>
          <a:xfrm>
            <a:off x="3328416" y="210312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</a:t>
            </a:r>
            <a:endParaRPr lang="en-US" sz="900" dirty="0"/>
          </a:p>
        </p:txBody>
      </p:sp>
      <p:sp>
        <p:nvSpPr>
          <p:cNvPr id="14" name="s17 Text 12"/>
          <p:cNvSpPr/>
          <p:nvPr/>
        </p:nvSpPr>
        <p:spPr>
          <a:xfrm>
            <a:off x="3328416" y="2596896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handling time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first-contact resolution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happier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repeat contacts</a:t>
            </a:r>
            <a:endParaRPr lang="en-US" sz="1300" dirty="0"/>
          </a:p>
        </p:txBody>
      </p:sp>
      <p:sp>
        <p:nvSpPr>
          <p:cNvPr id="15" name="s17 Shape 13"/>
          <p:cNvSpPr/>
          <p:nvPr/>
        </p:nvSpPr>
        <p:spPr>
          <a:xfrm>
            <a:off x="5577840" y="1883664"/>
            <a:ext cx="2304288" cy="3200400"/>
          </a:xfrm>
          <a:prstGeom prst="roundRect">
            <a:avLst>
              <a:gd name="adj" fmla="val 873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6" name="s17 Shape 14"/>
          <p:cNvSpPr/>
          <p:nvPr/>
        </p:nvSpPr>
        <p:spPr>
          <a:xfrm>
            <a:off x="5833872" y="210312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17" name="s17 Text 15"/>
          <p:cNvSpPr/>
          <p:nvPr/>
        </p:nvSpPr>
        <p:spPr>
          <a:xfrm>
            <a:off x="5833872" y="210312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</a:t>
            </a:r>
            <a:endParaRPr lang="en-US" sz="900" dirty="0"/>
          </a:p>
        </p:txBody>
      </p:sp>
      <p:sp>
        <p:nvSpPr>
          <p:cNvPr id="18" name="s17 Text 16"/>
          <p:cNvSpPr/>
          <p:nvPr/>
        </p:nvSpPr>
        <p:spPr>
          <a:xfrm>
            <a:off x="5833872" y="2596896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</a:t>
            </a:r>
            <a:endParaRPr lang="en-US" sz="1300" dirty="0"/>
          </a:p>
        </p:txBody>
      </p:sp>
      <p:sp>
        <p:nvSpPr>
          <p:cNvPr id="19" name="s17 Shape 17"/>
          <p:cNvSpPr/>
          <p:nvPr/>
        </p:nvSpPr>
        <p:spPr>
          <a:xfrm>
            <a:off x="8138160" y="1883664"/>
            <a:ext cx="3486607" cy="3200400"/>
          </a:xfrm>
          <a:prstGeom prst="roundRect">
            <a:avLst>
              <a:gd name="adj" fmla="val 6286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s17 Text 18"/>
          <p:cNvSpPr/>
          <p:nvPr/>
        </p:nvSpPr>
        <p:spPr>
          <a:xfrm>
            <a:off x="8449056" y="212140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KEY</a:t>
            </a:r>
            <a:endParaRPr lang="en-US" sz="1000" dirty="0"/>
          </a:p>
        </p:txBody>
      </p:sp>
      <p:sp>
        <p:nvSpPr>
          <p:cNvPr id="21" name="s17 Text 19"/>
          <p:cNvSpPr/>
          <p:nvPr/>
        </p:nvSpPr>
        <p:spPr>
          <a:xfrm>
            <a:off x="8449056" y="2523744"/>
            <a:ext cx="2864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the test, not the fix.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form — a bare noun among imperatives.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form — a full clause among verb phrases.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level — the container listed among its contents.</a:t>
            </a:r>
            <a:endParaRPr lang="en-US" sz="1250" dirty="0"/>
          </a:p>
        </p:txBody>
      </p:sp>
      <p:sp>
        <p:nvSpPr>
          <p:cNvPr id="22" name="s17 Shape 20"/>
          <p:cNvSpPr/>
          <p:nvPr/>
        </p:nvSpPr>
        <p:spPr>
          <a:xfrm>
            <a:off x="566928" y="5230368"/>
            <a:ext cx="11057839" cy="658368"/>
          </a:xfrm>
          <a:prstGeom prst="roundRect">
            <a:avLst>
              <a:gd name="adj" fmla="val 27778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3" name="s17 Shape 21"/>
          <p:cNvSpPr/>
          <p:nvPr/>
        </p:nvSpPr>
        <p:spPr>
          <a:xfrm>
            <a:off x="841248" y="5367528"/>
            <a:ext cx="384048" cy="384048"/>
          </a:xfrm>
          <a:prstGeom prst="ellipse">
            <a:avLst/>
          </a:prstGeom>
          <a:solidFill>
            <a:srgbClr val="8A7BFF">
              <a:alpha val="38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24" name="s17 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449824"/>
            <a:ext cx="219456" cy="219456"/>
          </a:xfrm>
          <a:prstGeom prst="rect">
            <a:avLst/>
          </a:prstGeom>
        </p:spPr>
      </p:pic>
      <p:sp>
        <p:nvSpPr>
          <p:cNvPr id="25" name="s17 Text 22"/>
          <p:cNvSpPr/>
          <p:nvPr/>
        </p:nvSpPr>
        <p:spPr>
          <a:xfrm>
            <a:off x="1389888" y="5230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  Find the series   →   Name the form   →   Force the match</a:t>
            </a:r>
            <a:endParaRPr lang="en-US" sz="1300" dirty="0"/>
          </a:p>
        </p:txBody>
      </p:sp>
      <p:sp>
        <p:nvSpPr>
          <p:cNvPr id="26" name="s17 Shape 23"/>
          <p:cNvSpPr/>
          <p:nvPr/>
        </p:nvSpPr>
        <p:spPr>
          <a:xfrm>
            <a:off x="9923983" y="5385816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7" name="s17 Text 24">
            <a:hlinkClick r:id="rId3" tooltip="" action="ppaction://hlinksldjump"/>
          </p:cNvPr>
          <p:cNvSpPr/>
          <p:nvPr/>
        </p:nvSpPr>
        <p:spPr>
          <a:xfrm>
            <a:off x="9923983" y="538581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SLIDE 16</a:t>
            </a:r>
            <a:endParaRPr lang="en-US" sz="900" dirty="0"/>
          </a:p>
        </p:txBody>
      </p:sp>
      <p:sp>
        <p:nvSpPr>
          <p:cNvPr id="28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  ·   5 MIN</a:t>
            </a:r>
            <a:endParaRPr lang="en-US" sz="1000" dirty="0"/>
          </a:p>
        </p:txBody>
      </p:sp>
      <p:sp>
        <p:nvSpPr>
          <p:cNvPr id="29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  <p:sp>
        <p:nvSpPr>
          <p:cNvPr id="30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1" name="navChipText0">
            <a:hlinkClick r:id="rId4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32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3" name="navChipText1">
            <a:hlinkClick r:id="rId5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34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35" name="navChipText2">
            <a:hlinkClick r:id="rId6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02  ·  PAIRS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9320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 real objective set.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9320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minutes in pairs, applying find → name → force. One item will resist.</a:t>
            </a:r>
            <a:endParaRPr lang="en-US" sz="1550" dirty="0"/>
          </a:p>
        </p:txBody>
      </p:sp>
      <p:sp>
        <p:nvSpPr>
          <p:cNvPr id="5" name="s18 Shape 3"/>
          <p:cNvSpPr/>
          <p:nvPr/>
        </p:nvSpPr>
        <p:spPr>
          <a:xfrm>
            <a:off x="10253167" y="65836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6" name="s18 Text 4"/>
          <p:cNvSpPr/>
          <p:nvPr/>
        </p:nvSpPr>
        <p:spPr>
          <a:xfrm>
            <a:off x="10253167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7" name="s18 Shape 5"/>
          <p:cNvSpPr/>
          <p:nvPr/>
        </p:nvSpPr>
        <p:spPr>
          <a:xfrm>
            <a:off x="566928" y="1883664"/>
            <a:ext cx="7315200" cy="3200400"/>
          </a:xfrm>
          <a:prstGeom prst="roundRect">
            <a:avLst>
              <a:gd name="adj" fmla="val 6286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8" name="s18 Text 6"/>
          <p:cNvSpPr/>
          <p:nvPr/>
        </p:nvSpPr>
        <p:spPr>
          <a:xfrm>
            <a:off x="932688" y="21214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LEARNERS WILL…</a:t>
            </a:r>
            <a:endParaRPr lang="en-US" sz="1100" dirty="0"/>
          </a:p>
        </p:txBody>
      </p:sp>
      <p:sp>
        <p:nvSpPr>
          <p:cNvPr id="9" name="s18 Text 7"/>
          <p:cNvSpPr/>
          <p:nvPr/>
        </p:nvSpPr>
        <p:spPr>
          <a:xfrm>
            <a:off x="932688" y="2523744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intake channels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triage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demonstrate empathy on a live call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satisfaction across the support organisation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CRM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call outcome within 60 seconds</a:t>
            </a:r>
            <a:endParaRPr lang="en-US" sz="1450" dirty="0"/>
          </a:p>
        </p:txBody>
      </p:sp>
      <p:sp>
        <p:nvSpPr>
          <p:cNvPr id="10" name="s18 Shape 8"/>
          <p:cNvSpPr/>
          <p:nvPr/>
        </p:nvSpPr>
        <p:spPr>
          <a:xfrm>
            <a:off x="8138160" y="1883664"/>
            <a:ext cx="3486607" cy="3200400"/>
          </a:xfrm>
          <a:prstGeom prst="roundRect">
            <a:avLst>
              <a:gd name="adj" fmla="val 6286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1" name="s18 Text 9"/>
          <p:cNvSpPr/>
          <p:nvPr/>
        </p:nvSpPr>
        <p:spPr>
          <a:xfrm>
            <a:off x="8449056" y="212140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KEY</a:t>
            </a:r>
            <a:endParaRPr lang="en-US" sz="1000" dirty="0"/>
          </a:p>
        </p:txBody>
      </p:sp>
      <p:sp>
        <p:nvSpPr>
          <p:cNvPr id="12" name="s18 Text 10"/>
          <p:cNvSpPr/>
          <p:nvPr/>
        </p:nvSpPr>
        <p:spPr>
          <a:xfrm>
            <a:off x="8449056" y="2523744"/>
            <a:ext cx="2864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2, 3 and 5 are form breaks — quick wins.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 is the buried one: the grammar can be fixed, the level cannot. It is an organisational outcome, not a learner behaviour.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handling: cut item 4 from the objectives and move it to the business case.</a:t>
            </a:r>
            <a:endParaRPr lang="en-US" sz="1250" dirty="0"/>
          </a:p>
        </p:txBody>
      </p:sp>
      <p:sp>
        <p:nvSpPr>
          <p:cNvPr id="13" name="s18 Shape 11"/>
          <p:cNvSpPr/>
          <p:nvPr/>
        </p:nvSpPr>
        <p:spPr>
          <a:xfrm>
            <a:off x="566928" y="5230368"/>
            <a:ext cx="11057839" cy="658368"/>
          </a:xfrm>
          <a:prstGeom prst="roundRect">
            <a:avLst>
              <a:gd name="adj" fmla="val 27778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s18 Shape 12"/>
          <p:cNvSpPr/>
          <p:nvPr/>
        </p:nvSpPr>
        <p:spPr>
          <a:xfrm>
            <a:off x="841248" y="5367528"/>
            <a:ext cx="384048" cy="384048"/>
          </a:xfrm>
          <a:prstGeom prst="ellipse">
            <a:avLst/>
          </a:prstGeom>
          <a:solidFill>
            <a:srgbClr val="8A7BFF">
              <a:alpha val="38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15" name="s18 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449824"/>
            <a:ext cx="219456" cy="219456"/>
          </a:xfrm>
          <a:prstGeom prst="rect">
            <a:avLst/>
          </a:prstGeom>
        </p:spPr>
      </p:pic>
      <p:sp>
        <p:nvSpPr>
          <p:cNvPr id="16" name="s18 Text 13"/>
          <p:cNvSpPr/>
          <p:nvPr/>
        </p:nvSpPr>
        <p:spPr>
          <a:xfrm>
            <a:off x="1389888" y="5230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  Find the series   →   Name the form   →   Force the match</a:t>
            </a:r>
            <a:endParaRPr lang="en-US" sz="1300" dirty="0"/>
          </a:p>
        </p:txBody>
      </p:sp>
      <p:sp>
        <p:nvSpPr>
          <p:cNvPr id="17" name="s18 Shape 14"/>
          <p:cNvSpPr/>
          <p:nvPr/>
        </p:nvSpPr>
        <p:spPr>
          <a:xfrm>
            <a:off x="9923983" y="5385816"/>
            <a:ext cx="1426464" cy="347472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8" name="s18 Text 15">
            <a:hlinkClick r:id="rId3" tooltip="" action="ppaction://hlinksldjump"/>
          </p:cNvPr>
          <p:cNvSpPr/>
          <p:nvPr/>
        </p:nvSpPr>
        <p:spPr>
          <a:xfrm>
            <a:off x="9923983" y="538581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SLIDE 16</a:t>
            </a:r>
            <a:endParaRPr lang="en-US" sz="900" dirty="0"/>
          </a:p>
        </p:txBody>
      </p:sp>
      <p:sp>
        <p:nvSpPr>
          <p:cNvPr id="19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  ·   8 MIN</a:t>
            </a:r>
            <a:endParaRPr lang="en-US" sz="1000" dirty="0"/>
          </a:p>
        </p:txBody>
      </p:sp>
      <p:sp>
        <p:nvSpPr>
          <p:cNvPr id="20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  <p:sp>
        <p:nvSpPr>
          <p:cNvPr id="21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2" name="navChipText0">
            <a:hlinkClick r:id="rId4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3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4" name="navChipText1">
            <a:hlinkClick r:id="rId5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25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6" name="navChipText2">
            <a:hlinkClick r:id="rId6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03  ·  PAIRS  ·  LIVE WORK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9320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module you’re building.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9320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on a draft you can still change this week — the five places, in order.</a:t>
            </a:r>
            <a:endParaRPr lang="en-US" sz="1550" dirty="0"/>
          </a:p>
        </p:txBody>
      </p:sp>
      <p:sp>
        <p:nvSpPr>
          <p:cNvPr id="5" name="s19 Shape 3"/>
          <p:cNvSpPr/>
          <p:nvPr/>
        </p:nvSpPr>
        <p:spPr>
          <a:xfrm>
            <a:off x="10253167" y="65836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8A7BFF">
              <a:alpha val="20000"/>
            </a:srgbClr>
          </a:solidFill>
          <a:ln w="9525">
            <a:solidFill>
              <a:srgbClr val="8A7BFF">
                <a:alpha val="55000"/>
              </a:srgbClr>
            </a:solidFill>
            <a:prstDash val="solid"/>
          </a:ln>
        </p:spPr>
      </p:sp>
      <p:sp>
        <p:nvSpPr>
          <p:cNvPr id="6" name="s19 Text 4"/>
          <p:cNvSpPr/>
          <p:nvPr/>
        </p:nvSpPr>
        <p:spPr>
          <a:xfrm>
            <a:off x="10253167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7" name="placeCard1"/>
          <p:cNvSpPr/>
          <p:nvPr/>
        </p:nvSpPr>
        <p:spPr>
          <a:xfrm>
            <a:off x="566928" y="1773936"/>
            <a:ext cx="7315200" cy="658368"/>
          </a:xfrm>
          <a:prstGeom prst="roundRect">
            <a:avLst>
              <a:gd name="adj" fmla="val 2777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8" name="placeDisc1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8A7BFF">
              <a:alpha val="26000"/>
            </a:srgbClr>
          </a:solidFill>
          <a:ln w="12700">
            <a:solidFill>
              <a:srgbClr val="8A7BFF">
                <a:alpha val="54000"/>
              </a:srgbClr>
            </a:solidFill>
            <a:prstDash val="solid"/>
          </a:ln>
        </p:spPr>
      </p:sp>
      <p:pic>
        <p:nvPicPr>
          <p:cNvPr id="9" name="place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93392"/>
            <a:ext cx="219456" cy="219456"/>
          </a:xfrm>
          <a:prstGeom prst="rect">
            <a:avLst/>
          </a:prstGeom>
        </p:spPr>
      </p:pic>
      <p:sp>
        <p:nvSpPr>
          <p:cNvPr id="10" name="placeNum1"/>
          <p:cNvSpPr/>
          <p:nvPr/>
        </p:nvSpPr>
        <p:spPr>
          <a:xfrm>
            <a:off x="1335024" y="199339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placeName1">
            <a:hlinkClick r:id="rId3" tooltip="" action="ppaction://hlinksldjump"/>
          </p:cNvPr>
          <p:cNvSpPr/>
          <p:nvPr/>
        </p:nvSpPr>
        <p:spPr>
          <a:xfrm>
            <a:off x="1755648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objectives</a:t>
            </a:r>
            <a:endParaRPr lang="en-US" sz="1350" dirty="0"/>
          </a:p>
        </p:txBody>
      </p:sp>
      <p:sp>
        <p:nvSpPr>
          <p:cNvPr id="12" name="s19 Text 9"/>
          <p:cNvSpPr/>
          <p:nvPr/>
        </p:nvSpPr>
        <p:spPr>
          <a:xfrm>
            <a:off x="3968496" y="19659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item into your stem, out loud</a:t>
            </a:r>
            <a:endParaRPr lang="en-US" sz="1250" dirty="0"/>
          </a:p>
        </p:txBody>
      </p:sp>
      <p:sp>
        <p:nvSpPr>
          <p:cNvPr id="13" name="placeCard2"/>
          <p:cNvSpPr/>
          <p:nvPr/>
        </p:nvSpPr>
        <p:spPr>
          <a:xfrm>
            <a:off x="566928" y="2542032"/>
            <a:ext cx="7315200" cy="658368"/>
          </a:xfrm>
          <a:prstGeom prst="roundRect">
            <a:avLst>
              <a:gd name="adj" fmla="val 2777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4" name="placeDisc2"/>
          <p:cNvSpPr/>
          <p:nvPr/>
        </p:nvSpPr>
        <p:spPr>
          <a:xfrm>
            <a:off x="804672" y="2670048"/>
            <a:ext cx="402336" cy="402336"/>
          </a:xfrm>
          <a:prstGeom prst="ellipse">
            <a:avLst/>
          </a:prstGeom>
          <a:solidFill>
            <a:srgbClr val="8A7BFF">
              <a:alpha val="26000"/>
            </a:srgbClr>
          </a:solidFill>
          <a:ln w="12700">
            <a:solidFill>
              <a:srgbClr val="8A7BFF">
                <a:alpha val="54000"/>
              </a:srgbClr>
            </a:solidFill>
            <a:prstDash val="solid"/>
          </a:ln>
        </p:spPr>
      </p:sp>
      <p:pic>
        <p:nvPicPr>
          <p:cNvPr id="15" name="placeIcon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761488"/>
            <a:ext cx="219456" cy="219456"/>
          </a:xfrm>
          <a:prstGeom prst="rect">
            <a:avLst/>
          </a:prstGeom>
        </p:spPr>
      </p:pic>
      <p:sp>
        <p:nvSpPr>
          <p:cNvPr id="16" name="placeNum2"/>
          <p:cNvSpPr/>
          <p:nvPr/>
        </p:nvSpPr>
        <p:spPr>
          <a:xfrm>
            <a:off x="1335024" y="2761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placeName2">
            <a:hlinkClick r:id="rId5" tooltip="" action="ppaction://hlinksldjump"/>
          </p:cNvPr>
          <p:cNvSpPr/>
          <p:nvPr/>
        </p:nvSpPr>
        <p:spPr>
          <a:xfrm>
            <a:off x="1755648" y="27340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 lists</a:t>
            </a:r>
            <a:endParaRPr lang="en-US" sz="1350" dirty="0"/>
          </a:p>
        </p:txBody>
      </p:sp>
      <p:sp>
        <p:nvSpPr>
          <p:cNvPr id="18" name="s19 Text 14"/>
          <p:cNvSpPr/>
          <p:nvPr/>
        </p:nvSpPr>
        <p:spPr>
          <a:xfrm>
            <a:off x="3968496" y="27340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longest one: find → name → force</a:t>
            </a:r>
            <a:endParaRPr lang="en-US" sz="1250" dirty="0"/>
          </a:p>
        </p:txBody>
      </p:sp>
      <p:sp>
        <p:nvSpPr>
          <p:cNvPr id="19" name="placeCard3"/>
          <p:cNvSpPr/>
          <p:nvPr/>
        </p:nvSpPr>
        <p:spPr>
          <a:xfrm>
            <a:off x="566928" y="3310128"/>
            <a:ext cx="7315200" cy="658368"/>
          </a:xfrm>
          <a:prstGeom prst="roundRect">
            <a:avLst>
              <a:gd name="adj" fmla="val 2777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0" name="placeDisc3"/>
          <p:cNvSpPr/>
          <p:nvPr/>
        </p:nvSpPr>
        <p:spPr>
          <a:xfrm>
            <a:off x="804672" y="3438144"/>
            <a:ext cx="402336" cy="402336"/>
          </a:xfrm>
          <a:prstGeom prst="ellipse">
            <a:avLst/>
          </a:prstGeom>
          <a:solidFill>
            <a:srgbClr val="8A7BFF">
              <a:alpha val="26000"/>
            </a:srgbClr>
          </a:solidFill>
          <a:ln w="12700">
            <a:solidFill>
              <a:srgbClr val="8A7BFF">
                <a:alpha val="54000"/>
              </a:srgbClr>
            </a:solidFill>
            <a:prstDash val="solid"/>
          </a:ln>
        </p:spPr>
      </p:sp>
      <p:pic>
        <p:nvPicPr>
          <p:cNvPr id="21" name="placeIcon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529584"/>
            <a:ext cx="219456" cy="219456"/>
          </a:xfrm>
          <a:prstGeom prst="rect">
            <a:avLst/>
          </a:prstGeom>
        </p:spPr>
      </p:pic>
      <p:sp>
        <p:nvSpPr>
          <p:cNvPr id="22" name="placeNum3"/>
          <p:cNvSpPr/>
          <p:nvPr/>
        </p:nvSpPr>
        <p:spPr>
          <a:xfrm>
            <a:off x="1335024" y="35295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placeName3">
            <a:hlinkClick r:id="rId7" tooltip="" action="ppaction://hlinksldjump"/>
          </p:cNvPr>
          <p:cNvSpPr/>
          <p:nvPr/>
        </p:nvSpPr>
        <p:spPr>
          <a:xfrm>
            <a:off x="1755648" y="3502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 &amp; menu labels</a:t>
            </a:r>
            <a:endParaRPr lang="en-US" sz="1350" dirty="0"/>
          </a:p>
        </p:txBody>
      </p:sp>
      <p:sp>
        <p:nvSpPr>
          <p:cNvPr id="24" name="s19 Text 19"/>
          <p:cNvSpPr/>
          <p:nvPr/>
        </p:nvSpPr>
        <p:spPr>
          <a:xfrm>
            <a:off x="3968496" y="35021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noun phrases, or all imperatives?</a:t>
            </a:r>
            <a:endParaRPr lang="en-US" sz="1250" dirty="0"/>
          </a:p>
        </p:txBody>
      </p:sp>
      <p:sp>
        <p:nvSpPr>
          <p:cNvPr id="25" name="placeCard4"/>
          <p:cNvSpPr/>
          <p:nvPr/>
        </p:nvSpPr>
        <p:spPr>
          <a:xfrm>
            <a:off x="566928" y="4078224"/>
            <a:ext cx="7315200" cy="658368"/>
          </a:xfrm>
          <a:prstGeom prst="roundRect">
            <a:avLst>
              <a:gd name="adj" fmla="val 2777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6" name="placeDisc4"/>
          <p:cNvSpPr/>
          <p:nvPr/>
        </p:nvSpPr>
        <p:spPr>
          <a:xfrm>
            <a:off x="804672" y="4206240"/>
            <a:ext cx="402336" cy="402336"/>
          </a:xfrm>
          <a:prstGeom prst="ellipse">
            <a:avLst/>
          </a:prstGeom>
          <a:solidFill>
            <a:srgbClr val="8A7BFF">
              <a:alpha val="26000"/>
            </a:srgbClr>
          </a:solidFill>
          <a:ln w="12700">
            <a:solidFill>
              <a:srgbClr val="8A7BFF">
                <a:alpha val="54000"/>
              </a:srgbClr>
            </a:solidFill>
            <a:prstDash val="solid"/>
          </a:ln>
        </p:spPr>
      </p:sp>
      <p:pic>
        <p:nvPicPr>
          <p:cNvPr id="27" name="placeIcon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4297680"/>
            <a:ext cx="219456" cy="219456"/>
          </a:xfrm>
          <a:prstGeom prst="rect">
            <a:avLst/>
          </a:prstGeom>
        </p:spPr>
      </p:pic>
      <p:sp>
        <p:nvSpPr>
          <p:cNvPr id="28" name="placeNum4"/>
          <p:cNvSpPr/>
          <p:nvPr/>
        </p:nvSpPr>
        <p:spPr>
          <a:xfrm>
            <a:off x="1335024" y="429768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placeName4">
            <a:hlinkClick r:id="rId9" tooltip="" action="ppaction://hlinksldjump"/>
          </p:cNvPr>
          <p:cNvSpPr/>
          <p:nvPr/>
        </p:nvSpPr>
        <p:spPr>
          <a:xfrm>
            <a:off x="1755648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items</a:t>
            </a:r>
            <a:endParaRPr lang="en-US" sz="1350" dirty="0"/>
          </a:p>
        </p:txBody>
      </p:sp>
      <p:sp>
        <p:nvSpPr>
          <p:cNvPr id="30" name="s19 Text 24"/>
          <p:cNvSpPr/>
          <p:nvPr/>
        </p:nvSpPr>
        <p:spPr>
          <a:xfrm>
            <a:off x="3968496" y="42702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Stems first, then option length and hedging</a:t>
            </a:r>
            <a:endParaRPr lang="en-US" sz="1250" dirty="0"/>
          </a:p>
        </p:txBody>
      </p:sp>
      <p:sp>
        <p:nvSpPr>
          <p:cNvPr id="31" name="placeCard5"/>
          <p:cNvSpPr/>
          <p:nvPr/>
        </p:nvSpPr>
        <p:spPr>
          <a:xfrm>
            <a:off x="566928" y="4846320"/>
            <a:ext cx="7315200" cy="658368"/>
          </a:xfrm>
          <a:prstGeom prst="roundRect">
            <a:avLst>
              <a:gd name="adj" fmla="val 2777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2" name="placeDisc5"/>
          <p:cNvSpPr/>
          <p:nvPr/>
        </p:nvSpPr>
        <p:spPr>
          <a:xfrm>
            <a:off x="804672" y="4974336"/>
            <a:ext cx="402336" cy="402336"/>
          </a:xfrm>
          <a:prstGeom prst="ellipse">
            <a:avLst/>
          </a:prstGeom>
          <a:solidFill>
            <a:srgbClr val="8A7BFF">
              <a:alpha val="26000"/>
            </a:srgbClr>
          </a:solidFill>
          <a:ln w="12700">
            <a:solidFill>
              <a:srgbClr val="8A7BFF">
                <a:alpha val="54000"/>
              </a:srgbClr>
            </a:solidFill>
            <a:prstDash val="solid"/>
          </a:ln>
        </p:spPr>
      </p:sp>
      <p:pic>
        <p:nvPicPr>
          <p:cNvPr id="33" name="placeIcon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2" y="5065776"/>
            <a:ext cx="219456" cy="219456"/>
          </a:xfrm>
          <a:prstGeom prst="rect">
            <a:avLst/>
          </a:prstGeom>
        </p:spPr>
      </p:pic>
      <p:sp>
        <p:nvSpPr>
          <p:cNvPr id="34" name="placeNum5"/>
          <p:cNvSpPr/>
          <p:nvPr/>
        </p:nvSpPr>
        <p:spPr>
          <a:xfrm>
            <a:off x="1335024" y="506577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5" name="placeName5">
            <a:hlinkClick r:id="rId11" tooltip="" action="ppaction://hlinksldjump"/>
          </p:cNvPr>
          <p:cNvSpPr/>
          <p:nvPr/>
        </p:nvSpPr>
        <p:spPr>
          <a:xfrm>
            <a:off x="1755648" y="5038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 architecture</a:t>
            </a:r>
            <a:endParaRPr lang="en-US" sz="1350" dirty="0"/>
          </a:p>
        </p:txBody>
      </p:sp>
      <p:sp>
        <p:nvSpPr>
          <p:cNvPr id="36" name="s19 Text 29"/>
          <p:cNvSpPr/>
          <p:nvPr/>
        </p:nvSpPr>
        <p:spPr>
          <a:xfrm>
            <a:off x="3968496" y="503834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titles as a column, not one at a time</a:t>
            </a:r>
            <a:endParaRPr lang="en-US" sz="1250" dirty="0"/>
          </a:p>
        </p:txBody>
      </p:sp>
      <p:sp>
        <p:nvSpPr>
          <p:cNvPr id="37" name="s19 Shape 30"/>
          <p:cNvSpPr/>
          <p:nvPr/>
        </p:nvSpPr>
        <p:spPr>
          <a:xfrm>
            <a:off x="8138160" y="1773936"/>
            <a:ext cx="3486607" cy="3730752"/>
          </a:xfrm>
          <a:prstGeom prst="roundRect">
            <a:avLst>
              <a:gd name="adj" fmla="val 5770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8" name="s19 Text 31"/>
          <p:cNvSpPr/>
          <p:nvPr/>
        </p:nvSpPr>
        <p:spPr>
          <a:xfrm>
            <a:off x="8449056" y="20116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000" dirty="0"/>
          </a:p>
        </p:txBody>
      </p:sp>
      <p:sp>
        <p:nvSpPr>
          <p:cNvPr id="39" name="s19 Text 32"/>
          <p:cNvSpPr/>
          <p:nvPr/>
        </p:nvSpPr>
        <p:spPr>
          <a:xfrm>
            <a:off x="8449056" y="2414016"/>
            <a:ext cx="28648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drafts: audit your partner’s module, not your own.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names its test — form, level or rhythm.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one fix you will make before Friday, written down.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material? Design module five from slide 15.</a:t>
            </a:r>
            <a:endParaRPr lang="en-US" sz="1250" dirty="0"/>
          </a:p>
        </p:txBody>
      </p:sp>
      <p:sp>
        <p:nvSpPr>
          <p:cNvPr id="40" name="s19 Shape 33"/>
          <p:cNvSpPr/>
          <p:nvPr/>
        </p:nvSpPr>
        <p:spPr>
          <a:xfrm>
            <a:off x="566928" y="5742432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1" name="s19 Text 34">
            <a:hlinkClick r:id="rId12" tooltip="" action="ppaction://hlinksldjump"/>
          </p:cNvPr>
          <p:cNvSpPr/>
          <p:nvPr/>
        </p:nvSpPr>
        <p:spPr>
          <a:xfrm>
            <a:off x="566928" y="5742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SLIDE 16</a:t>
            </a:r>
            <a:endParaRPr lang="en-US" sz="900" dirty="0"/>
          </a:p>
        </p:txBody>
      </p:sp>
      <p:sp>
        <p:nvSpPr>
          <p:cNvPr id="42" name="s19 Text 35"/>
          <p:cNvSpPr/>
          <p:nvPr/>
        </p:nvSpPr>
        <p:spPr>
          <a:xfrm>
            <a:off x="2798064" y="57424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  Find the series   →   Name the form   →   Force the match</a:t>
            </a:r>
            <a:endParaRPr lang="en-US" sz="1250" dirty="0"/>
          </a:p>
        </p:txBody>
      </p:sp>
      <p:sp>
        <p:nvSpPr>
          <p:cNvPr id="43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  ·   10 MIN</a:t>
            </a:r>
            <a:endParaRPr lang="en-US" sz="1000" dirty="0"/>
          </a:p>
        </p:txBody>
      </p:sp>
      <p:sp>
        <p:nvSpPr>
          <p:cNvPr id="44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  <p:sp>
        <p:nvSpPr>
          <p:cNvPr id="45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6" name="navChipText0">
            <a:hlinkClick r:id="rId13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7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8" name="navChipText1">
            <a:hlinkClick r:id="rId14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9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50" name="navChipText2">
            <a:hlinkClick r:id="rId15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8A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·  THE WHOLE SESSION</a:t>
            </a:r>
            <a:endParaRPr lang="en-US" sz="1150" dirty="0"/>
          </a:p>
        </p:txBody>
      </p:sp>
      <p:sp>
        <p:nvSpPr>
          <p:cNvPr id="3" name="chromeTitle"/>
          <p:cNvSpPr/>
          <p:nvPr/>
        </p:nvSpPr>
        <p:spPr>
          <a:xfrm>
            <a:off x="566928" y="62179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places to look. Three moves to fix.</a:t>
            </a:r>
            <a:endParaRPr lang="en-US" sz="3400" dirty="0"/>
          </a:p>
        </p:txBody>
      </p:sp>
      <p:sp>
        <p:nvSpPr>
          <p:cNvPr id="4" name="chromeSub"/>
          <p:cNvSpPr/>
          <p:nvPr/>
        </p:nvSpPr>
        <p:spPr>
          <a:xfrm>
            <a:off x="566928" y="12252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 folds back into the map. If you keep one row of this slide, keep the bottom one.</a:t>
            </a:r>
            <a:endParaRPr lang="en-US" sz="1550" dirty="0"/>
          </a:p>
        </p:txBody>
      </p:sp>
      <p:sp>
        <p:nvSpPr>
          <p:cNvPr id="5" name="placeCard1"/>
          <p:cNvSpPr/>
          <p:nvPr/>
        </p:nvSpPr>
        <p:spPr>
          <a:xfrm>
            <a:off x="566928" y="2084832"/>
            <a:ext cx="2048256" cy="2121408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6" name="placeDisc1"/>
          <p:cNvSpPr/>
          <p:nvPr/>
        </p:nvSpPr>
        <p:spPr>
          <a:xfrm>
            <a:off x="914400" y="2395728"/>
            <a:ext cx="603504" cy="603504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7" name="placeIcon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542032"/>
            <a:ext cx="310896" cy="310896"/>
          </a:xfrm>
          <a:prstGeom prst="rect">
            <a:avLst/>
          </a:prstGeom>
        </p:spPr>
      </p:pic>
      <p:sp>
        <p:nvSpPr>
          <p:cNvPr id="8" name="placeNum1"/>
          <p:cNvSpPr/>
          <p:nvPr/>
        </p:nvSpPr>
        <p:spPr>
          <a:xfrm>
            <a:off x="914400" y="3108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placeName1">
            <a:hlinkClick r:id="rId3" tooltip="" action="ppaction://hlinksldjump"/>
          </p:cNvPr>
          <p:cNvSpPr/>
          <p:nvPr/>
        </p:nvSpPr>
        <p:spPr>
          <a:xfrm>
            <a:off x="914400" y="33832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objectives</a:t>
            </a:r>
            <a:endParaRPr lang="en-US" sz="1600" dirty="0"/>
          </a:p>
        </p:txBody>
      </p:sp>
      <p:sp>
        <p:nvSpPr>
          <p:cNvPr id="10" name="placeCard2"/>
          <p:cNvSpPr/>
          <p:nvPr/>
        </p:nvSpPr>
        <p:spPr>
          <a:xfrm>
            <a:off x="2816352" y="2084832"/>
            <a:ext cx="2048256" cy="2121408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1" name="placeDisc2"/>
          <p:cNvSpPr/>
          <p:nvPr/>
        </p:nvSpPr>
        <p:spPr>
          <a:xfrm>
            <a:off x="3163824" y="2395728"/>
            <a:ext cx="603504" cy="603504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12" name="placeIcon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542032"/>
            <a:ext cx="310896" cy="310896"/>
          </a:xfrm>
          <a:prstGeom prst="rect">
            <a:avLst/>
          </a:prstGeom>
        </p:spPr>
      </p:pic>
      <p:sp>
        <p:nvSpPr>
          <p:cNvPr id="13" name="placeNum2"/>
          <p:cNvSpPr/>
          <p:nvPr/>
        </p:nvSpPr>
        <p:spPr>
          <a:xfrm>
            <a:off x="3163824" y="3108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placeName2">
            <a:hlinkClick r:id="rId5" tooltip="" action="ppaction://hlinksldjump"/>
          </p:cNvPr>
          <p:cNvSpPr/>
          <p:nvPr/>
        </p:nvSpPr>
        <p:spPr>
          <a:xfrm>
            <a:off x="3163824" y="33832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Bullet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lists</a:t>
            </a:r>
            <a:endParaRPr lang="en-US" sz="1600" dirty="0"/>
          </a:p>
        </p:txBody>
      </p:sp>
      <p:sp>
        <p:nvSpPr>
          <p:cNvPr id="15" name="placeCard3"/>
          <p:cNvSpPr/>
          <p:nvPr/>
        </p:nvSpPr>
        <p:spPr>
          <a:xfrm>
            <a:off x="5065776" y="2084832"/>
            <a:ext cx="2048256" cy="2121408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6" name="placeDisc3"/>
          <p:cNvSpPr/>
          <p:nvPr/>
        </p:nvSpPr>
        <p:spPr>
          <a:xfrm>
            <a:off x="5413248" y="2395728"/>
            <a:ext cx="603504" cy="603504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17" name="placeIcon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2542032"/>
            <a:ext cx="310896" cy="310896"/>
          </a:xfrm>
          <a:prstGeom prst="rect">
            <a:avLst/>
          </a:prstGeom>
        </p:spPr>
      </p:pic>
      <p:sp>
        <p:nvSpPr>
          <p:cNvPr id="18" name="placeNum3"/>
          <p:cNvSpPr/>
          <p:nvPr/>
        </p:nvSpPr>
        <p:spPr>
          <a:xfrm>
            <a:off x="5413248" y="3108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placeName3">
            <a:hlinkClick r:id="rId7" tooltip="" action="ppaction://hlinksldjump"/>
          </p:cNvPr>
          <p:cNvSpPr/>
          <p:nvPr/>
        </p:nvSpPr>
        <p:spPr>
          <a:xfrm>
            <a:off x="5413248" y="33832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 &amp; menu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labels</a:t>
            </a:r>
            <a:endParaRPr lang="en-US" sz="1600" dirty="0"/>
          </a:p>
        </p:txBody>
      </p:sp>
      <p:sp>
        <p:nvSpPr>
          <p:cNvPr id="20" name="placeCard4"/>
          <p:cNvSpPr/>
          <p:nvPr/>
        </p:nvSpPr>
        <p:spPr>
          <a:xfrm>
            <a:off x="7315200" y="2084832"/>
            <a:ext cx="2048256" cy="2121408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1" name="placeDisc4"/>
          <p:cNvSpPr/>
          <p:nvPr/>
        </p:nvSpPr>
        <p:spPr>
          <a:xfrm>
            <a:off x="7662672" y="2395728"/>
            <a:ext cx="603504" cy="603504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22" name="placeIcon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8976" y="2542032"/>
            <a:ext cx="310896" cy="310896"/>
          </a:xfrm>
          <a:prstGeom prst="rect">
            <a:avLst/>
          </a:prstGeom>
        </p:spPr>
      </p:pic>
      <p:sp>
        <p:nvSpPr>
          <p:cNvPr id="23" name="placeNum4"/>
          <p:cNvSpPr/>
          <p:nvPr/>
        </p:nvSpPr>
        <p:spPr>
          <a:xfrm>
            <a:off x="7662672" y="3108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placeName4">
            <a:hlinkClick r:id="rId9" tooltip="" action="ppaction://hlinksldjump"/>
          </p:cNvPr>
          <p:cNvSpPr/>
          <p:nvPr/>
        </p:nvSpPr>
        <p:spPr>
          <a:xfrm>
            <a:off x="7662672" y="33832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items</a:t>
            </a:r>
            <a:endParaRPr lang="en-US" sz="1600" dirty="0"/>
          </a:p>
        </p:txBody>
      </p:sp>
      <p:sp>
        <p:nvSpPr>
          <p:cNvPr id="25" name="placeCard5"/>
          <p:cNvSpPr/>
          <p:nvPr/>
        </p:nvSpPr>
        <p:spPr>
          <a:xfrm>
            <a:off x="9564624" y="2084832"/>
            <a:ext cx="2048256" cy="2121408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26" name="placeDisc5"/>
          <p:cNvSpPr/>
          <p:nvPr/>
        </p:nvSpPr>
        <p:spPr>
          <a:xfrm>
            <a:off x="9912096" y="2395728"/>
            <a:ext cx="603504" cy="603504"/>
          </a:xfrm>
          <a:prstGeom prst="ellipse">
            <a:avLst/>
          </a:prstGeom>
          <a:solidFill>
            <a:srgbClr val="8A7BFF">
              <a:alpha val="34000"/>
            </a:srgbClr>
          </a:solidFill>
          <a:ln w="12700">
            <a:solidFill>
              <a:srgbClr val="8A7BFF">
                <a:alpha val="66000"/>
              </a:srgbClr>
            </a:solidFill>
            <a:prstDash val="solid"/>
          </a:ln>
        </p:spPr>
      </p:sp>
      <p:pic>
        <p:nvPicPr>
          <p:cNvPr id="27" name="placeIcon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2542032"/>
            <a:ext cx="310896" cy="310896"/>
          </a:xfrm>
          <a:prstGeom prst="rect">
            <a:avLst/>
          </a:prstGeom>
        </p:spPr>
      </p:pic>
      <p:sp>
        <p:nvSpPr>
          <p:cNvPr id="28" name="placeNum5"/>
          <p:cNvSpPr/>
          <p:nvPr/>
        </p:nvSpPr>
        <p:spPr>
          <a:xfrm>
            <a:off x="9912096" y="31089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placeName5">
            <a:hlinkClick r:id="rId11" tooltip="" action="ppaction://hlinksldjump"/>
          </p:cNvPr>
          <p:cNvSpPr/>
          <p:nvPr/>
        </p:nvSpPr>
        <p:spPr>
          <a:xfrm>
            <a:off x="9912096" y="33832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u="none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architecture</a:t>
            </a:r>
            <a:endParaRPr lang="en-US" sz="1600" dirty="0"/>
          </a:p>
        </p:txBody>
      </p:sp>
      <p:sp>
        <p:nvSpPr>
          <p:cNvPr id="30" name="s20 Shape 23"/>
          <p:cNvSpPr/>
          <p:nvPr/>
        </p:nvSpPr>
        <p:spPr>
          <a:xfrm>
            <a:off x="566928" y="4535424"/>
            <a:ext cx="3551834" cy="1298448"/>
          </a:xfrm>
          <a:prstGeom prst="roundRect">
            <a:avLst>
              <a:gd name="adj" fmla="val 15493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1" name="s20 Text 24"/>
          <p:cNvSpPr/>
          <p:nvPr/>
        </p:nvSpPr>
        <p:spPr>
          <a:xfrm>
            <a:off x="877824" y="4718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s20 Text 25"/>
          <p:cNvSpPr/>
          <p:nvPr/>
        </p:nvSpPr>
        <p:spPr>
          <a:xfrm>
            <a:off x="877824" y="4992624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40" kern="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2200" dirty="0"/>
          </a:p>
        </p:txBody>
      </p:sp>
      <p:sp>
        <p:nvSpPr>
          <p:cNvPr id="33" name="s20 Text 26"/>
          <p:cNvSpPr/>
          <p:nvPr/>
        </p:nvSpPr>
        <p:spPr>
          <a:xfrm>
            <a:off x="877824" y="532180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 — anything doing the same job twice</a:t>
            </a:r>
            <a:endParaRPr lang="en-US" sz="1200" dirty="0"/>
          </a:p>
        </p:txBody>
      </p:sp>
      <p:sp>
        <p:nvSpPr>
          <p:cNvPr id="34" name="s20 Shape 27"/>
          <p:cNvSpPr/>
          <p:nvPr/>
        </p:nvSpPr>
        <p:spPr>
          <a:xfrm>
            <a:off x="4319930" y="4535424"/>
            <a:ext cx="3551834" cy="1298448"/>
          </a:xfrm>
          <a:prstGeom prst="roundRect">
            <a:avLst>
              <a:gd name="adj" fmla="val 15493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5" name="s20 Text 28"/>
          <p:cNvSpPr/>
          <p:nvPr/>
        </p:nvSpPr>
        <p:spPr>
          <a:xfrm>
            <a:off x="4630826" y="4718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6" name="s20 Text 29"/>
          <p:cNvSpPr/>
          <p:nvPr/>
        </p:nvSpPr>
        <p:spPr>
          <a:xfrm>
            <a:off x="4630826" y="4992624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40" kern="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2200" dirty="0"/>
          </a:p>
        </p:txBody>
      </p:sp>
      <p:sp>
        <p:nvSpPr>
          <p:cNvPr id="37" name="s20 Text 30"/>
          <p:cNvSpPr/>
          <p:nvPr/>
        </p:nvSpPr>
        <p:spPr>
          <a:xfrm>
            <a:off x="4630826" y="532180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— out loud, using grammar words</a:t>
            </a:r>
            <a:endParaRPr lang="en-US" sz="1200" dirty="0"/>
          </a:p>
        </p:txBody>
      </p:sp>
      <p:sp>
        <p:nvSpPr>
          <p:cNvPr id="38" name="s20 Shape 31"/>
          <p:cNvSpPr/>
          <p:nvPr/>
        </p:nvSpPr>
        <p:spPr>
          <a:xfrm>
            <a:off x="8072933" y="4535424"/>
            <a:ext cx="3551834" cy="1298448"/>
          </a:xfrm>
          <a:prstGeom prst="roundRect">
            <a:avLst>
              <a:gd name="adj" fmla="val 15493"/>
            </a:avLst>
          </a:prstGeom>
          <a:solidFill>
            <a:srgbClr val="2FE0A5">
              <a:alpha val="14000"/>
            </a:srgbClr>
          </a:solidFill>
          <a:ln w="12700">
            <a:solidFill>
              <a:srgbClr val="2FE0A5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39" name="s20 Text 32"/>
          <p:cNvSpPr/>
          <p:nvPr/>
        </p:nvSpPr>
        <p:spPr>
          <a:xfrm>
            <a:off x="8383829" y="4718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0" name="s20 Text 33"/>
          <p:cNvSpPr/>
          <p:nvPr/>
        </p:nvSpPr>
        <p:spPr>
          <a:xfrm>
            <a:off x="8383829" y="4992624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40" kern="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2200" dirty="0"/>
          </a:p>
        </p:txBody>
      </p:sp>
      <p:sp>
        <p:nvSpPr>
          <p:cNvPr id="41" name="s20 Text 34"/>
          <p:cNvSpPr/>
          <p:nvPr/>
        </p:nvSpPr>
        <p:spPr>
          <a:xfrm>
            <a:off x="8383829" y="5321808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— or admit the item isn’t a peer</a:t>
            </a:r>
            <a:endParaRPr lang="en-US" sz="1200" dirty="0"/>
          </a:p>
        </p:txBody>
      </p:sp>
      <p:sp>
        <p:nvSpPr>
          <p:cNvPr id="42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 ·   2 MIN</a:t>
            </a:r>
            <a:endParaRPr lang="en-US" sz="1000" dirty="0"/>
          </a:p>
        </p:txBody>
      </p:sp>
      <p:sp>
        <p:nvSpPr>
          <p:cNvPr id="43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  <p:sp>
        <p:nvSpPr>
          <p:cNvPr id="44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5" name="navChipText0">
            <a:hlinkClick r:id="rId12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46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7" name="navChipText1">
            <a:hlinkClick r:id="rId13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48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49" name="navChipText2">
            <a:hlinkClick r:id="rId14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main" Requires="p159">
      <p:transition xmlns:p14="http://schemas.microsoft.com/office/powerpoint/2010/main" spd="med" p14:dur="900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1 Image 0" descr="preencoded.png">    </p:cNvPr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6400800" y="914400"/>
            <a:ext cx="6583680" cy="6583680"/>
          </a:xfrm>
          <a:prstGeom prst="rect">
            <a:avLst/>
          </a:prstGeom>
        </p:spPr>
      </p:pic>
      <p:sp>
        <p:nvSpPr>
          <p:cNvPr id="3" name="chromeKicker"/>
          <p:cNvSpPr/>
          <p:nvPr/>
        </p:nvSpPr>
        <p:spPr>
          <a:xfrm>
            <a:off x="566928" y="3474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50" dirty="0"/>
          </a:p>
        </p:txBody>
      </p:sp>
      <p:sp>
        <p:nvSpPr>
          <p:cNvPr id="4" name="s21 Shape 1"/>
          <p:cNvSpPr/>
          <p:nvPr/>
        </p:nvSpPr>
        <p:spPr>
          <a:xfrm>
            <a:off x="566928" y="1371600"/>
            <a:ext cx="7772400" cy="3291840"/>
          </a:xfrm>
          <a:prstGeom prst="roundRect">
            <a:avLst>
              <a:gd name="adj" fmla="val 7778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5" name="s21 Text 2"/>
          <p:cNvSpPr/>
          <p:nvPr/>
        </p:nvSpPr>
        <p:spPr>
          <a:xfrm>
            <a:off x="1115568" y="1773936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same shape.</a:t>
            </a:r>
            <a:endParaRPr lang="en-US" sz="3800" dirty="0"/>
          </a:p>
        </p:txBody>
      </p:sp>
      <p:sp>
        <p:nvSpPr>
          <p:cNvPr id="6" name="s21 Text 3"/>
          <p:cNvSpPr/>
          <p:nvPr/>
        </p:nvSpPr>
        <p:spPr>
          <a:xfrm>
            <a:off x="1115568" y="2505456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same job.</a:t>
            </a:r>
            <a:endParaRPr lang="en-US" sz="3800" dirty="0"/>
          </a:p>
        </p:txBody>
      </p:sp>
      <p:sp>
        <p:nvSpPr>
          <p:cNvPr id="7" name="s21 Text 4"/>
          <p:cNvSpPr/>
          <p:nvPr/>
        </p:nvSpPr>
        <p:spPr>
          <a:xfrm>
            <a:off x="1115568" y="369417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once, it’s a rule. Said twice in the same shape, it’s the demonstration.</a:t>
            </a:r>
            <a:endParaRPr lang="en-US" sz="1550" dirty="0"/>
          </a:p>
        </p:txBody>
      </p:sp>
      <p:sp>
        <p:nvSpPr>
          <p:cNvPr id="8" name="s21 Shape 5"/>
          <p:cNvSpPr/>
          <p:nvPr/>
        </p:nvSpPr>
        <p:spPr>
          <a:xfrm>
            <a:off x="8686800" y="1371600"/>
            <a:ext cx="2935224" cy="3291840"/>
          </a:xfrm>
          <a:prstGeom prst="roundRect">
            <a:avLst>
              <a:gd name="adj" fmla="val 872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9" name="s21 Text 6"/>
          <p:cNvSpPr/>
          <p:nvPr/>
        </p:nvSpPr>
        <p:spPr>
          <a:xfrm>
            <a:off x="9015984" y="1700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000" dirty="0"/>
          </a:p>
        </p:txBody>
      </p:sp>
      <p:sp>
        <p:nvSpPr>
          <p:cNvPr id="10" name="s21 Text 7"/>
          <p:cNvSpPr/>
          <p:nvPr/>
        </p:nvSpPr>
        <p:spPr>
          <a:xfrm>
            <a:off x="9015984" y="21031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draft, audited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fix, before Friday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2FE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9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list, read out loud</a:t>
            </a:r>
            <a:endParaRPr lang="en-US" sz="1400" dirty="0"/>
          </a:p>
        </p:txBody>
      </p:sp>
      <p:sp>
        <p:nvSpPr>
          <p:cNvPr id="11" name="s21 Shape 8"/>
          <p:cNvSpPr/>
          <p:nvPr/>
        </p:nvSpPr>
        <p:spPr>
          <a:xfrm>
            <a:off x="9015984" y="3749040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2FE0A5">
              <a:alpha val="70000"/>
            </a:srgbClr>
          </a:solidFill>
          <a:ln w="12700">
            <a:solidFill>
              <a:srgbClr val="2FE0A5">
                <a:alpha val="90000"/>
              </a:srgbClr>
            </a:solidFill>
            <a:prstDash val="solid"/>
          </a:ln>
        </p:spPr>
      </p:sp>
      <p:sp>
        <p:nvSpPr>
          <p:cNvPr id="12" name="s21 Shape 9"/>
          <p:cNvSpPr/>
          <p:nvPr/>
        </p:nvSpPr>
        <p:spPr>
          <a:xfrm>
            <a:off x="9015984" y="4041648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2FE0A5">
              <a:alpha val="70000"/>
            </a:srgbClr>
          </a:solidFill>
          <a:ln w="12700">
            <a:solidFill>
              <a:srgbClr val="2FE0A5">
                <a:alpha val="90000"/>
              </a:srgbClr>
            </a:solidFill>
            <a:prstDash val="solid"/>
          </a:ln>
        </p:spPr>
      </p:sp>
      <p:sp>
        <p:nvSpPr>
          <p:cNvPr id="13" name="s21 Shape 10"/>
          <p:cNvSpPr/>
          <p:nvPr/>
        </p:nvSpPr>
        <p:spPr>
          <a:xfrm>
            <a:off x="9015984" y="4334256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2FE0A5">
              <a:alpha val="70000"/>
            </a:srgbClr>
          </a:solidFill>
          <a:ln w="12700">
            <a:solidFill>
              <a:srgbClr val="2FE0A5">
                <a:alpha val="90000"/>
              </a:srgbClr>
            </a:solidFill>
            <a:prstDash val="solid"/>
          </a:ln>
        </p:spPr>
      </p:sp>
      <p:sp>
        <p:nvSpPr>
          <p:cNvPr id="14" name="s21 Shape 11"/>
          <p:cNvSpPr/>
          <p:nvPr/>
        </p:nvSpPr>
        <p:spPr>
          <a:xfrm>
            <a:off x="566928" y="5029200"/>
            <a:ext cx="11057839" cy="822960"/>
          </a:xfrm>
          <a:prstGeom prst="roundRect">
            <a:avLst>
              <a:gd name="adj" fmla="val 24444"/>
            </a:avLst>
          </a:prstGeom>
          <a:solidFill>
            <a:srgbClr val="8A7BFF">
              <a:alpha val="14000"/>
            </a:srgbClr>
          </a:solidFill>
          <a:ln w="12700">
            <a:solidFill>
              <a:srgbClr val="8A7BFF">
                <a:alpha val="48000"/>
              </a:srgbClr>
            </a:solidFill>
            <a:prstDash val="solid"/>
          </a:ln>
          <a:effectLst>
            <a:outerShdw sx="100000" sy="100000" kx="0" ky="0" algn="bl" rotWithShape="0" blurRad="330200" dist="88900" dir="5400000">
              <a:srgbClr val="000000">
                <a:alpha val="45000"/>
              </a:srgbClr>
            </a:outerShdw>
          </a:effectLst>
        </p:spPr>
      </p:sp>
      <p:sp>
        <p:nvSpPr>
          <p:cNvPr id="15" name="s21 Text 12"/>
          <p:cNvSpPr/>
          <p:nvPr/>
        </p:nvSpPr>
        <p:spPr>
          <a:xfrm>
            <a:off x="969264" y="5029200"/>
            <a:ext cx="79488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obeys its own rule: one typeface, one card shape, one meaning per colour — pink breaks, green holds — on all twenty-one slides.</a:t>
            </a:r>
            <a:endParaRPr lang="en-US" sz="1400" dirty="0"/>
          </a:p>
        </p:txBody>
      </p:sp>
      <p:sp>
        <p:nvSpPr>
          <p:cNvPr id="16" name="s21 Shape 13"/>
          <p:cNvSpPr/>
          <p:nvPr/>
        </p:nvSpPr>
        <p:spPr>
          <a:xfrm>
            <a:off x="9247327" y="5266944"/>
            <a:ext cx="1060704" cy="347472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7" name="s21 Text 14">
            <a:hlinkClick r:id="rId3" tooltip="" action="ppaction://hlinksldjump"/>
          </p:cNvPr>
          <p:cNvSpPr/>
          <p:nvPr/>
        </p:nvSpPr>
        <p:spPr>
          <a:xfrm>
            <a:off x="9247327" y="5266944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00" dirty="0"/>
          </a:p>
        </p:txBody>
      </p:sp>
      <p:sp>
        <p:nvSpPr>
          <p:cNvPr id="18" name="s21 Shape 15"/>
          <p:cNvSpPr/>
          <p:nvPr/>
        </p:nvSpPr>
        <p:spPr>
          <a:xfrm>
            <a:off x="10399471" y="5266944"/>
            <a:ext cx="1225296" cy="347472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19" name="s21 Text 16">
            <a:hlinkClick r:id="rId4" tooltip="" action="ppaction://hlinksldjump"/>
          </p:cNvPr>
          <p:cNvSpPr/>
          <p:nvPr/>
        </p:nvSpPr>
        <p:spPr>
          <a:xfrm>
            <a:off x="10399471" y="526694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</a:t>
            </a:r>
            <a:endParaRPr lang="en-US" sz="900" dirty="0"/>
          </a:p>
        </p:txBody>
      </p:sp>
      <p:sp>
        <p:nvSpPr>
          <p:cNvPr id="20" name="navSection"/>
          <p:cNvSpPr/>
          <p:nvPr/>
        </p:nvSpPr>
        <p:spPr>
          <a:xfrm>
            <a:off x="566928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 ·   1 MIN</a:t>
            </a:r>
            <a:endParaRPr lang="en-US" sz="1000" dirty="0"/>
          </a:p>
        </p:txBody>
      </p:sp>
      <p:sp>
        <p:nvSpPr>
          <p:cNvPr id="21" name="navCount"/>
          <p:cNvSpPr/>
          <p:nvPr/>
        </p:nvSpPr>
        <p:spPr>
          <a:xfrm>
            <a:off x="7921447" y="6291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60" kern="0" dirty="0">
                <a:solidFill>
                  <a:srgbClr val="6F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1000" dirty="0"/>
          </a:p>
        </p:txBody>
      </p:sp>
      <p:sp>
        <p:nvSpPr>
          <p:cNvPr id="22" name="navChip0"/>
          <p:cNvSpPr/>
          <p:nvPr/>
        </p:nvSpPr>
        <p:spPr>
          <a:xfrm>
            <a:off x="9155887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3" name="navChipText0">
            <a:hlinkClick r:id="rId5" tooltip="" action="ppaction://hlinksldjump"/>
          </p:cNvPr>
          <p:cNvSpPr/>
          <p:nvPr/>
        </p:nvSpPr>
        <p:spPr>
          <a:xfrm>
            <a:off x="9155887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 BACK</a:t>
            </a:r>
            <a:endParaRPr lang="en-US" sz="950" dirty="0"/>
          </a:p>
        </p:txBody>
      </p:sp>
      <p:sp>
        <p:nvSpPr>
          <p:cNvPr id="24" name="navChip1"/>
          <p:cNvSpPr/>
          <p:nvPr/>
        </p:nvSpPr>
        <p:spPr>
          <a:xfrm>
            <a:off x="10088575" y="6272784"/>
            <a:ext cx="603504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5" name="navChipText1">
            <a:hlinkClick r:id="rId6" tooltip="" action="ppaction://hlinksldjump"/>
          </p:cNvPr>
          <p:cNvSpPr/>
          <p:nvPr/>
        </p:nvSpPr>
        <p:spPr>
          <a:xfrm>
            <a:off x="10088575" y="6272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endParaRPr lang="en-US" sz="950" dirty="0"/>
          </a:p>
        </p:txBody>
      </p:sp>
      <p:sp>
        <p:nvSpPr>
          <p:cNvPr id="26" name="navChip2"/>
          <p:cNvSpPr/>
          <p:nvPr/>
        </p:nvSpPr>
        <p:spPr>
          <a:xfrm>
            <a:off x="10783519" y="627278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A7AFC9">
              <a:alpha val="20000"/>
            </a:srgbClr>
          </a:solidFill>
          <a:ln w="9525">
            <a:solidFill>
              <a:srgbClr val="A7AFC9">
                <a:alpha val="55000"/>
              </a:srgbClr>
            </a:solidFill>
            <a:prstDash val="solid"/>
          </a:ln>
        </p:spPr>
      </p:sp>
      <p:sp>
        <p:nvSpPr>
          <p:cNvPr id="27" name="navChipText2">
            <a:hlinkClick r:id="rId7" tooltip="" action="ppaction://hlinksldjump"/>
          </p:cNvPr>
          <p:cNvSpPr/>
          <p:nvPr/>
        </p:nvSpPr>
        <p:spPr>
          <a:xfrm>
            <a:off x="10783519" y="6272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spc="120" kern="0" dirty="0">
                <a:solidFill>
                  <a:srgbClr val="A7AF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 ›</a:t>
            </a:r>
            <a:endParaRPr lang="en-US" sz="950" dirty="0"/>
          </a:p>
        </p:txBody>
      </p:sp>
    </p:spTree>
  </p:cSld>
  <p:clrMapOvr>
    <a:masterClrMapping/>
  </p:clrMapOvr>
  <p:transition xmlns:p14="http://schemas.microsoft.com/office/powerpoint/2010/main" spd="med"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Parallelism — a 60-minute working session</dc:title>
  <dc:subject>PptxGenJS Presentation</dc:subject>
  <dc:creator>Parallelism training</dc:creator>
  <cp:lastModifiedBy>Parallelism training</cp:lastModifiedBy>
  <cp:revision>1</cp:revision>
  <dcterms:created xsi:type="dcterms:W3CDTF">2026-07-25T11:44:07Z</dcterms:created>
  <dcterms:modified xsi:type="dcterms:W3CDTF">2026-07-25T11:44:07Z</dcterms:modified>
</cp:coreProperties>
</file>